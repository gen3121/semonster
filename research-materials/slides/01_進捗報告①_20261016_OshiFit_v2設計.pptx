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256" r:id="rId10"/>
    <p:sldId id="257" r:id="rId11"/>
    <p:sldId id="258" r:id="rId12"/>
    <p:sldId id="259" r:id="rId9"/>
    <p:sldId id="260" r:id="rId8"/>
    <p:sldId id="261" r:id="rId7"/>
    <p:sldId id="262" r:id="rId6"/>
    <p:sldId id="263" r:id="rId5"/>
    <p:sldId id="264" r:id="rId18"/>
    <p:sldId id="265" r:id="rId19"/>
    <p:sldId id="266" r:id="rId20"/>
    <p:sldId id="267" r:id="rId21"/>
    <p:sldId id="268" r:id="rId22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75" autoAdjust="0"/>
    <p:restoredTop sz="94660"/>
  </p:normalViewPr>
  <p:slideViewPr>
    <p:cSldViewPr snapToGrid="0" showGuides="1">
      <p:cViewPr varScale="1">
        <p:scale>
          <a:sx n="59" d="100"/>
          <a:sy n="59" d="100"/>
        </p:scale>
        <p:origin x="96" y="68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8.xml"/><Relationship Id="rId6" Type="http://schemas.openxmlformats.org/officeDocument/2006/relationships/slide" Target="slides/slide7.xml"/><Relationship Id="rId7" Type="http://schemas.openxmlformats.org/officeDocument/2006/relationships/slide" Target="slides/slide6.xml"/><Relationship Id="rId8" Type="http://schemas.openxmlformats.org/officeDocument/2006/relationships/slide" Target="slides/slide5.xml"/><Relationship Id="rId9" Type="http://schemas.openxmlformats.org/officeDocument/2006/relationships/slide" Target="slides/slide4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予備調査215名のパス係数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標準化係数</c:v>
                </c:pt>
              </c:strCache>
            </c:strRef>
          </c:tx>
          <c:spPr>
            <a:solidFill>
              <a:srgbClr val="12A38A"/>
            </a:solidFill>
          </c:spPr>
          <c:invertIfNegative val="0"/>
          <c:dPt>
            <c:idx val="0"/>
            <c:spPr>
              <a:solidFill>
                <a:srgbClr val="12A38A"/>
              </a:solidFill>
            </c:spPr>
          </c:dPt>
          <c:dPt>
            <c:idx val="1"/>
            <c:spPr>
              <a:solidFill>
                <a:srgbClr val="12A38A"/>
              </a:solidFill>
            </c:spPr>
          </c:dPt>
          <c:dPt>
            <c:idx val="2"/>
            <c:spPr>
              <a:solidFill>
                <a:srgbClr val="E07A10"/>
              </a:solidFill>
            </c:spPr>
          </c:dPt>
          <c:dPt>
            <c:idx val="3"/>
            <c:spPr>
              <a:solidFill>
                <a:srgbClr val="E07A10"/>
              </a:solidFill>
            </c:spPr>
          </c:dPt>
          <c:cat>
            <c:strRef>
              <c:f>Sheet1!$A$2:$A$5</c:f>
              <c:strCache>
                <c:ptCount val="4"/>
                <c:pt idx="0">
                  <c:v>頻度→充実</c:v>
                </c:pt>
                <c:pt idx="1">
                  <c:v>没入→充実</c:v>
                </c:pt>
                <c:pt idx="2">
                  <c:v>頻度→推し疲れ</c:v>
                </c:pt>
                <c:pt idx="3">
                  <c:v>没入→推し疲れ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0.43</c:v>
                </c:pt>
                <c:pt idx="1">
                  <c:v>0.2</c:v>
                </c:pt>
                <c:pt idx="2">
                  <c:v>0.29</c:v>
                </c:pt>
                <c:pt idx="3">
                  <c:v>0.23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 b="1">
                  <a:solidFill>
                    <a:srgbClr val="24303F"/>
                  </a:solidFill>
                  <a:latin typeface="BIZ UDPゴシック"/>
                  <a:ea typeface="BIZ UDPゴシック"/>
                  <a:cs typeface="BIZ UDPゴシック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8C2CE"/>
            </a:solidFill>
          </a:ln>
        </c:spPr>
        <c:txPr>
          <a:bodyPr/>
          <a:lstStyle/>
          <a:p>
            <a:pPr>
              <a:defRPr sz="110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5"/>
          <c:min val="0.0"/>
        </c:scaling>
        <c:delete val="0"/>
        <c:axPos val="l"/>
        <c:majorGridlines>
          <c:spPr>
            <a:ln w="9525">
              <a:solidFill>
                <a:srgbClr val="E3E8EF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5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defRPr>
            </a:pPr>
          </a:p>
        </c:txPr>
        <c:crossAx val="-2068027336"/>
        <c:crosses val="autoZero"/>
        <c:majorUnit val="0.1"/>
      </c:valAx>
    </c:plotArea>
    <c:dispBlanksAs val="gap"/>
  </c:chart>
  <c:txPr>
    <a:bodyPr/>
    <a:lstStyle/>
    <a:p>
      <a:pPr>
        <a:defRPr sz="1100">
          <a:solidFill>
            <a:srgbClr val="5A6676"/>
          </a:solidFill>
          <a:latin typeface="BIZ UDPゴシック"/>
          <a:ea typeface="BIZ UDPゴシック"/>
          <a:cs typeface="BIZ UDPゴシック"/>
        </a:defRPr>
      </a:pPr>
      <a:endParaRPr lang="en-US">
        <a:latin typeface="BIZ UDPゴシック"/>
        <a:ea typeface="BIZ UDPゴシック"/>
        <a:cs typeface="BIZ UDPゴシック"/>
      </a:endParaR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記録日数と80%予測区間の幅（±）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推し疲れ</c:v>
                </c:pt>
              </c:strCache>
            </c:strRef>
          </c:tx>
          <c:spPr>
            <a:ln w="31750">
              <a:solidFill>
                <a:srgbClr val="E07A10"/>
              </a:solidFill>
            </a:ln>
          </c:spPr>
          <c:marker>
            <c:symbol val="circle"/>
            <c:size val="7"/>
            <c:spPr>
              <a:solidFill>
                <a:srgbClr val="E07A10"/>
              </a:solidFill>
              <a:ln>
                <a:solidFill>
                  <a:srgbClr val="E07A10"/>
                </a:solidFill>
              </a:ln>
            </c:spPr>
          </c:marker>
          <c:dLbls>
            <c:dLbl>
              <c:idx val="6"/>
              <c:numFmt formatCode="0.00" sourceLinked="0"/>
              <c:spPr/>
              <c:txPr>
                <a:bodyPr/>
                <a:lstStyle/>
                <a:p>
                  <a:pPr>
                    <a:defRPr sz="1100" b="1">
                      <a:solidFill>
                        <a:srgbClr val="E07A10"/>
                      </a:solidFill>
                      <a:latin typeface="BIZ UDPゴシック"/>
                      <a:ea typeface="BIZ UDPゴシック"/>
                      <a:cs typeface="BIZ UDPゴシック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0日</c:v>
                </c:pt>
                <c:pt idx="1">
                  <c:v>3日</c:v>
                </c:pt>
                <c:pt idx="2">
                  <c:v>7日</c:v>
                </c:pt>
                <c:pt idx="3">
                  <c:v>10日</c:v>
                </c:pt>
                <c:pt idx="4">
                  <c:v>14日</c:v>
                </c:pt>
                <c:pt idx="5">
                  <c:v>21日</c:v>
                </c:pt>
                <c:pt idx="6">
                  <c:v>28日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1.18</c:v>
                </c:pt>
                <c:pt idx="1">
                  <c:v>0.96</c:v>
                </c:pt>
                <c:pt idx="2">
                  <c:v>0.88</c:v>
                </c:pt>
                <c:pt idx="3">
                  <c:v>0.85</c:v>
                </c:pt>
                <c:pt idx="4">
                  <c:v>0.83</c:v>
                </c:pt>
                <c:pt idx="5">
                  <c:v>0.81</c:v>
                </c:pt>
                <c:pt idx="6">
                  <c:v>0.8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充実</c:v>
                </c:pt>
              </c:strCache>
            </c:strRef>
          </c:tx>
          <c:spPr>
            <a:ln w="31750">
              <a:solidFill>
                <a:srgbClr val="12A38A"/>
              </a:solidFill>
            </a:ln>
          </c:spPr>
          <c:marker>
            <c:symbol val="circle"/>
            <c:size val="7"/>
            <c:spPr>
              <a:solidFill>
                <a:srgbClr val="12A38A"/>
              </a:solidFill>
              <a:ln>
                <a:solidFill>
                  <a:srgbClr val="12A38A"/>
                </a:solidFill>
              </a:ln>
            </c:spPr>
          </c:marker>
          <c:dLbls>
            <c:dLbl>
              <c:idx val="6"/>
              <c:numFmt formatCode="0.00" sourceLinked="0"/>
              <c:spPr/>
              <c:txPr>
                <a:bodyPr/>
                <a:lstStyle/>
                <a:p>
                  <a:pPr>
                    <a:defRPr sz="1100" b="1">
                      <a:solidFill>
                        <a:srgbClr val="12A38A"/>
                      </a:solidFill>
                      <a:latin typeface="BIZ UDPゴシック"/>
                      <a:ea typeface="BIZ UDPゴシック"/>
                      <a:cs typeface="BIZ UDPゴシック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0日</c:v>
                </c:pt>
                <c:pt idx="1">
                  <c:v>3日</c:v>
                </c:pt>
                <c:pt idx="2">
                  <c:v>7日</c:v>
                </c:pt>
                <c:pt idx="3">
                  <c:v>10日</c:v>
                </c:pt>
                <c:pt idx="4">
                  <c:v>14日</c:v>
                </c:pt>
                <c:pt idx="5">
                  <c:v>21日</c:v>
                </c:pt>
                <c:pt idx="6">
                  <c:v>28日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0.91</c:v>
                </c:pt>
                <c:pt idx="1">
                  <c:v>0.75</c:v>
                </c:pt>
                <c:pt idx="2">
                  <c:v>0.69</c:v>
                </c:pt>
                <c:pt idx="3">
                  <c:v>0.66</c:v>
                </c:pt>
                <c:pt idx="4">
                  <c:v>0.64</c:v>
                </c:pt>
                <c:pt idx="5">
                  <c:v>0.62</c:v>
                </c:pt>
                <c:pt idx="6">
                  <c:v>0.61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8C2CE"/>
            </a:solidFill>
          </a:ln>
        </c:spPr>
        <c:txPr>
          <a:bodyPr/>
          <a:lstStyle/>
          <a:p>
            <a:pPr>
              <a:defRPr sz="110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.3"/>
          <c:min val="0.4"/>
        </c:scaling>
        <c:delete val="0"/>
        <c:axPos val="l"/>
        <c:majorGridlines>
          <c:spPr>
            <a:ln w="9525">
              <a:solidFill>
                <a:srgbClr val="E3E8EF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5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defRPr>
            </a:pPr>
          </a:p>
        </c:txPr>
        <c:crossAx val="2118791784"/>
        <c:crosses val="autoZero"/>
        <c:majorUnit val="0.2"/>
      </c:valAx>
    </c:plotArea>
    <c:legend>
      <c:legendPos val="b"/>
      <c:layout/>
      <c:overlay val="0"/>
      <c:txPr>
        <a:bodyPr/>
        <a:lstStyle/>
        <a:p>
          <a:pPr>
            <a:defRPr sz="1100">
              <a:latin typeface="BIZ UDPゴシック"/>
              <a:ea typeface="BIZ UDPゴシック"/>
              <a:cs typeface="BIZ UDPゴシック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solidFill>
            <a:srgbClr val="5A6676"/>
          </a:solidFill>
          <a:latin typeface="BIZ UDPゴシック"/>
          <a:ea typeface="BIZ UDPゴシック"/>
          <a:cs typeface="BIZ UDPゴシック"/>
        </a:defRPr>
      </a:pPr>
      <a:endParaRPr lang="en-US">
        <a:latin typeface="BIZ UDPゴシック"/>
        <a:ea typeface="BIZ UDPゴシック"/>
        <a:cs typeface="BIZ UDPゴシック"/>
      </a:endParaRPr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F139FF-5DF4-46B1-A730-4E68595A117A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6D2F10-75EE-4518-AB94-CE9EAC6EA3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5639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今回は、研究計画書（9/27版）を確定したあとの2週間の進捗を報告します。大きく、倫理審査の申請、予測モデルの版の固定、そしてシステムの再設計「OshiFit v2」の3点です。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左が前回までの到達点、右が今回の差分です。完了が3件、新規の設計が1件、進行中が1件です。今回いちばん相談したいのは、新しく設計したOshiFit v2の考え方です。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計画書のスケジュールを逆算すると、11月上旬に本実験を始める必要があります。ピンクの点線が現在地です。システム開発は全体の半分程度、倫理審査は審査待ちの状態です。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倫理審査では、顔写真、同意と撤回、つらさへの配慮、予測の説明の4点を中心に記載しました。特に顔写真は個人を識別できる情報なので、端末内でのみ処理し、アバターを作ったら破棄する設計にしています。審査会は10月21日の予定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予備調査のパス解析では、推し活の頻度と没入が、充実と推し疲れの両方に正の関連を示しました。予測精度は幸福度で説明率約27%、推し疲れで約11%と、十分に高いとはいえません。そこで本実験中に結果を見てモデルを変えることがないよう、v1.0として版を固定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予測精度が低い中で将来の見込みを見せることには、3つの課題があります。それぞれに対応する仕組みとして、ゆらぎアバター、ベイズ個人ツイン、リバランス提案を考えました。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全体像です。入力は、初回のTIPI-J、毎日30秒の記録、本人の希望の3つです。①ベイズ個人ツインが毎晩予測を更新し、②リバランス提案エンジンが3つの案を作ります。③④のみらいミラーで「今のまま」と「提案どおり」を並べて見せます。選んだ案を1週間試し、実行チェックと記録がまたツインを更新するループになっています。強いつらさがうかがえる場合はセーフティ層が予測表示を止め、相談先を表示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つ目の仕組みはベイズ個人ツインです。予備調査の係数を出発点にして、毎日の記録でその人専用の予測へ少しずつ寄せていきます。右のグラフは合成データでの試算で、推し疲れの80%予測区間は記録0日の±1.18から、14日で±0.83まで縮みます。これは計画書にある「最初の2週間で個人補正」を、より細かく毎日行う形にしたものです。数値は仮定に基づく試算なので、本実験で検証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つ目の仕組みがゆらぎアバターで、今回いちばん独創的だと考えている部分です。予測の幅を数字だけでなく、ありうる自分たちの重なりとして見せます。記録が少ないうちは未来の自分がぼやけていて、記録が増えるとくっきりしていきます。不確かさを正直に見せることと、記録を続ける動機づけを1つの表現で両立させるのがねらい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つ目の仕組みはリバランス提案エンジンです。予備調査で増やしたい人の方が多かったことを受けて、減らすのではなく組み替える提案を作ります。7つの活動をそれぞれ1段階ずつ動かす候補を作り、ツインで予測し、本人が増やしたい活動は減らさない条件で絞り込みます。最後に、楽しさキープ型、バランス型、回復重視型の3案を出し、本人に選んでもらいます。表の数値は例示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つ目は疲れの中身キューです。予備調査で、推し疲れの中身は睡眠、出費、義務感、比較に分かれました。どの疲れが高いかをアバターの控えめな手がかりで示し、提案もその中身に合わせます。疲れた表現は誇張し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v2の機能が増えても、群間比較が崩れないように整理しました。群Bと群Cの差は、予測値とゆらぎアバターの提示の有無だけです。そのため、群Bの提案カードには予測値を表示しない仕様にしています。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次回までに、アバター生成とみらいミラーを実装し、研究室内で操作確認を行ってからCHIIRに投稿します。相談したいのは3点で、承認が遅れた場合の開始日、募集経路と謝礼、CHIIRの投稿区分です。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350"/>
          </a:p>
        </p:txBody>
      </p:sp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03340" y="3607869"/>
            <a:ext cx="8915400" cy="1655761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00740" y="5356274"/>
            <a:ext cx="4925889" cy="1418957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ja-JP" altLang="en-US"/>
              <a:t>マスター サブタイトルの書式設定</a:t>
            </a:r>
            <a:endParaRPr kumimoji="1" lang="ja-JP" altLang="en-US" dirty="0"/>
          </a:p>
        </p:txBody>
      </p:sp>
      <p:sp>
        <p:nvSpPr>
          <p:cNvPr id="19" name="サブタイトル 2"/>
          <p:cNvSpPr txBox="1">
            <a:spLocks/>
          </p:cNvSpPr>
          <p:nvPr userDrawn="1"/>
        </p:nvSpPr>
        <p:spPr>
          <a:xfrm>
            <a:off x="6068860" y="4277519"/>
            <a:ext cx="2949880" cy="1655762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ja-JP" altLang="en-US" sz="2400" dirty="0"/>
          </a:p>
        </p:txBody>
      </p:sp>
      <p:pic>
        <p:nvPicPr>
          <p:cNvPr id="9" name="図 8" descr="アイコン&#10;&#10;自動的に生成された説明">
            <a:extLst>
              <a:ext uri="{FF2B5EF4-FFF2-40B4-BE49-F238E27FC236}">
                <a16:creationId xmlns:a16="http://schemas.microsoft.com/office/drawing/2014/main" id="{27B4E2A7-DAEA-4D6D-82DB-9419AF5FAF5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40" y="5346399"/>
            <a:ext cx="1182362" cy="1428837"/>
          </a:xfrm>
          <a:prstGeom prst="rect">
            <a:avLst/>
          </a:prstGeom>
        </p:spPr>
      </p:pic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CCAFA43D-FE5B-48C3-863A-33F247D129D4}"/>
              </a:ext>
            </a:extLst>
          </p:cNvPr>
          <p:cNvCxnSpPr/>
          <p:nvPr userDrawn="1"/>
        </p:nvCxnSpPr>
        <p:spPr>
          <a:xfrm>
            <a:off x="103340" y="5252744"/>
            <a:ext cx="8915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5F561B1-C9EC-4DC6-912D-C77D62F90B04}"/>
              </a:ext>
            </a:extLst>
          </p:cNvPr>
          <p:cNvSpPr/>
          <p:nvPr userDrawn="1"/>
        </p:nvSpPr>
        <p:spPr>
          <a:xfrm>
            <a:off x="0" y="-1"/>
            <a:ext cx="9144000" cy="34355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9856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49C76-77F1-4215-9649-4092C94102D0}" type="datetime1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31E9D-61D6-4888-9999-68160698B7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5773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/>
          <p:cNvSpPr/>
          <p:nvPr userDrawn="1"/>
        </p:nvSpPr>
        <p:spPr>
          <a:xfrm>
            <a:off x="1" y="0"/>
            <a:ext cx="9114626" cy="63005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35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00625" y="1709739"/>
            <a:ext cx="8586592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300625" y="4589464"/>
            <a:ext cx="8586592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7CBC8-C13F-44F6-BCB3-948A96AAE3EF}" type="datetime1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31E9D-61D6-4888-9999-68160698B78F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9" name="図 8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8385" y="25052"/>
            <a:ext cx="1155615" cy="1342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646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122128" y="1716067"/>
            <a:ext cx="4392722" cy="4460897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29150" y="1716067"/>
            <a:ext cx="4408379" cy="4460897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910EA-EFB6-4ED7-B593-CE78B1973066}" type="datetime1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31E9D-61D6-4888-9999-68160698B7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9632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0" y="1"/>
            <a:ext cx="78867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22129" y="1681163"/>
            <a:ext cx="4376053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122129" y="2505075"/>
            <a:ext cx="4376053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4485476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4485476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46DE9-826E-4F2E-9FBE-79AF29EDC55F}" type="datetime1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31E9D-61D6-4888-9999-68160698B7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05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6424B-FEB0-415C-8C57-9662DE1E2037}" type="datetime1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31E9D-61D6-4888-9999-68160698B7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1745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750C9-8340-4923-BDA6-FE9093DBE1F0}" type="datetime1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31E9D-61D6-4888-9999-68160698B7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240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568FF-8035-4960-B29B-D2E38E699D23}" type="datetime1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31E9D-61D6-4888-9999-68160698B7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879823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Relationship Id="rId10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/>
          <p:cNvSpPr/>
          <p:nvPr userDrawn="1"/>
        </p:nvSpPr>
        <p:spPr>
          <a:xfrm>
            <a:off x="0" y="6394366"/>
            <a:ext cx="1155526" cy="46363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350"/>
          </a:p>
        </p:txBody>
      </p:sp>
      <p:sp>
        <p:nvSpPr>
          <p:cNvPr id="12" name="正方形/長方形 11"/>
          <p:cNvSpPr/>
          <p:nvPr userDrawn="1"/>
        </p:nvSpPr>
        <p:spPr>
          <a:xfrm>
            <a:off x="1155526" y="6394366"/>
            <a:ext cx="7158625" cy="46363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350"/>
          </a:p>
        </p:txBody>
      </p:sp>
      <p:sp>
        <p:nvSpPr>
          <p:cNvPr id="13" name="正方形/長方形 12"/>
          <p:cNvSpPr/>
          <p:nvPr userDrawn="1"/>
        </p:nvSpPr>
        <p:spPr>
          <a:xfrm>
            <a:off x="8314151" y="6394366"/>
            <a:ext cx="829850" cy="46363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35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1" y="0"/>
            <a:ext cx="7565720" cy="1083832"/>
          </a:xfrm>
          <a:prstGeom prst="rect">
            <a:avLst/>
          </a:prstGeom>
          <a:gradFill>
            <a:gsLst>
              <a:gs pos="68000">
                <a:schemeClr val="accent1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350"/>
          </a:p>
        </p:txBody>
      </p:sp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0" y="-7407"/>
            <a:ext cx="8109606" cy="873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16237" y="1261733"/>
            <a:ext cx="8903777" cy="4915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6973" y="6455298"/>
            <a:ext cx="9676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530C953D-9D36-4E45-98EB-F4573D85DE5F}" type="datetime1">
              <a:rPr lang="ja-JP" altLang="en-US" smtClean="0"/>
              <a:t>2026/7/3</a:t>
            </a:fld>
            <a:endParaRPr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1202498" y="6435466"/>
            <a:ext cx="7082278" cy="3849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ja-JP" altLang="en-US" dirty="0"/>
          </a:p>
        </p:txBody>
      </p:sp>
      <p:sp>
        <p:nvSpPr>
          <p:cNvPr id="9" name="正方形/長方形 8"/>
          <p:cNvSpPr/>
          <p:nvPr userDrawn="1"/>
        </p:nvSpPr>
        <p:spPr>
          <a:xfrm>
            <a:off x="1" y="880126"/>
            <a:ext cx="9143999" cy="320675"/>
          </a:xfrm>
          <a:prstGeom prst="rect">
            <a:avLst/>
          </a:prstGeom>
          <a:gradFill flip="none" rotWithShape="1">
            <a:gsLst>
              <a:gs pos="17000">
                <a:schemeClr val="accent1">
                  <a:lumMod val="50000"/>
                </a:schemeClr>
              </a:gs>
              <a:gs pos="88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350"/>
          </a:p>
        </p:txBody>
      </p:sp>
      <p:sp>
        <p:nvSpPr>
          <p:cNvPr id="10" name="テキスト ボックス 9"/>
          <p:cNvSpPr txBox="1"/>
          <p:nvPr userDrawn="1"/>
        </p:nvSpPr>
        <p:spPr>
          <a:xfrm>
            <a:off x="0" y="855796"/>
            <a:ext cx="6200000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350" b="1" i="1" dirty="0">
                <a:solidFill>
                  <a:schemeClr val="bg1"/>
                </a:solidFill>
              </a:rPr>
              <a:t>Media</a:t>
            </a:r>
            <a:r>
              <a:rPr kumimoji="1" lang="en-US" altLang="ja-JP" sz="1350" b="1" i="1" baseline="0" dirty="0">
                <a:solidFill>
                  <a:schemeClr val="bg1"/>
                </a:solidFill>
              </a:rPr>
              <a:t> Interaction Laboratory, Osaka Institute of Technology</a:t>
            </a:r>
            <a:endParaRPr kumimoji="1" lang="ja-JP" altLang="en-US" sz="1350" b="1" i="1" dirty="0">
              <a:solidFill>
                <a:schemeClr val="bg1"/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389307" y="6455298"/>
            <a:ext cx="7253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38531E9D-61D6-4888-9999-68160698B78F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pic>
        <p:nvPicPr>
          <p:cNvPr id="17" name="図 16" descr="アイコン&#10;&#10;自動的に生成された説明">
            <a:extLst>
              <a:ext uri="{FF2B5EF4-FFF2-40B4-BE49-F238E27FC236}">
                <a16:creationId xmlns:a16="http://schemas.microsoft.com/office/drawing/2014/main" id="{2CB505E5-1A9F-4F7A-B174-AC352F0CDE0A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8980" y="21772"/>
            <a:ext cx="975646" cy="1179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750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3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8.png"/><Relationship Id="rId8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4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8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anchor="b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sz="32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進捗報告 2026/10/16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 anchor="t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8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今井元</a:t>
            </a:r>
          </a:p>
        </p:txBody>
      </p:sp>
      <p:sp>
        <p:nvSpPr>
          <p:cNvPr id="4" name="会議名"/>
          <p:cNvSpPr txBox="1"/>
          <p:nvPr/>
        </p:nvSpPr>
        <p:spPr>
          <a:xfrm>
            <a:off x="64008" y="82296"/>
            <a:ext cx="4206240" cy="384048"/>
          </a:xfrm>
          <a:prstGeom prst="rect">
            <a:avLst/>
          </a:prstGeom>
          <a:solidFill>
            <a:srgbClr val="A9DCFF"/>
          </a:solidFill>
        </p:spPr>
        <p:txBody>
          <a:bodyPr wrap="square" tIns="18288" bIns="18288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4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メディアインタラクション研究室　進捗報告</a:t>
            </a:r>
          </a:p>
        </p:txBody>
      </p:sp>
      <p:sp>
        <p:nvSpPr>
          <p:cNvPr id="5" name="著者所属"/>
          <p:cNvSpPr txBox="1"/>
          <p:nvPr/>
        </p:nvSpPr>
        <p:spPr>
          <a:xfrm>
            <a:off x="3931920" y="5358384"/>
            <a:ext cx="4937760" cy="10972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 marL="0" indent="0">
              <a:spcAft>
                <a:spcPts val="200"/>
              </a:spcAft>
              <a:buNone/>
            </a:pPr>
            <a:r>
              <a:rPr sz="14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大阪工業大学</a:t>
            </a:r>
          </a:p>
          <a:p>
            <a:pPr algn="l" marL="0" indent="0">
              <a:spcAft>
                <a:spcPts val="200"/>
              </a:spcAft>
              <a:buNone/>
            </a:pPr>
            <a:r>
              <a:rPr sz="14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メディアインタラクション研究室</a:t>
            </a:r>
          </a:p>
        </p:txBody>
      </p:sp>
      <p:sp>
        <p:nvSpPr>
          <p:cNvPr id="6" name="サブタイトル"/>
          <p:cNvSpPr txBox="1"/>
          <p:nvPr/>
        </p:nvSpPr>
        <p:spPr>
          <a:xfrm>
            <a:off x="411480" y="914400"/>
            <a:ext cx="5669280" cy="21031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sz="20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OshiFit v2</a:t>
            </a:r>
          </a:p>
          <a:p>
            <a:pPr algn="l"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sz="1800" b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「ゆらぎアバター」でシステムを再設計</a:t>
            </a:r>
          </a:p>
          <a:p>
            <a:pPr algn="l"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sz="1400" b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倫理審査の申請 ／ 予測モデル v1.0 の固定</a:t>
            </a:r>
          </a:p>
        </p:txBody>
      </p:sp>
      <p:pic>
        <p:nvPicPr>
          <p:cNvPr id="7" name="Picture 6" descr="ghost_d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658368"/>
            <a:ext cx="4034118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182880" tIns="27432" bIns="109728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26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前回からの進捗サマリー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 sz="half"/>
          </p:nvPr>
        </p:nvSpPr>
        <p:spPr/>
        <p:txBody>
          <a:bodyPr lIns="27432" rIns="0" wrap="none"/>
          <a:p>
            <a:r>
              <a:rPr sz="900">
                <a:latin typeface="BIZ UDPゴシック"/>
                <a:ea typeface="BIZ UDPゴシック"/>
                <a:cs typeface="BIZ UDPゴシック"/>
              </a:rPr>
              <a:t>2026/10/16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US">
                <a:latin typeface="BIZ UDPゴシック"/>
                <a:ea typeface="BIZ UDPゴシック"/>
                <a:cs typeface="BIZ UDPゴシック"/>
              </a:rPr>
              <a:t>2</a:t>
            </a:fld>
          </a:p>
        </p:txBody>
      </p:sp>
      <p:sp>
        <p:nvSpPr>
          <p:cNvPr id="5" name="Rounded Rectangle 4"/>
          <p:cNvSpPr/>
          <p:nvPr/>
        </p:nvSpPr>
        <p:spPr>
          <a:xfrm>
            <a:off x="411480" y="1417320"/>
            <a:ext cx="2743200" cy="4206240"/>
          </a:xfrm>
          <a:prstGeom prst="roundRect">
            <a:avLst>
              <a:gd name="adj" fmla="val 4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94360" y="1536192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400" b="1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前回（9月）までの到達点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65960"/>
            <a:ext cx="2423160" cy="3566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82880" indent="-182880">
              <a:spcAft>
                <a:spcPts val="800"/>
              </a:spcAft>
              <a:buClr>
                <a:srgbClr val="7A8594"/>
              </a:buClr>
              <a:buFont typeface="BIZ UDPゴシック"/>
              <a:buChar char="•"/>
            </a:pPr>
            <a:r>
              <a:rPr sz="1300" b="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予備調査215名の再分析（回答の向きの確認・4タイプ分析）</a:t>
            </a:r>
          </a:p>
          <a:p>
            <a:pPr algn="l" marL="182880" indent="-182880">
              <a:spcAft>
                <a:spcPts val="800"/>
              </a:spcAft>
              <a:buClr>
                <a:srgbClr val="7A8594"/>
              </a:buClr>
              <a:buFont typeface="BIZ UDPゴシック"/>
              <a:buChar char="•"/>
            </a:pPr>
            <a:r>
              <a:rPr sz="1300" b="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研究計画書を改訂（9/27版）：RQ1〜3、3群の無作為化比較実験</a:t>
            </a:r>
          </a:p>
          <a:p>
            <a:pPr algn="l" marL="182880" indent="-182880">
              <a:spcAft>
                <a:spcPts val="800"/>
              </a:spcAft>
              <a:buClr>
                <a:srgbClr val="7A8594"/>
              </a:buClr>
              <a:buFont typeface="BIZ UDPゴシック"/>
              <a:buChar char="•"/>
            </a:pPr>
            <a:r>
              <a:rPr sz="1300" b="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Web版の試用版を作成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273552" y="3246120"/>
            <a:ext cx="292608" cy="457200"/>
          </a:xfrm>
          <a:prstGeom prst="rightArrow">
            <a:avLst/>
          </a:prstGeom>
          <a:solidFill>
            <a:srgbClr val="00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3703320" y="1481328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12A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1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完了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1389888"/>
            <a:ext cx="4114800" cy="6949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Aft>
                <a:spcPts val="100"/>
              </a:spcAft>
              <a:buNone/>
            </a:pPr>
            <a:r>
              <a:rPr sz="14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倫理審査の申請書を提出（10/9）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sz="1200" b="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顔写真の扱い・相談先の表示・撤回手続きを明記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03320" y="2212848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12A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1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完了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121408"/>
            <a:ext cx="4114800" cy="6949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Aft>
                <a:spcPts val="100"/>
              </a:spcAft>
              <a:buNone/>
            </a:pPr>
            <a:r>
              <a:rPr sz="14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予測モデル v1.0 を固定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sz="1200" b="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10分割交差検証で精度を確認し、版番号をつけて凍結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3320" y="2944368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12A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1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完了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852928"/>
            <a:ext cx="4114800" cy="6949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Aft>
                <a:spcPts val="100"/>
              </a:spcAft>
              <a:buNone/>
            </a:pPr>
            <a:r>
              <a:rPr sz="14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アプリの土台を実装（React Native / Expo）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sz="1200" b="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毎日の記録画面・TIPI-J・匿名IDでのデータ送信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3675888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E84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1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新規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584448"/>
            <a:ext cx="4114800" cy="6949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Aft>
                <a:spcPts val="100"/>
              </a:spcAft>
              <a:buNone/>
            </a:pPr>
            <a:r>
              <a:rPr sz="14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OshiFit v2 を設計：4つの新しい仕組み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sz="1200" b="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ベイズ個人ツイン／ゆらぎアバター／リバランス提案／疲れの中身キュー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4407408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00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1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進行中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4315968"/>
            <a:ext cx="4114800" cy="6949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Aft>
                <a:spcPts val="100"/>
              </a:spcAft>
              <a:buNone/>
            </a:pPr>
            <a:r>
              <a:rPr sz="14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CHIIR 2027 の原稿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sz="1200" b="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構成と図を作成中（締切 10/29）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5733288"/>
            <a:ext cx="8321040" cy="457200"/>
          </a:xfrm>
          <a:prstGeom prst="roundRect">
            <a:avLst>
              <a:gd name="adj" fmla="val 20000"/>
            </a:avLst>
          </a:prstGeom>
          <a:solidFill>
            <a:srgbClr val="E6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27432" rIns="45720" bIns="27432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4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今回の主張：予測の「不確かさ」を隠さずアバターで見せ、記録を続ける動機に変える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182880" tIns="27432" bIns="109728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26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全体スケジュールと現在地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 sz="half"/>
          </p:nvPr>
        </p:nvSpPr>
        <p:spPr/>
        <p:txBody>
          <a:bodyPr lIns="27432" rIns="0" wrap="none"/>
          <a:p>
            <a:r>
              <a:rPr sz="900">
                <a:latin typeface="BIZ UDPゴシック"/>
                <a:ea typeface="BIZ UDPゴシック"/>
                <a:cs typeface="BIZ UDPゴシック"/>
              </a:rPr>
              <a:t>2026/10/16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US">
                <a:latin typeface="BIZ UDPゴシック"/>
                <a:ea typeface="BIZ UDPゴシック"/>
                <a:cs typeface="BIZ UDPゴシック"/>
              </a:rPr>
              <a:t>3</a:t>
            </a:fld>
          </a:p>
        </p:txBody>
      </p:sp>
      <p:sp>
        <p:nvSpPr>
          <p:cNvPr id="5" name="TextBox 4"/>
          <p:cNvSpPr txBox="1"/>
          <p:nvPr/>
        </p:nvSpPr>
        <p:spPr>
          <a:xfrm>
            <a:off x="1874519" y="1417320"/>
            <a:ext cx="16002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200" b="1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10月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874519" y="1764792"/>
            <a:ext cx="0" cy="2743200"/>
          </a:xfrm>
          <a:prstGeom prst="line">
            <a:avLst/>
          </a:prstGeom>
          <a:ln w="12700">
            <a:solidFill>
              <a:srgbClr val="E3E8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474720" y="1417320"/>
            <a:ext cx="16002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200" b="1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11月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474720" y="1764792"/>
            <a:ext cx="0" cy="2743200"/>
          </a:xfrm>
          <a:prstGeom prst="line">
            <a:avLst/>
          </a:prstGeom>
          <a:ln w="12700">
            <a:solidFill>
              <a:srgbClr val="E3E8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74920" y="1417320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200" b="1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12月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74920" y="1764792"/>
            <a:ext cx="0" cy="2743200"/>
          </a:xfrm>
          <a:prstGeom prst="line">
            <a:avLst/>
          </a:prstGeom>
          <a:ln w="12700">
            <a:solidFill>
              <a:srgbClr val="E3E8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46520" y="1417320"/>
            <a:ext cx="914399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200" b="1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1月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46520" y="1764792"/>
            <a:ext cx="0" cy="2743200"/>
          </a:xfrm>
          <a:prstGeom prst="line">
            <a:avLst/>
          </a:prstGeom>
          <a:ln w="12700">
            <a:solidFill>
              <a:srgbClr val="E3E8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60919" y="1417320"/>
            <a:ext cx="777239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200" b="1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2月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60919" y="1764792"/>
            <a:ext cx="0" cy="2743200"/>
          </a:xfrm>
          <a:prstGeom prst="line">
            <a:avLst/>
          </a:prstGeom>
          <a:ln w="12700">
            <a:solidFill>
              <a:srgbClr val="E3E8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138159" y="1417320"/>
            <a:ext cx="50292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200" b="1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3月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138159" y="1764792"/>
            <a:ext cx="0" cy="2743200"/>
          </a:xfrm>
          <a:prstGeom prst="line">
            <a:avLst/>
          </a:prstGeom>
          <a:ln w="12700">
            <a:solidFill>
              <a:srgbClr val="E3E8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11480" y="1764792"/>
            <a:ext cx="1371599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3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システム開発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74519" y="1874520"/>
            <a:ext cx="1496961" cy="329184"/>
          </a:xfrm>
          <a:prstGeom prst="roundRect">
            <a:avLst>
              <a:gd name="adj" fmla="val 22222"/>
            </a:avLst>
          </a:prstGeom>
          <a:solidFill>
            <a:srgbClr val="CC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1874519" y="1874520"/>
            <a:ext cx="774290" cy="329184"/>
          </a:xfrm>
          <a:prstGeom prst="roundRect">
            <a:avLst>
              <a:gd name="adj" fmla="val 22222"/>
            </a:avLst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874519" y="1874520"/>
            <a:ext cx="1496961" cy="329184"/>
          </a:xfrm>
          <a:prstGeom prst="rect">
            <a:avLst/>
          </a:prstGeom>
          <a:noFill/>
        </p:spPr>
        <p:txBody>
          <a:bodyPr wrap="none" lIns="54864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1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設計 → ベータ版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2313432"/>
            <a:ext cx="1371599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3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倫理審査・募集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87474" y="2423160"/>
            <a:ext cx="722670" cy="329184"/>
          </a:xfrm>
          <a:prstGeom prst="roundRect">
            <a:avLst>
              <a:gd name="adj" fmla="val 22222"/>
            </a:avLst>
          </a:prstGeom>
          <a:solidFill>
            <a:srgbClr val="FDE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2287474" y="2423160"/>
            <a:ext cx="361335" cy="329184"/>
          </a:xfrm>
          <a:prstGeom prst="roundRect">
            <a:avLst>
              <a:gd name="adj" fmla="val 22222"/>
            </a:avLst>
          </a:prstGeom>
          <a:solidFill>
            <a:srgbClr val="F29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2287474" y="2423160"/>
            <a:ext cx="722670" cy="329184"/>
          </a:xfrm>
          <a:prstGeom prst="rect">
            <a:avLst/>
          </a:prstGeom>
          <a:noFill/>
        </p:spPr>
        <p:txBody>
          <a:bodyPr wrap="none" lIns="54864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1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審査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61765" y="2423160"/>
            <a:ext cx="412954" cy="329184"/>
          </a:xfrm>
          <a:prstGeom prst="roundRect">
            <a:avLst>
              <a:gd name="adj" fmla="val 22222"/>
            </a:avLst>
          </a:prstGeom>
          <a:solidFill>
            <a:srgbClr val="EFE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061765" y="2423160"/>
            <a:ext cx="457200" cy="329184"/>
          </a:xfrm>
          <a:prstGeom prst="rect">
            <a:avLst/>
          </a:prstGeom>
          <a:noFill/>
        </p:spPr>
        <p:txBody>
          <a:bodyPr wrap="none" lIns="54864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95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募集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2862072"/>
            <a:ext cx="1371599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3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本実験（6週間）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28059" y="2971800"/>
            <a:ext cx="693420" cy="329184"/>
          </a:xfrm>
          <a:prstGeom prst="roundRect">
            <a:avLst>
              <a:gd name="adj" fmla="val 22222"/>
            </a:avLst>
          </a:prstGeom>
          <a:solidFill>
            <a:srgbClr val="E3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3528059" y="2971800"/>
            <a:ext cx="693420" cy="329184"/>
          </a:xfrm>
          <a:prstGeom prst="rect">
            <a:avLst/>
          </a:prstGeom>
          <a:noFill/>
        </p:spPr>
        <p:txBody>
          <a:bodyPr wrap="none" lIns="54864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1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記録のみ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74820" y="2971800"/>
            <a:ext cx="1331041" cy="329184"/>
          </a:xfrm>
          <a:prstGeom prst="roundRect">
            <a:avLst>
              <a:gd name="adj" fmla="val 22222"/>
            </a:avLst>
          </a:prstGeom>
          <a:solidFill>
            <a:srgbClr val="E3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274820" y="2971800"/>
            <a:ext cx="1331041" cy="329184"/>
          </a:xfrm>
          <a:prstGeom prst="rect">
            <a:avLst/>
          </a:prstGeom>
          <a:noFill/>
        </p:spPr>
        <p:txBody>
          <a:bodyPr wrap="none" lIns="54864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1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介入（3群）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3410712"/>
            <a:ext cx="1371599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3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解析・修論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50107" y="3520440"/>
            <a:ext cx="1622322" cy="329184"/>
          </a:xfrm>
          <a:prstGeom prst="roundRect">
            <a:avLst>
              <a:gd name="adj" fmla="val 22222"/>
            </a:avLst>
          </a:prstGeom>
          <a:solidFill>
            <a:srgbClr val="E6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650107" y="3520440"/>
            <a:ext cx="1622322" cy="329184"/>
          </a:xfrm>
          <a:prstGeom prst="rect">
            <a:avLst/>
          </a:prstGeom>
          <a:noFill/>
        </p:spPr>
        <p:txBody>
          <a:bodyPr wrap="none" lIns="54864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1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解析 → 執筆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3959352"/>
            <a:ext cx="1371599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3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対外発表</a:t>
            </a:r>
          </a:p>
        </p:txBody>
      </p:sp>
      <p:sp>
        <p:nvSpPr>
          <p:cNvPr id="36" name="Diamond 35"/>
          <p:cNvSpPr/>
          <p:nvPr/>
        </p:nvSpPr>
        <p:spPr>
          <a:xfrm>
            <a:off x="3228421" y="4032504"/>
            <a:ext cx="182880" cy="18288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E84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2816941" y="4215384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sz="10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CHIIR投稿</a:t>
            </a:r>
          </a:p>
          <a:p>
            <a:pPr algn="ctr" marL="0" indent="0">
              <a:spcAft>
                <a:spcPts val="0"/>
              </a:spcAft>
              <a:buNone/>
            </a:pPr>
            <a:r>
              <a:rPr sz="10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10/29</a:t>
            </a:r>
          </a:p>
        </p:txBody>
      </p:sp>
      <p:sp>
        <p:nvSpPr>
          <p:cNvPr id="38" name="Diamond 37"/>
          <p:cNvSpPr/>
          <p:nvPr/>
        </p:nvSpPr>
        <p:spPr>
          <a:xfrm>
            <a:off x="7180989" y="4032504"/>
            <a:ext cx="182880" cy="18288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E84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769509" y="4215384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sz="10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修論提出</a:t>
            </a:r>
          </a:p>
          <a:p>
            <a:pPr algn="ctr" marL="0" indent="0">
              <a:spcAft>
                <a:spcPts val="0"/>
              </a:spcAft>
              <a:buNone/>
            </a:pPr>
            <a:r>
              <a:rPr sz="10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1/29</a:t>
            </a:r>
          </a:p>
        </p:txBody>
      </p:sp>
      <p:sp>
        <p:nvSpPr>
          <p:cNvPr id="40" name="Diamond 39"/>
          <p:cNvSpPr/>
          <p:nvPr/>
        </p:nvSpPr>
        <p:spPr>
          <a:xfrm>
            <a:off x="7713617" y="4032504"/>
            <a:ext cx="182880" cy="18288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E84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302137" y="4215384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sz="10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公聴会</a:t>
            </a:r>
          </a:p>
          <a:p>
            <a:pPr algn="ctr" marL="0" indent="0">
              <a:spcAft>
                <a:spcPts val="0"/>
              </a:spcAft>
              <a:buNone/>
            </a:pPr>
            <a:r>
              <a:rPr sz="10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2/17</a:t>
            </a:r>
          </a:p>
        </p:txBody>
      </p:sp>
      <p:sp>
        <p:nvSpPr>
          <p:cNvPr id="42" name="Diamond 41"/>
          <p:cNvSpPr/>
          <p:nvPr/>
        </p:nvSpPr>
        <p:spPr>
          <a:xfrm>
            <a:off x="8298179" y="4032504"/>
            <a:ext cx="182880" cy="18288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E84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7886699" y="4215384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sz="10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CHIIR</a:t>
            </a:r>
          </a:p>
          <a:p>
            <a:pPr algn="ctr" marL="0" indent="0">
              <a:spcAft>
                <a:spcPts val="0"/>
              </a:spcAft>
              <a:buNone/>
            </a:pPr>
            <a:r>
              <a:rPr sz="10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3/7–11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2648810" y="1719072"/>
            <a:ext cx="0" cy="2286000"/>
          </a:xfrm>
          <a:prstGeom prst="line">
            <a:avLst/>
          </a:prstGeom>
          <a:ln w="28575">
            <a:solidFill>
              <a:srgbClr val="E8457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2008730" y="4617720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E84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0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いまここ 10/16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1480" y="5029200"/>
            <a:ext cx="8321040" cy="114300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Oval 46"/>
          <p:cNvSpPr/>
          <p:nvPr/>
        </p:nvSpPr>
        <p:spPr>
          <a:xfrm>
            <a:off x="594360" y="5321808"/>
            <a:ext cx="548640" cy="548640"/>
          </a:xfrm>
          <a:prstGeom prst="ellipse">
            <a:avLst/>
          </a:prstGeom>
          <a:solidFill>
            <a:srgbClr val="E84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8" name="Picture 47" descr="ic_clock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033" y="5453481"/>
            <a:ext cx="285292" cy="285292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325880" y="5074920"/>
            <a:ext cx="722376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200"/>
              </a:spcAft>
              <a:buNone/>
            </a:pPr>
            <a:r>
              <a:rPr sz="13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11月2日（月）に本実験を始めるには、残り約2週間で「ベータ版の完成」と「操作確認」を終える必要がある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200" b="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6週間の実験＋解析を修論提出（1/29）に間に合わせるための逆算。倫理審査が遅れた場合は群B・Cの2群に縮小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182880" tIns="27432" bIns="109728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26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倫理審査の申請内容（10/9 提出）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 sz="half"/>
          </p:nvPr>
        </p:nvSpPr>
        <p:spPr/>
        <p:txBody>
          <a:bodyPr lIns="27432" rIns="0" wrap="none"/>
          <a:p>
            <a:r>
              <a:rPr sz="900">
                <a:latin typeface="BIZ UDPゴシック"/>
                <a:ea typeface="BIZ UDPゴシック"/>
                <a:cs typeface="BIZ UDPゴシック"/>
              </a:rPr>
              <a:t>2026/10/16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US">
                <a:latin typeface="BIZ UDPゴシック"/>
                <a:ea typeface="BIZ UDPゴシック"/>
                <a:cs typeface="BIZ UDPゴシック"/>
              </a:rPr>
              <a:t>4</a:t>
            </a:fld>
          </a:p>
        </p:txBody>
      </p:sp>
      <p:sp>
        <p:nvSpPr>
          <p:cNvPr id="5" name="Rounded Rectangle 4"/>
          <p:cNvSpPr/>
          <p:nvPr/>
        </p:nvSpPr>
        <p:spPr>
          <a:xfrm>
            <a:off x="411480" y="1417320"/>
            <a:ext cx="40690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  <a:effectLst>
            <a:outerShdw blurRad="76200" dist="19050" dir="5400000" algn="t" rotWithShape="0">
              <a:srgbClr val="0B3C6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557784" y="1563624"/>
            <a:ext cx="457200" cy="457200"/>
          </a:xfrm>
          <a:prstGeom prst="ellipse">
            <a:avLst/>
          </a:prstGeom>
          <a:solidFill>
            <a:srgbClr val="E84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c_camera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673352"/>
            <a:ext cx="237744" cy="2377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" y="1536192"/>
            <a:ext cx="324612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5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顔写真の扱い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112264"/>
            <a:ext cx="3776472" cy="9966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Aft>
                <a:spcPts val="300"/>
              </a:spcAft>
              <a:buNone/>
            </a:pPr>
            <a:r>
              <a:rPr sz="13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端末の中だけで処理し、アバター生成後すぐに破棄。サーバーへは送らない。写真を使わない作成方法も用意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417320"/>
            <a:ext cx="40690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  <a:effectLst>
            <a:outerShdw blurRad="76200" dist="19050" dir="5400000" algn="t" rotWithShape="0">
              <a:srgbClr val="0B3C6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809744" y="1563624"/>
            <a:ext cx="457200" cy="457200"/>
          </a:xfrm>
          <a:prstGeom prst="ellipse">
            <a:avLst/>
          </a:prstGeom>
          <a:solidFill>
            <a:srgbClr val="00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ic_sign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472" y="1673352"/>
            <a:ext cx="237744" cy="2377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376672" y="1536192"/>
            <a:ext cx="324612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5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同意と撤回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8032" y="2112264"/>
            <a:ext cx="3776472" cy="9966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Aft>
                <a:spcPts val="300"/>
              </a:spcAft>
              <a:buNone/>
            </a:pPr>
            <a:r>
              <a:rPr sz="13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参加は任意。いつでも撤回とデータ削除ができる。記録は匿名IDで管理し、氏名とは切り離す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383280"/>
            <a:ext cx="40690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  <a:effectLst>
            <a:outerShdw blurRad="76200" dist="19050" dir="5400000" algn="t" rotWithShape="0">
              <a:srgbClr val="0B3C6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557784" y="3529584"/>
            <a:ext cx="457200" cy="457200"/>
          </a:xfrm>
          <a:prstGeom prst="ellipse">
            <a:avLst/>
          </a:prstGeom>
          <a:solidFill>
            <a:srgbClr val="12A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ic_shield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3639312"/>
            <a:ext cx="237744" cy="2377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24712" y="3502152"/>
            <a:ext cx="324612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5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つらさへの配慮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" y="4078224"/>
            <a:ext cx="3776472" cy="9966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Aft>
                <a:spcPts val="300"/>
              </a:spcAft>
              <a:buNone/>
            </a:pPr>
            <a:r>
              <a:rPr sz="13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WHO-5 素点が13点未満、または強い疲れの記録があれば相談先を表示し、利用の継続を求めない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63440" y="3383280"/>
            <a:ext cx="40690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  <a:effectLst>
            <a:outerShdw blurRad="76200" dist="19050" dir="5400000" algn="t" rotWithShape="0">
              <a:srgbClr val="0B3C6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4809744" y="3529584"/>
            <a:ext cx="457200" cy="457200"/>
          </a:xfrm>
          <a:prstGeom prst="ellipse">
            <a:avLst/>
          </a:prstGeom>
          <a:solidFill>
            <a:srgbClr val="7C6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ic_ey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3639312"/>
            <a:ext cx="237744" cy="23774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376672" y="3502152"/>
            <a:ext cx="324612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5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予測の説明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8032" y="4078224"/>
            <a:ext cx="3776472" cy="9966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Aft>
                <a:spcPts val="300"/>
              </a:spcAft>
              <a:buNone/>
            </a:pPr>
            <a:r>
              <a:rPr sz="13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予測値は「見込み」であることを常に表示。終了後に予測の精度を参加者へ説明する</a:t>
            </a:r>
          </a:p>
        </p:txBody>
      </p:sp>
      <p:sp>
        <p:nvSpPr>
          <p:cNvPr id="25" name="Oval 24"/>
          <p:cNvSpPr/>
          <p:nvPr/>
        </p:nvSpPr>
        <p:spPr>
          <a:xfrm>
            <a:off x="411480" y="5440680"/>
            <a:ext cx="713232" cy="713232"/>
          </a:xfrm>
          <a:prstGeom prst="ellipse">
            <a:avLst/>
          </a:prstGeom>
          <a:solidFill>
            <a:srgbClr val="12A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1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10/9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6152" y="5513832"/>
            <a:ext cx="173736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4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申請書を提出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697480" y="5797296"/>
            <a:ext cx="457200" cy="0"/>
          </a:xfrm>
          <a:prstGeom prst="line">
            <a:avLst/>
          </a:prstGeom>
          <a:ln w="25400">
            <a:solidFill>
              <a:srgbClr val="7A859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3246120" y="5440680"/>
            <a:ext cx="713232" cy="713232"/>
          </a:xfrm>
          <a:prstGeom prst="ellipse">
            <a:avLst/>
          </a:prstGeom>
          <a:solidFill>
            <a:srgbClr val="00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1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10/21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50792" y="5513832"/>
            <a:ext cx="173736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4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審査会（予定）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532120" y="5797296"/>
            <a:ext cx="457200" cy="0"/>
          </a:xfrm>
          <a:prstGeom prst="line">
            <a:avLst/>
          </a:prstGeom>
          <a:ln w="25400">
            <a:solidFill>
              <a:srgbClr val="7A859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6080760" y="5440680"/>
            <a:ext cx="713232" cy="713232"/>
          </a:xfrm>
          <a:prstGeom prst="ellipse">
            <a:avLst/>
          </a:prstGeom>
          <a:solidFill>
            <a:srgbClr val="7A8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1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承認後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85432" y="5513832"/>
            <a:ext cx="173736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4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募集を開始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182880" tIns="27432" bIns="109728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26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予測モデル v1.0 を固定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 sz="half"/>
          </p:nvPr>
        </p:nvSpPr>
        <p:spPr/>
        <p:txBody>
          <a:bodyPr lIns="27432" rIns="0" wrap="none"/>
          <a:p>
            <a:r>
              <a:rPr sz="900">
                <a:latin typeface="BIZ UDPゴシック"/>
                <a:ea typeface="BIZ UDPゴシック"/>
                <a:cs typeface="BIZ UDPゴシック"/>
              </a:rPr>
              <a:t>2026/10/16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US">
                <a:latin typeface="BIZ UDPゴシック"/>
                <a:ea typeface="BIZ UDPゴシック"/>
                <a:cs typeface="BIZ UDPゴシック"/>
              </a:rPr>
              <a:t>5</a:t>
            </a:fld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11480" y="1371600"/>
          <a:ext cx="4023360" cy="3337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11480" y="4800600"/>
            <a:ext cx="4023360" cy="1371600"/>
          </a:xfrm>
          <a:prstGeom prst="roundRect">
            <a:avLst>
              <a:gd name="adj" fmla="val 6666"/>
            </a:avLst>
          </a:prstGeom>
          <a:solidFill>
            <a:srgbClr val="FF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4864608"/>
            <a:ext cx="3749039" cy="12618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350" b="1">
                <a:solidFill>
                  <a:srgbClr val="E07A10"/>
                </a:solidFill>
                <a:latin typeface="BIZ UDPゴシック"/>
                <a:ea typeface="BIZ UDPゴシック"/>
                <a:cs typeface="BIZ UDPゴシック"/>
              </a:rPr>
              <a:t>同じ行動が「充実」と「推し疲れ」を両方押し上げる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25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→ 一律に「減らす」提案は楽しさまで削ってしまう。本人の希望と疲れの中身に合わせた提案が必要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663440" y="1417320"/>
          <a:ext cx="4069080" cy="131673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91640"/>
                <a:gridCol w="1005840"/>
                <a:gridCol w="1371600"/>
              </a:tblGrid>
              <a:tr h="438912"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出力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0B3C6E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説明率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0B3C6E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誤差（5段階）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0B3C6E"/>
                    </a:solidFill>
                  </a:tcPr>
                </a:tc>
              </a:tr>
              <a:tr h="438912"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幸福度（充実）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約27%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±0.71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推し疲れ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約11%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±0.92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663440" y="2834640"/>
            <a:ext cx="40690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100" b="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10分割交差検証（入力：頻度・没入・きっかけ・TIPI-J）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3246120"/>
            <a:ext cx="406908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  <a:effectLst>
            <a:outerShdw blurRad="76200" dist="19050" dir="5400000" algn="t" rotWithShape="0">
              <a:srgbClr val="0B3C6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809744" y="3392424"/>
            <a:ext cx="457200" cy="457200"/>
          </a:xfrm>
          <a:prstGeom prst="ellipse">
            <a:avLst/>
          </a:prstGeom>
          <a:solidFill>
            <a:srgbClr val="0B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ic_lo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472" y="3502152"/>
            <a:ext cx="237744" cy="2377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376672" y="3364991"/>
            <a:ext cx="324612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5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v1.0 として凍結したもの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8031" y="3941063"/>
            <a:ext cx="3776472" cy="21396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82880" indent="-182880">
              <a:spcAft>
                <a:spcPts val="300"/>
              </a:spcAft>
              <a:buClr>
                <a:srgbClr val="0099FF"/>
              </a:buClr>
              <a:buFont typeface="BIZ UDPゴシック"/>
              <a:buChar char="•"/>
            </a:pPr>
            <a:r>
              <a:rPr sz="13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係数・前処理・欠測の扱い</a:t>
            </a:r>
          </a:p>
          <a:p>
            <a:pPr algn="l" marL="182880" indent="-182880">
              <a:spcAft>
                <a:spcPts val="300"/>
              </a:spcAft>
              <a:buClr>
                <a:srgbClr val="0099FF"/>
              </a:buClr>
              <a:buFont typeface="BIZ UDPゴシック"/>
              <a:buChar char="•"/>
            </a:pPr>
            <a:r>
              <a:rPr sz="13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学習コードと乱数シード（Gitタグ model-v1.0）</a:t>
            </a:r>
          </a:p>
          <a:p>
            <a:pPr algn="l" marL="182880" indent="-182880">
              <a:spcAft>
                <a:spcPts val="300"/>
              </a:spcAft>
              <a:buClr>
                <a:srgbClr val="0099FF"/>
              </a:buClr>
              <a:buFont typeface="BIZ UDPゴシック"/>
              <a:buChar char="•"/>
            </a:pPr>
            <a:r>
              <a:rPr sz="13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予測区間の計算方法（80%区間）</a:t>
            </a:r>
          </a:p>
          <a:p>
            <a:pPr algn="l" marL="182880" indent="-182880">
              <a:spcAft>
                <a:spcPts val="300"/>
              </a:spcAft>
              <a:buClr>
                <a:srgbClr val="E8457C"/>
              </a:buClr>
              <a:buFont typeface="BIZ UDPゴシック"/>
              <a:buChar char="•"/>
            </a:pPr>
            <a:r>
              <a:rPr sz="13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本実験中はモデルを変えず、個人補正のみ行う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182880" tIns="27432" bIns="109728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26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課題：精度の低い予測で「未来」をどう見せるか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 sz="half"/>
          </p:nvPr>
        </p:nvSpPr>
        <p:spPr/>
        <p:txBody>
          <a:bodyPr lIns="27432" rIns="0" wrap="none"/>
          <a:p>
            <a:r>
              <a:rPr sz="900">
                <a:latin typeface="BIZ UDPゴシック"/>
                <a:ea typeface="BIZ UDPゴシック"/>
                <a:cs typeface="BIZ UDPゴシック"/>
              </a:rPr>
              <a:t>2026/10/16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US">
                <a:latin typeface="BIZ UDPゴシック"/>
                <a:ea typeface="BIZ UDPゴシック"/>
                <a:cs typeface="BIZ UDPゴシック"/>
              </a:rPr>
              <a:t>6</a:t>
            </a:fld>
          </a:p>
        </p:txBody>
      </p:sp>
      <p:sp>
        <p:nvSpPr>
          <p:cNvPr id="5" name="Rounded Rectangle 4"/>
          <p:cNvSpPr/>
          <p:nvPr/>
        </p:nvSpPr>
        <p:spPr>
          <a:xfrm>
            <a:off x="411480" y="1463040"/>
            <a:ext cx="3931920" cy="1325880"/>
          </a:xfrm>
          <a:prstGeom prst="roundRect">
            <a:avLst>
              <a:gd name="adj" fmla="val 6896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94360" y="1554480"/>
            <a:ext cx="3611880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5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推し疲れの誤差は ±0.92（5段階）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300" b="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1人の未来として断定的に見せると、誤解や不安を招く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480560" y="1920240"/>
            <a:ext cx="411480" cy="411480"/>
          </a:xfrm>
          <a:prstGeom prst="rightArrow">
            <a:avLst/>
          </a:prstGeom>
          <a:solidFill>
            <a:srgbClr val="00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029200" y="1463040"/>
            <a:ext cx="3703320" cy="1325880"/>
          </a:xfrm>
          <a:prstGeom prst="roundRect">
            <a:avLst>
              <a:gd name="adj" fmla="val 6896"/>
            </a:avLst>
          </a:prstGeom>
          <a:solidFill>
            <a:srgbClr val="FFFFFF"/>
          </a:solidFill>
          <a:ln w="19050">
            <a:solidFill>
              <a:srgbClr val="12A38A"/>
            </a:solidFill>
          </a:ln>
          <a:effectLst>
            <a:outerShdw blurRad="76200" dist="19050" dir="5400000" algn="t" rotWithShape="0">
              <a:srgbClr val="0B3C6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5193792" y="1847088"/>
            <a:ext cx="548640" cy="548640"/>
          </a:xfrm>
          <a:prstGeom prst="ellipse">
            <a:avLst/>
          </a:prstGeom>
          <a:solidFill>
            <a:srgbClr val="12A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ic_dice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5465" y="1978761"/>
            <a:ext cx="285292" cy="285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97880" y="1554480"/>
            <a:ext cx="2743200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500" b="1">
                <a:solidFill>
                  <a:srgbClr val="12A38A"/>
                </a:solidFill>
                <a:latin typeface="BIZ UDPゴシック"/>
                <a:ea typeface="BIZ UDPゴシック"/>
                <a:cs typeface="BIZ UDPゴシック"/>
              </a:rPr>
              <a:t>不確かさをそのまま見せる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3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② ゆらぎアバター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3035808"/>
            <a:ext cx="3931920" cy="1325880"/>
          </a:xfrm>
          <a:prstGeom prst="roundRect">
            <a:avLst>
              <a:gd name="adj" fmla="val 6896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3127248"/>
            <a:ext cx="3611880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5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性格や生活で個人差が大きい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300" b="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予備調査の平均的なモデルのままでは本人に当たらない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480560" y="3493008"/>
            <a:ext cx="411480" cy="411480"/>
          </a:xfrm>
          <a:prstGeom prst="rightArrow">
            <a:avLst/>
          </a:prstGeom>
          <a:solidFill>
            <a:srgbClr val="00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5029200" y="3035808"/>
            <a:ext cx="3703320" cy="1325880"/>
          </a:xfrm>
          <a:prstGeom prst="roundRect">
            <a:avLst>
              <a:gd name="adj" fmla="val 6896"/>
            </a:avLst>
          </a:prstGeom>
          <a:solidFill>
            <a:srgbClr val="FFFFFF"/>
          </a:solidFill>
          <a:ln w="19050">
            <a:solidFill>
              <a:srgbClr val="12A38A"/>
            </a:solidFill>
          </a:ln>
          <a:effectLst>
            <a:outerShdw blurRad="76200" dist="19050" dir="5400000" algn="t" rotWithShape="0">
              <a:srgbClr val="0B3C6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5193792" y="3419856"/>
            <a:ext cx="548640" cy="548640"/>
          </a:xfrm>
          <a:prstGeom prst="ellipse">
            <a:avLst/>
          </a:prstGeom>
          <a:solidFill>
            <a:srgbClr val="12A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ic_user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5465" y="3551529"/>
            <a:ext cx="285292" cy="28529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97880" y="3127248"/>
            <a:ext cx="2743200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500" b="1">
                <a:solidFill>
                  <a:srgbClr val="12A38A"/>
                </a:solidFill>
                <a:latin typeface="BIZ UDPゴシック"/>
                <a:ea typeface="BIZ UDPゴシック"/>
                <a:cs typeface="BIZ UDPゴシック"/>
              </a:rPr>
              <a:t>記録で個人ごとに更新する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3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① ベイズ個人ツイン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4608576"/>
            <a:ext cx="3931920" cy="1325880"/>
          </a:xfrm>
          <a:prstGeom prst="roundRect">
            <a:avLst>
              <a:gd name="adj" fmla="val 6896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94360" y="4700016"/>
            <a:ext cx="3611880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5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8割が「推しが生きがい」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300" b="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「増やしたい」人が「減らしたい」人より多い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480560" y="5065776"/>
            <a:ext cx="411480" cy="411480"/>
          </a:xfrm>
          <a:prstGeom prst="rightArrow">
            <a:avLst/>
          </a:prstGeom>
          <a:solidFill>
            <a:srgbClr val="00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5029200" y="4608576"/>
            <a:ext cx="3703320" cy="1325880"/>
          </a:xfrm>
          <a:prstGeom prst="roundRect">
            <a:avLst>
              <a:gd name="adj" fmla="val 6896"/>
            </a:avLst>
          </a:prstGeom>
          <a:solidFill>
            <a:srgbClr val="FFFFFF"/>
          </a:solidFill>
          <a:ln w="19050">
            <a:solidFill>
              <a:srgbClr val="12A38A"/>
            </a:solidFill>
          </a:ln>
          <a:effectLst>
            <a:outerShdw blurRad="76200" dist="19050" dir="5400000" algn="t" rotWithShape="0">
              <a:srgbClr val="0B3C6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5193792" y="4992624"/>
            <a:ext cx="548640" cy="548640"/>
          </a:xfrm>
          <a:prstGeom prst="ellipse">
            <a:avLst/>
          </a:prstGeom>
          <a:solidFill>
            <a:srgbClr val="12A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ic_hear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5465" y="5124297"/>
            <a:ext cx="285292" cy="28529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897880" y="4700016"/>
            <a:ext cx="2743200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500" b="1">
                <a:solidFill>
                  <a:srgbClr val="12A38A"/>
                </a:solidFill>
                <a:latin typeface="BIZ UDPゴシック"/>
                <a:ea typeface="BIZ UDPゴシック"/>
                <a:cs typeface="BIZ UDPゴシック"/>
              </a:rPr>
              <a:t>減らさずに組み替える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3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③ リバランス提案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182880" tIns="27432" bIns="109728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26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OshiFit v2 のシステム構成（提案）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 sz="half"/>
          </p:nvPr>
        </p:nvSpPr>
        <p:spPr/>
        <p:txBody>
          <a:bodyPr lIns="27432" rIns="0" wrap="none"/>
          <a:p>
            <a:r>
              <a:rPr sz="900">
                <a:latin typeface="BIZ UDPゴシック"/>
                <a:ea typeface="BIZ UDPゴシック"/>
                <a:cs typeface="BIZ UDPゴシック"/>
              </a:rPr>
              <a:t>2026/10/16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US">
                <a:latin typeface="BIZ UDPゴシック"/>
                <a:ea typeface="BIZ UDPゴシック"/>
                <a:cs typeface="BIZ UDPゴシック"/>
              </a:rPr>
              <a:t>7</a:t>
            </a:fld>
          </a:p>
        </p:txBody>
      </p:sp>
      <p:sp>
        <p:nvSpPr>
          <p:cNvPr id="5" name="Rounded Rectangle 4"/>
          <p:cNvSpPr/>
          <p:nvPr/>
        </p:nvSpPr>
        <p:spPr>
          <a:xfrm>
            <a:off x="411480" y="1463040"/>
            <a:ext cx="2148840" cy="713232"/>
          </a:xfrm>
          <a:prstGeom prst="roundRect">
            <a:avLst>
              <a:gd name="adj" fmla="val 1282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  <a:effectLst>
            <a:outerShdw blurRad="76200" dist="19050" dir="5400000" algn="t" rotWithShape="0">
              <a:srgbClr val="0B3C6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502920" y="1609344"/>
            <a:ext cx="420624" cy="420624"/>
          </a:xfrm>
          <a:prstGeom prst="ellipse">
            <a:avLst/>
          </a:prstGeom>
          <a:solidFill>
            <a:srgbClr val="00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c_brain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69" y="1710293"/>
            <a:ext cx="218724" cy="2187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14984" y="1463040"/>
            <a:ext cx="1490472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sz="13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TIPI-J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050" b="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初回・約1分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331720"/>
            <a:ext cx="2148840" cy="713232"/>
          </a:xfrm>
          <a:prstGeom prst="roundRect">
            <a:avLst>
              <a:gd name="adj" fmla="val 1282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  <a:effectLst>
            <a:outerShdw blurRad="76200" dist="19050" dir="5400000" algn="t" rotWithShape="0">
              <a:srgbClr val="0B3C6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502920" y="2478024"/>
            <a:ext cx="420624" cy="420624"/>
          </a:xfrm>
          <a:prstGeom prst="ellipse">
            <a:avLst/>
          </a:prstGeom>
          <a:solidFill>
            <a:srgbClr val="00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ic_pen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869" y="2578973"/>
            <a:ext cx="218724" cy="2187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14984" y="2331720"/>
            <a:ext cx="1490472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sz="13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毎日の記録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050" b="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1日約30秒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3200400"/>
            <a:ext cx="2148840" cy="713232"/>
          </a:xfrm>
          <a:prstGeom prst="roundRect">
            <a:avLst>
              <a:gd name="adj" fmla="val 1282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  <a:effectLst>
            <a:outerShdw blurRad="76200" dist="19050" dir="5400000" algn="t" rotWithShape="0">
              <a:srgbClr val="0B3C6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502920" y="3346704"/>
            <a:ext cx="420624" cy="420624"/>
          </a:xfrm>
          <a:prstGeom prst="ellipse">
            <a:avLst/>
          </a:prstGeom>
          <a:solidFill>
            <a:srgbClr val="00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ic_hear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869" y="3447653"/>
            <a:ext cx="218724" cy="21872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14984" y="3200400"/>
            <a:ext cx="1490472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sz="13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本人の希望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050" b="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増やしたい／減らしたい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80360" y="1874519"/>
            <a:ext cx="1691640" cy="1783080"/>
          </a:xfrm>
          <a:prstGeom prst="roundRect">
            <a:avLst>
              <a:gd name="adj" fmla="val 6486"/>
            </a:avLst>
          </a:prstGeom>
          <a:solidFill>
            <a:srgbClr val="0B3C6E"/>
          </a:solidFill>
          <a:ln>
            <a:noFill/>
          </a:ln>
          <a:effectLst>
            <a:outerShdw blurRad="76200" dist="19050" dir="5400000" algn="t" rotWithShape="0">
              <a:srgbClr val="0B3C6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880360" y="1965960"/>
            <a:ext cx="169164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20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53512" y="2359152"/>
            <a:ext cx="1545336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4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ベイズ個人ツイン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53512" y="2834640"/>
            <a:ext cx="1545336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sz="1100" b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記録で毎晩更新する</a:t>
            </a:r>
          </a:p>
          <a:p>
            <a:pPr algn="ctr" marL="0" indent="0">
              <a:spcAft>
                <a:spcPts val="0"/>
              </a:spcAft>
              <a:buNone/>
            </a:pPr>
            <a:r>
              <a:rPr sz="1100" b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自分専用の予測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00600" y="1874519"/>
            <a:ext cx="1691640" cy="1783080"/>
          </a:xfrm>
          <a:prstGeom prst="roundRect">
            <a:avLst>
              <a:gd name="adj" fmla="val 6486"/>
            </a:avLst>
          </a:prstGeom>
          <a:solidFill>
            <a:srgbClr val="0B3C6E"/>
          </a:solidFill>
          <a:ln>
            <a:noFill/>
          </a:ln>
          <a:effectLst>
            <a:outerShdw blurRad="76200" dist="19050" dir="5400000" algn="t" rotWithShape="0">
              <a:srgbClr val="0B3C6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800600" y="1965960"/>
            <a:ext cx="169164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20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73752" y="2359152"/>
            <a:ext cx="1545336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4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リバランス提案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73752" y="2834640"/>
            <a:ext cx="1545336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sz="1100" b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減らさず組み替える</a:t>
            </a:r>
          </a:p>
          <a:p>
            <a:pPr algn="ctr" marL="0" indent="0">
              <a:spcAft>
                <a:spcPts val="0"/>
              </a:spcAft>
              <a:buNone/>
            </a:pPr>
            <a:r>
              <a:rPr sz="1100" b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3案（パレート最適）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2633472" y="2560320"/>
            <a:ext cx="219456" cy="384048"/>
          </a:xfrm>
          <a:prstGeom prst="rightArrow">
            <a:avLst/>
          </a:prstGeom>
          <a:solidFill>
            <a:srgbClr val="00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ight Arrow 25"/>
          <p:cNvSpPr/>
          <p:nvPr/>
        </p:nvSpPr>
        <p:spPr>
          <a:xfrm>
            <a:off x="4599432" y="2560320"/>
            <a:ext cx="182880" cy="384048"/>
          </a:xfrm>
          <a:prstGeom prst="rightArrow">
            <a:avLst/>
          </a:prstGeom>
          <a:solidFill>
            <a:srgbClr val="00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ight Arrow 26"/>
          <p:cNvSpPr/>
          <p:nvPr/>
        </p:nvSpPr>
        <p:spPr>
          <a:xfrm>
            <a:off x="6519672" y="2560320"/>
            <a:ext cx="182880" cy="384048"/>
          </a:xfrm>
          <a:prstGeom prst="rightArrow">
            <a:avLst/>
          </a:prstGeom>
          <a:solidFill>
            <a:srgbClr val="00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6748272" y="1417320"/>
            <a:ext cx="1984248" cy="2697480"/>
          </a:xfrm>
          <a:prstGeom prst="roundRect">
            <a:avLst>
              <a:gd name="adj" fmla="val 5529"/>
            </a:avLst>
          </a:prstGeom>
          <a:solidFill>
            <a:srgbClr val="E3F6F2"/>
          </a:solidFill>
          <a:ln w="19050">
            <a:solidFill>
              <a:srgbClr val="12A3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748272" y="1463040"/>
            <a:ext cx="1984248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300" b="1">
                <a:solidFill>
                  <a:srgbClr val="12A38A"/>
                </a:solidFill>
                <a:latin typeface="BIZ UDPゴシック"/>
                <a:ea typeface="BIZ UDPゴシック"/>
                <a:cs typeface="BIZ UDPゴシック"/>
              </a:rPr>
              <a:t>③④ みらいミラー</a:t>
            </a:r>
          </a:p>
        </p:txBody>
      </p:sp>
      <p:pic>
        <p:nvPicPr>
          <p:cNvPr id="30" name="Picture 29" descr="ghost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59" y="1828800"/>
            <a:ext cx="960120" cy="652882"/>
          </a:xfrm>
          <a:prstGeom prst="rect">
            <a:avLst/>
          </a:prstGeom>
        </p:spPr>
      </p:pic>
      <p:pic>
        <p:nvPicPr>
          <p:cNvPr id="31" name="Picture 30" descr="ghost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4112" y="1828800"/>
            <a:ext cx="960120" cy="65288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766559" y="2514600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050" b="1">
                <a:solidFill>
                  <a:srgbClr val="E07A10"/>
                </a:solidFill>
                <a:latin typeface="BIZ UDPゴシック"/>
                <a:ea typeface="BIZ UDPゴシック"/>
                <a:cs typeface="BIZ UDPゴシック"/>
              </a:rPr>
              <a:t>今のまま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54112" y="2514600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050" b="1">
                <a:solidFill>
                  <a:srgbClr val="12A38A"/>
                </a:solidFill>
                <a:latin typeface="BIZ UDPゴシック"/>
                <a:ea typeface="BIZ UDPゴシック"/>
                <a:cs typeface="BIZ UDPゴシック"/>
              </a:rPr>
              <a:t>提案どおり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2852928"/>
            <a:ext cx="178308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sz="115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ゆらぎアバター</a:t>
            </a:r>
          </a:p>
          <a:p>
            <a:pPr algn="l" marL="0" indent="0">
              <a:spcAft>
                <a:spcPts val="500"/>
              </a:spcAft>
              <a:buNone/>
            </a:pPr>
            <a:r>
              <a:rPr sz="105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予測の幅を重なりで表示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sz="115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疲れの中身キュー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05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睡眠・出費・義務感・比較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697480" y="4297680"/>
            <a:ext cx="6035040" cy="457200"/>
          </a:xfrm>
          <a:prstGeom prst="roundRect">
            <a:avLst>
              <a:gd name="adj" fmla="val 50000"/>
            </a:avLst>
          </a:prstGeom>
          <a:solidFill>
            <a:srgbClr val="E6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27432" rIns="45720" bIns="27432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2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選ぶ → 1週間ためす → 実行チェック → 記録 → 毎晩更新 → 答え合わせ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726679" y="4114800"/>
            <a:ext cx="0" cy="182880"/>
          </a:xfrm>
          <a:prstGeom prst="line">
            <a:avLst/>
          </a:prstGeom>
          <a:ln w="25400">
            <a:solidFill>
              <a:srgbClr val="0099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3291840" y="3657600"/>
            <a:ext cx="0" cy="640080"/>
          </a:xfrm>
          <a:prstGeom prst="line">
            <a:avLst/>
          </a:prstGeom>
          <a:ln w="25400">
            <a:solidFill>
              <a:srgbClr val="0099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411480" y="4956048"/>
            <a:ext cx="8321040" cy="438912"/>
          </a:xfrm>
          <a:prstGeom prst="roundRect">
            <a:avLst>
              <a:gd name="adj" fmla="val 20833"/>
            </a:avLst>
          </a:prstGeom>
          <a:solidFill>
            <a:srgbClr val="FDE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66928" tIns="27432" bIns="27432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200" b="1">
                <a:solidFill>
                  <a:srgbClr val="E8457C"/>
                </a:solidFill>
                <a:latin typeface="BIZ UDPゴシック"/>
                <a:ea typeface="BIZ UDPゴシック"/>
                <a:cs typeface="BIZ UDPゴシック"/>
              </a:rPr>
              <a:t>セーフティ層：強いつらさの記録（WHO-5 素点13点未満など）では予測表示を止め、相談先を表示する</a:t>
            </a:r>
          </a:p>
        </p:txBody>
      </p:sp>
      <p:sp>
        <p:nvSpPr>
          <p:cNvPr id="39" name="Oval 38"/>
          <p:cNvSpPr/>
          <p:nvPr/>
        </p:nvSpPr>
        <p:spPr>
          <a:xfrm>
            <a:off x="521208" y="5001768"/>
            <a:ext cx="347472" cy="347472"/>
          </a:xfrm>
          <a:prstGeom prst="ellipse">
            <a:avLst/>
          </a:prstGeom>
          <a:solidFill>
            <a:srgbClr val="E84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0" name="Picture 39" descr="ic_shield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601" y="5085161"/>
            <a:ext cx="180685" cy="1806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182880" tIns="27432" bIns="109728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26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新しい仕組み① ベイズ個人ツイン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 sz="half"/>
          </p:nvPr>
        </p:nvSpPr>
        <p:spPr/>
        <p:txBody>
          <a:bodyPr lIns="27432" rIns="0" wrap="none"/>
          <a:p>
            <a:r>
              <a:rPr sz="900">
                <a:latin typeface="BIZ UDPゴシック"/>
                <a:ea typeface="BIZ UDPゴシック"/>
                <a:cs typeface="BIZ UDPゴシック"/>
              </a:rPr>
              <a:t>2026/10/16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US">
                <a:latin typeface="BIZ UDPゴシック"/>
                <a:ea typeface="BIZ UDPゴシック"/>
                <a:cs typeface="BIZ UDPゴシック"/>
              </a:rPr>
              <a:t>8</a:t>
            </a:fld>
          </a:p>
        </p:txBody>
      </p:sp>
      <p:sp>
        <p:nvSpPr>
          <p:cNvPr id="5" name="TextBox 4"/>
          <p:cNvSpPr txBox="1"/>
          <p:nvPr/>
        </p:nvSpPr>
        <p:spPr>
          <a:xfrm>
            <a:off x="411480" y="1417320"/>
            <a:ext cx="3977639" cy="2651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82880" indent="-182880">
              <a:spcAft>
                <a:spcPts val="1000"/>
              </a:spcAft>
              <a:buClr>
                <a:srgbClr val="0099FF"/>
              </a:buClr>
              <a:buFont typeface="BIZ UDPゴシック"/>
              <a:buChar char="•"/>
            </a:pPr>
            <a:r>
              <a:rPr sz="15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予備調査215名の係数を「事前分布」として使う</a:t>
            </a:r>
          </a:p>
          <a:p>
            <a:pPr algn="l" marL="182880" indent="-182880">
              <a:spcAft>
                <a:spcPts val="1000"/>
              </a:spcAft>
              <a:buClr>
                <a:srgbClr val="0099FF"/>
              </a:buClr>
              <a:buFont typeface="BIZ UDPゴシック"/>
              <a:buChar char="•"/>
            </a:pPr>
            <a:r>
              <a:rPr sz="15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毎日の記録で、その人専用の係数（個人差）を毎晩更新する</a:t>
            </a:r>
          </a:p>
          <a:p>
            <a:pPr algn="l" marL="182880" indent="-182880">
              <a:spcAft>
                <a:spcPts val="1000"/>
              </a:spcAft>
              <a:buClr>
                <a:srgbClr val="0099FF"/>
              </a:buClr>
              <a:buFont typeface="BIZ UDPゴシック"/>
              <a:buChar char="•"/>
            </a:pPr>
            <a:r>
              <a:rPr sz="15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予測は1つの値ではなく分布 → 予測区間が自然に出る</a:t>
            </a:r>
          </a:p>
          <a:p>
            <a:pPr algn="l" marL="182880" indent="-182880">
              <a:spcAft>
                <a:spcPts val="1000"/>
              </a:spcAft>
              <a:buClr>
                <a:srgbClr val="E8457C"/>
              </a:buClr>
              <a:buFont typeface="BIZ UDPゴシック"/>
              <a:buChar char="•"/>
            </a:pPr>
            <a:r>
              <a:rPr sz="15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計画書の「2週間の記録で個人補正（混合モデル）」を、毎日少しずつ進む形にしたもの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4206240"/>
            <a:ext cx="3977639" cy="960120"/>
          </a:xfrm>
          <a:prstGeom prst="roundRect">
            <a:avLst>
              <a:gd name="adj" fmla="val 9523"/>
            </a:avLst>
          </a:prstGeom>
          <a:solidFill>
            <a:srgbClr val="0B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4224528"/>
            <a:ext cx="3703320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Aft>
                <a:spcPts val="200"/>
              </a:spcAft>
              <a:buNone/>
            </a:pPr>
            <a:r>
              <a:rPr sz="14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予測 = (全体の傾向 + 個人差) × 行動</a:t>
            </a:r>
          </a:p>
          <a:p>
            <a:pPr algn="ctr" marL="0" indent="0">
              <a:spcAft>
                <a:spcPts val="400"/>
              </a:spcAft>
              <a:buNone/>
            </a:pPr>
            <a:r>
              <a:rPr sz="1150" b="0">
                <a:solidFill>
                  <a:srgbClr val="CCE9FF"/>
                </a:solidFill>
                <a:latin typeface="BIZ UDPゴシック"/>
                <a:ea typeface="BIZ UDPゴシック"/>
                <a:cs typeface="BIZ UDPゴシック"/>
              </a:rPr>
              <a:t>個人差は平均0の正規分布から。記録が増えるほど本人寄りに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5303520"/>
            <a:ext cx="3977639" cy="868680"/>
          </a:xfrm>
          <a:prstGeom prst="roundRect">
            <a:avLst>
              <a:gd name="adj" fmla="val 10526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5330952"/>
            <a:ext cx="3703320" cy="822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200" b="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端末内で計算できる軽さ（正規分布の更新式のみ）。サーバーには記録の数値だけを送る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4572000" y="1371600"/>
          <a:ext cx="416052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0" y="5440680"/>
            <a:ext cx="41605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Aft>
                <a:spcPts val="200"/>
              </a:spcAft>
              <a:buNone/>
            </a:pPr>
            <a:r>
              <a:rPr sz="13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14日の記録で幅が約30%縮む（試算）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100" b="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合成データによるシミュレーション。残る幅は週ごとの自然な揺れ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182880" tIns="27432" bIns="109728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26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新しい仕組み② ゆらぎアバター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 sz="half"/>
          </p:nvPr>
        </p:nvSpPr>
        <p:spPr/>
        <p:txBody>
          <a:bodyPr lIns="27432" rIns="0" wrap="none"/>
          <a:p>
            <a:r>
              <a:rPr sz="900">
                <a:latin typeface="BIZ UDPゴシック"/>
                <a:ea typeface="BIZ UDPゴシック"/>
                <a:cs typeface="BIZ UDPゴシック"/>
              </a:rPr>
              <a:t>2026/10/16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US">
                <a:latin typeface="BIZ UDPゴシック"/>
                <a:ea typeface="BIZ UDPゴシック"/>
                <a:cs typeface="BIZ UDPゴシック"/>
              </a:rPr>
              <a:t>9</a:t>
            </a:fld>
          </a:p>
        </p:txBody>
      </p:sp>
      <p:sp>
        <p:nvSpPr>
          <p:cNvPr id="5" name="Rounded Rectangle 4"/>
          <p:cNvSpPr/>
          <p:nvPr/>
        </p:nvSpPr>
        <p:spPr>
          <a:xfrm>
            <a:off x="411480" y="1417320"/>
            <a:ext cx="2697480" cy="2331720"/>
          </a:xfrm>
          <a:prstGeom prst="roundRect">
            <a:avLst>
              <a:gd name="adj" fmla="val 4705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ghost_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481328"/>
            <a:ext cx="2377440" cy="16166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3127248"/>
            <a:ext cx="26974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4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記録0日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401568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200" b="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未来はまだぼやけている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27248" y="2377440"/>
            <a:ext cx="73152" cy="274320"/>
          </a:xfrm>
          <a:prstGeom prst="rightArrow">
            <a:avLst/>
          </a:prstGeom>
          <a:solidFill>
            <a:srgbClr val="00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218688" y="1417320"/>
            <a:ext cx="2697480" cy="2331720"/>
          </a:xfrm>
          <a:prstGeom prst="roundRect">
            <a:avLst>
              <a:gd name="adj" fmla="val 4705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ghost_d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481328"/>
            <a:ext cx="2377440" cy="161665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18688" y="3127248"/>
            <a:ext cx="26974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4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記録7日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18688" y="3401568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200" b="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少しずつ重なってくる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34456" y="2377440"/>
            <a:ext cx="73152" cy="274320"/>
          </a:xfrm>
          <a:prstGeom prst="rightArrow">
            <a:avLst/>
          </a:prstGeom>
          <a:solidFill>
            <a:srgbClr val="00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6025896" y="1417320"/>
            <a:ext cx="2697480" cy="2331720"/>
          </a:xfrm>
          <a:prstGeom prst="roundRect">
            <a:avLst>
              <a:gd name="adj" fmla="val 4705"/>
            </a:avLst>
          </a:prstGeom>
          <a:solidFill>
            <a:srgbClr val="E3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ghost_d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0488" y="1481328"/>
            <a:ext cx="2377440" cy="161665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25896" y="3127248"/>
            <a:ext cx="26974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400" b="1">
                <a:solidFill>
                  <a:srgbClr val="12A38A"/>
                </a:solidFill>
                <a:latin typeface="BIZ UDPゴシック"/>
                <a:ea typeface="BIZ UDPゴシック"/>
                <a:cs typeface="BIZ UDPゴシック"/>
              </a:rPr>
              <a:t>記録14日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25896" y="3401568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200" b="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未来の自分がくっきり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388620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  <a:effectLst>
            <a:outerShdw blurRad="76200" dist="19050" dir="5400000" algn="t" rotWithShape="0">
              <a:srgbClr val="0B3C6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557784" y="4032504"/>
            <a:ext cx="457200" cy="457200"/>
          </a:xfrm>
          <a:prstGeom prst="ellipse">
            <a:avLst/>
          </a:prstGeom>
          <a:solidFill>
            <a:srgbClr val="0B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Picture 20" descr="ic_sliders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4142232"/>
            <a:ext cx="237744" cy="23774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24712" y="4005072"/>
            <a:ext cx="1874519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5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しくみ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" y="4581144"/>
            <a:ext cx="2404872" cy="14996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Aft>
                <a:spcPts val="300"/>
              </a:spcAft>
              <a:buNone/>
            </a:pPr>
            <a:r>
              <a:rPr sz="125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予測の分布から20通りの未来を引き、表情を3区分にして重ねて描く。濃さ＝その未来の起こりやすさ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18688" y="388620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  <a:effectLst>
            <a:outerShdw blurRad="76200" dist="19050" dir="5400000" algn="t" rotWithShape="0">
              <a:srgbClr val="0B3C6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3364992" y="4032504"/>
            <a:ext cx="457200" cy="457200"/>
          </a:xfrm>
          <a:prstGeom prst="ellipse">
            <a:avLst/>
          </a:prstGeom>
          <a:solidFill>
            <a:srgbClr val="E84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6" name="Picture 25" descr="ic_targe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0" y="4142232"/>
            <a:ext cx="237744" cy="23774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931920" y="4005072"/>
            <a:ext cx="187452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5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ねらい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4581144"/>
            <a:ext cx="2404872" cy="14996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Aft>
                <a:spcPts val="300"/>
              </a:spcAft>
              <a:buNone/>
            </a:pPr>
            <a:r>
              <a:rPr sz="125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不確かさを正直に見せる。「未来の解像度」を上げたくて記録を続けたくなる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25896" y="388620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  <a:effectLst>
            <a:outerShdw blurRad="76200" dist="19050" dir="5400000" algn="t" rotWithShape="0">
              <a:srgbClr val="0B3C6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6172200" y="4032504"/>
            <a:ext cx="457200" cy="457200"/>
          </a:xfrm>
          <a:prstGeom prst="ellipse">
            <a:avLst/>
          </a:prstGeom>
          <a:solidFill>
            <a:srgbClr val="12A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1" name="Picture 30" descr="ic_book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1928" y="4142232"/>
            <a:ext cx="237744" cy="23774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739128" y="4005072"/>
            <a:ext cx="1874519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5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根拠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90488" y="4581144"/>
            <a:ext cx="2404872" cy="14996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Aft>
                <a:spcPts val="300"/>
              </a:spcAft>
              <a:buNone/>
            </a:pPr>
            <a:r>
              <a:rPr sz="125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仮想的な結果の提示（Hullman et al., 2015）、頻度での表現（Kay et al., 2016）、プロテウス効果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182880" tIns="27432" bIns="109728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26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新しい仕組み③ リバランス提案エンジン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 sz="half"/>
          </p:nvPr>
        </p:nvSpPr>
        <p:spPr/>
        <p:txBody>
          <a:bodyPr lIns="27432" rIns="0" wrap="none"/>
          <a:p>
            <a:r>
              <a:rPr sz="900">
                <a:latin typeface="BIZ UDPゴシック"/>
                <a:ea typeface="BIZ UDPゴシック"/>
                <a:cs typeface="BIZ UDPゴシック"/>
              </a:rPr>
              <a:t>2026/10/16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US">
                <a:latin typeface="BIZ UDPゴシック"/>
                <a:ea typeface="BIZ UDPゴシック"/>
                <a:cs typeface="BIZ UDPゴシック"/>
              </a:rPr>
              <a:t>10</a:t>
            </a:fld>
          </a:p>
        </p:txBody>
      </p:sp>
      <p:sp>
        <p:nvSpPr>
          <p:cNvPr id="5" name="TextBox 4"/>
          <p:cNvSpPr txBox="1"/>
          <p:nvPr/>
        </p:nvSpPr>
        <p:spPr>
          <a:xfrm>
            <a:off x="411480" y="1371600"/>
            <a:ext cx="832104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5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「減らす」のではなく「組み替える」— 本人の希望を守ったまま、疲れの少ない配分を探す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874519"/>
            <a:ext cx="2011680" cy="1417320"/>
          </a:xfrm>
          <a:prstGeom prst="roundRect">
            <a:avLst>
              <a:gd name="adj" fmla="val 6451"/>
            </a:avLst>
          </a:prstGeom>
          <a:solidFill>
            <a:srgbClr val="E6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4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1. 候補をつくる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04288"/>
            <a:ext cx="18288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sz="12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7つの活動を</a:t>
            </a:r>
          </a:p>
          <a:p>
            <a:pPr algn="ctr" marL="0" indent="0">
              <a:spcAft>
                <a:spcPts val="0"/>
              </a:spcAft>
              <a:buNone/>
            </a:pPr>
            <a:r>
              <a:rPr sz="12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−1／0／+1 段階変える</a:t>
            </a:r>
          </a:p>
          <a:p>
            <a:pPr algn="ctr" marL="0" indent="0">
              <a:spcAft>
                <a:spcPts val="0"/>
              </a:spcAft>
              <a:buNone/>
            </a:pPr>
            <a:r>
              <a:rPr sz="12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（同時に2つまで）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4600" y="1874519"/>
            <a:ext cx="2011680" cy="1417320"/>
          </a:xfrm>
          <a:prstGeom prst="roundRect">
            <a:avLst>
              <a:gd name="adj" fmla="val 6451"/>
            </a:avLst>
          </a:prstGeom>
          <a:solidFill>
            <a:srgbClr val="E6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606040" y="1920240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4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2. 予測する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304288"/>
            <a:ext cx="18288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sz="12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ツインで充実と</a:t>
            </a:r>
          </a:p>
          <a:p>
            <a:pPr algn="ctr" marL="0" indent="0">
              <a:spcAft>
                <a:spcPts val="0"/>
              </a:spcAft>
              <a:buNone/>
            </a:pPr>
            <a:r>
              <a:rPr sz="12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推し疲れを予測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1874519"/>
            <a:ext cx="2011680" cy="1417320"/>
          </a:xfrm>
          <a:prstGeom prst="roundRect">
            <a:avLst>
              <a:gd name="adj" fmla="val 6451"/>
            </a:avLst>
          </a:prstGeom>
          <a:solidFill>
            <a:srgbClr val="E6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709160" y="1920240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4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3. 絞り込む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304288"/>
            <a:ext cx="18288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sz="12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「増やしたい」活動は</a:t>
            </a:r>
          </a:p>
          <a:p>
            <a:pPr algn="ctr" marL="0" indent="0">
              <a:spcAft>
                <a:spcPts val="0"/>
              </a:spcAft>
              <a:buNone/>
            </a:pPr>
            <a:r>
              <a:rPr sz="12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減らさない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1874519"/>
            <a:ext cx="2011680" cy="1417320"/>
          </a:xfrm>
          <a:prstGeom prst="roundRect">
            <a:avLst>
              <a:gd name="adj" fmla="val 6451"/>
            </a:avLst>
          </a:prstGeom>
          <a:solidFill>
            <a:srgbClr val="0B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812280" y="1920240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4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4. 3案を出す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2304288"/>
            <a:ext cx="18288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sz="1200" b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楽しさキープ／バランス</a:t>
            </a:r>
          </a:p>
          <a:p>
            <a:pPr algn="ctr" marL="0" indent="0">
              <a:spcAft>
                <a:spcPts val="0"/>
              </a:spcAft>
              <a:buNone/>
            </a:pPr>
            <a:r>
              <a:rPr sz="1200" b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／回復重視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3456432"/>
            <a:ext cx="83210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300" b="1">
                <a:solidFill>
                  <a:srgbClr val="E8457C"/>
                </a:solidFill>
                <a:latin typeface="BIZ UDPゴシック"/>
                <a:ea typeface="BIZ UDPゴシック"/>
                <a:cs typeface="BIZ UDPゴシック"/>
              </a:rPr>
              <a:t>例：「ライブは増やしたい／SNSは減らしたい」大学生（睡眠と比較の疲れが高い）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11480" y="3822191"/>
          <a:ext cx="8321040" cy="1828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737360"/>
                <a:gridCol w="4572000"/>
                <a:gridCol w="914400"/>
                <a:gridCol w="1097280"/>
              </a:tblGrid>
              <a:tr h="457200"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案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0B3C6E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内容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0B3C6E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充実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0B3C6E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推し疲れ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0B3C6E"/>
                    </a:solidFill>
                  </a:tcPr>
                </a:tc>
              </a:tr>
              <a:tr h="457200"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250" b="1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① 楽しさキープ型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夜のSNSを1時間短くし、配信は週末にまとめて見る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±0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−0.4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250" b="1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② バランス型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グッズは月1回の「まとめ買い日」に。浮いた分をライブ遠征へ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+0.2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−0.2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4F8FC"/>
                    </a:solidFill>
                  </a:tcPr>
                </a:tc>
              </a:tr>
              <a:tr h="457200"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250" b="1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③ 回復重視型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24時以降はSNSオフ、睡眠を1時間ふやす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−0.2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−0.7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11480" y="5715000"/>
            <a:ext cx="83210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200" b="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3案はどれも「充実を大きく下げずに疲れを下げる」パレート最適な組み合わせから選ぶ。選ばない自由も残す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94960" y="6483096"/>
            <a:ext cx="27889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84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000" b="1">
                <a:solidFill>
                  <a:srgbClr val="E8457C"/>
                </a:solidFill>
                <a:latin typeface="BIZ UDPゴシック"/>
                <a:ea typeface="BIZ UDPゴシック"/>
                <a:cs typeface="BIZ UDPゴシック"/>
              </a:rPr>
              <a:t>※ 予測差は例示の値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182880" tIns="27432" bIns="109728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26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新しい仕組み④ 疲れの中身キュー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 sz="half"/>
          </p:nvPr>
        </p:nvSpPr>
        <p:spPr/>
        <p:txBody>
          <a:bodyPr lIns="27432" rIns="0" wrap="none"/>
          <a:p>
            <a:r>
              <a:rPr sz="900">
                <a:latin typeface="BIZ UDPゴシック"/>
                <a:ea typeface="BIZ UDPゴシック"/>
                <a:cs typeface="BIZ UDPゴシック"/>
              </a:rPr>
              <a:t>2026/10/16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US">
                <a:latin typeface="BIZ UDPゴシック"/>
                <a:ea typeface="BIZ UDPゴシック"/>
                <a:cs typeface="BIZ UDPゴシック"/>
              </a:rPr>
              <a:t>11</a:t>
            </a:fld>
          </a:p>
        </p:txBody>
      </p:sp>
      <p:sp>
        <p:nvSpPr>
          <p:cNvPr id="5" name="Rounded Rectangle 4"/>
          <p:cNvSpPr/>
          <p:nvPr/>
        </p:nvSpPr>
        <p:spPr>
          <a:xfrm>
            <a:off x="411480" y="1417320"/>
            <a:ext cx="1965960" cy="416052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  <a:effectLst>
            <a:outerShdw blurRad="76200" dist="19050" dir="5400000" algn="t" rotWithShape="0">
              <a:srgbClr val="0B3C6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868680" y="155448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7C6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3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睡眠</a:t>
            </a:r>
          </a:p>
        </p:txBody>
      </p:sp>
      <p:pic>
        <p:nvPicPr>
          <p:cNvPr id="7" name="Picture 6" descr="av_sl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65960"/>
            <a:ext cx="1417320" cy="16062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3639312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050" b="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アバターの手がかり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886200"/>
            <a:ext cx="178308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3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くま・Zz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29768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050" b="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提案の例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553712"/>
            <a:ext cx="178308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sz="1250" b="1">
                <a:solidFill>
                  <a:srgbClr val="12A38A"/>
                </a:solidFill>
                <a:latin typeface="BIZ UDPゴシック"/>
                <a:ea typeface="BIZ UDPゴシック"/>
                <a:cs typeface="BIZ UDPゴシック"/>
              </a:rPr>
              <a:t>配信は翌朝の</a:t>
            </a:r>
          </a:p>
          <a:p>
            <a:pPr algn="ctr" marL="0" indent="0">
              <a:spcAft>
                <a:spcPts val="0"/>
              </a:spcAft>
              <a:buNone/>
            </a:pPr>
            <a:r>
              <a:rPr sz="1250" b="1">
                <a:solidFill>
                  <a:srgbClr val="12A38A"/>
                </a:solidFill>
                <a:latin typeface="BIZ UDPゴシック"/>
                <a:ea typeface="BIZ UDPゴシック"/>
                <a:cs typeface="BIZ UDPゴシック"/>
              </a:rPr>
              <a:t>アーカイブで見る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14600" y="1417320"/>
            <a:ext cx="1965960" cy="416052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  <a:effectLst>
            <a:outerShdw blurRad="76200" dist="19050" dir="5400000" algn="t" rotWithShape="0">
              <a:srgbClr val="0B3C6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2971800" y="155448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E07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3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出費</a:t>
            </a:r>
          </a:p>
        </p:txBody>
      </p:sp>
      <p:pic>
        <p:nvPicPr>
          <p:cNvPr id="14" name="Picture 13" descr="av_mon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920" y="1965960"/>
            <a:ext cx="1417320" cy="160629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606040" y="3639312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050" b="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アバターの手がかり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3886200"/>
            <a:ext cx="178308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3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軽くなった財布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429768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050" b="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提案の例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4553712"/>
            <a:ext cx="178308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sz="1250" b="1">
                <a:solidFill>
                  <a:srgbClr val="12A38A"/>
                </a:solidFill>
                <a:latin typeface="BIZ UDPゴシック"/>
                <a:ea typeface="BIZ UDPゴシック"/>
                <a:cs typeface="BIZ UDPゴシック"/>
              </a:rPr>
              <a:t>月1回の</a:t>
            </a:r>
          </a:p>
          <a:p>
            <a:pPr algn="ctr" marL="0" indent="0">
              <a:spcAft>
                <a:spcPts val="0"/>
              </a:spcAft>
              <a:buNone/>
            </a:pPr>
            <a:r>
              <a:rPr sz="1250" b="1">
                <a:solidFill>
                  <a:srgbClr val="12A38A"/>
                </a:solidFill>
                <a:latin typeface="BIZ UDPゴシック"/>
                <a:ea typeface="BIZ UDPゴシック"/>
                <a:cs typeface="BIZ UDPゴシック"/>
              </a:rPr>
              <a:t>「まとめ買い日」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17720" y="1417320"/>
            <a:ext cx="1965960" cy="416052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  <a:effectLst>
            <a:outerShdw blurRad="76200" dist="19050" dir="5400000" algn="t" rotWithShape="0">
              <a:srgbClr val="0B3C6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5074920" y="155448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0B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3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義務感</a:t>
            </a:r>
          </a:p>
        </p:txBody>
      </p:sp>
      <p:pic>
        <p:nvPicPr>
          <p:cNvPr id="21" name="Picture 20" descr="av_du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965960"/>
            <a:ext cx="1417320" cy="160629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709159" y="3639312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050" b="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アバターの手がかり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59" y="3886200"/>
            <a:ext cx="178308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3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重いリュック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59" y="429768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050" b="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提案の例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59" y="4553712"/>
            <a:ext cx="178308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sz="1250" b="1">
                <a:solidFill>
                  <a:srgbClr val="12A38A"/>
                </a:solidFill>
                <a:latin typeface="BIZ UDPゴシック"/>
                <a:ea typeface="BIZ UDPゴシック"/>
                <a:cs typeface="BIZ UDPゴシック"/>
              </a:rPr>
              <a:t>「全部追う」を</a:t>
            </a:r>
          </a:p>
          <a:p>
            <a:pPr algn="ctr" marL="0" indent="0">
              <a:spcAft>
                <a:spcPts val="0"/>
              </a:spcAft>
              <a:buNone/>
            </a:pPr>
            <a:r>
              <a:rPr sz="1250" b="1">
                <a:solidFill>
                  <a:srgbClr val="12A38A"/>
                </a:solidFill>
                <a:latin typeface="BIZ UDPゴシック"/>
                <a:ea typeface="BIZ UDPゴシック"/>
                <a:cs typeface="BIZ UDPゴシック"/>
              </a:rPr>
              <a:t>やめる棚卸し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20840" y="1417320"/>
            <a:ext cx="1965960" cy="416052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  <a:effectLst>
            <a:outerShdw blurRad="76200" dist="19050" dir="5400000" algn="t" rotWithShape="0">
              <a:srgbClr val="0B3C6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7178040" y="155448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00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3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比較</a:t>
            </a:r>
          </a:p>
        </p:txBody>
      </p:sp>
      <p:pic>
        <p:nvPicPr>
          <p:cNvPr id="28" name="Picture 27" descr="av_compa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59" y="1965960"/>
            <a:ext cx="1417320" cy="160629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812279" y="3639312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050" b="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アバターの手がかり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79" y="3886200"/>
            <a:ext cx="178308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3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スマホの光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79" y="429768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050" b="0">
                <a:solidFill>
                  <a:srgbClr val="5A6676"/>
                </a:solidFill>
                <a:latin typeface="BIZ UDPゴシック"/>
                <a:ea typeface="BIZ UDPゴシック"/>
                <a:cs typeface="BIZ UDPゴシック"/>
              </a:rPr>
              <a:t>提案の例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79" y="4553712"/>
            <a:ext cx="178308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sz="1250" b="1">
                <a:solidFill>
                  <a:srgbClr val="12A38A"/>
                </a:solidFill>
                <a:latin typeface="BIZ UDPゴシック"/>
                <a:ea typeface="BIZ UDPゴシック"/>
                <a:cs typeface="BIZ UDPゴシック"/>
              </a:rPr>
              <a:t>ミュートワードを</a:t>
            </a:r>
          </a:p>
          <a:p>
            <a:pPr algn="ctr" marL="0" indent="0">
              <a:spcAft>
                <a:spcPts val="0"/>
              </a:spcAft>
              <a:buNone/>
            </a:pPr>
            <a:r>
              <a:rPr sz="1250" b="1">
                <a:solidFill>
                  <a:srgbClr val="12A38A"/>
                </a:solidFill>
                <a:latin typeface="BIZ UDPゴシック"/>
                <a:ea typeface="BIZ UDPゴシック"/>
                <a:cs typeface="BIZ UDPゴシック"/>
              </a:rPr>
              <a:t>設定する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1480" y="5715000"/>
            <a:ext cx="8321040" cy="457200"/>
          </a:xfrm>
          <a:prstGeom prst="roundRect">
            <a:avLst>
              <a:gd name="adj" fmla="val 20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27432" rIns="45720" bIns="27432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25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表現は予測の区分（3段階）にだけ連動させ、大げさな疲れの表現はしない（倫理審査の方針どおり）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182880" tIns="27432" bIns="109728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26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3群の画面のちがい（公平な比較のために）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 sz="half"/>
          </p:nvPr>
        </p:nvSpPr>
        <p:spPr/>
        <p:txBody>
          <a:bodyPr lIns="27432" rIns="0" wrap="none"/>
          <a:p>
            <a:r>
              <a:rPr sz="900">
                <a:latin typeface="BIZ UDPゴシック"/>
                <a:ea typeface="BIZ UDPゴシック"/>
                <a:cs typeface="BIZ UDPゴシック"/>
              </a:rPr>
              <a:t>2026/10/16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US">
                <a:latin typeface="BIZ UDPゴシック"/>
                <a:ea typeface="BIZ UDPゴシック"/>
                <a:cs typeface="BIZ UDPゴシック"/>
              </a:rPr>
              <a:t>12</a:t>
            </a:fld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417320"/>
          <a:ext cx="8321040" cy="32004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108960"/>
                <a:gridCol w="1737360"/>
                <a:gridCol w="1737360"/>
                <a:gridCol w="1737360"/>
              </a:tblGrid>
              <a:tr h="457200"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機能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0B3C6E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群A 記録のみ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0B3C6E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群B 提案（文章）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0B3C6E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群C 提案＋予測アバター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0B3C6E"/>
                    </a:solidFill>
                  </a:tcPr>
                </a:tc>
              </a:tr>
              <a:tr h="457200"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250" b="1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毎日の記録・週1回の振り返り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○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○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○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E3F6F2"/>
                    </a:solidFill>
                  </a:tcPr>
                </a:tc>
              </a:tr>
              <a:tr h="457200"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250" b="1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アバター作成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○（プロフィールのみ）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○（プロフィールのみ）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○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E3F6F2"/>
                    </a:solidFill>
                  </a:tcPr>
                </a:tc>
              </a:tr>
              <a:tr h="457200"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250" b="1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週1回の提案（3案から選ぶ）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—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○（予測値なし）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○（同じ3案）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E3F6F2"/>
                    </a:solidFill>
                  </a:tcPr>
                </a:tc>
              </a:tr>
              <a:tr h="457200"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250" b="1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みらいミラー（予測値＋ゆらぎアバター）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—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—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○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E3F6F2"/>
                    </a:solidFill>
                  </a:tcPr>
                </a:tc>
              </a:tr>
              <a:tr h="457200"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250" b="1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疲れの中身キュー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—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—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○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E3F6F2"/>
                    </a:solidFill>
                  </a:tcPr>
                </a:tc>
              </a:tr>
              <a:tr h="457200"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250" b="1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予測の答え合わせ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—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—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64008" tIns="27432" rIns="64008" bIns="27432" anchor="ctr">
                      <a:noAutofit/>
                    </a:bodyPr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4303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○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5DEE8"/>
                      </a:solidFill>
                    </a:lnL>
                    <a:lnR w="9525">
                      <a:solidFill>
                        <a:srgbClr val="D5DEE8"/>
                      </a:solidFill>
                    </a:lnR>
                    <a:lnT w="9525">
                      <a:solidFill>
                        <a:srgbClr val="D5DEE8"/>
                      </a:solidFill>
                    </a:lnT>
                    <a:lnB w="9525">
                      <a:solidFill>
                        <a:srgbClr val="D5DEE8"/>
                      </a:solidFill>
                    </a:lnB>
                    <a:solidFill>
                      <a:srgbClr val="E3F6F2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11480" y="4800600"/>
            <a:ext cx="8321040" cy="1371600"/>
          </a:xfrm>
          <a:prstGeom prst="roundRect">
            <a:avLst>
              <a:gd name="adj" fmla="val 6666"/>
            </a:avLst>
          </a:prstGeom>
          <a:solidFill>
            <a:srgbClr val="E6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594360" y="5074920"/>
            <a:ext cx="640080" cy="640080"/>
          </a:xfrm>
          <a:prstGeom prst="ellipse">
            <a:avLst/>
          </a:prstGeom>
          <a:solidFill>
            <a:srgbClr val="0B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ic_scale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979" y="5228539"/>
            <a:ext cx="332841" cy="33284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17320" y="4846320"/>
            <a:ext cx="7132320" cy="12801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5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群Bと群Cの差は「予測の見せ方」だけにそろえる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3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提案の中身・数・頻度は同一。群Bの提案カードには予測値を出さない → RQ2（アバターの効果）を純粋に比較できる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182880" tIns="27432" bIns="109728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260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次回（10/30）までの予定と相談事項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 sz="half"/>
          </p:nvPr>
        </p:nvSpPr>
        <p:spPr/>
        <p:txBody>
          <a:bodyPr lIns="27432" rIns="0" wrap="none"/>
          <a:p>
            <a:r>
              <a:rPr sz="900">
                <a:latin typeface="BIZ UDPゴシック"/>
                <a:ea typeface="BIZ UDPゴシック"/>
                <a:cs typeface="BIZ UDPゴシック"/>
              </a:rPr>
              <a:t>2026/10/16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US">
                <a:latin typeface="BIZ UDPゴシック"/>
                <a:ea typeface="BIZ UDPゴシック"/>
                <a:cs typeface="BIZ UDPゴシック"/>
              </a:rPr>
              <a:t>13</a:t>
            </a:fld>
          </a:p>
        </p:txBody>
      </p:sp>
      <p:sp>
        <p:nvSpPr>
          <p:cNvPr id="5" name="TextBox 4"/>
          <p:cNvSpPr txBox="1"/>
          <p:nvPr/>
        </p:nvSpPr>
        <p:spPr>
          <a:xfrm>
            <a:off x="411480" y="137160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6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やること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92024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00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1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10/19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810512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35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アバター生成（端末内の顔特徴点 → パーツ合成）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54203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00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1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10/22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432304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35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ゆらぎアバターとみらいミラー画面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3163824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00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1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10/24–26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054096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35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研究室内での操作確認（5〜8名）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3785615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00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1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10/29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675887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35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CHIIR 2027 Short Paper を投稿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440740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00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1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10/30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29768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35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ベータ版を凍結（本実験用）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9160" y="1371600"/>
            <a:ext cx="4023360" cy="3611880"/>
          </a:xfrm>
          <a:prstGeom prst="roundRect">
            <a:avLst>
              <a:gd name="adj" fmla="val 3037"/>
            </a:avLst>
          </a:prstGeom>
          <a:solidFill>
            <a:srgbClr val="FDE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4892040" y="1508760"/>
            <a:ext cx="502920" cy="502920"/>
          </a:xfrm>
          <a:prstGeom prst="ellipse">
            <a:avLst/>
          </a:prstGeom>
          <a:solidFill>
            <a:srgbClr val="E84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ic_comments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2740" y="1629460"/>
            <a:ext cx="261518" cy="26151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532120" y="1508760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600" b="1">
                <a:solidFill>
                  <a:srgbClr val="E8457C"/>
                </a:solidFill>
                <a:latin typeface="BIZ UDPゴシック"/>
                <a:ea typeface="BIZ UDPゴシック"/>
                <a:cs typeface="BIZ UDPゴシック"/>
              </a:rPr>
              <a:t>相談したいこと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2148840"/>
            <a:ext cx="3703320" cy="393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Aft>
                <a:spcPts val="200"/>
              </a:spcAft>
              <a:buNone/>
            </a:pPr>
            <a:r>
              <a:rPr sz="14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承認が10/30より遅れた場合の開始日</a:t>
            </a:r>
          </a:p>
          <a:p>
            <a:pPr algn="l" marL="0" indent="0">
              <a:spcAft>
                <a:spcPts val="1000"/>
              </a:spcAft>
              <a:buNone/>
            </a:pPr>
            <a:r>
              <a:rPr sz="125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11/9開始なら終了は12/20。解析期間が約1週間減る</a:t>
            </a:r>
          </a:p>
          <a:p>
            <a:pPr algn="l" marL="0" indent="0">
              <a:spcAft>
                <a:spcPts val="200"/>
              </a:spcAft>
              <a:buNone/>
            </a:pPr>
            <a:r>
              <a:rPr sz="14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募集経路と謝礼</a:t>
            </a:r>
          </a:p>
          <a:p>
            <a:pPr algn="l" marL="0" indent="0">
              <a:spcAft>
                <a:spcPts val="1000"/>
              </a:spcAft>
              <a:buNone/>
            </a:pPr>
            <a:r>
              <a:rPr sz="125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学内メーリングリスト、X、推し活コミュニティ。謝礼の額と支払い方法</a:t>
            </a:r>
          </a:p>
          <a:p>
            <a:pPr algn="l" marL="0" indent="0">
              <a:spcAft>
                <a:spcPts val="200"/>
              </a:spcAft>
              <a:buNone/>
            </a:pPr>
            <a:r>
              <a:rPr sz="14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CHIIR の投稿区分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25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Short Paper（4ページ）とDemoのどちらにするか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5166360"/>
            <a:ext cx="8321040" cy="1005840"/>
          </a:xfrm>
          <a:prstGeom prst="roundRect">
            <a:avLst>
              <a:gd name="adj" fmla="val 909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594360" y="5394960"/>
            <a:ext cx="548640" cy="548640"/>
          </a:xfrm>
          <a:prstGeom prst="ellipse">
            <a:avLst/>
          </a:prstGeom>
          <a:solidFill>
            <a:srgbClr val="00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ic_ey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033" y="5526633"/>
            <a:ext cx="285292" cy="28529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25880" y="5193792"/>
            <a:ext cx="7223760" cy="9509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Aft>
                <a:spcPts val="300"/>
              </a:spcAft>
              <a:buNone/>
            </a:pPr>
            <a:r>
              <a:rPr sz="1400" b="1">
                <a:solidFill>
                  <a:srgbClr val="0B3C6E"/>
                </a:solidFill>
                <a:latin typeface="BIZ UDPゴシック"/>
                <a:ea typeface="BIZ UDPゴシック"/>
                <a:cs typeface="BIZ UDPゴシック"/>
              </a:rPr>
              <a:t>次回（10/30）に見せるもの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250" b="0">
                <a:solidFill>
                  <a:srgbClr val="24303F"/>
                </a:solidFill>
                <a:latin typeface="BIZ UDPゴシック"/>
                <a:ea typeface="BIZ UDPゴシック"/>
                <a:cs typeface="BIZ UDPゴシック"/>
              </a:rPr>
              <a:t>ベータ版の操作デモ（記録 → 提案 → みらいミラー）／操作確認の結果（SUS・つまずいた点）／CHIIR 投稿版の原稿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99FF"/>
      </a:accent1>
      <a:accent2>
        <a:srgbClr val="00CC66"/>
      </a:accent2>
      <a:accent3>
        <a:srgbClr val="9999FF"/>
      </a:accent3>
      <a:accent4>
        <a:srgbClr val="ED7D31"/>
      </a:accent4>
      <a:accent5>
        <a:srgbClr val="FF99CC"/>
      </a:accent5>
      <a:accent6>
        <a:srgbClr val="CCFF66"/>
      </a:accent6>
      <a:hlink>
        <a:srgbClr val="0563C1"/>
      </a:hlink>
      <a:folHlink>
        <a:srgbClr val="954F72"/>
      </a:folHlink>
    </a:clrScheme>
    <a:fontScheme name="mixlab">
      <a:majorFont>
        <a:latin typeface="BIZ UDPゴシック"/>
        <a:ea typeface="BIZ UDPゴシック"/>
        <a:cs typeface=""/>
      </a:majorFont>
      <a:minorFont>
        <a:latin typeface="BIZ UDPゴシック"/>
        <a:ea typeface="BIZ UDP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プレゼンテーション1" id="{71DAD71D-71F1-4879-AA29-AD68469550B8}" vid="{C503FC9E-2328-42BB-94CD-380D52093789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IZ UDPゴシック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IZ UDP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4E6AF0D829D43D49B1E81D8F4BBE5B7D" ma:contentTypeVersion="10" ma:contentTypeDescription="新しいドキュメントを作成します。" ma:contentTypeScope="" ma:versionID="5539ab1a2f6c3bdbf31c7c5cd0f154e8">
  <xsd:schema xmlns:xsd="http://www.w3.org/2001/XMLSchema" xmlns:xs="http://www.w3.org/2001/XMLSchema" xmlns:p="http://schemas.microsoft.com/office/2006/metadata/properties" xmlns:ns3="827dca8b-9b89-463d-9c0f-8f583314a21a" targetNamespace="http://schemas.microsoft.com/office/2006/metadata/properties" ma:root="true" ma:fieldsID="0abcb71c8026bc76d3643389aaf979a1" ns3:_="">
    <xsd:import namespace="827dca8b-9b89-463d-9c0f-8f583314a21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7dca8b-9b89-463d-9c0f-8f583314a21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27dca8b-9b89-463d-9c0f-8f583314a21a" xsi:nil="true"/>
  </documentManagement>
</p:properties>
</file>

<file path=customXml/itemProps1.xml><?xml version="1.0" encoding="utf-8"?>
<ds:datastoreItem xmlns:ds="http://schemas.openxmlformats.org/officeDocument/2006/customXml" ds:itemID="{7243403C-11AC-4F64-B63B-092045F9CB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27dca8b-9b89-463d-9c0f-8f583314a21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1FAF0C7-D3A2-4F0D-85B6-FC2608B86CA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64F4103-916A-4822-B22D-C96AE4A255CF}">
  <ds:schemaRefs>
    <ds:schemaRef ds:uri="http://schemas.microsoft.com/office/2006/metadata/properties"/>
    <ds:schemaRef ds:uri="827dca8b-9b89-463d-9c0f-8f583314a21a"/>
    <ds:schemaRef ds:uri="http://purl.org/dc/terms/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mixlab_jp(4-3)</Template>
  <TotalTime>12</TotalTime>
  <Words>546</Words>
  <Application>Microsoft Office PowerPoint</Application>
  <PresentationFormat>画面に合わせる (4:3)</PresentationFormat>
  <Paragraphs>60</Paragraphs>
  <Slides>8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1" baseType="lpstr">
      <vt:lpstr>游ゴシック</vt:lpstr>
      <vt:lpstr>Arial</vt:lpstr>
      <vt:lpstr>Office テーマ</vt:lpstr>
      <vt:lpstr>進捗報告2026/07/03</vt:lpstr>
      <vt:lpstr>進捗</vt:lpstr>
      <vt:lpstr>PowerPoint プレゼンテーション</vt:lpstr>
      <vt:lpstr>SEM分析（パス解析）のモデル構築</vt:lpstr>
      <vt:lpstr>進捗</vt:lpstr>
      <vt:lpstr>進捗</vt:lpstr>
      <vt:lpstr>進捗</vt:lpstr>
      <vt:lpstr>進捗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進捗報告 2026/10/16</dc:title>
  <dc:creator>今井元</dc:creator>
  <cp:lastModifiedBy>今井　元</cp:lastModifiedBy>
  <cp:revision>1</cp:revision>
  <dcterms:created xsi:type="dcterms:W3CDTF">2026-07-03T00:39:04Z</dcterms:created>
  <dcterms:modified xsi:type="dcterms:W3CDTF">2026-07-03T00:51:52Z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0x0101004E6AF0D829D43D49B1E81D8F4BBE5B7D</vt:lpwstr>
  </property>
</Properties>
</file>