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10"/>
    <p:sldId id="257" r:id="rId11"/>
    <p:sldId id="258" r:id="rId12"/>
    <p:sldId id="259" r:id="rId9"/>
    <p:sldId id="260" r:id="rId8"/>
    <p:sldId id="261" r:id="rId7"/>
    <p:sldId id="262" r:id="rId6"/>
    <p:sldId id="263" r:id="rId5"/>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59" d="100"/>
          <a:sy n="59" d="100"/>
        </p:scale>
        <p:origin x="96" y="6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パス係数（性格特性の関連は |β|≦.21）</a:t>
            </a:r>
          </a:p>
        </c:rich>
      </c:tx>
      <c:layout/>
      <c:overlay val="0"/>
    </c:title>
    <c:autoTitleDeleted val="0"/>
    <c:plotArea>
      <c:barChart>
        <c:barDir val="col"/>
        <c:grouping val="clustered"/>
        <c:ser>
          <c:idx val="0"/>
          <c:order val="0"/>
          <c:tx>
            <c:strRef>
              <c:f>Sheet1!$B$1</c:f>
              <c:strCache>
                <c:ptCount val="1"/>
                <c:pt idx="0">
                  <c:v>β</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E07A10"/>
              </a:solidFill>
            </c:spPr>
          </c:dPt>
          <c:dPt>
            <c:idx val="3"/>
            <c:spPr>
              <a:solidFill>
                <a:srgbClr val="E07A10"/>
              </a:solidFill>
            </c:spPr>
          </c:dPt>
          <c:cat>
            <c:strRef>
              <c:f>Sheet1!$A$2:$A$5</c:f>
              <c:strCache>
                <c:ptCount val="4"/>
                <c:pt idx="0">
                  <c:v>頻度→充実</c:v>
                </c:pt>
                <c:pt idx="1">
                  <c:v>没入→充実</c:v>
                </c:pt>
                <c:pt idx="2">
                  <c:v>頻度→推し疲れ</c:v>
                </c:pt>
                <c:pt idx="3">
                  <c:v>没入→推し疲れ</c:v>
                </c:pt>
              </c:strCache>
            </c:strRef>
          </c:cat>
          <c:val>
            <c:numRef>
              <c:f>Sheet1!$B$2:$B$5</c:f>
              <c:numCache>
                <c:formatCode>General</c:formatCode>
                <c:ptCount val="4"/>
                <c:pt idx="0">
                  <c:v>0.43</c:v>
                </c:pt>
                <c:pt idx="1">
                  <c:v>0.2</c:v>
                </c:pt>
                <c:pt idx="2">
                  <c:v>0.29</c:v>
                </c:pt>
                <c:pt idx="3">
                  <c:v>0.23</c:v>
                </c:pt>
              </c:numCache>
            </c:numRef>
          </c:val>
        </c:ser>
        <c:dLbls>
          <c:numFmt formatCode="0.00"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0.5"/>
          <c:min val="0.0"/>
        </c:scaling>
        <c:delete val="0"/>
        <c:axPos val="l"/>
        <c:majorGridlines>
          <c:spPr>
            <a:ln w="9525">
              <a:solidFill>
                <a:srgbClr val="E3E8EF"/>
              </a:solidFill>
            </a:ln>
          </c:spPr>
        </c:majorGridlines>
        <c:numFmt formatCode="0.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0.1"/>
      </c:valAx>
    </c:plotArea>
    <c:dispBlanksAs val="gap"/>
  </c:chart>
  <c:txPr>
    <a:bodyPr/>
    <a:lstStyle/>
    <a:p>
      <a:pPr>
        <a:defRPr sz="1100">
          <a:solidFill>
            <a:srgbClr val="5A667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理想の頻度：増やしたい ＞ 減らしたい</a:t>
            </a:r>
          </a:p>
        </c:rich>
      </c:tx>
      <c:layout/>
      <c:overlay val="0"/>
    </c:title>
    <c:autoTitleDeleted val="0"/>
    <c:plotArea>
      <c:barChart>
        <c:barDir val="bar"/>
        <c:grouping val="clustered"/>
        <c:ser>
          <c:idx val="0"/>
          <c:order val="0"/>
          <c:tx>
            <c:strRef>
              <c:f>Sheet1!$B$1</c:f>
              <c:strCache>
                <c:ptCount val="1"/>
                <c:pt idx="0">
                  <c:v>割合</c:v>
                </c:pt>
              </c:strCache>
            </c:strRef>
          </c:tx>
          <c:spPr>
            <a:solidFill>
              <a:srgbClr val="12A38A"/>
            </a:solidFill>
          </c:spPr>
          <c:invertIfNegative val="0"/>
          <c:dPt>
            <c:idx val="0"/>
            <c:spPr>
              <a:solidFill>
                <a:srgbClr val="12A38A"/>
              </a:solidFill>
            </c:spPr>
          </c:dPt>
          <c:dPt>
            <c:idx val="1"/>
            <c:spPr>
              <a:solidFill>
                <a:srgbClr val="12A38A"/>
              </a:solidFill>
            </c:spPr>
          </c:dPt>
          <c:dPt>
            <c:idx val="2"/>
            <c:spPr>
              <a:solidFill>
                <a:srgbClr val="E07A10"/>
              </a:solidFill>
            </c:spPr>
          </c:dPt>
          <c:cat>
            <c:strRef>
              <c:f>Sheet1!$A$2:$A$4</c:f>
              <c:strCache>
                <c:ptCount val="3"/>
                <c:pt idx="0">
                  <c:v>ライブを増やしたい</c:v>
                </c:pt>
                <c:pt idx="1">
                  <c:v>グッズを増やしたい</c:v>
                </c:pt>
                <c:pt idx="2">
                  <c:v>SNSを減らしたい</c:v>
                </c:pt>
              </c:strCache>
            </c:strRef>
          </c:cat>
          <c:val>
            <c:numRef>
              <c:f>Sheet1!$B$2:$B$4</c:f>
              <c:numCache>
                <c:formatCode>General</c:formatCode>
                <c:ptCount val="3"/>
                <c:pt idx="0">
                  <c:v>39</c:v>
                </c:pt>
                <c:pt idx="1">
                  <c:v>36</c:v>
                </c:pt>
                <c:pt idx="2">
                  <c:v>22</c:v>
                </c:pt>
              </c:numCache>
            </c:numRef>
          </c:val>
        </c:ser>
        <c:dLbls>
          <c:numFmt formatCode="0&quot;%&quot;"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50.0"/>
          <c:min val="0.0"/>
        </c:scaling>
        <c:delete val="0"/>
        <c:axPos val="b"/>
        <c:majorGridlines>
          <c:spPr>
            <a:ln w="9525">
              <a:solidFill>
                <a:srgbClr val="E3E8EF"/>
              </a:solidFill>
            </a:ln>
          </c:spPr>
        </c:majorGridlines>
        <c:numFmt formatCode="0&quot;%&quot;" sourceLinked="0"/>
        <c:majorTickMark val="out"/>
        <c:minorTickMark val="none"/>
        <c:tickLblPos val="none"/>
        <c:spPr>
          <a:ln>
            <a:noFill/>
          </a:ln>
        </c:spPr>
        <c:txPr>
          <a:bodyPr/>
          <a:lstStyle/>
          <a:p>
            <a:pPr>
              <a:defRPr sz="1050">
                <a:solidFill>
                  <a:srgbClr val="5A6676"/>
                </a:solidFill>
              </a:defRPr>
            </a:pPr>
          </a:p>
        </c:txPr>
        <c:crossAx val="-2068027336"/>
        <c:crosses val="autoZero"/>
      </c:valAx>
    </c:plotArea>
    <c:dispBlanksAs val="gap"/>
  </c:chart>
  <c:txPr>
    <a:bodyPr/>
    <a:lstStyle/>
    <a:p>
      <a:pPr>
        <a:defRPr sz="1100">
          <a:solidFill>
            <a:srgbClr val="5A667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80%予測区間の幅（±・参加者平均）</a:t>
            </a:r>
          </a:p>
        </c:rich>
      </c:tx>
      <c:layout/>
      <c:overlay val="0"/>
    </c:title>
    <c:autoTitleDeleted val="0"/>
    <c:plotArea>
      <c:barChart>
        <c:barDir val="col"/>
        <c:grouping val="clustered"/>
        <c:ser>
          <c:idx val="0"/>
          <c:order val="0"/>
          <c:tx>
            <c:strRef>
              <c:f>Sheet1!$B$1</c:f>
              <c:strCache>
                <c:ptCount val="1"/>
                <c:pt idx="0">
                  <c:v>記録0日</c:v>
                </c:pt>
              </c:strCache>
            </c:strRef>
          </c:tx>
          <c:spPr>
            <a:solidFill>
              <a:srgbClr val="8FA3B8"/>
            </a:solidFill>
          </c:spPr>
          <c:invertIfNegative val="0"/>
          <c:cat>
            <c:strRef>
              <c:f>Sheet1!$A$2:$A$3</c:f>
              <c:strCache>
                <c:ptCount val="2"/>
                <c:pt idx="0">
                  <c:v>充実</c:v>
                </c:pt>
                <c:pt idx="1">
                  <c:v>推し疲れ</c:v>
                </c:pt>
              </c:strCache>
            </c:strRef>
          </c:cat>
          <c:val>
            <c:numRef>
              <c:f>Sheet1!$B$2:$B$3</c:f>
              <c:numCache>
                <c:formatCode>General</c:formatCode>
                <c:ptCount val="2"/>
                <c:pt idx="0">
                  <c:v>0.91</c:v>
                </c:pt>
                <c:pt idx="1">
                  <c:v>1.18</c:v>
                </c:pt>
              </c:numCache>
            </c:numRef>
          </c:val>
        </c:ser>
        <c:ser>
          <c:idx val="1"/>
          <c:order val="1"/>
          <c:tx>
            <c:strRef>
              <c:f>Sheet1!$C$1</c:f>
              <c:strCache>
                <c:ptCount val="1"/>
                <c:pt idx="0">
                  <c:v>記録14日</c:v>
                </c:pt>
              </c:strCache>
            </c:strRef>
          </c:tx>
          <c:spPr>
            <a:solidFill>
              <a:srgbClr val="12A38A"/>
            </a:solidFill>
          </c:spPr>
          <c:invertIfNegative val="0"/>
          <c:cat>
            <c:strRef>
              <c:f>Sheet1!$A$2:$A$3</c:f>
              <c:strCache>
                <c:ptCount val="2"/>
                <c:pt idx="0">
                  <c:v>充実</c:v>
                </c:pt>
                <c:pt idx="1">
                  <c:v>推し疲れ</c:v>
                </c:pt>
              </c:strCache>
            </c:strRef>
          </c:cat>
          <c:val>
            <c:numRef>
              <c:f>Sheet1!$C$2:$C$3</c:f>
              <c:numCache>
                <c:formatCode>General</c:formatCode>
                <c:ptCount val="2"/>
                <c:pt idx="0">
                  <c:v>0.67</c:v>
                </c:pt>
                <c:pt idx="1">
                  <c:v>0.86</c:v>
                </c:pt>
              </c:numCache>
            </c:numRef>
          </c:val>
        </c:ser>
        <c:dLbls>
          <c:numFmt formatCode="0.00"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1.4"/>
          <c:min val="0.0"/>
        </c:scaling>
        <c:delete val="0"/>
        <c:axPos val="l"/>
        <c:majorGridlines>
          <c:spPr>
            <a:ln w="9525">
              <a:solidFill>
                <a:srgbClr val="E3E8EF"/>
              </a:solidFill>
            </a:ln>
          </c:spPr>
        </c:majorGridlines>
        <c:numFmt formatCode="0.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A667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0B3C6E"/>
                </a:solidFill>
              </a:rPr>
              <a:t>提案3案の予測（例）</a:t>
            </a:r>
          </a:p>
        </c:rich>
      </c:tx>
      <c:layout/>
      <c:overlay val="0"/>
    </c:title>
    <c:plotArea>
      <c:scatterChart>
        <c:scatterStyle val="lineMarker"/>
        <c:varyColors val="0"/>
        <c:ser>
          <c:idx val="0"/>
          <c:order val="0"/>
          <c:tx>
            <c:strRef>
              <c:f>Sheet1!$B$1</c:f>
              <c:strCache>
                <c:ptCount val="1"/>
                <c:pt idx="0">
                  <c:v>現状（今のまま）</c:v>
                </c:pt>
              </c:strCache>
            </c:strRef>
          </c:tx>
          <c:spPr>
            <a:ln w="47625">
              <a:noFill/>
            </a:ln>
          </c:spPr>
          <c:marker>
            <c:symbol val="circle"/>
            <c:size val="15"/>
            <c:spPr>
              <a:solidFill>
                <a:srgbClr val="E07A10"/>
              </a:solidFill>
              <a:ln>
                <a:solidFill>
                  <a:srgbClr val="FFFFFF"/>
                </a:solidFill>
              </a:ln>
            </c:spPr>
          </c:marker>
          <c:dLbls>
            <c:dLbl>
              <c:idx val="0"/>
              <c:tx>
                <c:rich>
                  <a:bodyPr/>
                  <a:lstStyle/>
                  <a:p>
                    <a:r>
                      <a:rPr sz="1100" b="1">
                        <a:solidFill>
                          <a:srgbClr val="E07A10"/>
                        </a:solidFill>
                      </a:rPr>
                      <a:t>現状（今のまま）</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Sheet1!$A$2:$A$2</c:f>
              <c:numCache>
                <c:formatCode>General</c:formatCode>
                <c:ptCount val="1"/>
                <c:pt idx="0">
                  <c:v>3.5</c:v>
                </c:pt>
              </c:numCache>
            </c:numRef>
          </c:xVal>
          <c:yVal>
            <c:numRef>
              <c:f>Sheet1!$B$2:$B$2</c:f>
              <c:numCache>
                <c:formatCode>General</c:formatCode>
                <c:ptCount val="1"/>
                <c:pt idx="0">
                  <c:v>3.6</c:v>
                </c:pt>
              </c:numCache>
            </c:numRef>
          </c:yVal>
          <c:smooth val="0"/>
        </c:ser>
        <c:ser>
          <c:idx val="1"/>
          <c:order val="1"/>
          <c:tx>
            <c:strRef>
              <c:f>Sheet1!$B$4</c:f>
              <c:strCache>
                <c:ptCount val="1"/>
                <c:pt idx="0">
                  <c:v>① 楽しさキープ</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① 楽しさキープ</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Sheet1!$A$5:$A$5</c:f>
              <c:numCache>
                <c:formatCode>General</c:formatCode>
                <c:ptCount val="1"/>
                <c:pt idx="0">
                  <c:v>3.1</c:v>
                </c:pt>
              </c:numCache>
            </c:numRef>
          </c:xVal>
          <c:yVal>
            <c:numRef>
              <c:f>Sheet1!$B$5:$B$5</c:f>
              <c:numCache>
                <c:formatCode>General</c:formatCode>
                <c:ptCount val="1"/>
                <c:pt idx="0">
                  <c:v>3.6</c:v>
                </c:pt>
              </c:numCache>
            </c:numRef>
          </c:yVal>
          <c:smooth val="0"/>
        </c:ser>
        <c:ser>
          <c:idx val="2"/>
          <c:order val="2"/>
          <c:tx>
            <c:strRef>
              <c:f>Sheet1!$B$7</c:f>
              <c:strCache>
                <c:ptCount val="1"/>
                <c:pt idx="0">
                  <c:v>② バランス</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② バランス</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Sheet1!$A$8:$A$8</c:f>
              <c:numCache>
                <c:formatCode>General</c:formatCode>
                <c:ptCount val="1"/>
                <c:pt idx="0">
                  <c:v>3.3</c:v>
                </c:pt>
              </c:numCache>
            </c:numRef>
          </c:xVal>
          <c:yVal>
            <c:numRef>
              <c:f>Sheet1!$B$8:$B$8</c:f>
              <c:numCache>
                <c:formatCode>General</c:formatCode>
                <c:ptCount val="1"/>
                <c:pt idx="0">
                  <c:v>3.8</c:v>
                </c:pt>
              </c:numCache>
            </c:numRef>
          </c:yVal>
          <c:smooth val="0"/>
        </c:ser>
        <c:ser>
          <c:idx val="3"/>
          <c:order val="3"/>
          <c:tx>
            <c:strRef>
              <c:f>Sheet1!$B$10</c:f>
              <c:strCache>
                <c:ptCount val="1"/>
                <c:pt idx="0">
                  <c:v>③ 回復重視</c:v>
                </c:pt>
              </c:strCache>
            </c:strRef>
          </c:tx>
          <c:spPr>
            <a:ln w="47625">
              <a:noFill/>
            </a:ln>
          </c:spPr>
          <c:marker>
            <c:symbol val="circle"/>
            <c:size val="13"/>
            <c:spPr>
              <a:solidFill>
                <a:srgbClr val="12A38A"/>
              </a:solidFill>
              <a:ln>
                <a:solidFill>
                  <a:srgbClr val="FFFFFF"/>
                </a:solidFill>
              </a:ln>
            </c:spPr>
          </c:marker>
          <c:dLbls>
            <c:dLbl>
              <c:idx val="0"/>
              <c:tx>
                <c:rich>
                  <a:bodyPr/>
                  <a:lstStyle/>
                  <a:p>
                    <a:r>
                      <a:rPr sz="1100" b="1">
                        <a:solidFill>
                          <a:srgbClr val="12A38A"/>
                        </a:solidFill>
                      </a:rPr>
                      <a:t>③ 回復重視</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Sheet1!$A$11:$A$11</c:f>
              <c:numCache>
                <c:formatCode>General</c:formatCode>
                <c:ptCount val="1"/>
                <c:pt idx="0">
                  <c:v>2.8</c:v>
                </c:pt>
              </c:numCache>
            </c:numRef>
          </c:xVal>
          <c:yVal>
            <c:numRef>
              <c:f>Sheet1!$B$11:$B$11</c:f>
              <c:numCache>
                <c:formatCode>General</c:formatCode>
                <c:ptCount val="1"/>
                <c:pt idx="0">
                  <c:v>3.4</c:v>
                </c:pt>
              </c:numCache>
            </c:numRef>
          </c:yVal>
          <c:smooth val="0"/>
        </c:ser>
        <c:axId val="-2128940872"/>
        <c:axId val="-2129643912"/>
      </c:scatterChart>
      <c:valAx>
        <c:axId val="-2128940872"/>
        <c:scaling>
          <c:orientation val="minMax"/>
          <c:max val="3.8"/>
          <c:min val="2.6"/>
        </c:scaling>
        <c:delete val="0"/>
        <c:axPos val="b"/>
        <c:majorGridlines>
          <c:spPr>
            <a:ln>
              <a:solidFill>
                <a:srgbClr val="E3E8EF"/>
              </a:solidFill>
            </a:ln>
          </c:spPr>
        </c:majorGridlines>
        <c:title>
          <c:tx>
            <c:rich>
              <a:bodyPr/>
              <a:lstStyle/>
              <a:p>
                <a:r>
                  <a:rPr sz="1100" b="1">
                    <a:solidFill>
                      <a:srgbClr val="0B3C6E"/>
                    </a:solidFill>
                  </a:rPr>
                  <a:t>推し疲れの予測（低いほど良い）</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defRPr>
            </a:pPr>
          </a:p>
        </c:txPr>
        <c:crossAx val="-2129643912"/>
        <c:crosses val="autoZero"/>
        <c:crossBetween val="midCat"/>
        <c:majorUnit val="0.2"/>
      </c:valAx>
      <c:valAx>
        <c:axId val="-2129643912"/>
        <c:scaling>
          <c:orientation val="minMax"/>
          <c:max val="4.0"/>
          <c:min val="3.2"/>
        </c:scaling>
        <c:delete val="0"/>
        <c:axPos val="l"/>
        <c:majorGridlines>
          <c:spPr>
            <a:ln>
              <a:solidFill>
                <a:srgbClr val="E3E8EF"/>
              </a:solidFill>
            </a:ln>
          </c:spPr>
        </c:majorGridlines>
        <c:title>
          <c:tx>
            <c:rich>
              <a:bodyPr/>
              <a:lstStyle/>
              <a:p>
                <a:r>
                  <a:rPr sz="1100" b="1">
                    <a:solidFill>
                      <a:srgbClr val="0B3C6E"/>
                    </a:solidFill>
                  </a:rPr>
                  <a:t>充実の予測</a:t>
                </a:r>
              </a:p>
            </c:rich>
          </c:tx>
          <c:layout/>
          <c:overlay val="0"/>
        </c:title>
        <c:numFmt formatCode="0.0" sourceLinked="0"/>
        <c:majorTickMark val="out"/>
        <c:minorTickMark val="none"/>
        <c:tickLblPos val="nextTo"/>
        <c:spPr>
          <a:ln>
            <a:solidFill>
              <a:srgbClr val="B8C2CE"/>
            </a:solidFill>
          </a:ln>
        </c:spPr>
        <c:txPr>
          <a:bodyPr/>
          <a:lstStyle/>
          <a:p>
            <a:pPr>
              <a:defRPr sz="1050">
                <a:solidFill>
                  <a:srgbClr val="5A6676"/>
                </a:solidFill>
              </a:defRPr>
            </a:pPr>
          </a:p>
        </c:txPr>
        <c:crossAx val="-2128940872"/>
        <c:crosses val="autoZero"/>
        <c:crossBetween val="midCat"/>
        <c:majorUnit val="0.2"/>
      </c:valAx>
    </c:plotArea>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6週時点の平均絶対誤差（5段階）</a:t>
            </a:r>
          </a:p>
        </c:rich>
      </c:tx>
      <c:layout/>
      <c:overlay val="0"/>
    </c:title>
    <c:autoTitleDeleted val="0"/>
    <c:plotArea>
      <c:barChart>
        <c:barDir val="col"/>
        <c:grouping val="clustered"/>
        <c:ser>
          <c:idx val="0"/>
          <c:order val="0"/>
          <c:tx>
            <c:strRef>
              <c:f>Sheet1!$B$1</c:f>
              <c:strCache>
                <c:ptCount val="1"/>
                <c:pt idx="0">
                  <c:v>全体の傾向のみ</c:v>
                </c:pt>
              </c:strCache>
            </c:strRef>
          </c:tx>
          <c:spPr>
            <a:solidFill>
              <a:srgbClr val="8FA3B8"/>
            </a:solidFill>
          </c:spPr>
          <c:invertIfNegative val="0"/>
          <c:cat>
            <c:strRef>
              <c:f>Sheet1!$A$2:$A$3</c:f>
              <c:strCache>
                <c:ptCount val="2"/>
                <c:pt idx="0">
                  <c:v>充実</c:v>
                </c:pt>
                <c:pt idx="1">
                  <c:v>推し疲れ</c:v>
                </c:pt>
              </c:strCache>
            </c:strRef>
          </c:cat>
          <c:val>
            <c:numRef>
              <c:f>Sheet1!$B$2:$B$3</c:f>
              <c:numCache>
                <c:formatCode>General</c:formatCode>
                <c:ptCount val="2"/>
                <c:pt idx="0">
                  <c:v>0.68</c:v>
                </c:pt>
                <c:pt idx="1">
                  <c:v>0.84</c:v>
                </c:pt>
              </c:numCache>
            </c:numRef>
          </c:val>
        </c:ser>
        <c:ser>
          <c:idx val="1"/>
          <c:order val="1"/>
          <c:tx>
            <c:strRef>
              <c:f>Sheet1!$C$1</c:f>
              <c:strCache>
                <c:ptCount val="1"/>
                <c:pt idx="0">
                  <c:v>個人補正後</c:v>
                </c:pt>
              </c:strCache>
            </c:strRef>
          </c:tx>
          <c:spPr>
            <a:solidFill>
              <a:srgbClr val="12A38A"/>
            </a:solidFill>
          </c:spPr>
          <c:invertIfNegative val="0"/>
          <c:cat>
            <c:strRef>
              <c:f>Sheet1!$A$2:$A$3</c:f>
              <c:strCache>
                <c:ptCount val="2"/>
                <c:pt idx="0">
                  <c:v>充実</c:v>
                </c:pt>
                <c:pt idx="1">
                  <c:v>推し疲れ</c:v>
                </c:pt>
              </c:strCache>
            </c:strRef>
          </c:cat>
          <c:val>
            <c:numRef>
              <c:f>Sheet1!$C$2:$C$3</c:f>
              <c:numCache>
                <c:formatCode>General</c:formatCode>
                <c:ptCount val="2"/>
                <c:pt idx="0">
                  <c:v>0.49</c:v>
                </c:pt>
                <c:pt idx="1">
                  <c:v>0.62</c:v>
                </c:pt>
              </c:numCache>
            </c:numRef>
          </c:val>
        </c:ser>
        <c:dLbls>
          <c:numFmt formatCode="0.00" sourceLinked="0"/>
          <c:txPr>
            <a:bodyPr/>
            <a:lstStyle/>
            <a:p>
              <a:pPr>
                <a:defRPr sz="1100" b="1">
                  <a:solidFill>
                    <a:srgbClr val="24303F"/>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1.0"/>
          <c:min val="0.0"/>
        </c:scaling>
        <c:delete val="0"/>
        <c:axPos val="l"/>
        <c:majorGridlines>
          <c:spPr>
            <a:ln w="9525">
              <a:solidFill>
                <a:srgbClr val="E3E8EF"/>
              </a:solidFill>
            </a:ln>
          </c:spPr>
        </c:majorGridlines>
        <c:numFmt formatCode="0.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0.2"/>
      </c:valAx>
    </c:plotArea>
    <c:legend>
      <c:legendPos val="b"/>
      <c:overlay val="0"/>
      <c:txPr>
        <a:bodyPr/>
        <a:lstStyle/>
        <a:p>
          <a:pPr>
            <a:defRPr sz="1100"/>
          </a:pPr>
        </a:p>
      </c:txPr>
    </c:legend>
    <c:dispBlanksAs val="gap"/>
  </c:chart>
  <c:txPr>
    <a:bodyPr/>
    <a:lstStyle/>
    <a:p>
      <a:pPr>
        <a:defRPr sz="1100">
          <a:solidFill>
            <a:srgbClr val="5A6676"/>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選んだ提案を実行できた割合（%）</a:t>
            </a:r>
          </a:p>
        </c:rich>
      </c:tx>
      <c:layout/>
      <c:overlay val="0"/>
    </c:title>
    <c:autoTitleDeleted val="0"/>
    <c:plotArea>
      <c:lineChart>
        <c:grouping val="standard"/>
        <c:varyColors val="0"/>
        <c:ser>
          <c:idx val="0"/>
          <c:order val="0"/>
          <c:tx>
            <c:strRef>
              <c:f>Sheet1!$B$1</c:f>
              <c:strCache>
                <c:ptCount val="1"/>
                <c:pt idx="0">
                  <c:v>群B 提案（文章）</c:v>
                </c:pt>
              </c:strCache>
            </c:strRef>
          </c:tx>
          <c:spPr>
            <a:ln w="31750">
              <a:solidFill>
                <a:srgbClr val="0099FF"/>
              </a:solidFill>
            </a:ln>
          </c:spPr>
          <c:marker>
            <c:symbol val="circle"/>
            <c:size val="7"/>
            <c:spPr>
              <a:solidFill>
                <a:srgbClr val="0099FF"/>
              </a:solidFill>
              <a:ln>
                <a:solidFill>
                  <a:srgbClr val="0099FF"/>
                </a:solidFill>
              </a:ln>
            </c:spPr>
          </c:marker>
          <c:dLbls>
            <c:numFmt formatCode="0" sourceLinked="0"/>
            <c:txPr>
              <a:bodyPr/>
              <a:lstStyle/>
              <a:p>
                <a:pPr>
                  <a:defRPr sz="1000" b="1">
                    <a:solidFill>
                      <a:srgbClr val="0099FF"/>
                    </a:solidFill>
                  </a:defRPr>
                </a:pPr>
              </a:p>
            </c:txPr>
            <c:dLblPos val="t"/>
            <c:showLegendKey val="0"/>
            <c:showVal val="1"/>
            <c:showCatName val="0"/>
            <c:showSerName val="0"/>
            <c:showPercent val="0"/>
            <c:showBubbleSize val="0"/>
            <c:showLeaderLines val="1"/>
          </c:dLbls>
          <c:cat>
            <c:strRef>
              <c:f>Sheet1!$A$2:$A$5</c:f>
              <c:strCache>
                <c:ptCount val="4"/>
                <c:pt idx="0">
                  <c:v>3週</c:v>
                </c:pt>
                <c:pt idx="1">
                  <c:v>4週</c:v>
                </c:pt>
                <c:pt idx="2">
                  <c:v>5週</c:v>
                </c:pt>
                <c:pt idx="3">
                  <c:v>6週</c:v>
                </c:pt>
              </c:strCache>
            </c:strRef>
          </c:cat>
          <c:val>
            <c:numRef>
              <c:f>Sheet1!$B$2:$B$5</c:f>
              <c:numCache>
                <c:formatCode>General</c:formatCode>
                <c:ptCount val="4"/>
                <c:pt idx="0">
                  <c:v>54</c:v>
                </c:pt>
                <c:pt idx="1">
                  <c:v>49</c:v>
                </c:pt>
                <c:pt idx="2">
                  <c:v>46</c:v>
                </c:pt>
                <c:pt idx="3">
                  <c:v>44</c:v>
                </c:pt>
              </c:numCache>
            </c:numRef>
          </c:val>
          <c:smooth val="0"/>
        </c:ser>
        <c:ser>
          <c:idx val="1"/>
          <c:order val="1"/>
          <c:tx>
            <c:strRef>
              <c:f>Sheet1!$C$1</c:f>
              <c:strCache>
                <c:ptCount val="1"/>
                <c:pt idx="0">
                  <c:v>群C 提案＋アバター</c:v>
                </c:pt>
              </c:strCache>
            </c:strRef>
          </c:tx>
          <c:spPr>
            <a:ln w="31750">
              <a:solidFill>
                <a:srgbClr val="12A38A"/>
              </a:solidFill>
            </a:ln>
          </c:spPr>
          <c:marker>
            <c:symbol val="circle"/>
            <c:size val="7"/>
            <c:spPr>
              <a:solidFill>
                <a:srgbClr val="12A38A"/>
              </a:solidFill>
              <a:ln>
                <a:solidFill>
                  <a:srgbClr val="12A38A"/>
                </a:solidFill>
              </a:ln>
            </c:spPr>
          </c:marker>
          <c:dLbls>
            <c:numFmt formatCode="0" sourceLinked="0"/>
            <c:txPr>
              <a:bodyPr/>
              <a:lstStyle/>
              <a:p>
                <a:pPr>
                  <a:defRPr sz="1000" b="1">
                    <a:solidFill>
                      <a:srgbClr val="12A38A"/>
                    </a:solidFill>
                  </a:defRPr>
                </a:pPr>
              </a:p>
            </c:txPr>
            <c:dLblPos val="t"/>
            <c:showLegendKey val="0"/>
            <c:showVal val="1"/>
            <c:showCatName val="0"/>
            <c:showSerName val="0"/>
            <c:showPercent val="0"/>
            <c:showBubbleSize val="0"/>
            <c:showLeaderLines val="1"/>
          </c:dLbls>
          <c:cat>
            <c:strRef>
              <c:f>Sheet1!$A$2:$A$5</c:f>
              <c:strCache>
                <c:ptCount val="4"/>
                <c:pt idx="0">
                  <c:v>3週</c:v>
                </c:pt>
                <c:pt idx="1">
                  <c:v>4週</c:v>
                </c:pt>
                <c:pt idx="2">
                  <c:v>5週</c:v>
                </c:pt>
                <c:pt idx="3">
                  <c:v>6週</c:v>
                </c:pt>
              </c:strCache>
            </c:strRef>
          </c:cat>
          <c:val>
            <c:numRef>
              <c:f>Sheet1!$C$2:$C$5</c:f>
              <c:numCache>
                <c:formatCode>General</c:formatCode>
                <c:ptCount val="4"/>
                <c:pt idx="0">
                  <c:v>63</c:v>
                </c:pt>
                <c:pt idx="1">
                  <c:v>61</c:v>
                </c:pt>
                <c:pt idx="2">
                  <c:v>58</c:v>
                </c:pt>
                <c:pt idx="3">
                  <c:v>57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70.0"/>
          <c:min val="30.0"/>
        </c:scaling>
        <c:delete val="0"/>
        <c:axPos val="l"/>
        <c:majorGridlines>
          <c:spPr>
            <a:ln w="9525">
              <a:solidFill>
                <a:srgbClr val="E3E8EF"/>
              </a:solidFill>
            </a:ln>
          </c:spPr>
        </c:majorGridlines>
        <c:numFmt formatCode="0" sourceLinked="0"/>
        <c:majorTickMark val="out"/>
        <c:minorTickMark val="none"/>
        <c:tickLblPos val="nextTo"/>
        <c:spPr>
          <a:ln>
            <a:noFill/>
          </a:ln>
        </c:spPr>
        <c:txPr>
          <a:bodyPr/>
          <a:lstStyle/>
          <a:p>
            <a:pPr>
              <a:defRPr sz="1050">
                <a:solidFill>
                  <a:srgbClr val="5A6676"/>
                </a:solidFill>
              </a:defRPr>
            </a:pPr>
          </a:p>
        </c:txPr>
        <c:crossAx val="2118791784"/>
        <c:crosses val="autoZero"/>
        <c:majorUnit val="10.0"/>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WHO-5 の平均（素点 0〜25）</a:t>
            </a:r>
          </a:p>
        </c:rich>
      </c:tx>
      <c:layout/>
      <c:overlay val="0"/>
    </c:title>
    <c:autoTitleDeleted val="0"/>
    <c:plotArea>
      <c:lineChart>
        <c:grouping val="standard"/>
        <c:varyColors val="0"/>
        <c:ser>
          <c:idx val="0"/>
          <c:order val="0"/>
          <c:tx>
            <c:strRef>
              <c:f>Sheet1!$B$1</c:f>
              <c:strCache>
                <c:ptCount val="1"/>
                <c:pt idx="0">
                  <c:v>群A</c:v>
                </c:pt>
              </c:strCache>
            </c:strRef>
          </c:tx>
          <c:spPr>
            <a:ln w="31750">
              <a:solidFill>
                <a:srgbClr val="8FA3B8"/>
              </a:solidFill>
            </a:ln>
          </c:spPr>
          <c:marker>
            <c:symbol val="circle"/>
            <c:size val="7"/>
            <c:spPr>
              <a:solidFill>
                <a:srgbClr val="8FA3B8"/>
              </a:solidFill>
              <a:ln>
                <a:solidFill>
                  <a:srgbClr val="8FA3B8"/>
                </a:solidFill>
              </a:ln>
            </c:spPr>
          </c:marker>
          <c:dLbls>
            <c:dLbl>
              <c:idx val="3"/>
              <c:numFmt formatCode="0.0" sourceLinked="0"/>
              <c:spPr/>
              <c:txPr>
                <a:bodyPr/>
                <a:lstStyle/>
                <a:p>
                  <a:pPr>
                    <a:defRPr sz="1100" b="1">
                      <a:solidFill>
                        <a:srgbClr val="8FA3B8"/>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開始</c:v>
                </c:pt>
                <c:pt idx="1">
                  <c:v>2週</c:v>
                </c:pt>
                <c:pt idx="2">
                  <c:v>4週</c:v>
                </c:pt>
                <c:pt idx="3">
                  <c:v>6週</c:v>
                </c:pt>
              </c:strCache>
            </c:strRef>
          </c:cat>
          <c:val>
            <c:numRef>
              <c:f>Sheet1!$B$2:$B$5</c:f>
              <c:numCache>
                <c:formatCode>General</c:formatCode>
                <c:ptCount val="4"/>
                <c:pt idx="0">
                  <c:v>13.0</c:v>
                </c:pt>
                <c:pt idx="1">
                  <c:v>13.2</c:v>
                </c:pt>
                <c:pt idx="2">
                  <c:v>13.1</c:v>
                </c:pt>
                <c:pt idx="3">
                  <c:v>13.0</c:v>
                </c:pt>
              </c:numCache>
            </c:numRef>
          </c:val>
          <c:smooth val="0"/>
        </c:ser>
        <c:ser>
          <c:idx val="1"/>
          <c:order val="1"/>
          <c:tx>
            <c:strRef>
              <c:f>Sheet1!$C$1</c:f>
              <c:strCache>
                <c:ptCount val="1"/>
                <c:pt idx="0">
                  <c:v>群B</c:v>
                </c:pt>
              </c:strCache>
            </c:strRef>
          </c:tx>
          <c:spPr>
            <a:ln w="31750">
              <a:solidFill>
                <a:srgbClr val="0099FF"/>
              </a:solidFill>
            </a:ln>
          </c:spPr>
          <c:marker>
            <c:symbol val="circle"/>
            <c:size val="7"/>
            <c:spPr>
              <a:solidFill>
                <a:srgbClr val="0099FF"/>
              </a:solidFill>
              <a:ln>
                <a:solidFill>
                  <a:srgbClr val="0099FF"/>
                </a:solidFill>
              </a:ln>
            </c:spPr>
          </c:marker>
          <c:dLbls>
            <c:dLbl>
              <c:idx val="3"/>
              <c:numFmt formatCode="0.0" sourceLinked="0"/>
              <c:spPr/>
              <c:txPr>
                <a:bodyPr/>
                <a:lstStyle/>
                <a:p>
                  <a:pPr>
                    <a:defRPr sz="1100" b="1">
                      <a:solidFill>
                        <a:srgbClr val="0099FF"/>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開始</c:v>
                </c:pt>
                <c:pt idx="1">
                  <c:v>2週</c:v>
                </c:pt>
                <c:pt idx="2">
                  <c:v>4週</c:v>
                </c:pt>
                <c:pt idx="3">
                  <c:v>6週</c:v>
                </c:pt>
              </c:strCache>
            </c:strRef>
          </c:cat>
          <c:val>
            <c:numRef>
              <c:f>Sheet1!$C$2:$C$5</c:f>
              <c:numCache>
                <c:formatCode>General</c:formatCode>
                <c:ptCount val="4"/>
                <c:pt idx="0">
                  <c:v>13.2</c:v>
                </c:pt>
                <c:pt idx="1">
                  <c:v>13.1</c:v>
                </c:pt>
                <c:pt idx="2">
                  <c:v>13.6</c:v>
                </c:pt>
                <c:pt idx="3">
                  <c:v>13.8</c:v>
                </c:pt>
              </c:numCache>
            </c:numRef>
          </c:val>
          <c:smooth val="0"/>
        </c:ser>
        <c:ser>
          <c:idx val="2"/>
          <c:order val="2"/>
          <c:tx>
            <c:strRef>
              <c:f>Sheet1!$D$1</c:f>
              <c:strCache>
                <c:ptCount val="1"/>
                <c:pt idx="0">
                  <c:v>群C</c:v>
                </c:pt>
              </c:strCache>
            </c:strRef>
          </c:tx>
          <c:spPr>
            <a:ln w="31750">
              <a:solidFill>
                <a:srgbClr val="12A38A"/>
              </a:solidFill>
            </a:ln>
          </c:spPr>
          <c:marker>
            <c:symbol val="circle"/>
            <c:size val="7"/>
            <c:spPr>
              <a:solidFill>
                <a:srgbClr val="12A38A"/>
              </a:solidFill>
              <a:ln>
                <a:solidFill>
                  <a:srgbClr val="12A38A"/>
                </a:solidFill>
              </a:ln>
            </c:spPr>
          </c:marker>
          <c:dLbls>
            <c:dLbl>
              <c:idx val="3"/>
              <c:numFmt formatCode="0.0" sourceLinked="0"/>
              <c:spPr/>
              <c:txPr>
                <a:bodyPr/>
                <a:lstStyle/>
                <a:p>
                  <a:pPr>
                    <a:defRPr sz="1100" b="1">
                      <a:solidFill>
                        <a:srgbClr val="12A38A"/>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開始</c:v>
                </c:pt>
                <c:pt idx="1">
                  <c:v>2週</c:v>
                </c:pt>
                <c:pt idx="2">
                  <c:v>4週</c:v>
                </c:pt>
                <c:pt idx="3">
                  <c:v>6週</c:v>
                </c:pt>
              </c:strCache>
            </c:strRef>
          </c:cat>
          <c:val>
            <c:numRef>
              <c:f>Sheet1!$D$2:$D$5</c:f>
              <c:numCache>
                <c:formatCode>General</c:formatCode>
                <c:ptCount val="4"/>
                <c:pt idx="0">
                  <c:v>13.1</c:v>
                </c:pt>
                <c:pt idx="1">
                  <c:v>13.3</c:v>
                </c:pt>
                <c:pt idx="2">
                  <c:v>14.2</c:v>
                </c:pt>
                <c:pt idx="3">
                  <c:v>14.7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15.5"/>
          <c:min val="12.0"/>
        </c:scaling>
        <c:delete val="0"/>
        <c:axPos val="l"/>
        <c:majorGridlines>
          <c:spPr>
            <a:ln w="9525">
              <a:solidFill>
                <a:srgbClr val="E3E8EF"/>
              </a:solidFill>
            </a:ln>
          </c:spPr>
        </c:majorGridlines>
        <c:numFmt formatCode="0.0" sourceLinked="0"/>
        <c:majorTickMark val="out"/>
        <c:minorTickMark val="none"/>
        <c:tickLblPos val="nextTo"/>
        <c:spPr>
          <a:ln>
            <a:noFill/>
          </a:ln>
        </c:spPr>
        <c:txPr>
          <a:bodyPr/>
          <a:lstStyle/>
          <a:p>
            <a:pPr>
              <a:defRPr sz="1050">
                <a:solidFill>
                  <a:srgbClr val="5A6676"/>
                </a:solidFill>
              </a:defRPr>
            </a:pPr>
          </a:p>
        </c:txPr>
        <c:crossAx val="2118791784"/>
        <c:crosses val="autoZero"/>
        <c:majorUnit val="0.5"/>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疲れの中身の変化（2→6週）</a:t>
            </a:r>
          </a:p>
        </c:rich>
      </c:tx>
      <c:layout/>
      <c:overlay val="0"/>
    </c:title>
    <c:autoTitleDeleted val="0"/>
    <c:plotArea>
      <c:barChart>
        <c:barDir val="col"/>
        <c:grouping val="clustered"/>
        <c:ser>
          <c:idx val="0"/>
          <c:order val="0"/>
          <c:tx>
            <c:strRef>
              <c:f>Sheet1!$B$1</c:f>
              <c:strCache>
                <c:ptCount val="1"/>
                <c:pt idx="0">
                  <c:v>群A</c:v>
                </c:pt>
              </c:strCache>
            </c:strRef>
          </c:tx>
          <c:spPr>
            <a:solidFill>
              <a:srgbClr val="8FA3B8"/>
            </a:solidFill>
          </c:spPr>
          <c:invertIfNegative val="0"/>
          <c:cat>
            <c:strRef>
              <c:f>Sheet1!$A$2:$A$5</c:f>
              <c:strCache>
                <c:ptCount val="4"/>
                <c:pt idx="0">
                  <c:v>睡眠</c:v>
                </c:pt>
                <c:pt idx="1">
                  <c:v>出費</c:v>
                </c:pt>
                <c:pt idx="2">
                  <c:v>義務感</c:v>
                </c:pt>
                <c:pt idx="3">
                  <c:v>比較</c:v>
                </c:pt>
              </c:strCache>
            </c:strRef>
          </c:cat>
          <c:val>
            <c:numRef>
              <c:f>Sheet1!$B$2:$B$5</c:f>
              <c:numCache>
                <c:formatCode>General</c:formatCode>
                <c:ptCount val="4"/>
                <c:pt idx="0">
                  <c:v>-0.02</c:v>
                </c:pt>
                <c:pt idx="1">
                  <c:v>0.03</c:v>
                </c:pt>
                <c:pt idx="2">
                  <c:v>-0.05</c:v>
                </c:pt>
                <c:pt idx="3">
                  <c:v>0.0</c:v>
                </c:pt>
              </c:numCache>
            </c:numRef>
          </c:val>
        </c:ser>
        <c:ser>
          <c:idx val="1"/>
          <c:order val="1"/>
          <c:tx>
            <c:strRef>
              <c:f>Sheet1!$C$1</c:f>
              <c:strCache>
                <c:ptCount val="1"/>
                <c:pt idx="0">
                  <c:v>群B</c:v>
                </c:pt>
              </c:strCache>
            </c:strRef>
          </c:tx>
          <c:spPr>
            <a:solidFill>
              <a:srgbClr val="0099FF"/>
            </a:solidFill>
          </c:spPr>
          <c:invertIfNegative val="0"/>
          <c:cat>
            <c:strRef>
              <c:f>Sheet1!$A$2:$A$5</c:f>
              <c:strCache>
                <c:ptCount val="4"/>
                <c:pt idx="0">
                  <c:v>睡眠</c:v>
                </c:pt>
                <c:pt idx="1">
                  <c:v>出費</c:v>
                </c:pt>
                <c:pt idx="2">
                  <c:v>義務感</c:v>
                </c:pt>
                <c:pt idx="3">
                  <c:v>比較</c:v>
                </c:pt>
              </c:strCache>
            </c:strRef>
          </c:cat>
          <c:val>
            <c:numRef>
              <c:f>Sheet1!$C$2:$C$5</c:f>
              <c:numCache>
                <c:formatCode>General</c:formatCode>
                <c:ptCount val="4"/>
                <c:pt idx="0">
                  <c:v>-0.15</c:v>
                </c:pt>
                <c:pt idx="1">
                  <c:v>-0.12</c:v>
                </c:pt>
                <c:pt idx="2">
                  <c:v>-0.1</c:v>
                </c:pt>
                <c:pt idx="3">
                  <c:v>-0.06</c:v>
                </c:pt>
              </c:numCache>
            </c:numRef>
          </c:val>
        </c:ser>
        <c:ser>
          <c:idx val="2"/>
          <c:order val="2"/>
          <c:tx>
            <c:strRef>
              <c:f>Sheet1!$D$1</c:f>
              <c:strCache>
                <c:ptCount val="1"/>
                <c:pt idx="0">
                  <c:v>群C</c:v>
                </c:pt>
              </c:strCache>
            </c:strRef>
          </c:tx>
          <c:spPr>
            <a:solidFill>
              <a:srgbClr val="12A38A"/>
            </a:solidFill>
          </c:spPr>
          <c:invertIfNegative val="0"/>
          <c:cat>
            <c:strRef>
              <c:f>Sheet1!$A$2:$A$5</c:f>
              <c:strCache>
                <c:ptCount val="4"/>
                <c:pt idx="0">
                  <c:v>睡眠</c:v>
                </c:pt>
                <c:pt idx="1">
                  <c:v>出費</c:v>
                </c:pt>
                <c:pt idx="2">
                  <c:v>義務感</c:v>
                </c:pt>
                <c:pt idx="3">
                  <c:v>比較</c:v>
                </c:pt>
              </c:strCache>
            </c:strRef>
          </c:cat>
          <c:val>
            <c:numRef>
              <c:f>Sheet1!$D$2:$D$5</c:f>
              <c:numCache>
                <c:formatCode>General</c:formatCode>
                <c:ptCount val="4"/>
                <c:pt idx="0">
                  <c:v>-0.31</c:v>
                </c:pt>
                <c:pt idx="1">
                  <c:v>-0.22</c:v>
                </c:pt>
                <c:pt idx="2">
                  <c:v>-0.14</c:v>
                </c:pt>
                <c:pt idx="3">
                  <c:v>-0.05</c:v>
                </c:pt>
              </c:numCache>
            </c:numRef>
          </c:val>
        </c:ser>
        <c:gapWidth val="60"/>
        <c:overlap val="-5"/>
        <c:axId val="-2068027336"/>
        <c:axId val="-2113994440"/>
      </c:barChart>
      <c:catAx>
        <c:axId val="-2068027336"/>
        <c:scaling>
          <c:orientation val="minMax"/>
        </c:scaling>
        <c:delete val="0"/>
        <c:axPos val="b"/>
        <c:majorTickMark val="out"/>
        <c:minorTickMark val="none"/>
        <c:tickLblPos val="low"/>
        <c:spPr>
          <a:ln>
            <a:solidFill>
              <a:srgbClr val="B8C2CE"/>
            </a:solidFill>
          </a:ln>
        </c:spPr>
        <c:txPr>
          <a:bodyPr/>
          <a:lstStyle/>
          <a:p>
            <a:pPr>
              <a:defRPr sz="1100">
                <a:solidFill>
                  <a:srgbClr val="24303F"/>
                </a:solidFill>
              </a:defRPr>
            </a:pPr>
          </a:p>
        </c:txPr>
        <c:crossAx val="-2113994440"/>
        <c:crosses val="autoZero"/>
        <c:auto val="1"/>
        <c:lblAlgn val="ctr"/>
        <c:lblOffset val="100"/>
        <c:noMultiLvlLbl val="0"/>
      </c:catAx>
      <c:valAx>
        <c:axId val="-2113994440"/>
        <c:scaling>
          <c:max val="0.1"/>
          <c:min val="-0.4"/>
        </c:scaling>
        <c:delete val="0"/>
        <c:axPos val="l"/>
        <c:majorGridlines>
          <c:spPr>
            <a:ln w="9525">
              <a:solidFill>
                <a:srgbClr val="E3E8EF"/>
              </a:solidFill>
            </a:ln>
          </c:spPr>
        </c:majorGridlines>
        <c:numFmt formatCode="0.00" sourceLinked="0"/>
        <c:majorTickMark val="out"/>
        <c:minorTickMark val="none"/>
        <c:tickLblPos val="nextTo"/>
        <c:spPr>
          <a:ln>
            <a:noFill/>
          </a:ln>
        </c:spPr>
        <c:txPr>
          <a:bodyPr/>
          <a:lstStyle/>
          <a:p>
            <a:pPr>
              <a:defRPr sz="1050">
                <a:solidFill>
                  <a:srgbClr val="5A6676"/>
                </a:solidFill>
              </a:defRPr>
            </a:pPr>
          </a:p>
        </c:txPr>
        <c:crossAx val="-2068027336"/>
        <c:crosses val="autoZero"/>
        <c:majorUnit val="0.1"/>
      </c:valAx>
    </c:plotArea>
    <c:legend>
      <c:legendPos val="b"/>
      <c:overlay val="0"/>
      <c:txPr>
        <a:bodyPr/>
        <a:lstStyle/>
        <a:p>
          <a:pPr>
            <a:defRPr sz="1100"/>
          </a:pPr>
        </a:p>
      </c:txPr>
    </c:legend>
    <c:dispBlanksAs val="gap"/>
  </c:chart>
  <c:txPr>
    <a:bodyPr/>
    <a:lstStyle/>
    <a:p>
      <a:pPr>
        <a:defRPr sz="1100">
          <a:solidFill>
            <a:srgbClr val="5A6676"/>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rPr>
              <a:t>週ごとの記録率（%）</a:t>
            </a:r>
          </a:p>
        </c:rich>
      </c:tx>
      <c:layout/>
      <c:overlay val="0"/>
    </c:title>
    <c:autoTitleDeleted val="0"/>
    <c:plotArea>
      <c:lineChart>
        <c:grouping val="standard"/>
        <c:varyColors val="0"/>
        <c:ser>
          <c:idx val="0"/>
          <c:order val="0"/>
          <c:tx>
            <c:strRef>
              <c:f>Sheet1!$B$1</c:f>
              <c:strCache>
                <c:ptCount val="1"/>
                <c:pt idx="0">
                  <c:v>群A</c:v>
                </c:pt>
              </c:strCache>
            </c:strRef>
          </c:tx>
          <c:spPr>
            <a:ln w="31750">
              <a:solidFill>
                <a:srgbClr val="8FA3B8"/>
              </a:solidFill>
            </a:ln>
          </c:spPr>
          <c:marker>
            <c:symbol val="circle"/>
            <c:size val="7"/>
            <c:spPr>
              <a:solidFill>
                <a:srgbClr val="8FA3B8"/>
              </a:solidFill>
              <a:ln>
                <a:solidFill>
                  <a:srgbClr val="8FA3B8"/>
                </a:solidFill>
              </a:ln>
            </c:spPr>
          </c:marker>
          <c:dLbls>
            <c:dLbl>
              <c:idx val="5"/>
              <c:numFmt formatCode="0" sourceLinked="0"/>
              <c:spPr/>
              <c:txPr>
                <a:bodyPr/>
                <a:lstStyle/>
                <a:p>
                  <a:pPr>
                    <a:defRPr sz="1100" b="1">
                      <a:solidFill>
                        <a:srgbClr val="8FA3B8"/>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1週</c:v>
                </c:pt>
                <c:pt idx="1">
                  <c:v>2週</c:v>
                </c:pt>
                <c:pt idx="2">
                  <c:v>3週</c:v>
                </c:pt>
                <c:pt idx="3">
                  <c:v>4週</c:v>
                </c:pt>
                <c:pt idx="4">
                  <c:v>5週</c:v>
                </c:pt>
                <c:pt idx="5">
                  <c:v>6週</c:v>
                </c:pt>
              </c:strCache>
            </c:strRef>
          </c:cat>
          <c:val>
            <c:numRef>
              <c:f>Sheet1!$B$2:$B$7</c:f>
              <c:numCache>
                <c:formatCode>General</c:formatCode>
                <c:ptCount val="6"/>
                <c:pt idx="0">
                  <c:v>91</c:v>
                </c:pt>
                <c:pt idx="1">
                  <c:v>87</c:v>
                </c:pt>
                <c:pt idx="2">
                  <c:v>82</c:v>
                </c:pt>
                <c:pt idx="3">
                  <c:v>78</c:v>
                </c:pt>
                <c:pt idx="4">
                  <c:v>74</c:v>
                </c:pt>
                <c:pt idx="5">
                  <c:v>71</c:v>
                </c:pt>
              </c:numCache>
            </c:numRef>
          </c:val>
          <c:smooth val="0"/>
        </c:ser>
        <c:ser>
          <c:idx val="1"/>
          <c:order val="1"/>
          <c:tx>
            <c:strRef>
              <c:f>Sheet1!$C$1</c:f>
              <c:strCache>
                <c:ptCount val="1"/>
                <c:pt idx="0">
                  <c:v>群B</c:v>
                </c:pt>
              </c:strCache>
            </c:strRef>
          </c:tx>
          <c:spPr>
            <a:ln w="31750">
              <a:solidFill>
                <a:srgbClr val="0099FF"/>
              </a:solidFill>
            </a:ln>
          </c:spPr>
          <c:marker>
            <c:symbol val="circle"/>
            <c:size val="7"/>
            <c:spPr>
              <a:solidFill>
                <a:srgbClr val="0099FF"/>
              </a:solidFill>
              <a:ln>
                <a:solidFill>
                  <a:srgbClr val="0099FF"/>
                </a:solidFill>
              </a:ln>
            </c:spPr>
          </c:marker>
          <c:dLbls>
            <c:dLbl>
              <c:idx val="5"/>
              <c:numFmt formatCode="0" sourceLinked="0"/>
              <c:spPr/>
              <c:txPr>
                <a:bodyPr/>
                <a:lstStyle/>
                <a:p>
                  <a:pPr>
                    <a:defRPr sz="1100" b="1">
                      <a:solidFill>
                        <a:srgbClr val="0099FF"/>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1週</c:v>
                </c:pt>
                <c:pt idx="1">
                  <c:v>2週</c:v>
                </c:pt>
                <c:pt idx="2">
                  <c:v>3週</c:v>
                </c:pt>
                <c:pt idx="3">
                  <c:v>4週</c:v>
                </c:pt>
                <c:pt idx="4">
                  <c:v>5週</c:v>
                </c:pt>
                <c:pt idx="5">
                  <c:v>6週</c:v>
                </c:pt>
              </c:strCache>
            </c:strRef>
          </c:cat>
          <c:val>
            <c:numRef>
              <c:f>Sheet1!$C$2:$C$7</c:f>
              <c:numCache>
                <c:formatCode>General</c:formatCode>
                <c:ptCount val="6"/>
                <c:pt idx="0">
                  <c:v>90</c:v>
                </c:pt>
                <c:pt idx="1">
                  <c:v>88</c:v>
                </c:pt>
                <c:pt idx="2">
                  <c:v>84</c:v>
                </c:pt>
                <c:pt idx="3">
                  <c:v>81</c:v>
                </c:pt>
                <c:pt idx="4">
                  <c:v>78</c:v>
                </c:pt>
                <c:pt idx="5">
                  <c:v>75</c:v>
                </c:pt>
              </c:numCache>
            </c:numRef>
          </c:val>
          <c:smooth val="0"/>
        </c:ser>
        <c:ser>
          <c:idx val="2"/>
          <c:order val="2"/>
          <c:tx>
            <c:strRef>
              <c:f>Sheet1!$D$1</c:f>
              <c:strCache>
                <c:ptCount val="1"/>
                <c:pt idx="0">
                  <c:v>群C</c:v>
                </c:pt>
              </c:strCache>
            </c:strRef>
          </c:tx>
          <c:spPr>
            <a:ln w="31750">
              <a:solidFill>
                <a:srgbClr val="12A38A"/>
              </a:solidFill>
            </a:ln>
          </c:spPr>
          <c:marker>
            <c:symbol val="circle"/>
            <c:size val="7"/>
            <c:spPr>
              <a:solidFill>
                <a:srgbClr val="12A38A"/>
              </a:solidFill>
              <a:ln>
                <a:solidFill>
                  <a:srgbClr val="12A38A"/>
                </a:solidFill>
              </a:ln>
            </c:spPr>
          </c:marker>
          <c:dLbls>
            <c:dLbl>
              <c:idx val="5"/>
              <c:numFmt formatCode="0" sourceLinked="0"/>
              <c:spPr/>
              <c:txPr>
                <a:bodyPr/>
                <a:lstStyle/>
                <a:p>
                  <a:pPr>
                    <a:defRPr sz="1100" b="1">
                      <a:solidFill>
                        <a:srgbClr val="12A38A"/>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1週</c:v>
                </c:pt>
                <c:pt idx="1">
                  <c:v>2週</c:v>
                </c:pt>
                <c:pt idx="2">
                  <c:v>3週</c:v>
                </c:pt>
                <c:pt idx="3">
                  <c:v>4週</c:v>
                </c:pt>
                <c:pt idx="4">
                  <c:v>5週</c:v>
                </c:pt>
                <c:pt idx="5">
                  <c:v>6週</c:v>
                </c:pt>
              </c:strCache>
            </c:strRef>
          </c:cat>
          <c:val>
            <c:numRef>
              <c:f>Sheet1!$D$2:$D$7</c:f>
              <c:numCache>
                <c:formatCode>General</c:formatCode>
                <c:ptCount val="6"/>
                <c:pt idx="0">
                  <c:v>91</c:v>
                </c:pt>
                <c:pt idx="1">
                  <c:v>88</c:v>
                </c:pt>
                <c:pt idx="2">
                  <c:v>87</c:v>
                </c:pt>
                <c:pt idx="3">
                  <c:v>86</c:v>
                </c:pt>
                <c:pt idx="4">
                  <c:v>84</c:v>
                </c:pt>
                <c:pt idx="5">
                  <c:v>83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defRPr>
            </a:pPr>
          </a:p>
        </c:txPr>
        <c:crossAx val="2140495176"/>
        <c:crosses val="autoZero"/>
        <c:auto val="1"/>
        <c:lblAlgn val="ctr"/>
        <c:lblOffset val="100"/>
        <c:noMultiLvlLbl val="0"/>
      </c:catAx>
      <c:valAx>
        <c:axId val="2140495176"/>
        <c:scaling>
          <c:max val="100.0"/>
          <c:min val="60.0"/>
        </c:scaling>
        <c:delete val="0"/>
        <c:axPos val="l"/>
        <c:majorGridlines>
          <c:spPr>
            <a:ln w="9525">
              <a:solidFill>
                <a:srgbClr val="E3E8EF"/>
              </a:solidFill>
            </a:ln>
          </c:spPr>
        </c:majorGridlines>
        <c:numFmt formatCode="0" sourceLinked="0"/>
        <c:majorTickMark val="out"/>
        <c:minorTickMark val="none"/>
        <c:tickLblPos val="nextTo"/>
        <c:spPr>
          <a:ln>
            <a:noFill/>
          </a:ln>
        </c:spPr>
        <c:txPr>
          <a:bodyPr/>
          <a:lstStyle/>
          <a:p>
            <a:pPr>
              <a:defRPr sz="1050">
                <a:solidFill>
                  <a:srgbClr val="5A6676"/>
                </a:solidFill>
              </a:defRPr>
            </a:pPr>
          </a:p>
        </c:txPr>
        <c:crossAx val="2118791784"/>
        <c:crosses val="autoZero"/>
        <c:majorUnit val="10.0"/>
      </c:valAx>
    </c:plotArea>
    <c:legend>
      <c:legendPos val="b"/>
      <c:layout/>
      <c:overlay val="0"/>
      <c:txPr>
        <a:bodyPr/>
        <a:lstStyle/>
        <a:p>
          <a:pPr>
            <a:defRPr sz="1100"/>
          </a:pPr>
        </a:p>
      </c:txPr>
    </c:legend>
    <c:plotVisOnly val="1"/>
    <c:dispBlanksAs val="gap"/>
    <c:showDLblsOverMax val="0"/>
  </c:chart>
  <c:txPr>
    <a:bodyPr/>
    <a:lstStyle/>
    <a:p>
      <a:pPr>
        <a:defRPr sz="1100">
          <a:solidFill>
            <a:srgbClr val="5A6676"/>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39FF-5DF4-46B1-A730-4E68595A117A}"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D2F10-75EE-4518-AB94-CE9EAC6EA3C6}" type="slidenum">
              <a:rPr kumimoji="1" lang="ja-JP" altLang="en-US" smtClean="0"/>
              <a:t>‹#›</a:t>
            </a:fld>
            <a:endParaRPr kumimoji="1" lang="ja-JP" altLang="en-US"/>
          </a:p>
        </p:txBody>
      </p:sp>
    </p:spTree>
    <p:extLst>
      <p:ext uri="{BB962C8B-B14F-4D97-AF65-F5344CB8AC3E}">
        <p14:creationId xmlns:p14="http://schemas.microsoft.com/office/powerpoint/2010/main" val="23456392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メディアインタラクション研究室の今井元です。「OshiFit：個人の性格特性に適した推し活を提案しウェルビーイングを向上させるシステムの構築と検証」について発表します。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発表の流れです。背景、予備調査、目的と問い、提案システム、実験、そして結果と考察の順にお話しします。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し活は、広義の市場規模が約3.8兆円、国民の3割超が行う社会現象になっています。ファン心理が人生への前向きな気持ちを高めることや、コンサートへの参加が精神的健康を改善することも報告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しかし、この熱狂の裏で「推し疲れ」が問題になっています。お金と時間の使いすぎ、SNSでの比較、義務感による燃え尽きが主な要因です。幸せになるための活動が、キャパシティを超えるとストレスに変わってしまう、ウェルビーイングのパラドックスが起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対処は一律の自己管理や、データを見せるだけのものが中心でした。専門的なケアの利用には壁もあります。そこで本研究では、個人に合わせて、本人が気づきにくい将来の見込みを、自分に似たアバターで見せる支援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備調査では215名を分析しました。約8割が推しを生きがいと答える一方、約4割が出費に不安、約3割が睡眠に支障を感じていました。パス解析では、推し活の頻度と没入が、充実と推し疲れの両方に正の関連を示しました。充実も疲れも高い人が27%おり、理想の頻度では増やしたい人が減らしたい人を上回りました。つまり、一律に減らす支援では楽しさまで損なう恐れ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研究の目的は、個人の記録にもとづく予測と、自分に似たアバターによる将来像の提示を統合し、行動変容とウェルビーイングの向上を促せるかを、無作為化比較実験で検証することです。研究課題は3つで、RQ1は予測の精度、RQ2はアバターによる実行の増加、RQ3は6週間でのウェルビーイングの向上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連研究は3つの流れに分けられます。記録を見せる個人情報学、アバターを使った行動変容、そして推し活とウェルビーイングの研究です。本研究の新しさは、正解が人によって違う推し活にアバター介入を適用したこと、予測の不確かさを「ありうる自分」の重なりとして見せること、そして提案後の変化を無作為化比較実験で追跡したこと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案システムOshiFitの全体像です。入力はTIPI-J、毎日30秒の記録、本人の希望です。ベイズ個人ツインが毎晩予測を更新し、リバランス提案エンジンが3つの案を作り、みらいミラーで今のままと提案どおりの見込みを並べて見せ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1つ目の要素、ベイズ個人ツインです。予備調査の係数を出発点にして、毎日の記録でその人の個人差を毎晩更新します。実験では、14日の記録で推し疲れの予測区間が約3割縮みました。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要素、リバランス提案です。予備調査で増やしたい人が多かったことを受けて、減らすのではなく組み替える提案を作ります。98の候補から、本人の希望を守るパレート最適な3案を選び、本人に選んで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要素、ゆらぎアバターです。今のままと提案どおりの見込みを、自分に似たアバターで並べて見せます。予測の幅は、5体のアバターの重なりとして表し、記録が増えると重なりが収束して未来の自分がくっきりしていきます。不確かさを正直に見せることと、記録を続ける動機づけを1つの表現で両立さ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験は6週間の無作為化比較実験です。全員が最初の2週間は記録のみを行い、2週の終わりにWHO-5で層別して3群に割り付けました。群Bと群Cの提案は同じで、違いは予測アバターの有無だけです。主要評価は6週時点のWHO-5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参加者は応募241名、開始228名、割付213名で、6週間を完了したのは197名でした。各群とも必要人数の64名を確保しています。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RQ1の結果です。個人補正によって、6週時点の予測の誤差は充実で0.68から0.49、推し疲れで0.84から0.62に減りました。80%予測区間に実測が入った割合は76%と、区間はおおむね正直でした。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の結果です。選んだ提案を実行できた割合は、4週間を通して群Cが群Bを上回り、オッズ比は1.71で有意でした。提案の中身は同じなので、自分に似たアバターで将来の見込みを見せたことが実行を後押しした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3の結果です。WHO-5は群Cで6週にかけて上がりましたが、事前に決めた主要な比較、群C対群Bと群B対群Aは、Holm法で補正すると有意差はありませんでした。群Cと群Aの差は1.7点ありましたが、これは探索的な比較です。群C対群Bの効果量は0.2程度で、中程度の差を想定した人数では検出力が足りなかった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副次的な結果です。推し疲れの中身では睡眠と出費の疲れが群Cで最も減り、楽しさは3群とも維持されていました。また、群Cは介入期間に入ってからも記録率が高く保たれていました。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考察です。見せ方が行動を変えたこと、組み替えの提案が楽しさを損なわなかったこと、ウェルビーイングへの効果は小さく期間が短かった可能性があること、そして不確かさの提示が不安を高めず安全に使えたことの4点が主な考察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限界は4点です。期間と規模、表示要素の切り分け、自己報告であること、参加者の偏りです。今後は長期の追跡や要素を切り分ける実験を行い、SNS依存やゲームなど他の領域への応用も考えています。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です。本研究では、記録にもとづく予測と自分に似たアバターによる将来像を統合したOshiFitを構築し、6週間の無作為化比較実験で検証しました。予測の精度は個人補正で向上し、アバターで見込みを見ると提案の実行が増えました。一方、ウェルビーイングの向上は主要な比較では確認できませんでした。推し活のように正解が人によって違う領域で、減らすのではなく組み替える、そして不確かさを隠さず見せるという支援の形を示しました。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研究業績です。題目が仮のものと採否は、提出前に正式なものに差し替えてください。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ctrTitle"/>
          </p:nvPr>
        </p:nvSpPr>
        <p:spPr>
          <a:xfrm>
            <a:off x="103340" y="3607869"/>
            <a:ext cx="8915400" cy="1655761"/>
          </a:xfrm>
        </p:spPr>
        <p:txBody>
          <a:bodyPr anchor="b"/>
          <a:lstStyle>
            <a:lvl1pPr algn="ctr">
              <a:defRPr sz="4500"/>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00740" y="5356274"/>
            <a:ext cx="4925889" cy="1418957"/>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dirty="0"/>
          </a:p>
        </p:txBody>
      </p:sp>
      <p:sp>
        <p:nvSpPr>
          <p:cNvPr id="19" name="サブタイトル 2"/>
          <p:cNvSpPr txBox="1">
            <a:spLocks/>
          </p:cNvSpPr>
          <p:nvPr userDrawn="1"/>
        </p:nvSpPr>
        <p:spPr>
          <a:xfrm>
            <a:off x="6068860" y="4277519"/>
            <a:ext cx="2949880" cy="1655762"/>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ja-JP" altLang="en-US" sz="2400" dirty="0"/>
          </a:p>
        </p:txBody>
      </p:sp>
      <p:pic>
        <p:nvPicPr>
          <p:cNvPr id="9" name="図 8" descr="アイコン&#10;&#10;自動的に生成された説明">
            <a:extLst>
              <a:ext uri="{FF2B5EF4-FFF2-40B4-BE49-F238E27FC236}">
                <a16:creationId xmlns:a16="http://schemas.microsoft.com/office/drawing/2014/main" id="{27B4E2A7-DAEA-4D6D-82DB-9419AF5FAF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0" y="5346399"/>
            <a:ext cx="1182362" cy="1428837"/>
          </a:xfrm>
          <a:prstGeom prst="rect">
            <a:avLst/>
          </a:prstGeom>
        </p:spPr>
      </p:pic>
      <p:cxnSp>
        <p:nvCxnSpPr>
          <p:cNvPr id="5" name="直線コネクタ 4">
            <a:extLst>
              <a:ext uri="{FF2B5EF4-FFF2-40B4-BE49-F238E27FC236}">
                <a16:creationId xmlns:a16="http://schemas.microsoft.com/office/drawing/2014/main" id="{CCAFA43D-FE5B-48C3-863A-33F247D129D4}"/>
              </a:ext>
            </a:extLst>
          </p:cNvPr>
          <p:cNvCxnSpPr/>
          <p:nvPr userDrawn="1"/>
        </p:nvCxnSpPr>
        <p:spPr>
          <a:xfrm>
            <a:off x="103340" y="5252744"/>
            <a:ext cx="8915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B5F561B1-C9EC-4DC6-912D-C77D62F90B04}"/>
              </a:ext>
            </a:extLst>
          </p:cNvPr>
          <p:cNvSpPr/>
          <p:nvPr userDrawn="1"/>
        </p:nvSpPr>
        <p:spPr>
          <a:xfrm>
            <a:off x="0" y="-1"/>
            <a:ext cx="9144000" cy="343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98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5D49C76-77F1-4215-9649-4092C94102D0}"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264577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正方形/長方形 7"/>
          <p:cNvSpPr/>
          <p:nvPr userDrawn="1"/>
        </p:nvSpPr>
        <p:spPr>
          <a:xfrm>
            <a:off x="1" y="0"/>
            <a:ext cx="9114626" cy="63005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title"/>
          </p:nvPr>
        </p:nvSpPr>
        <p:spPr>
          <a:xfrm>
            <a:off x="300625" y="1709739"/>
            <a:ext cx="8586592" cy="2852737"/>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300625" y="4589464"/>
            <a:ext cx="8586592"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867CBC8-C13F-44F6-BCB3-948A96AAE3EF}"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pic>
        <p:nvPicPr>
          <p:cNvPr id="9" name="図 8"/>
          <p:cNvPicPr>
            <a:picLocks noChangeAspect="1"/>
          </p:cNvPicPr>
          <p:nvPr userDrawn="1"/>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7988385" y="25052"/>
            <a:ext cx="1155615" cy="1342496"/>
          </a:xfrm>
          <a:prstGeom prst="rect">
            <a:avLst/>
          </a:prstGeom>
        </p:spPr>
      </p:pic>
    </p:spTree>
    <p:extLst>
      <p:ext uri="{BB962C8B-B14F-4D97-AF65-F5344CB8AC3E}">
        <p14:creationId xmlns:p14="http://schemas.microsoft.com/office/powerpoint/2010/main" val="216364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22128" y="1716067"/>
            <a:ext cx="4392722"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29150" y="1716067"/>
            <a:ext cx="4408379"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p:cNvSpPr>
            <a:spLocks noGrp="1"/>
          </p:cNvSpPr>
          <p:nvPr>
            <p:ph type="dt" sz="half" idx="10"/>
          </p:nvPr>
        </p:nvSpPr>
        <p:spPr/>
        <p:txBody>
          <a:bodyPr/>
          <a:lstStyle/>
          <a:p>
            <a:fld id="{9AA910EA-EFB6-4ED7-B593-CE78B1973066}" type="datetime1">
              <a:rPr kumimoji="1" lang="ja-JP" altLang="en-US" smtClean="0"/>
              <a:t>2026/7/3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8196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0" y="1"/>
            <a:ext cx="7886700" cy="1325563"/>
          </a:xfrm>
        </p:spPr>
        <p:txBody>
          <a:body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122129" y="1681163"/>
            <a:ext cx="437605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22129" y="2505075"/>
            <a:ext cx="4376053"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29150" y="1681163"/>
            <a:ext cx="448547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29150" y="2505075"/>
            <a:ext cx="448547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p:cNvSpPr>
            <a:spLocks noGrp="1"/>
          </p:cNvSpPr>
          <p:nvPr>
            <p:ph type="dt" sz="half" idx="10"/>
          </p:nvPr>
        </p:nvSpPr>
        <p:spPr/>
        <p:txBody>
          <a:bodyPr/>
          <a:lstStyle/>
          <a:p>
            <a:fld id="{9C446DE9-826E-4F2E-9FBE-79AF29EDC55F}" type="datetime1">
              <a:rPr kumimoji="1" lang="ja-JP" altLang="en-US" smtClean="0"/>
              <a:t>2026/7/3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480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ED6424B-FEB0-415C-8C57-9662DE1E2037}" type="datetime1">
              <a:rPr kumimoji="1" lang="ja-JP" altLang="en-US" smtClean="0"/>
              <a:t>2026/7/3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5717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B5750C9-8340-4923-BDA6-FE9093DBE1F0}" type="datetime1">
              <a:rPr kumimoji="1" lang="ja-JP" altLang="en-US" smtClean="0"/>
              <a:t>2026/7/3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512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AD568FF-8035-4960-B29B-D2E38E699D23}"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1308798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userDrawn="1"/>
        </p:nvSpPr>
        <p:spPr>
          <a:xfrm>
            <a:off x="0" y="6394366"/>
            <a:ext cx="1155526"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2" name="正方形/長方形 11"/>
          <p:cNvSpPr/>
          <p:nvPr userDrawn="1"/>
        </p:nvSpPr>
        <p:spPr>
          <a:xfrm>
            <a:off x="1155526" y="6394366"/>
            <a:ext cx="7158625" cy="46363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3" name="正方形/長方形 12"/>
          <p:cNvSpPr/>
          <p:nvPr userDrawn="1"/>
        </p:nvSpPr>
        <p:spPr>
          <a:xfrm>
            <a:off x="8314151" y="6394366"/>
            <a:ext cx="829850"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8" name="正方形/長方形 7"/>
          <p:cNvSpPr/>
          <p:nvPr userDrawn="1"/>
        </p:nvSpPr>
        <p:spPr>
          <a:xfrm>
            <a:off x="1" y="0"/>
            <a:ext cx="7565720" cy="1083832"/>
          </a:xfrm>
          <a:prstGeom prst="rect">
            <a:avLst/>
          </a:prstGeom>
          <a:gradFill>
            <a:gsLst>
              <a:gs pos="68000">
                <a:schemeClr val="accent1">
                  <a:lumMod val="20000"/>
                  <a:lumOff val="80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プレースホルダー 1"/>
          <p:cNvSpPr>
            <a:spLocks noGrp="1"/>
          </p:cNvSpPr>
          <p:nvPr>
            <p:ph type="title"/>
          </p:nvPr>
        </p:nvSpPr>
        <p:spPr>
          <a:xfrm>
            <a:off x="0" y="-7407"/>
            <a:ext cx="8109606" cy="8738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16237" y="1261733"/>
            <a:ext cx="8903777" cy="491523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46973" y="6455298"/>
            <a:ext cx="967636" cy="365125"/>
          </a:xfrm>
          <a:prstGeom prst="rect">
            <a:avLst/>
          </a:prstGeom>
        </p:spPr>
        <p:txBody>
          <a:bodyPr vert="horz" lIns="91440" tIns="45720" rIns="91440" bIns="45720" rtlCol="0" anchor="ctr"/>
          <a:lstStyle>
            <a:lvl1pPr algn="l">
              <a:defRPr sz="1200">
                <a:solidFill>
                  <a:schemeClr val="tx1"/>
                </a:solidFill>
              </a:defRPr>
            </a:lvl1pPr>
          </a:lstStyle>
          <a:p>
            <a:fld id="{530C953D-9D36-4E45-98EB-F4573D85DE5F}" type="datetime1">
              <a:rPr lang="ja-JP" altLang="en-US" smtClean="0"/>
              <a:t>2026/7/3</a:t>
            </a:fld>
            <a:endParaRPr lang="ja-JP" altLang="en-US" dirty="0"/>
          </a:p>
        </p:txBody>
      </p:sp>
      <p:sp>
        <p:nvSpPr>
          <p:cNvPr id="5" name="フッター プレースホルダー 4"/>
          <p:cNvSpPr>
            <a:spLocks noGrp="1"/>
          </p:cNvSpPr>
          <p:nvPr>
            <p:ph type="ftr" sz="quarter" idx="3"/>
          </p:nvPr>
        </p:nvSpPr>
        <p:spPr>
          <a:xfrm>
            <a:off x="1202498" y="6435466"/>
            <a:ext cx="7082278" cy="384956"/>
          </a:xfrm>
          <a:prstGeom prst="rect">
            <a:avLst/>
          </a:prstGeom>
        </p:spPr>
        <p:txBody>
          <a:bodyPr vert="horz" lIns="91440" tIns="45720" rIns="91440" bIns="45720" rtlCol="0" anchor="ctr"/>
          <a:lstStyle>
            <a:lvl1pPr algn="ctr">
              <a:defRPr sz="1200">
                <a:solidFill>
                  <a:schemeClr val="tx1"/>
                </a:solidFill>
              </a:defRPr>
            </a:lvl1pPr>
          </a:lstStyle>
          <a:p>
            <a:endParaRPr lang="ja-JP" altLang="en-US" dirty="0"/>
          </a:p>
        </p:txBody>
      </p:sp>
      <p:sp>
        <p:nvSpPr>
          <p:cNvPr id="9" name="正方形/長方形 8"/>
          <p:cNvSpPr/>
          <p:nvPr userDrawn="1"/>
        </p:nvSpPr>
        <p:spPr>
          <a:xfrm>
            <a:off x="1" y="880126"/>
            <a:ext cx="9143999" cy="320675"/>
          </a:xfrm>
          <a:prstGeom prst="rect">
            <a:avLst/>
          </a:prstGeom>
          <a:gradFill flip="none" rotWithShape="1">
            <a:gsLst>
              <a:gs pos="17000">
                <a:schemeClr val="accent1">
                  <a:lumMod val="50000"/>
                </a:schemeClr>
              </a:gs>
              <a:gs pos="88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0" name="テキスト ボックス 9"/>
          <p:cNvSpPr txBox="1"/>
          <p:nvPr userDrawn="1"/>
        </p:nvSpPr>
        <p:spPr>
          <a:xfrm>
            <a:off x="0" y="855796"/>
            <a:ext cx="5115503" cy="300082"/>
          </a:xfrm>
          <a:prstGeom prst="rect">
            <a:avLst/>
          </a:prstGeom>
          <a:noFill/>
        </p:spPr>
        <p:txBody>
          <a:bodyPr wrap="none" rtlCol="0">
            <a:spAutoFit/>
          </a:bodyPr>
          <a:lstStyle/>
          <a:p>
            <a:r>
              <a:rPr kumimoji="1" lang="en-US" altLang="ja-JP" sz="1350" b="1" i="1" dirty="0">
                <a:solidFill>
                  <a:schemeClr val="bg1"/>
                </a:solidFill>
              </a:rPr>
              <a:t>Media</a:t>
            </a:r>
            <a:r>
              <a:rPr kumimoji="1" lang="en-US" altLang="ja-JP" sz="1350" b="1" i="1" baseline="0" dirty="0">
                <a:solidFill>
                  <a:schemeClr val="bg1"/>
                </a:solidFill>
              </a:rPr>
              <a:t> Interaction Laboratory, Osaka Institute of Technology</a:t>
            </a:r>
            <a:endParaRPr kumimoji="1" lang="ja-JP" altLang="en-US" sz="1350" b="1" i="1" dirty="0">
              <a:solidFill>
                <a:schemeClr val="bg1"/>
              </a:solidFill>
            </a:endParaRPr>
          </a:p>
        </p:txBody>
      </p:sp>
      <p:sp>
        <p:nvSpPr>
          <p:cNvPr id="6" name="スライド番号プレースホルダー 5"/>
          <p:cNvSpPr>
            <a:spLocks noGrp="1"/>
          </p:cNvSpPr>
          <p:nvPr>
            <p:ph type="sldNum" sz="quarter" idx="4"/>
          </p:nvPr>
        </p:nvSpPr>
        <p:spPr>
          <a:xfrm>
            <a:off x="8389307" y="6455298"/>
            <a:ext cx="725319" cy="365125"/>
          </a:xfrm>
          <a:prstGeom prst="rect">
            <a:avLst/>
          </a:prstGeom>
        </p:spPr>
        <p:txBody>
          <a:bodyPr vert="horz" lIns="91440" tIns="45720" rIns="91440" bIns="45720" rtlCol="0" anchor="ctr"/>
          <a:lstStyle>
            <a:lvl1pPr algn="r">
              <a:defRPr sz="1200">
                <a:solidFill>
                  <a:schemeClr val="tx1"/>
                </a:solidFill>
              </a:defRPr>
            </a:lvl1pPr>
          </a:lstStyle>
          <a:p>
            <a:fld id="{38531E9D-61D6-4888-9999-68160698B78F}" type="slidenum">
              <a:rPr lang="ja-JP" altLang="en-US" smtClean="0"/>
              <a:pPr/>
              <a:t>‹#›</a:t>
            </a:fld>
            <a:endParaRPr lang="ja-JP" altLang="en-US" dirty="0"/>
          </a:p>
        </p:txBody>
      </p:sp>
      <p:pic>
        <p:nvPicPr>
          <p:cNvPr id="17" name="図 16" descr="アイコン&#10;&#10;自動的に生成された説明">
            <a:extLst>
              <a:ext uri="{FF2B5EF4-FFF2-40B4-BE49-F238E27FC236}">
                <a16:creationId xmlns:a16="http://schemas.microsoft.com/office/drawing/2014/main" id="{2CB505E5-1A9F-4F7A-B174-AC352F0CDE0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38980" y="21772"/>
            <a:ext cx="975646" cy="1179029"/>
          </a:xfrm>
          <a:prstGeom prst="rect">
            <a:avLst/>
          </a:prstGeom>
        </p:spPr>
      </p:pic>
    </p:spTree>
    <p:extLst>
      <p:ext uri="{BB962C8B-B14F-4D97-AF65-F5344CB8AC3E}">
        <p14:creationId xmlns:p14="http://schemas.microsoft.com/office/powerpoint/2010/main" val="65575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4.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25.png"/><Relationship Id="rId4" Type="http://schemas.openxmlformats.org/officeDocument/2006/relationships/image" Target="../media/image16.png"/><Relationship Id="rId5" Type="http://schemas.openxmlformats.org/officeDocument/2006/relationships/image" Target="../media/image26.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chor="b">
            <a:noAutofit/>
          </a:bodyPr>
          <a:lstStyle/>
          <a:p>
            <a:pPr algn="ctr" marL="0" indent="0">
              <a:spcAft>
                <a:spcPts val="0"/>
              </a:spcAft>
              <a:buNone/>
            </a:pPr>
            <a:r>
              <a:rPr sz="2100" b="0">
                <a:solidFill>
                  <a:srgbClr val="24303F"/>
                </a:solidFill>
              </a:rPr>
              <a:t>OshiFit：個人の性格特性に適した推し活を提案し</a:t>
            </a:r>
          </a:p>
          <a:p>
            <a:pPr algn="ctr" marL="0" indent="0">
              <a:spcAft>
                <a:spcPts val="0"/>
              </a:spcAft>
              <a:buNone/>
            </a:pPr>
            <a:r>
              <a:rPr sz="2100" b="0">
                <a:solidFill>
                  <a:srgbClr val="24303F"/>
                </a:solidFill>
              </a:rPr>
              <a:t>ウェルビーイングを向上させるシステムの構築と検証</a:t>
            </a:r>
          </a:p>
        </p:txBody>
      </p:sp>
      <p:sp>
        <p:nvSpPr>
          <p:cNvPr id="3" name="Subtitle 2"/>
          <p:cNvSpPr>
            <a:spLocks noGrp="1"/>
          </p:cNvSpPr>
          <p:nvPr>
            <p:ph type="subTitle" idx="1"/>
          </p:nvPr>
        </p:nvSpPr>
        <p:spPr/>
        <p:txBody>
          <a:bodyPr wrap="square" anchor="t">
            <a:noAutofit/>
          </a:bodyPr>
          <a:lstStyle/>
          <a:p>
            <a:pPr algn="l" marL="0" indent="0">
              <a:spcAft>
                <a:spcPts val="400"/>
              </a:spcAft>
              <a:buNone/>
            </a:pPr>
            <a:r>
              <a:rPr sz="1800" b="0">
                <a:solidFill>
                  <a:srgbClr val="24303F"/>
                </a:solidFill>
              </a:rPr>
              <a:t>今井元</a:t>
            </a:r>
          </a:p>
        </p:txBody>
      </p:sp>
      <p:sp>
        <p:nvSpPr>
          <p:cNvPr id="4" name="会議名"/>
          <p:cNvSpPr txBox="1"/>
          <p:nvPr/>
        </p:nvSpPr>
        <p:spPr>
          <a:xfrm>
            <a:off x="64008" y="82296"/>
            <a:ext cx="4206240" cy="384048"/>
          </a:xfrm>
          <a:prstGeom prst="rect">
            <a:avLst/>
          </a:prstGeom>
          <a:solidFill>
            <a:srgbClr val="A9DCFF"/>
          </a:solidFill>
        </p:spPr>
        <p:txBody>
          <a:bodyPr wrap="square" tIns="18288" bIns="18288" anchor="ctr">
            <a:noAutofit/>
          </a:bodyPr>
          <a:lstStyle/>
          <a:p>
            <a:pPr algn="l" marL="0" indent="0">
              <a:spcAft>
                <a:spcPts val="400"/>
              </a:spcAft>
              <a:buNone/>
            </a:pPr>
            <a:r>
              <a:rPr sz="1400" b="0">
                <a:solidFill>
                  <a:srgbClr val="24303F"/>
                </a:solidFill>
              </a:rPr>
              <a:t>2026年度 修士論文公聴会</a:t>
            </a:r>
          </a:p>
        </p:txBody>
      </p:sp>
      <p:sp>
        <p:nvSpPr>
          <p:cNvPr id="5" name="著者所属"/>
          <p:cNvSpPr txBox="1"/>
          <p:nvPr/>
        </p:nvSpPr>
        <p:spPr>
          <a:xfrm>
            <a:off x="3931920" y="5358384"/>
            <a:ext cx="4937760" cy="1097280"/>
          </a:xfrm>
          <a:prstGeom prst="rect">
            <a:avLst/>
          </a:prstGeom>
          <a:noFill/>
        </p:spPr>
        <p:txBody>
          <a:bodyPr wrap="square" lIns="45720" tIns="27432" rIns="45720" bIns="27432" anchor="t">
            <a:noAutofit/>
          </a:bodyPr>
          <a:lstStyle/>
          <a:p>
            <a:pPr algn="l" marL="0" indent="0">
              <a:spcAft>
                <a:spcPts val="200"/>
              </a:spcAft>
              <a:buNone/>
            </a:pPr>
            <a:r>
              <a:rPr sz="1400" b="0">
                <a:solidFill>
                  <a:srgbClr val="24303F"/>
                </a:solidFill>
              </a:rPr>
              <a:t>大阪工業大学大学院</a:t>
            </a:r>
          </a:p>
          <a:p>
            <a:pPr algn="l" marL="0" indent="0">
              <a:spcAft>
                <a:spcPts val="200"/>
              </a:spcAft>
              <a:buNone/>
            </a:pPr>
            <a:r>
              <a:rPr sz="1400" b="0">
                <a:solidFill>
                  <a:srgbClr val="24303F"/>
                </a:solidFill>
              </a:rPr>
              <a:t>メディアインタラクション研究室</a:t>
            </a:r>
          </a:p>
          <a:p>
            <a:pPr algn="l" marL="0" indent="0">
              <a:spcAft>
                <a:spcPts val="200"/>
              </a:spcAft>
              <a:buNone/>
            </a:pPr>
            <a:r>
              <a:rPr sz="1400" b="0">
                <a:solidFill>
                  <a:srgbClr val="24303F"/>
                </a:solidFill>
              </a:rPr>
              <a:t>指導教員：大井 翔</a:t>
            </a:r>
          </a:p>
        </p:txBody>
      </p:sp>
      <p:sp>
        <p:nvSpPr>
          <p:cNvPr id="6" name="サブタイトル"/>
          <p:cNvSpPr txBox="1"/>
          <p:nvPr/>
        </p:nvSpPr>
        <p:spPr>
          <a:xfrm>
            <a:off x="411480" y="914400"/>
            <a:ext cx="5669280" cy="2103120"/>
          </a:xfrm>
          <a:prstGeom prst="rect">
            <a:avLst/>
          </a:prstGeom>
          <a:noFill/>
        </p:spPr>
        <p:txBody>
          <a:bodyPr wrap="square" lIns="45720" tIns="27432" rIns="45720" bIns="27432" anchor="ctr">
            <a:noAutofit/>
          </a:bodyPr>
          <a:lstStyle/>
          <a:p>
            <a:pPr algn="l" marL="0" indent="0">
              <a:lnSpc>
                <a:spcPct val="105000"/>
              </a:lnSpc>
              <a:spcAft>
                <a:spcPts val="600"/>
              </a:spcAft>
              <a:buNone/>
            </a:pPr>
            <a:r>
              <a:rPr sz="1600" b="0">
                <a:solidFill>
                  <a:srgbClr val="FFFFFF"/>
                </a:solidFill>
              </a:rPr>
              <a:t>2027年2月17日</a:t>
            </a:r>
          </a:p>
        </p:txBody>
      </p:sp>
      <p:pic>
        <p:nvPicPr>
          <p:cNvPr id="7" name="Picture 6" descr="ghost_d14.png"/>
          <p:cNvPicPr>
            <a:picLocks noChangeAspect="1"/>
          </p:cNvPicPr>
          <p:nvPr/>
        </p:nvPicPr>
        <p:blipFill>
          <a:blip r:embed="rId2"/>
          <a:stretch>
            <a:fillRect/>
          </a:stretch>
        </p:blipFill>
        <p:spPr>
          <a:xfrm>
            <a:off x="6263640" y="658368"/>
            <a:ext cx="4034118"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発表の流れ</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2</a:t>
            </a:fld>
          </a:p>
        </p:txBody>
      </p:sp>
      <p:sp>
        <p:nvSpPr>
          <p:cNvPr id="5" name="Rounded Rectangle 4"/>
          <p:cNvSpPr/>
          <p:nvPr/>
        </p:nvSpPr>
        <p:spPr>
          <a:xfrm>
            <a:off x="411480" y="1463040"/>
            <a:ext cx="4069080" cy="1371600"/>
          </a:xfrm>
          <a:prstGeom prst="roundRect">
            <a:avLst>
              <a:gd name="adj" fmla="val 8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783080"/>
            <a:ext cx="731520" cy="7315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000" b="1">
                <a:solidFill>
                  <a:srgbClr val="FFFFFF"/>
                </a:solidFill>
              </a:rPr>
              <a:t>1</a:t>
            </a:r>
          </a:p>
        </p:txBody>
      </p:sp>
      <p:sp>
        <p:nvSpPr>
          <p:cNvPr id="7" name="TextBox 6"/>
          <p:cNvSpPr txBox="1"/>
          <p:nvPr/>
        </p:nvSpPr>
        <p:spPr>
          <a:xfrm>
            <a:off x="1508760" y="1554480"/>
            <a:ext cx="2834640" cy="1188720"/>
          </a:xfrm>
          <a:prstGeom prst="rect">
            <a:avLst/>
          </a:prstGeom>
          <a:noFill/>
        </p:spPr>
        <p:txBody>
          <a:bodyPr wrap="square" lIns="0" tIns="0" rIns="0" bIns="0" anchor="ctr">
            <a:noAutofit/>
          </a:bodyPr>
          <a:lstStyle/>
          <a:p>
            <a:pPr algn="l" marL="0" indent="0">
              <a:spcAft>
                <a:spcPts val="200"/>
              </a:spcAft>
              <a:buNone/>
            </a:pPr>
            <a:r>
              <a:rPr sz="1700" b="1">
                <a:solidFill>
                  <a:srgbClr val="0B3C6E"/>
                </a:solidFill>
              </a:rPr>
              <a:t>背景</a:t>
            </a:r>
          </a:p>
          <a:p>
            <a:pPr algn="l" marL="0" indent="0">
              <a:spcAft>
                <a:spcPts val="400"/>
              </a:spcAft>
              <a:buNone/>
            </a:pPr>
            <a:r>
              <a:rPr sz="1250" b="0">
                <a:solidFill>
                  <a:srgbClr val="5A6676"/>
                </a:solidFill>
              </a:rPr>
              <a:t>推し活の広がりと「推し疲れ」</a:t>
            </a:r>
          </a:p>
        </p:txBody>
      </p:sp>
      <p:sp>
        <p:nvSpPr>
          <p:cNvPr id="8" name="Rounded Rectangle 7"/>
          <p:cNvSpPr/>
          <p:nvPr/>
        </p:nvSpPr>
        <p:spPr>
          <a:xfrm>
            <a:off x="4663440" y="1463040"/>
            <a:ext cx="4069080" cy="1371600"/>
          </a:xfrm>
          <a:prstGeom prst="roundRect">
            <a:avLst>
              <a:gd name="adj" fmla="val 8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846320" y="1783080"/>
            <a:ext cx="731520" cy="7315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000" b="1">
                <a:solidFill>
                  <a:srgbClr val="FFFFFF"/>
                </a:solidFill>
              </a:rPr>
              <a:t>2</a:t>
            </a:r>
          </a:p>
        </p:txBody>
      </p:sp>
      <p:sp>
        <p:nvSpPr>
          <p:cNvPr id="10" name="TextBox 9"/>
          <p:cNvSpPr txBox="1"/>
          <p:nvPr/>
        </p:nvSpPr>
        <p:spPr>
          <a:xfrm>
            <a:off x="5760720" y="1554480"/>
            <a:ext cx="2834640" cy="1188720"/>
          </a:xfrm>
          <a:prstGeom prst="rect">
            <a:avLst/>
          </a:prstGeom>
          <a:noFill/>
        </p:spPr>
        <p:txBody>
          <a:bodyPr wrap="square" lIns="0" tIns="0" rIns="0" bIns="0" anchor="ctr">
            <a:noAutofit/>
          </a:bodyPr>
          <a:lstStyle/>
          <a:p>
            <a:pPr algn="l" marL="0" indent="0">
              <a:spcAft>
                <a:spcPts val="200"/>
              </a:spcAft>
              <a:buNone/>
            </a:pPr>
            <a:r>
              <a:rPr sz="1700" b="1">
                <a:solidFill>
                  <a:srgbClr val="0B3C6E"/>
                </a:solidFill>
              </a:rPr>
              <a:t>予備調査</a:t>
            </a:r>
          </a:p>
          <a:p>
            <a:pPr algn="l" marL="0" indent="0">
              <a:spcAft>
                <a:spcPts val="400"/>
              </a:spcAft>
              <a:buNone/>
            </a:pPr>
            <a:r>
              <a:rPr sz="1250" b="0">
                <a:solidFill>
                  <a:srgbClr val="5A6676"/>
                </a:solidFill>
              </a:rPr>
              <a:t>215名の調査から分かったこと</a:t>
            </a:r>
          </a:p>
        </p:txBody>
      </p:sp>
      <p:sp>
        <p:nvSpPr>
          <p:cNvPr id="11" name="Rounded Rectangle 10"/>
          <p:cNvSpPr/>
          <p:nvPr/>
        </p:nvSpPr>
        <p:spPr>
          <a:xfrm>
            <a:off x="411480" y="3017520"/>
            <a:ext cx="4069080" cy="1371600"/>
          </a:xfrm>
          <a:prstGeom prst="roundRect">
            <a:avLst>
              <a:gd name="adj" fmla="val 8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594360" y="3337560"/>
            <a:ext cx="731520" cy="7315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000" b="1">
                <a:solidFill>
                  <a:srgbClr val="FFFFFF"/>
                </a:solidFill>
              </a:rPr>
              <a:t>3</a:t>
            </a:r>
          </a:p>
        </p:txBody>
      </p:sp>
      <p:sp>
        <p:nvSpPr>
          <p:cNvPr id="13" name="TextBox 12"/>
          <p:cNvSpPr txBox="1"/>
          <p:nvPr/>
        </p:nvSpPr>
        <p:spPr>
          <a:xfrm>
            <a:off x="1508760" y="3108960"/>
            <a:ext cx="2834640" cy="1188720"/>
          </a:xfrm>
          <a:prstGeom prst="rect">
            <a:avLst/>
          </a:prstGeom>
          <a:noFill/>
        </p:spPr>
        <p:txBody>
          <a:bodyPr wrap="square" lIns="0" tIns="0" rIns="0" bIns="0" anchor="ctr">
            <a:noAutofit/>
          </a:bodyPr>
          <a:lstStyle/>
          <a:p>
            <a:pPr algn="l" marL="0" indent="0">
              <a:spcAft>
                <a:spcPts val="200"/>
              </a:spcAft>
              <a:buNone/>
            </a:pPr>
            <a:r>
              <a:rPr sz="1700" b="1">
                <a:solidFill>
                  <a:srgbClr val="0B3C6E"/>
                </a:solidFill>
              </a:rPr>
              <a:t>目的と問い</a:t>
            </a:r>
          </a:p>
          <a:p>
            <a:pPr algn="l" marL="0" indent="0">
              <a:spcAft>
                <a:spcPts val="400"/>
              </a:spcAft>
              <a:buNone/>
            </a:pPr>
            <a:r>
              <a:rPr sz="1250" b="0">
                <a:solidFill>
                  <a:srgbClr val="5A6676"/>
                </a:solidFill>
              </a:rPr>
              <a:t>RQ1〜3</a:t>
            </a:r>
          </a:p>
        </p:txBody>
      </p:sp>
      <p:sp>
        <p:nvSpPr>
          <p:cNvPr id="14" name="Rounded Rectangle 13"/>
          <p:cNvSpPr/>
          <p:nvPr/>
        </p:nvSpPr>
        <p:spPr>
          <a:xfrm>
            <a:off x="4663440" y="3017520"/>
            <a:ext cx="4069080" cy="1371600"/>
          </a:xfrm>
          <a:prstGeom prst="roundRect">
            <a:avLst>
              <a:gd name="adj" fmla="val 8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846320" y="3337560"/>
            <a:ext cx="731520" cy="7315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000" b="1">
                <a:solidFill>
                  <a:srgbClr val="FFFFFF"/>
                </a:solidFill>
              </a:rPr>
              <a:t>4</a:t>
            </a:r>
          </a:p>
        </p:txBody>
      </p:sp>
      <p:sp>
        <p:nvSpPr>
          <p:cNvPr id="16" name="TextBox 15"/>
          <p:cNvSpPr txBox="1"/>
          <p:nvPr/>
        </p:nvSpPr>
        <p:spPr>
          <a:xfrm>
            <a:off x="5760720" y="3108960"/>
            <a:ext cx="2834640" cy="1188720"/>
          </a:xfrm>
          <a:prstGeom prst="rect">
            <a:avLst/>
          </a:prstGeom>
          <a:noFill/>
        </p:spPr>
        <p:txBody>
          <a:bodyPr wrap="square" lIns="0" tIns="0" rIns="0" bIns="0" anchor="ctr">
            <a:noAutofit/>
          </a:bodyPr>
          <a:lstStyle/>
          <a:p>
            <a:pPr algn="l" marL="0" indent="0">
              <a:spcAft>
                <a:spcPts val="200"/>
              </a:spcAft>
              <a:buNone/>
            </a:pPr>
            <a:r>
              <a:rPr sz="1700" b="1">
                <a:solidFill>
                  <a:srgbClr val="0B3C6E"/>
                </a:solidFill>
              </a:rPr>
              <a:t>提案システム</a:t>
            </a:r>
          </a:p>
          <a:p>
            <a:pPr algn="l" marL="0" indent="0">
              <a:spcAft>
                <a:spcPts val="400"/>
              </a:spcAft>
              <a:buNone/>
            </a:pPr>
            <a:r>
              <a:rPr sz="1250" b="0">
                <a:solidFill>
                  <a:srgbClr val="5A6676"/>
                </a:solidFill>
              </a:rPr>
              <a:t>OshiFit（ツイン・提案・ゆらぎアバター）</a:t>
            </a:r>
          </a:p>
        </p:txBody>
      </p:sp>
      <p:sp>
        <p:nvSpPr>
          <p:cNvPr id="17" name="Rounded Rectangle 16"/>
          <p:cNvSpPr/>
          <p:nvPr/>
        </p:nvSpPr>
        <p:spPr>
          <a:xfrm>
            <a:off x="411480" y="4572000"/>
            <a:ext cx="4069080" cy="1371600"/>
          </a:xfrm>
          <a:prstGeom prst="roundRect">
            <a:avLst>
              <a:gd name="adj" fmla="val 8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94360" y="4892040"/>
            <a:ext cx="731520" cy="7315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000" b="1">
                <a:solidFill>
                  <a:srgbClr val="FFFFFF"/>
                </a:solidFill>
              </a:rPr>
              <a:t>5</a:t>
            </a:r>
          </a:p>
        </p:txBody>
      </p:sp>
      <p:sp>
        <p:nvSpPr>
          <p:cNvPr id="19" name="TextBox 18"/>
          <p:cNvSpPr txBox="1"/>
          <p:nvPr/>
        </p:nvSpPr>
        <p:spPr>
          <a:xfrm>
            <a:off x="1508760" y="4663440"/>
            <a:ext cx="2834640" cy="1188720"/>
          </a:xfrm>
          <a:prstGeom prst="rect">
            <a:avLst/>
          </a:prstGeom>
          <a:noFill/>
        </p:spPr>
        <p:txBody>
          <a:bodyPr wrap="square" lIns="0" tIns="0" rIns="0" bIns="0" anchor="ctr">
            <a:noAutofit/>
          </a:bodyPr>
          <a:lstStyle/>
          <a:p>
            <a:pPr algn="l" marL="0" indent="0">
              <a:spcAft>
                <a:spcPts val="200"/>
              </a:spcAft>
              <a:buNone/>
            </a:pPr>
            <a:r>
              <a:rPr sz="1700" b="1">
                <a:solidFill>
                  <a:srgbClr val="0B3C6E"/>
                </a:solidFill>
              </a:rPr>
              <a:t>実験</a:t>
            </a:r>
          </a:p>
          <a:p>
            <a:pPr algn="l" marL="0" indent="0">
              <a:spcAft>
                <a:spcPts val="400"/>
              </a:spcAft>
              <a:buNone/>
            </a:pPr>
            <a:r>
              <a:rPr sz="1250" b="0">
                <a:solidFill>
                  <a:srgbClr val="5A6676"/>
                </a:solidFill>
              </a:rPr>
              <a:t>6週間・3群の無作為化比較実験</a:t>
            </a:r>
          </a:p>
        </p:txBody>
      </p:sp>
      <p:sp>
        <p:nvSpPr>
          <p:cNvPr id="20" name="Rounded Rectangle 19"/>
          <p:cNvSpPr/>
          <p:nvPr/>
        </p:nvSpPr>
        <p:spPr>
          <a:xfrm>
            <a:off x="4663440" y="4572000"/>
            <a:ext cx="4069080" cy="1371600"/>
          </a:xfrm>
          <a:prstGeom prst="roundRect">
            <a:avLst>
              <a:gd name="adj" fmla="val 8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46320" y="4892040"/>
            <a:ext cx="731520" cy="7315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2000" b="1">
                <a:solidFill>
                  <a:srgbClr val="FFFFFF"/>
                </a:solidFill>
              </a:rPr>
              <a:t>6</a:t>
            </a:r>
          </a:p>
        </p:txBody>
      </p:sp>
      <p:sp>
        <p:nvSpPr>
          <p:cNvPr id="22" name="TextBox 21"/>
          <p:cNvSpPr txBox="1"/>
          <p:nvPr/>
        </p:nvSpPr>
        <p:spPr>
          <a:xfrm>
            <a:off x="5760720" y="4663440"/>
            <a:ext cx="2834640" cy="1188720"/>
          </a:xfrm>
          <a:prstGeom prst="rect">
            <a:avLst/>
          </a:prstGeom>
          <a:noFill/>
        </p:spPr>
        <p:txBody>
          <a:bodyPr wrap="square" lIns="0" tIns="0" rIns="0" bIns="0" anchor="ctr">
            <a:noAutofit/>
          </a:bodyPr>
          <a:lstStyle/>
          <a:p>
            <a:pPr algn="l" marL="0" indent="0">
              <a:spcAft>
                <a:spcPts val="200"/>
              </a:spcAft>
              <a:buNone/>
            </a:pPr>
            <a:r>
              <a:rPr sz="1700" b="1">
                <a:solidFill>
                  <a:srgbClr val="0B3C6E"/>
                </a:solidFill>
              </a:rPr>
              <a:t>結果と考察</a:t>
            </a:r>
          </a:p>
          <a:p>
            <a:pPr algn="l" marL="0" indent="0">
              <a:spcAft>
                <a:spcPts val="400"/>
              </a:spcAft>
              <a:buNone/>
            </a:pPr>
            <a:r>
              <a:rPr sz="1250" b="0">
                <a:solidFill>
                  <a:srgbClr val="5A6676"/>
                </a:solidFill>
              </a:rPr>
              <a:t>RQ ごとの結果・限界・まとめ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背景①：推し活は社会現象に</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3</a:t>
            </a:fld>
          </a:p>
        </p:txBody>
      </p:sp>
      <p:sp>
        <p:nvSpPr>
          <p:cNvPr id="5" name="Rounded Rectangle 4"/>
          <p:cNvSpPr/>
          <p:nvPr/>
        </p:nvSpPr>
        <p:spPr>
          <a:xfrm>
            <a:off x="411480" y="1417320"/>
            <a:ext cx="2697480" cy="2377440"/>
          </a:xfrm>
          <a:prstGeom prst="roundRect">
            <a:avLst>
              <a:gd name="adj" fmla="val 461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554480"/>
            <a:ext cx="2514600" cy="1005840"/>
          </a:xfrm>
          <a:prstGeom prst="rect">
            <a:avLst/>
          </a:prstGeom>
          <a:noFill/>
        </p:spPr>
        <p:txBody>
          <a:bodyPr wrap="square" lIns="0" tIns="0" rIns="0" bIns="0" anchor="ctr">
            <a:noAutofit/>
          </a:bodyPr>
          <a:lstStyle/>
          <a:p>
            <a:pPr algn="ctr" marL="0" indent="0">
              <a:spcAft>
                <a:spcPts val="400"/>
              </a:spcAft>
              <a:buNone/>
            </a:pPr>
            <a:r>
              <a:rPr sz="3000" b="1">
                <a:solidFill>
                  <a:srgbClr val="E8457C"/>
                </a:solidFill>
              </a:rPr>
              <a:t>約3.8兆円</a:t>
            </a:r>
          </a:p>
        </p:txBody>
      </p:sp>
      <p:sp>
        <p:nvSpPr>
          <p:cNvPr id="7" name="TextBox 6"/>
          <p:cNvSpPr txBox="1"/>
          <p:nvPr/>
        </p:nvSpPr>
        <p:spPr>
          <a:xfrm>
            <a:off x="594360" y="2606040"/>
            <a:ext cx="2331720" cy="1097280"/>
          </a:xfrm>
          <a:prstGeom prst="rect">
            <a:avLst/>
          </a:prstGeom>
          <a:noFill/>
        </p:spPr>
        <p:txBody>
          <a:bodyPr wrap="square" lIns="0" tIns="0" rIns="0" bIns="0" anchor="t">
            <a:noAutofit/>
          </a:bodyPr>
          <a:lstStyle/>
          <a:p>
            <a:pPr algn="ctr" marL="0" indent="0">
              <a:spcAft>
                <a:spcPts val="400"/>
              </a:spcAft>
              <a:buNone/>
            </a:pPr>
            <a:r>
              <a:rPr sz="1250" b="0">
                <a:solidFill>
                  <a:srgbClr val="24303F"/>
                </a:solidFill>
              </a:rPr>
              <a:t>広義の推し活市場（野村総合研究所, 2025）</a:t>
            </a:r>
          </a:p>
        </p:txBody>
      </p:sp>
      <p:sp>
        <p:nvSpPr>
          <p:cNvPr id="8" name="Rounded Rectangle 7"/>
          <p:cNvSpPr/>
          <p:nvPr/>
        </p:nvSpPr>
        <p:spPr>
          <a:xfrm>
            <a:off x="3218688" y="1417320"/>
            <a:ext cx="2697480" cy="2377440"/>
          </a:xfrm>
          <a:prstGeom prst="roundRect">
            <a:avLst>
              <a:gd name="adj" fmla="val 461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10128" y="1554480"/>
            <a:ext cx="2514600" cy="1005840"/>
          </a:xfrm>
          <a:prstGeom prst="rect">
            <a:avLst/>
          </a:prstGeom>
          <a:noFill/>
        </p:spPr>
        <p:txBody>
          <a:bodyPr wrap="square" lIns="0" tIns="0" rIns="0" bIns="0" anchor="ctr">
            <a:noAutofit/>
          </a:bodyPr>
          <a:lstStyle/>
          <a:p>
            <a:pPr algn="ctr" marL="0" indent="0">
              <a:spcAft>
                <a:spcPts val="400"/>
              </a:spcAft>
              <a:buNone/>
            </a:pPr>
            <a:r>
              <a:rPr sz="3000" b="1">
                <a:solidFill>
                  <a:srgbClr val="0099FF"/>
                </a:solidFill>
              </a:rPr>
              <a:t>3割超</a:t>
            </a:r>
          </a:p>
        </p:txBody>
      </p:sp>
      <p:sp>
        <p:nvSpPr>
          <p:cNvPr id="10" name="TextBox 9"/>
          <p:cNvSpPr txBox="1"/>
          <p:nvPr/>
        </p:nvSpPr>
        <p:spPr>
          <a:xfrm>
            <a:off x="3401568" y="2606040"/>
            <a:ext cx="2331720" cy="1097280"/>
          </a:xfrm>
          <a:prstGeom prst="rect">
            <a:avLst/>
          </a:prstGeom>
          <a:noFill/>
        </p:spPr>
        <p:txBody>
          <a:bodyPr wrap="square" lIns="0" tIns="0" rIns="0" bIns="0" anchor="t">
            <a:noAutofit/>
          </a:bodyPr>
          <a:lstStyle/>
          <a:p>
            <a:pPr algn="ctr" marL="0" indent="0">
              <a:spcAft>
                <a:spcPts val="400"/>
              </a:spcAft>
              <a:buNone/>
            </a:pPr>
            <a:r>
              <a:rPr sz="1250" b="0">
                <a:solidFill>
                  <a:srgbClr val="24303F"/>
                </a:solidFill>
              </a:rPr>
              <a:t>国民のうち推し活をしている人</a:t>
            </a:r>
          </a:p>
        </p:txBody>
      </p:sp>
      <p:sp>
        <p:nvSpPr>
          <p:cNvPr id="11" name="Rounded Rectangle 10"/>
          <p:cNvSpPr/>
          <p:nvPr/>
        </p:nvSpPr>
        <p:spPr>
          <a:xfrm>
            <a:off x="6025896" y="1417320"/>
            <a:ext cx="2697480" cy="2377440"/>
          </a:xfrm>
          <a:prstGeom prst="roundRect">
            <a:avLst>
              <a:gd name="adj" fmla="val 461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17336" y="1554480"/>
            <a:ext cx="2514600" cy="1005840"/>
          </a:xfrm>
          <a:prstGeom prst="rect">
            <a:avLst/>
          </a:prstGeom>
          <a:noFill/>
        </p:spPr>
        <p:txBody>
          <a:bodyPr wrap="square" lIns="0" tIns="0" rIns="0" bIns="0" anchor="ctr">
            <a:noAutofit/>
          </a:bodyPr>
          <a:lstStyle/>
          <a:p>
            <a:pPr algn="ctr" marL="0" indent="0">
              <a:spcAft>
                <a:spcPts val="400"/>
              </a:spcAft>
              <a:buNone/>
            </a:pPr>
            <a:r>
              <a:rPr sz="2400" b="1">
                <a:solidFill>
                  <a:srgbClr val="12A38A"/>
                </a:solidFill>
              </a:rPr>
              <a:t>前向きな効果</a:t>
            </a:r>
          </a:p>
        </p:txBody>
      </p:sp>
      <p:sp>
        <p:nvSpPr>
          <p:cNvPr id="13" name="TextBox 12"/>
          <p:cNvSpPr txBox="1"/>
          <p:nvPr/>
        </p:nvSpPr>
        <p:spPr>
          <a:xfrm>
            <a:off x="6208776" y="2606040"/>
            <a:ext cx="2331720" cy="1097280"/>
          </a:xfrm>
          <a:prstGeom prst="rect">
            <a:avLst/>
          </a:prstGeom>
          <a:noFill/>
        </p:spPr>
        <p:txBody>
          <a:bodyPr wrap="square" lIns="0" tIns="0" rIns="0" bIns="0" anchor="t">
            <a:noAutofit/>
          </a:bodyPr>
          <a:lstStyle/>
          <a:p>
            <a:pPr algn="ctr" marL="0" indent="0">
              <a:spcAft>
                <a:spcPts val="400"/>
              </a:spcAft>
              <a:buNone/>
            </a:pPr>
            <a:r>
              <a:rPr sz="1250" b="0">
                <a:solidFill>
                  <a:srgbClr val="24303F"/>
                </a:solidFill>
              </a:rPr>
              <a:t>生きがい・活力・精神的健康の改善（中林・水口, 2020; 西川・渋谷, 2011）</a:t>
            </a:r>
          </a:p>
        </p:txBody>
      </p:sp>
      <p:sp>
        <p:nvSpPr>
          <p:cNvPr id="14" name="Rounded Rectangle 13"/>
          <p:cNvSpPr/>
          <p:nvPr/>
        </p:nvSpPr>
        <p:spPr>
          <a:xfrm>
            <a:off x="411480" y="4023360"/>
            <a:ext cx="8321040" cy="2148840"/>
          </a:xfrm>
          <a:prstGeom prst="roundRect">
            <a:avLst>
              <a:gd name="adj" fmla="val 5106"/>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av_good.png"/>
          <p:cNvPicPr>
            <a:picLocks noChangeAspect="1"/>
          </p:cNvPicPr>
          <p:nvPr/>
        </p:nvPicPr>
        <p:blipFill>
          <a:blip r:embed="rId2"/>
          <a:stretch>
            <a:fillRect/>
          </a:stretch>
        </p:blipFill>
        <p:spPr>
          <a:xfrm>
            <a:off x="731520" y="4160520"/>
            <a:ext cx="1653987" cy="1874519"/>
          </a:xfrm>
          <a:prstGeom prst="rect">
            <a:avLst/>
          </a:prstGeom>
        </p:spPr>
      </p:pic>
      <p:sp>
        <p:nvSpPr>
          <p:cNvPr id="16" name="TextBox 15"/>
          <p:cNvSpPr txBox="1"/>
          <p:nvPr/>
        </p:nvSpPr>
        <p:spPr>
          <a:xfrm>
            <a:off x="2606040" y="4114800"/>
            <a:ext cx="5852160" cy="1965960"/>
          </a:xfrm>
          <a:prstGeom prst="rect">
            <a:avLst/>
          </a:prstGeom>
          <a:noFill/>
        </p:spPr>
        <p:txBody>
          <a:bodyPr wrap="square" lIns="0" tIns="0" rIns="0" bIns="0" anchor="ctr">
            <a:noAutofit/>
          </a:bodyPr>
          <a:lstStyle/>
          <a:p>
            <a:pPr algn="l" marL="0" indent="0">
              <a:spcAft>
                <a:spcPts val="200"/>
              </a:spcAft>
              <a:buNone/>
            </a:pPr>
            <a:r>
              <a:rPr sz="1300" b="0">
                <a:solidFill>
                  <a:srgbClr val="CCE9FF"/>
                </a:solidFill>
              </a:rPr>
              <a:t>推し活とは</a:t>
            </a:r>
          </a:p>
          <a:p>
            <a:pPr algn="l" marL="0" indent="0">
              <a:spcAft>
                <a:spcPts val="600"/>
              </a:spcAft>
              <a:buNone/>
            </a:pPr>
            <a:r>
              <a:rPr sz="1700" b="1">
                <a:solidFill>
                  <a:srgbClr val="FFFFFF"/>
                </a:solidFill>
              </a:rPr>
              <a:t>アイドルやキャラクターなど「推し」を熱心に応援する活動</a:t>
            </a:r>
          </a:p>
          <a:p>
            <a:pPr algn="l" marL="0" indent="0">
              <a:spcAft>
                <a:spcPts val="400"/>
              </a:spcAft>
              <a:buNone/>
            </a:pPr>
            <a:r>
              <a:rPr sz="1300" b="0">
                <a:solidFill>
                  <a:srgbClr val="FFFFFF"/>
                </a:solidFill>
              </a:rPr>
              <a:t>単なる趣味を超えて、アイデンティティや日々の活力の源になっている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背景②：「推し疲れ」というパラドックス</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4</a:t>
            </a:fld>
          </a:p>
        </p:txBody>
      </p:sp>
      <p:sp>
        <p:nvSpPr>
          <p:cNvPr id="5" name="Rounded Rectangle 4"/>
          <p:cNvSpPr/>
          <p:nvPr/>
        </p:nvSpPr>
        <p:spPr>
          <a:xfrm>
            <a:off x="411480" y="1417320"/>
            <a:ext cx="2697480" cy="1783080"/>
          </a:xfrm>
          <a:prstGeom prst="roundRect">
            <a:avLst>
              <a:gd name="adj" fmla="val 512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wallet_w.png"/>
          <p:cNvPicPr>
            <a:picLocks noChangeAspect="1"/>
          </p:cNvPicPr>
          <p:nvPr/>
        </p:nvPicPr>
        <p:blipFill>
          <a:blip r:embed="rId2"/>
          <a:stretch>
            <a:fillRect/>
          </a:stretch>
        </p:blipFill>
        <p:spPr>
          <a:xfrm>
            <a:off x="667512" y="1673352"/>
            <a:ext cx="237744" cy="237744"/>
          </a:xfrm>
          <a:prstGeom prst="rect">
            <a:avLst/>
          </a:prstGeom>
        </p:spPr>
      </p:pic>
      <p:sp>
        <p:nvSpPr>
          <p:cNvPr id="8" name="TextBox 7"/>
          <p:cNvSpPr txBox="1"/>
          <p:nvPr/>
        </p:nvSpPr>
        <p:spPr>
          <a:xfrm>
            <a:off x="1124712" y="153619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お金と時間の使いすぎ</a:t>
            </a:r>
          </a:p>
        </p:txBody>
      </p:sp>
      <p:sp>
        <p:nvSpPr>
          <p:cNvPr id="9" name="TextBox 8"/>
          <p:cNvSpPr txBox="1"/>
          <p:nvPr/>
        </p:nvSpPr>
        <p:spPr>
          <a:xfrm>
            <a:off x="576072" y="2112264"/>
            <a:ext cx="2404872" cy="996695"/>
          </a:xfrm>
          <a:prstGeom prst="rect">
            <a:avLst/>
          </a:prstGeom>
          <a:noFill/>
        </p:spPr>
        <p:txBody>
          <a:bodyPr wrap="square" lIns="0" tIns="0" rIns="0" bIns="0" anchor="t">
            <a:noAutofit/>
          </a:bodyPr>
          <a:lstStyle/>
          <a:p>
            <a:pPr algn="l" marL="0" indent="0">
              <a:spcAft>
                <a:spcPts val="300"/>
              </a:spcAft>
              <a:buNone/>
            </a:pPr>
            <a:r>
              <a:rPr sz="1300" b="0">
                <a:solidFill>
                  <a:srgbClr val="24303F"/>
                </a:solidFill>
              </a:rPr>
              <a:t>グッズ購入・遠征</a:t>
            </a:r>
          </a:p>
        </p:txBody>
      </p:sp>
      <p:sp>
        <p:nvSpPr>
          <p:cNvPr id="10" name="Rounded Rectangle 9"/>
          <p:cNvSpPr/>
          <p:nvPr/>
        </p:nvSpPr>
        <p:spPr>
          <a:xfrm>
            <a:off x="3218688" y="1417320"/>
            <a:ext cx="2697480" cy="1783080"/>
          </a:xfrm>
          <a:prstGeom prst="roundRect">
            <a:avLst>
              <a:gd name="adj" fmla="val 512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364992" y="1563624"/>
            <a:ext cx="457200" cy="4572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users_w.png"/>
          <p:cNvPicPr>
            <a:picLocks noChangeAspect="1"/>
          </p:cNvPicPr>
          <p:nvPr/>
        </p:nvPicPr>
        <p:blipFill>
          <a:blip r:embed="rId3"/>
          <a:stretch>
            <a:fillRect/>
          </a:stretch>
        </p:blipFill>
        <p:spPr>
          <a:xfrm>
            <a:off x="3474720" y="1673352"/>
            <a:ext cx="237744" cy="237744"/>
          </a:xfrm>
          <a:prstGeom prst="rect">
            <a:avLst/>
          </a:prstGeom>
        </p:spPr>
      </p:pic>
      <p:sp>
        <p:nvSpPr>
          <p:cNvPr id="13" name="TextBox 12"/>
          <p:cNvSpPr txBox="1"/>
          <p:nvPr/>
        </p:nvSpPr>
        <p:spPr>
          <a:xfrm>
            <a:off x="3931920" y="1536192"/>
            <a:ext cx="18745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SNS での比較</a:t>
            </a:r>
          </a:p>
        </p:txBody>
      </p:sp>
      <p:sp>
        <p:nvSpPr>
          <p:cNvPr id="14" name="TextBox 13"/>
          <p:cNvSpPr txBox="1"/>
          <p:nvPr/>
        </p:nvSpPr>
        <p:spPr>
          <a:xfrm>
            <a:off x="3383280" y="2112264"/>
            <a:ext cx="2404872" cy="996695"/>
          </a:xfrm>
          <a:prstGeom prst="rect">
            <a:avLst/>
          </a:prstGeom>
          <a:noFill/>
        </p:spPr>
        <p:txBody>
          <a:bodyPr wrap="square" lIns="0" tIns="0" rIns="0" bIns="0" anchor="t">
            <a:noAutofit/>
          </a:bodyPr>
          <a:lstStyle/>
          <a:p>
            <a:pPr algn="l" marL="0" indent="0">
              <a:spcAft>
                <a:spcPts val="300"/>
              </a:spcAft>
              <a:buNone/>
            </a:pPr>
            <a:r>
              <a:rPr sz="1300" b="0">
                <a:solidFill>
                  <a:srgbClr val="24303F"/>
                </a:solidFill>
              </a:rPr>
              <a:t>他のファンと比べて落ち込む</a:t>
            </a:r>
          </a:p>
        </p:txBody>
      </p:sp>
      <p:sp>
        <p:nvSpPr>
          <p:cNvPr id="15" name="Rounded Rectangle 14"/>
          <p:cNvSpPr/>
          <p:nvPr/>
        </p:nvSpPr>
        <p:spPr>
          <a:xfrm>
            <a:off x="6025896" y="1417320"/>
            <a:ext cx="2697480" cy="1783080"/>
          </a:xfrm>
          <a:prstGeom prst="roundRect">
            <a:avLst>
              <a:gd name="adj" fmla="val 5128"/>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172200" y="1563624"/>
            <a:ext cx="457200" cy="457200"/>
          </a:xfrm>
          <a:prstGeom prst="ellipse">
            <a:avLst/>
          </a:prstGeom>
          <a:solidFill>
            <a:srgbClr val="7C6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battery_w.png"/>
          <p:cNvPicPr>
            <a:picLocks noChangeAspect="1"/>
          </p:cNvPicPr>
          <p:nvPr/>
        </p:nvPicPr>
        <p:blipFill>
          <a:blip r:embed="rId4"/>
          <a:stretch>
            <a:fillRect/>
          </a:stretch>
        </p:blipFill>
        <p:spPr>
          <a:xfrm>
            <a:off x="6281928" y="1673352"/>
            <a:ext cx="237744" cy="237744"/>
          </a:xfrm>
          <a:prstGeom prst="rect">
            <a:avLst/>
          </a:prstGeom>
        </p:spPr>
      </p:pic>
      <p:sp>
        <p:nvSpPr>
          <p:cNvPr id="18" name="TextBox 17"/>
          <p:cNvSpPr txBox="1"/>
          <p:nvPr/>
        </p:nvSpPr>
        <p:spPr>
          <a:xfrm>
            <a:off x="6739128" y="153619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義務感による燃え尽き</a:t>
            </a:r>
          </a:p>
        </p:txBody>
      </p:sp>
      <p:sp>
        <p:nvSpPr>
          <p:cNvPr id="19" name="TextBox 18"/>
          <p:cNvSpPr txBox="1"/>
          <p:nvPr/>
        </p:nvSpPr>
        <p:spPr>
          <a:xfrm>
            <a:off x="6190488" y="2112264"/>
            <a:ext cx="2404872" cy="996695"/>
          </a:xfrm>
          <a:prstGeom prst="rect">
            <a:avLst/>
          </a:prstGeom>
          <a:noFill/>
        </p:spPr>
        <p:txBody>
          <a:bodyPr wrap="square" lIns="0" tIns="0" rIns="0" bIns="0" anchor="t">
            <a:noAutofit/>
          </a:bodyPr>
          <a:lstStyle/>
          <a:p>
            <a:pPr algn="l" marL="0" indent="0">
              <a:spcAft>
                <a:spcPts val="300"/>
              </a:spcAft>
              <a:buNone/>
            </a:pPr>
            <a:r>
              <a:rPr sz="1300" b="0">
                <a:solidFill>
                  <a:srgbClr val="24303F"/>
                </a:solidFill>
              </a:rPr>
              <a:t>「追わなければ」という負担</a:t>
            </a:r>
          </a:p>
        </p:txBody>
      </p:sp>
      <p:sp>
        <p:nvSpPr>
          <p:cNvPr id="20" name="Rounded Rectangle 19"/>
          <p:cNvSpPr/>
          <p:nvPr/>
        </p:nvSpPr>
        <p:spPr>
          <a:xfrm>
            <a:off x="411480" y="3383280"/>
            <a:ext cx="8321040" cy="1371600"/>
          </a:xfrm>
          <a:prstGeom prst="roundRect">
            <a:avLst>
              <a:gd name="adj" fmla="val 8000"/>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5800" y="3429000"/>
            <a:ext cx="7772400" cy="1280160"/>
          </a:xfrm>
          <a:prstGeom prst="rect">
            <a:avLst/>
          </a:prstGeom>
          <a:noFill/>
        </p:spPr>
        <p:txBody>
          <a:bodyPr wrap="square" lIns="0" tIns="0" rIns="0" bIns="0" anchor="ctr">
            <a:noAutofit/>
          </a:bodyPr>
          <a:lstStyle/>
          <a:p>
            <a:pPr algn="l" marL="0" indent="0">
              <a:spcAft>
                <a:spcPts val="400"/>
              </a:spcAft>
              <a:buNone/>
            </a:pPr>
            <a:r>
              <a:rPr sz="1800" b="1">
                <a:solidFill>
                  <a:srgbClr val="E07A10"/>
                </a:solidFill>
              </a:rPr>
              <a:t>ウェルビーイングのパラドックス</a:t>
            </a:r>
          </a:p>
          <a:p>
            <a:pPr algn="l" marL="0" indent="0">
              <a:spcAft>
                <a:spcPts val="400"/>
              </a:spcAft>
              <a:buNone/>
            </a:pPr>
            <a:r>
              <a:rPr sz="1300" b="0">
                <a:solidFill>
                  <a:srgbClr val="24303F"/>
                </a:solidFill>
              </a:rPr>
              <a:t>幸せになるための活動が、キャパシティを超えるとストレスに変わる。理想と現実の推し活の乖離は精神的健康を損なう（谷口・神田, 2025）</a:t>
            </a:r>
          </a:p>
        </p:txBody>
      </p:sp>
      <p:sp>
        <p:nvSpPr>
          <p:cNvPr id="22" name="Rounded Rectangle 21"/>
          <p:cNvSpPr/>
          <p:nvPr/>
        </p:nvSpPr>
        <p:spPr>
          <a:xfrm>
            <a:off x="411480" y="4937760"/>
            <a:ext cx="8321040" cy="1234440"/>
          </a:xfrm>
          <a:prstGeom prst="roundRect">
            <a:avLst>
              <a:gd name="adj" fmla="val 8888"/>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0080" y="5230368"/>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ic_warn_w.png"/>
          <p:cNvPicPr>
            <a:picLocks noChangeAspect="1"/>
          </p:cNvPicPr>
          <p:nvPr/>
        </p:nvPicPr>
        <p:blipFill>
          <a:blip r:embed="rId5"/>
          <a:stretch>
            <a:fillRect/>
          </a:stretch>
        </p:blipFill>
        <p:spPr>
          <a:xfrm>
            <a:off x="793699" y="5383987"/>
            <a:ext cx="332841" cy="332841"/>
          </a:xfrm>
          <a:prstGeom prst="rect">
            <a:avLst/>
          </a:prstGeom>
        </p:spPr>
      </p:pic>
      <p:sp>
        <p:nvSpPr>
          <p:cNvPr id="25" name="TextBox 24"/>
          <p:cNvSpPr txBox="1"/>
          <p:nvPr/>
        </p:nvSpPr>
        <p:spPr>
          <a:xfrm>
            <a:off x="1508760" y="4983480"/>
            <a:ext cx="7040880" cy="1143000"/>
          </a:xfrm>
          <a:prstGeom prst="rect">
            <a:avLst/>
          </a:prstGeom>
          <a:noFill/>
        </p:spPr>
        <p:txBody>
          <a:bodyPr wrap="square" lIns="0" tIns="0" rIns="0" bIns="0" anchor="ctr">
            <a:noAutofit/>
          </a:bodyPr>
          <a:lstStyle/>
          <a:p>
            <a:pPr algn="l" marL="0" indent="0">
              <a:spcAft>
                <a:spcPts val="300"/>
              </a:spcAft>
              <a:buNone/>
            </a:pPr>
            <a:r>
              <a:rPr sz="1500" b="1">
                <a:solidFill>
                  <a:srgbClr val="0B3C6E"/>
                </a:solidFill>
              </a:rPr>
              <a:t>精神疾患の患者数は 2017年 約389万人 → 2020年 約586万人</a:t>
            </a:r>
          </a:p>
          <a:p>
            <a:pPr algn="l" marL="0" indent="0">
              <a:spcAft>
                <a:spcPts val="400"/>
              </a:spcAft>
              <a:buNone/>
            </a:pPr>
            <a:r>
              <a:rPr sz="1250" b="0">
                <a:solidFill>
                  <a:srgbClr val="24303F"/>
                </a:solidFill>
              </a:rPr>
              <a:t>日常的なストレスへの対処は若い世代で特に課題（厚生労働省；山岸, 2009）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背景③：これまでの支援の限界</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5</a:t>
            </a:fld>
          </a:p>
        </p:txBody>
      </p:sp>
      <p:sp>
        <p:nvSpPr>
          <p:cNvPr id="5" name="Rounded Rectangle 4"/>
          <p:cNvSpPr/>
          <p:nvPr/>
        </p:nvSpPr>
        <p:spPr>
          <a:xfrm>
            <a:off x="411480" y="1417320"/>
            <a:ext cx="8321040" cy="1078992"/>
          </a:xfrm>
          <a:prstGeom prst="roundRect">
            <a:avLst>
              <a:gd name="adj" fmla="val 10169"/>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2648" y="1636776"/>
            <a:ext cx="640080" cy="640080"/>
          </a:xfrm>
          <a:prstGeom prst="ellipse">
            <a:avLst/>
          </a:prstGeom>
          <a:solidFill>
            <a:srgbClr val="7A8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list_w.png"/>
          <p:cNvPicPr>
            <a:picLocks noChangeAspect="1"/>
          </p:cNvPicPr>
          <p:nvPr/>
        </p:nvPicPr>
        <p:blipFill>
          <a:blip r:embed="rId2"/>
          <a:stretch>
            <a:fillRect/>
          </a:stretch>
        </p:blipFill>
        <p:spPr>
          <a:xfrm>
            <a:off x="766267" y="1790395"/>
            <a:ext cx="332841" cy="332841"/>
          </a:xfrm>
          <a:prstGeom prst="rect">
            <a:avLst/>
          </a:prstGeom>
        </p:spPr>
      </p:pic>
      <p:sp>
        <p:nvSpPr>
          <p:cNvPr id="8" name="TextBox 7"/>
          <p:cNvSpPr txBox="1"/>
          <p:nvPr/>
        </p:nvSpPr>
        <p:spPr>
          <a:xfrm>
            <a:off x="1463039" y="1472184"/>
            <a:ext cx="7086600" cy="969264"/>
          </a:xfrm>
          <a:prstGeom prst="rect">
            <a:avLst/>
          </a:prstGeom>
          <a:noFill/>
        </p:spPr>
        <p:txBody>
          <a:bodyPr wrap="square" lIns="0" tIns="0" rIns="0" bIns="0" anchor="ctr">
            <a:noAutofit/>
          </a:bodyPr>
          <a:lstStyle/>
          <a:p>
            <a:pPr algn="l" marL="0" indent="0">
              <a:spcAft>
                <a:spcPts val="200"/>
              </a:spcAft>
              <a:buNone/>
            </a:pPr>
            <a:r>
              <a:rPr sz="1550" b="1">
                <a:solidFill>
                  <a:srgbClr val="0B3C6E"/>
                </a:solidFill>
              </a:rPr>
              <a:t>一律の自己管理</a:t>
            </a:r>
          </a:p>
          <a:p>
            <a:pPr algn="l" marL="0" indent="0">
              <a:spcAft>
                <a:spcPts val="400"/>
              </a:spcAft>
              <a:buNone/>
            </a:pPr>
            <a:r>
              <a:rPr sz="1250" b="0">
                <a:solidFill>
                  <a:srgbClr val="24303F"/>
                </a:solidFill>
              </a:rPr>
              <a:t>「お金を使いすぎない」「SNSから離れる」。何が喜びで何が負担かは人によって違う</a:t>
            </a:r>
          </a:p>
        </p:txBody>
      </p:sp>
      <p:sp>
        <p:nvSpPr>
          <p:cNvPr id="9" name="Rounded Rectangle 8"/>
          <p:cNvSpPr/>
          <p:nvPr/>
        </p:nvSpPr>
        <p:spPr>
          <a:xfrm>
            <a:off x="411480" y="2624328"/>
            <a:ext cx="8321040" cy="1078992"/>
          </a:xfrm>
          <a:prstGeom prst="roundRect">
            <a:avLst>
              <a:gd name="adj" fmla="val 10169"/>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648" y="2843784"/>
            <a:ext cx="640080" cy="640080"/>
          </a:xfrm>
          <a:prstGeom prst="ellipse">
            <a:avLst/>
          </a:prstGeom>
          <a:solidFill>
            <a:srgbClr val="7A8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chart_w.png"/>
          <p:cNvPicPr>
            <a:picLocks noChangeAspect="1"/>
          </p:cNvPicPr>
          <p:nvPr/>
        </p:nvPicPr>
        <p:blipFill>
          <a:blip r:embed="rId3"/>
          <a:stretch>
            <a:fillRect/>
          </a:stretch>
        </p:blipFill>
        <p:spPr>
          <a:xfrm>
            <a:off x="766267" y="2997403"/>
            <a:ext cx="332841" cy="332841"/>
          </a:xfrm>
          <a:prstGeom prst="rect">
            <a:avLst/>
          </a:prstGeom>
        </p:spPr>
      </p:pic>
      <p:sp>
        <p:nvSpPr>
          <p:cNvPr id="12" name="TextBox 11"/>
          <p:cNvSpPr txBox="1"/>
          <p:nvPr/>
        </p:nvSpPr>
        <p:spPr>
          <a:xfrm>
            <a:off x="1463039" y="2679192"/>
            <a:ext cx="7086600" cy="969264"/>
          </a:xfrm>
          <a:prstGeom prst="rect">
            <a:avLst/>
          </a:prstGeom>
          <a:noFill/>
        </p:spPr>
        <p:txBody>
          <a:bodyPr wrap="square" lIns="0" tIns="0" rIns="0" bIns="0" anchor="ctr">
            <a:noAutofit/>
          </a:bodyPr>
          <a:lstStyle/>
          <a:p>
            <a:pPr algn="l" marL="0" indent="0">
              <a:spcAft>
                <a:spcPts val="200"/>
              </a:spcAft>
              <a:buNone/>
            </a:pPr>
            <a:r>
              <a:rPr sz="1550" b="1">
                <a:solidFill>
                  <a:srgbClr val="0B3C6E"/>
                </a:solidFill>
              </a:rPr>
              <a:t>データを見せるだけ</a:t>
            </a:r>
          </a:p>
          <a:p>
            <a:pPr algn="l" marL="0" indent="0">
              <a:spcAft>
                <a:spcPts val="400"/>
              </a:spcAft>
              <a:buNone/>
            </a:pPr>
            <a:r>
              <a:rPr sz="1250" b="0">
                <a:solidFill>
                  <a:srgbClr val="24303F"/>
                </a:solidFill>
              </a:rPr>
              <a:t>家計簿やスクリーンタイムは記録を見せるが、行動は変わりにくい（Choe et al., 2014）</a:t>
            </a:r>
          </a:p>
        </p:txBody>
      </p:sp>
      <p:sp>
        <p:nvSpPr>
          <p:cNvPr id="13" name="Rounded Rectangle 12"/>
          <p:cNvSpPr/>
          <p:nvPr/>
        </p:nvSpPr>
        <p:spPr>
          <a:xfrm>
            <a:off x="411480" y="3831336"/>
            <a:ext cx="8321040" cy="1078992"/>
          </a:xfrm>
          <a:prstGeom prst="roundRect">
            <a:avLst>
              <a:gd name="adj" fmla="val 10169"/>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2648" y="4050792"/>
            <a:ext cx="640080" cy="640080"/>
          </a:xfrm>
          <a:prstGeom prst="ellipse">
            <a:avLst/>
          </a:prstGeom>
          <a:solidFill>
            <a:srgbClr val="7A8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lock_w.png"/>
          <p:cNvPicPr>
            <a:picLocks noChangeAspect="1"/>
          </p:cNvPicPr>
          <p:nvPr/>
        </p:nvPicPr>
        <p:blipFill>
          <a:blip r:embed="rId4"/>
          <a:stretch>
            <a:fillRect/>
          </a:stretch>
        </p:blipFill>
        <p:spPr>
          <a:xfrm>
            <a:off x="766267" y="4204411"/>
            <a:ext cx="332841" cy="332841"/>
          </a:xfrm>
          <a:prstGeom prst="rect">
            <a:avLst/>
          </a:prstGeom>
        </p:spPr>
      </p:pic>
      <p:sp>
        <p:nvSpPr>
          <p:cNvPr id="16" name="TextBox 15"/>
          <p:cNvSpPr txBox="1"/>
          <p:nvPr/>
        </p:nvSpPr>
        <p:spPr>
          <a:xfrm>
            <a:off x="1463039" y="3886200"/>
            <a:ext cx="7086600" cy="969264"/>
          </a:xfrm>
          <a:prstGeom prst="rect">
            <a:avLst/>
          </a:prstGeom>
          <a:noFill/>
        </p:spPr>
        <p:txBody>
          <a:bodyPr wrap="square" lIns="0" tIns="0" rIns="0" bIns="0" anchor="ctr">
            <a:noAutofit/>
          </a:bodyPr>
          <a:lstStyle/>
          <a:p>
            <a:pPr algn="l" marL="0" indent="0">
              <a:spcAft>
                <a:spcPts val="200"/>
              </a:spcAft>
              <a:buNone/>
            </a:pPr>
            <a:r>
              <a:rPr sz="1550" b="1">
                <a:solidFill>
                  <a:srgbClr val="0B3C6E"/>
                </a:solidFill>
              </a:rPr>
              <a:t>専門的なケアの壁</a:t>
            </a:r>
          </a:p>
          <a:p>
            <a:pPr algn="l" marL="0" indent="0">
              <a:spcAft>
                <a:spcPts val="400"/>
              </a:spcAft>
              <a:buNone/>
            </a:pPr>
            <a:r>
              <a:rPr sz="1250" b="0">
                <a:solidFill>
                  <a:srgbClr val="24303F"/>
                </a:solidFill>
              </a:rPr>
              <a:t>カウンセリングの利用率はわずか6%。「支援のギャップ」（OECD, 2022）</a:t>
            </a:r>
          </a:p>
        </p:txBody>
      </p:sp>
      <p:sp>
        <p:nvSpPr>
          <p:cNvPr id="17" name="Rounded Rectangle 16"/>
          <p:cNvSpPr/>
          <p:nvPr/>
        </p:nvSpPr>
        <p:spPr>
          <a:xfrm>
            <a:off x="411480" y="5166360"/>
            <a:ext cx="8321040" cy="1005840"/>
          </a:xfrm>
          <a:prstGeom prst="roundRect">
            <a:avLst>
              <a:gd name="adj" fmla="val 10909"/>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5212080"/>
            <a:ext cx="7772400" cy="914400"/>
          </a:xfrm>
          <a:prstGeom prst="rect">
            <a:avLst/>
          </a:prstGeom>
          <a:noFill/>
        </p:spPr>
        <p:txBody>
          <a:bodyPr wrap="square" lIns="0" tIns="0" rIns="0" bIns="0" anchor="ctr">
            <a:noAutofit/>
          </a:bodyPr>
          <a:lstStyle/>
          <a:p>
            <a:pPr algn="l" marL="0" indent="0">
              <a:spcAft>
                <a:spcPts val="200"/>
              </a:spcAft>
              <a:buNone/>
            </a:pPr>
            <a:r>
              <a:rPr sz="1600" b="1">
                <a:solidFill>
                  <a:srgbClr val="FFFFFF"/>
                </a:solidFill>
              </a:rPr>
              <a:t>→ 個人に合わせて、本人が気づきにくい「将来の見込み」を見せる支援が必要</a:t>
            </a:r>
          </a:p>
          <a:p>
            <a:pPr algn="l" marL="0" indent="0">
              <a:spcAft>
                <a:spcPts val="400"/>
              </a:spcAft>
              <a:buNone/>
            </a:pPr>
            <a:r>
              <a:rPr sz="1250" b="0">
                <a:solidFill>
                  <a:srgbClr val="FFFFFF"/>
                </a:solidFill>
              </a:rPr>
              <a:t>手がかり：自分に似たアバターで行動が変わる（プロテウス効果・未来の自分の提示）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予備調査（2026年5〜6月・215名）</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6</a:t>
            </a:fld>
          </a:p>
        </p:txBody>
      </p:sp>
      <p:sp>
        <p:nvSpPr>
          <p:cNvPr id="5" name="Rounded Rectangle 4"/>
          <p:cNvSpPr/>
          <p:nvPr/>
        </p:nvSpPr>
        <p:spPr>
          <a:xfrm>
            <a:off x="411480" y="1417320"/>
            <a:ext cx="1298448" cy="1371600"/>
          </a:xfrm>
          <a:prstGeom prst="roundRect">
            <a:avLst>
              <a:gd name="adj" fmla="val 84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80" y="1481328"/>
            <a:ext cx="1298448" cy="731520"/>
          </a:xfrm>
          <a:prstGeom prst="rect">
            <a:avLst/>
          </a:prstGeom>
          <a:noFill/>
        </p:spPr>
        <p:txBody>
          <a:bodyPr wrap="square" lIns="0" tIns="0" rIns="0" bIns="0" anchor="ctr">
            <a:noAutofit/>
          </a:bodyPr>
          <a:lstStyle/>
          <a:p>
            <a:pPr algn="ctr" marL="0" indent="0">
              <a:spcAft>
                <a:spcPts val="400"/>
              </a:spcAft>
              <a:buNone/>
            </a:pPr>
            <a:r>
              <a:rPr sz="2200" b="1">
                <a:solidFill>
                  <a:srgbClr val="12A38A"/>
                </a:solidFill>
              </a:rPr>
              <a:t>約8割</a:t>
            </a:r>
          </a:p>
        </p:txBody>
      </p:sp>
      <p:sp>
        <p:nvSpPr>
          <p:cNvPr id="7" name="TextBox 6"/>
          <p:cNvSpPr txBox="1"/>
          <p:nvPr/>
        </p:nvSpPr>
        <p:spPr>
          <a:xfrm>
            <a:off x="411480" y="2240280"/>
            <a:ext cx="1298448" cy="457200"/>
          </a:xfrm>
          <a:prstGeom prst="rect">
            <a:avLst/>
          </a:prstGeom>
          <a:noFill/>
        </p:spPr>
        <p:txBody>
          <a:bodyPr wrap="square" lIns="0" tIns="0" rIns="0" bIns="0" anchor="t">
            <a:noAutofit/>
          </a:bodyPr>
          <a:lstStyle/>
          <a:p>
            <a:pPr algn="ctr" marL="0" indent="0">
              <a:spcAft>
                <a:spcPts val="400"/>
              </a:spcAft>
              <a:buNone/>
            </a:pPr>
            <a:r>
              <a:rPr sz="1150" b="0">
                <a:solidFill>
                  <a:srgbClr val="24303F"/>
                </a:solidFill>
              </a:rPr>
              <a:t>推しが生きがい</a:t>
            </a:r>
          </a:p>
        </p:txBody>
      </p:sp>
      <p:sp>
        <p:nvSpPr>
          <p:cNvPr id="8" name="Rounded Rectangle 7"/>
          <p:cNvSpPr/>
          <p:nvPr/>
        </p:nvSpPr>
        <p:spPr>
          <a:xfrm>
            <a:off x="1801368" y="1417320"/>
            <a:ext cx="1298448" cy="1371600"/>
          </a:xfrm>
          <a:prstGeom prst="roundRect">
            <a:avLst>
              <a:gd name="adj" fmla="val 84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01368" y="1481328"/>
            <a:ext cx="1298448" cy="731520"/>
          </a:xfrm>
          <a:prstGeom prst="rect">
            <a:avLst/>
          </a:prstGeom>
          <a:noFill/>
        </p:spPr>
        <p:txBody>
          <a:bodyPr wrap="square" lIns="0" tIns="0" rIns="0" bIns="0" anchor="ctr">
            <a:noAutofit/>
          </a:bodyPr>
          <a:lstStyle/>
          <a:p>
            <a:pPr algn="ctr" marL="0" indent="0">
              <a:spcAft>
                <a:spcPts val="400"/>
              </a:spcAft>
              <a:buNone/>
            </a:pPr>
            <a:r>
              <a:rPr sz="2200" b="1">
                <a:solidFill>
                  <a:srgbClr val="E07A10"/>
                </a:solidFill>
              </a:rPr>
              <a:t>約4割</a:t>
            </a:r>
          </a:p>
        </p:txBody>
      </p:sp>
      <p:sp>
        <p:nvSpPr>
          <p:cNvPr id="10" name="TextBox 9"/>
          <p:cNvSpPr txBox="1"/>
          <p:nvPr/>
        </p:nvSpPr>
        <p:spPr>
          <a:xfrm>
            <a:off x="1801368" y="2240280"/>
            <a:ext cx="1298448" cy="457200"/>
          </a:xfrm>
          <a:prstGeom prst="rect">
            <a:avLst/>
          </a:prstGeom>
          <a:noFill/>
        </p:spPr>
        <p:txBody>
          <a:bodyPr wrap="square" lIns="0" tIns="0" rIns="0" bIns="0" anchor="t">
            <a:noAutofit/>
          </a:bodyPr>
          <a:lstStyle/>
          <a:p>
            <a:pPr algn="ctr" marL="0" indent="0">
              <a:spcAft>
                <a:spcPts val="400"/>
              </a:spcAft>
              <a:buNone/>
            </a:pPr>
            <a:r>
              <a:rPr sz="1150" b="0">
                <a:solidFill>
                  <a:srgbClr val="24303F"/>
                </a:solidFill>
              </a:rPr>
              <a:t>出費に不安</a:t>
            </a:r>
          </a:p>
        </p:txBody>
      </p:sp>
      <p:sp>
        <p:nvSpPr>
          <p:cNvPr id="11" name="Rounded Rectangle 10"/>
          <p:cNvSpPr/>
          <p:nvPr/>
        </p:nvSpPr>
        <p:spPr>
          <a:xfrm>
            <a:off x="3191256" y="1417320"/>
            <a:ext cx="1298448" cy="1371600"/>
          </a:xfrm>
          <a:prstGeom prst="roundRect">
            <a:avLst>
              <a:gd name="adj" fmla="val 84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91256" y="1481328"/>
            <a:ext cx="1298448" cy="731520"/>
          </a:xfrm>
          <a:prstGeom prst="rect">
            <a:avLst/>
          </a:prstGeom>
          <a:noFill/>
        </p:spPr>
        <p:txBody>
          <a:bodyPr wrap="square" lIns="0" tIns="0" rIns="0" bIns="0" anchor="ctr">
            <a:noAutofit/>
          </a:bodyPr>
          <a:lstStyle/>
          <a:p>
            <a:pPr algn="ctr" marL="0" indent="0">
              <a:spcAft>
                <a:spcPts val="400"/>
              </a:spcAft>
              <a:buNone/>
            </a:pPr>
            <a:r>
              <a:rPr sz="2200" b="1">
                <a:solidFill>
                  <a:srgbClr val="7C6BC4"/>
                </a:solidFill>
              </a:rPr>
              <a:t>約3割</a:t>
            </a:r>
          </a:p>
        </p:txBody>
      </p:sp>
      <p:sp>
        <p:nvSpPr>
          <p:cNvPr id="13" name="TextBox 12"/>
          <p:cNvSpPr txBox="1"/>
          <p:nvPr/>
        </p:nvSpPr>
        <p:spPr>
          <a:xfrm>
            <a:off x="3191256" y="2240280"/>
            <a:ext cx="1298448" cy="457200"/>
          </a:xfrm>
          <a:prstGeom prst="rect">
            <a:avLst/>
          </a:prstGeom>
          <a:noFill/>
        </p:spPr>
        <p:txBody>
          <a:bodyPr wrap="square" lIns="0" tIns="0" rIns="0" bIns="0" anchor="t">
            <a:noAutofit/>
          </a:bodyPr>
          <a:lstStyle/>
          <a:p>
            <a:pPr algn="ctr" marL="0" indent="0">
              <a:spcAft>
                <a:spcPts val="400"/>
              </a:spcAft>
              <a:buNone/>
            </a:pPr>
            <a:r>
              <a:rPr sz="1150" b="0">
                <a:solidFill>
                  <a:srgbClr val="24303F"/>
                </a:solidFill>
              </a:rPr>
              <a:t>睡眠に支障</a:t>
            </a:r>
          </a:p>
        </p:txBody>
      </p:sp>
      <p:graphicFrame>
        <p:nvGraphicFramePr>
          <p:cNvPr id="14" name="Chart 13"/>
          <p:cNvGraphicFramePr>
            <a:graphicFrameLocks noGrp="1"/>
          </p:cNvGraphicFramePr>
          <p:nvPr/>
        </p:nvGraphicFramePr>
        <p:xfrm>
          <a:off x="411480" y="2926080"/>
          <a:ext cx="4069080" cy="3246120"/>
        </p:xfrm>
        <a:graphic>
          <a:graphicData uri="http://schemas.openxmlformats.org/drawingml/2006/chart">
            <c:chart xmlns:c="http://schemas.openxmlformats.org/drawingml/2006/chart" r:id="rId2"/>
          </a:graphicData>
        </a:graphic>
      </p:graphicFrame>
      <p:sp>
        <p:nvSpPr>
          <p:cNvPr id="15" name="Rounded Rectangle 14"/>
          <p:cNvSpPr/>
          <p:nvPr/>
        </p:nvSpPr>
        <p:spPr>
          <a:xfrm>
            <a:off x="4709160" y="1417320"/>
            <a:ext cx="4023360" cy="2148840"/>
          </a:xfrm>
          <a:prstGeom prst="roundRect">
            <a:avLst>
              <a:gd name="adj" fmla="val 5106"/>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892040" y="1463040"/>
            <a:ext cx="3657600" cy="2057400"/>
          </a:xfrm>
          <a:prstGeom prst="rect">
            <a:avLst/>
          </a:prstGeom>
          <a:noFill/>
        </p:spPr>
        <p:txBody>
          <a:bodyPr wrap="square" lIns="0" tIns="0" rIns="0" bIns="0" anchor="ctr">
            <a:noAutofit/>
          </a:bodyPr>
          <a:lstStyle/>
          <a:p>
            <a:pPr algn="l" marL="0" indent="0">
              <a:spcAft>
                <a:spcPts val="0"/>
              </a:spcAft>
              <a:buNone/>
            </a:pPr>
            <a:r>
              <a:rPr sz="3400" b="1">
                <a:solidFill>
                  <a:srgbClr val="E07A10"/>
                </a:solidFill>
              </a:rPr>
              <a:t>27%</a:t>
            </a:r>
          </a:p>
          <a:p>
            <a:pPr algn="l" marL="0" indent="0">
              <a:spcAft>
                <a:spcPts val="300"/>
              </a:spcAft>
              <a:buNone/>
            </a:pPr>
            <a:r>
              <a:rPr sz="1400" b="1">
                <a:solidFill>
                  <a:srgbClr val="0B3C6E"/>
                </a:solidFill>
              </a:rPr>
              <a:t>「充実も疲れも高い」人がいる</a:t>
            </a:r>
          </a:p>
          <a:p>
            <a:pPr algn="l" marL="0" indent="0">
              <a:spcAft>
                <a:spcPts val="400"/>
              </a:spcAft>
              <a:buNone/>
            </a:pPr>
            <a:r>
              <a:rPr sz="1250" b="0">
                <a:solidFill>
                  <a:srgbClr val="24303F"/>
                </a:solidFill>
              </a:rPr>
              <a:t>同じ行動が、充実と推し疲れの両方を押し上げる</a:t>
            </a:r>
          </a:p>
        </p:txBody>
      </p:sp>
      <p:graphicFrame>
        <p:nvGraphicFramePr>
          <p:cNvPr id="17" name="Chart 16"/>
          <p:cNvGraphicFramePr>
            <a:graphicFrameLocks noGrp="1"/>
          </p:cNvGraphicFramePr>
          <p:nvPr/>
        </p:nvGraphicFramePr>
        <p:xfrm>
          <a:off x="4709160" y="3703320"/>
          <a:ext cx="4023360" cy="2468880"/>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研究目的と研究課題</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7</a:t>
            </a:fld>
          </a:p>
        </p:txBody>
      </p:sp>
      <p:sp>
        <p:nvSpPr>
          <p:cNvPr id="5" name="Rounded Rectangle 4"/>
          <p:cNvSpPr/>
          <p:nvPr/>
        </p:nvSpPr>
        <p:spPr>
          <a:xfrm>
            <a:off x="411480" y="1417320"/>
            <a:ext cx="8321040" cy="1234440"/>
          </a:xfrm>
          <a:prstGeom prst="roundRect">
            <a:avLst>
              <a:gd name="adj" fmla="val 8888"/>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63040"/>
            <a:ext cx="7772400" cy="1143000"/>
          </a:xfrm>
          <a:prstGeom prst="rect">
            <a:avLst/>
          </a:prstGeom>
          <a:noFill/>
        </p:spPr>
        <p:txBody>
          <a:bodyPr wrap="square" lIns="0" tIns="0" rIns="0" bIns="0" anchor="ctr">
            <a:noAutofit/>
          </a:bodyPr>
          <a:lstStyle/>
          <a:p>
            <a:pPr algn="l" marL="0" indent="0">
              <a:spcAft>
                <a:spcPts val="0"/>
              </a:spcAft>
              <a:buNone/>
            </a:pPr>
            <a:r>
              <a:rPr sz="1250" b="0">
                <a:solidFill>
                  <a:srgbClr val="CCE9FF"/>
                </a:solidFill>
              </a:rPr>
              <a:t>目的</a:t>
            </a:r>
          </a:p>
          <a:p>
            <a:pPr algn="l" marL="0" indent="0">
              <a:spcAft>
                <a:spcPts val="400"/>
              </a:spcAft>
              <a:buNone/>
            </a:pPr>
            <a:r>
              <a:rPr sz="1450" b="1">
                <a:solidFill>
                  <a:srgbClr val="FFFFFF"/>
                </a:solidFill>
              </a:rPr>
              <a:t>個人の記録にもとづく予測と、自分に似たアバターによる将来像の提示を統合し、推し活の行動変容とウェルビーイングの向上を促せるかを、無作為化比較実験で検証する</a:t>
            </a:r>
          </a:p>
        </p:txBody>
      </p:sp>
      <p:sp>
        <p:nvSpPr>
          <p:cNvPr id="7" name="Rounded Rectangle 6"/>
          <p:cNvSpPr/>
          <p:nvPr/>
        </p:nvSpPr>
        <p:spPr>
          <a:xfrm>
            <a:off x="411480" y="2834640"/>
            <a:ext cx="8321040" cy="987552"/>
          </a:xfrm>
          <a:prstGeom prst="roundRect">
            <a:avLst>
              <a:gd name="adj" fmla="val 1111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94360" y="3127248"/>
            <a:ext cx="914400" cy="402336"/>
          </a:xfrm>
          <a:prstGeom prst="roundRect">
            <a:avLst>
              <a:gd name="adj" fmla="val 50000"/>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500" b="1">
                <a:solidFill>
                  <a:srgbClr val="FFFFFF"/>
                </a:solidFill>
              </a:rPr>
              <a:t>RQ1</a:t>
            </a:r>
          </a:p>
        </p:txBody>
      </p:sp>
      <p:sp>
        <p:nvSpPr>
          <p:cNvPr id="9" name="TextBox 8"/>
          <p:cNvSpPr txBox="1"/>
          <p:nvPr/>
        </p:nvSpPr>
        <p:spPr>
          <a:xfrm>
            <a:off x="1691639" y="2834640"/>
            <a:ext cx="6858000" cy="987552"/>
          </a:xfrm>
          <a:prstGeom prst="rect">
            <a:avLst/>
          </a:prstGeom>
          <a:noFill/>
        </p:spPr>
        <p:txBody>
          <a:bodyPr wrap="square" lIns="0" tIns="0" rIns="0" bIns="0" anchor="ctr">
            <a:noAutofit/>
          </a:bodyPr>
          <a:lstStyle/>
          <a:p>
            <a:pPr algn="l" marL="0" indent="0">
              <a:spcAft>
                <a:spcPts val="400"/>
              </a:spcAft>
              <a:buNone/>
            </a:pPr>
            <a:r>
              <a:rPr sz="1400" b="0">
                <a:solidFill>
                  <a:srgbClr val="24303F"/>
                </a:solidFill>
              </a:rPr>
              <a:t>性格特性と推し活の行動から、充実と推し疲れを個人ごとにどの程度の精度で予測できるか</a:t>
            </a:r>
          </a:p>
        </p:txBody>
      </p:sp>
      <p:sp>
        <p:nvSpPr>
          <p:cNvPr id="10" name="Rounded Rectangle 9"/>
          <p:cNvSpPr/>
          <p:nvPr/>
        </p:nvSpPr>
        <p:spPr>
          <a:xfrm>
            <a:off x="411480" y="3950208"/>
            <a:ext cx="8321040" cy="987552"/>
          </a:xfrm>
          <a:prstGeom prst="roundRect">
            <a:avLst>
              <a:gd name="adj" fmla="val 1111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94360" y="4242816"/>
            <a:ext cx="914400" cy="402336"/>
          </a:xfrm>
          <a:prstGeom prst="roundRect">
            <a:avLst>
              <a:gd name="adj" fmla="val 50000"/>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500" b="1">
                <a:solidFill>
                  <a:srgbClr val="FFFFFF"/>
                </a:solidFill>
              </a:rPr>
              <a:t>RQ2</a:t>
            </a:r>
          </a:p>
        </p:txBody>
      </p:sp>
      <p:sp>
        <p:nvSpPr>
          <p:cNvPr id="12" name="TextBox 11"/>
          <p:cNvSpPr txBox="1"/>
          <p:nvPr/>
        </p:nvSpPr>
        <p:spPr>
          <a:xfrm>
            <a:off x="1691639" y="3950208"/>
            <a:ext cx="6858000" cy="987552"/>
          </a:xfrm>
          <a:prstGeom prst="rect">
            <a:avLst/>
          </a:prstGeom>
          <a:noFill/>
        </p:spPr>
        <p:txBody>
          <a:bodyPr wrap="square" lIns="0" tIns="0" rIns="0" bIns="0" anchor="ctr">
            <a:noAutofit/>
          </a:bodyPr>
          <a:lstStyle/>
          <a:p>
            <a:pPr algn="l" marL="0" indent="0">
              <a:spcAft>
                <a:spcPts val="400"/>
              </a:spcAft>
              <a:buNone/>
            </a:pPr>
            <a:r>
              <a:rPr sz="1400" b="0">
                <a:solidFill>
                  <a:srgbClr val="24303F"/>
                </a:solidFill>
              </a:rPr>
              <a:t>自分に似たアバターで将来の見込みを見せると、同じ提案を文章で見せる場合より実行が増えるか</a:t>
            </a:r>
          </a:p>
        </p:txBody>
      </p:sp>
      <p:sp>
        <p:nvSpPr>
          <p:cNvPr id="13" name="Rounded Rectangle 12"/>
          <p:cNvSpPr/>
          <p:nvPr/>
        </p:nvSpPr>
        <p:spPr>
          <a:xfrm>
            <a:off x="411480" y="5065776"/>
            <a:ext cx="8321040" cy="987552"/>
          </a:xfrm>
          <a:prstGeom prst="roundRect">
            <a:avLst>
              <a:gd name="adj" fmla="val 1111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94360" y="5358384"/>
            <a:ext cx="914400" cy="402336"/>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500" b="1">
                <a:solidFill>
                  <a:srgbClr val="FFFFFF"/>
                </a:solidFill>
              </a:rPr>
              <a:t>RQ3</a:t>
            </a:r>
          </a:p>
        </p:txBody>
      </p:sp>
      <p:sp>
        <p:nvSpPr>
          <p:cNvPr id="15" name="TextBox 14"/>
          <p:cNvSpPr txBox="1"/>
          <p:nvPr/>
        </p:nvSpPr>
        <p:spPr>
          <a:xfrm>
            <a:off x="1691639" y="5065776"/>
            <a:ext cx="6858000" cy="987552"/>
          </a:xfrm>
          <a:prstGeom prst="rect">
            <a:avLst/>
          </a:prstGeom>
          <a:noFill/>
        </p:spPr>
        <p:txBody>
          <a:bodyPr wrap="square" lIns="0" tIns="0" rIns="0" bIns="0" anchor="ctr">
            <a:noAutofit/>
          </a:bodyPr>
          <a:lstStyle/>
          <a:p>
            <a:pPr algn="l" marL="0" indent="0">
              <a:spcAft>
                <a:spcPts val="400"/>
              </a:spcAft>
              <a:buNone/>
            </a:pPr>
            <a:r>
              <a:rPr sz="1400" b="0">
                <a:solidFill>
                  <a:srgbClr val="24303F"/>
                </a:solidFill>
              </a:rPr>
              <a:t>6週間の利用で、推し活に伴うストレスが減り、ウェルビーイングが上がるか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関連研究と本研究の位置づけ</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8</a:t>
            </a:fld>
          </a:p>
        </p:txBody>
      </p:sp>
      <p:sp>
        <p:nvSpPr>
          <p:cNvPr id="5" name="Rounded Rectangle 4"/>
          <p:cNvSpPr/>
          <p:nvPr/>
        </p:nvSpPr>
        <p:spPr>
          <a:xfrm>
            <a:off x="411480" y="1417320"/>
            <a:ext cx="2697480" cy="2880360"/>
          </a:xfrm>
          <a:prstGeom prst="roundRect">
            <a:avLst>
              <a:gd name="adj" fmla="val 4067"/>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435608" y="1554480"/>
            <a:ext cx="640080" cy="64008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hart_w.png"/>
          <p:cNvPicPr>
            <a:picLocks noChangeAspect="1"/>
          </p:cNvPicPr>
          <p:nvPr/>
        </p:nvPicPr>
        <p:blipFill>
          <a:blip r:embed="rId2"/>
          <a:stretch>
            <a:fillRect/>
          </a:stretch>
        </p:blipFill>
        <p:spPr>
          <a:xfrm>
            <a:off x="1589227" y="1708099"/>
            <a:ext cx="332841" cy="332841"/>
          </a:xfrm>
          <a:prstGeom prst="rect">
            <a:avLst/>
          </a:prstGeom>
        </p:spPr>
      </p:pic>
      <p:sp>
        <p:nvSpPr>
          <p:cNvPr id="8" name="TextBox 7"/>
          <p:cNvSpPr txBox="1"/>
          <p:nvPr/>
        </p:nvSpPr>
        <p:spPr>
          <a:xfrm>
            <a:off x="502920" y="2286000"/>
            <a:ext cx="2514600" cy="365760"/>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個人情報学</a:t>
            </a:r>
          </a:p>
        </p:txBody>
      </p:sp>
      <p:sp>
        <p:nvSpPr>
          <p:cNvPr id="9" name="TextBox 8"/>
          <p:cNvSpPr txBox="1"/>
          <p:nvPr/>
        </p:nvSpPr>
        <p:spPr>
          <a:xfrm>
            <a:off x="502920" y="2633472"/>
            <a:ext cx="2514600" cy="274320"/>
          </a:xfrm>
          <a:prstGeom prst="rect">
            <a:avLst/>
          </a:prstGeom>
          <a:noFill/>
        </p:spPr>
        <p:txBody>
          <a:bodyPr wrap="square" lIns="0" tIns="0" rIns="0" bIns="0" anchor="t">
            <a:noAutofit/>
          </a:bodyPr>
          <a:lstStyle/>
          <a:p>
            <a:pPr algn="ctr" marL="0" indent="0">
              <a:spcAft>
                <a:spcPts val="400"/>
              </a:spcAft>
              <a:buNone/>
            </a:pPr>
            <a:r>
              <a:rPr sz="1050" b="0">
                <a:solidFill>
                  <a:srgbClr val="5A6676"/>
                </a:solidFill>
              </a:rPr>
              <a:t>self-tracking</a:t>
            </a:r>
          </a:p>
        </p:txBody>
      </p:sp>
      <p:sp>
        <p:nvSpPr>
          <p:cNvPr id="10" name="TextBox 9"/>
          <p:cNvSpPr txBox="1"/>
          <p:nvPr/>
        </p:nvSpPr>
        <p:spPr>
          <a:xfrm>
            <a:off x="594360" y="2971800"/>
            <a:ext cx="2331720" cy="1280160"/>
          </a:xfrm>
          <a:prstGeom prst="rect">
            <a:avLst/>
          </a:prstGeom>
          <a:noFill/>
        </p:spPr>
        <p:txBody>
          <a:bodyPr wrap="square" lIns="0" tIns="0" rIns="0" bIns="0" anchor="t">
            <a:noAutofit/>
          </a:bodyPr>
          <a:lstStyle/>
          <a:p>
            <a:pPr algn="l" marL="0" indent="0">
              <a:spcAft>
                <a:spcPts val="400"/>
              </a:spcAft>
              <a:buNone/>
            </a:pPr>
            <a:r>
              <a:rPr sz="1200" b="0">
                <a:solidFill>
                  <a:srgbClr val="24303F"/>
                </a:solidFill>
              </a:rPr>
              <a:t>記録の可視化。見せるだけでは行動が変わりにくい（Choe et al., 2014）</a:t>
            </a:r>
          </a:p>
        </p:txBody>
      </p:sp>
      <p:sp>
        <p:nvSpPr>
          <p:cNvPr id="11" name="Rounded Rectangle 10"/>
          <p:cNvSpPr/>
          <p:nvPr/>
        </p:nvSpPr>
        <p:spPr>
          <a:xfrm>
            <a:off x="3218688" y="1417320"/>
            <a:ext cx="2697480" cy="2880360"/>
          </a:xfrm>
          <a:prstGeom prst="roundRect">
            <a:avLst>
              <a:gd name="adj" fmla="val 4067"/>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242816" y="1554480"/>
            <a:ext cx="640080" cy="64008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c_mirror_w.png"/>
          <p:cNvPicPr>
            <a:picLocks noChangeAspect="1"/>
          </p:cNvPicPr>
          <p:nvPr/>
        </p:nvPicPr>
        <p:blipFill>
          <a:blip r:embed="rId3"/>
          <a:stretch>
            <a:fillRect/>
          </a:stretch>
        </p:blipFill>
        <p:spPr>
          <a:xfrm>
            <a:off x="4396435" y="1708099"/>
            <a:ext cx="332841" cy="332841"/>
          </a:xfrm>
          <a:prstGeom prst="rect">
            <a:avLst/>
          </a:prstGeom>
        </p:spPr>
      </p:pic>
      <p:sp>
        <p:nvSpPr>
          <p:cNvPr id="14" name="TextBox 13"/>
          <p:cNvSpPr txBox="1"/>
          <p:nvPr/>
        </p:nvSpPr>
        <p:spPr>
          <a:xfrm>
            <a:off x="3310128" y="2286000"/>
            <a:ext cx="2514600" cy="365760"/>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行動変容とアバター</a:t>
            </a:r>
          </a:p>
        </p:txBody>
      </p:sp>
      <p:sp>
        <p:nvSpPr>
          <p:cNvPr id="15" name="TextBox 14"/>
          <p:cNvSpPr txBox="1"/>
          <p:nvPr/>
        </p:nvSpPr>
        <p:spPr>
          <a:xfrm>
            <a:off x="3310128" y="2633472"/>
            <a:ext cx="2514600" cy="274320"/>
          </a:xfrm>
          <a:prstGeom prst="rect">
            <a:avLst/>
          </a:prstGeom>
          <a:noFill/>
        </p:spPr>
        <p:txBody>
          <a:bodyPr wrap="square" lIns="0" tIns="0" rIns="0" bIns="0" anchor="t">
            <a:noAutofit/>
          </a:bodyPr>
          <a:lstStyle/>
          <a:p>
            <a:pPr algn="ctr" marL="0" indent="0">
              <a:spcAft>
                <a:spcPts val="400"/>
              </a:spcAft>
              <a:buNone/>
            </a:pPr>
            <a:r>
              <a:rPr sz="1050" b="0">
                <a:solidFill>
                  <a:srgbClr val="5A6676"/>
                </a:solidFill>
              </a:rPr>
              <a:t>persuasive tech</a:t>
            </a:r>
          </a:p>
        </p:txBody>
      </p:sp>
      <p:sp>
        <p:nvSpPr>
          <p:cNvPr id="16" name="TextBox 15"/>
          <p:cNvSpPr txBox="1"/>
          <p:nvPr/>
        </p:nvSpPr>
        <p:spPr>
          <a:xfrm>
            <a:off x="3401568" y="2971800"/>
            <a:ext cx="2331720" cy="1280160"/>
          </a:xfrm>
          <a:prstGeom prst="rect">
            <a:avLst/>
          </a:prstGeom>
          <a:noFill/>
        </p:spPr>
        <p:txBody>
          <a:bodyPr wrap="square" lIns="0" tIns="0" rIns="0" bIns="0" anchor="t">
            <a:noAutofit/>
          </a:bodyPr>
          <a:lstStyle/>
          <a:p>
            <a:pPr algn="l" marL="0" indent="0">
              <a:spcAft>
                <a:spcPts val="400"/>
              </a:spcAft>
              <a:buNone/>
            </a:pPr>
            <a:r>
              <a:rPr sz="1200" b="0">
                <a:solidFill>
                  <a:srgbClr val="24303F"/>
                </a:solidFill>
              </a:rPr>
              <a:t>自分に似たアバターで運動・貯蓄が増える（Fox &amp; Bailenson, 2009; Hershfield et al., 2011）</a:t>
            </a:r>
          </a:p>
        </p:txBody>
      </p:sp>
      <p:sp>
        <p:nvSpPr>
          <p:cNvPr id="17" name="Rounded Rectangle 16"/>
          <p:cNvSpPr/>
          <p:nvPr/>
        </p:nvSpPr>
        <p:spPr>
          <a:xfrm>
            <a:off x="6025896" y="1417320"/>
            <a:ext cx="2697480" cy="2880360"/>
          </a:xfrm>
          <a:prstGeom prst="roundRect">
            <a:avLst>
              <a:gd name="adj" fmla="val 4067"/>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050024" y="1554480"/>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heart_w.png"/>
          <p:cNvPicPr>
            <a:picLocks noChangeAspect="1"/>
          </p:cNvPicPr>
          <p:nvPr/>
        </p:nvPicPr>
        <p:blipFill>
          <a:blip r:embed="rId4"/>
          <a:stretch>
            <a:fillRect/>
          </a:stretch>
        </p:blipFill>
        <p:spPr>
          <a:xfrm>
            <a:off x="7203643" y="1708099"/>
            <a:ext cx="332841" cy="332841"/>
          </a:xfrm>
          <a:prstGeom prst="rect">
            <a:avLst/>
          </a:prstGeom>
        </p:spPr>
      </p:pic>
      <p:sp>
        <p:nvSpPr>
          <p:cNvPr id="20" name="TextBox 19"/>
          <p:cNvSpPr txBox="1"/>
          <p:nvPr/>
        </p:nvSpPr>
        <p:spPr>
          <a:xfrm>
            <a:off x="6117336" y="2286000"/>
            <a:ext cx="2514600" cy="365760"/>
          </a:xfrm>
          <a:prstGeom prst="rect">
            <a:avLst/>
          </a:prstGeom>
          <a:noFill/>
        </p:spPr>
        <p:txBody>
          <a:bodyPr wrap="square" lIns="0" tIns="0" rIns="0" bIns="0" anchor="t">
            <a:noAutofit/>
          </a:bodyPr>
          <a:lstStyle/>
          <a:p>
            <a:pPr algn="ctr" marL="0" indent="0">
              <a:spcAft>
                <a:spcPts val="400"/>
              </a:spcAft>
              <a:buNone/>
            </a:pPr>
            <a:r>
              <a:rPr sz="1500" b="1">
                <a:solidFill>
                  <a:srgbClr val="0B3C6E"/>
                </a:solidFill>
              </a:rPr>
              <a:t>推し活の研究</a:t>
            </a:r>
          </a:p>
        </p:txBody>
      </p:sp>
      <p:sp>
        <p:nvSpPr>
          <p:cNvPr id="21" name="TextBox 20"/>
          <p:cNvSpPr txBox="1"/>
          <p:nvPr/>
        </p:nvSpPr>
        <p:spPr>
          <a:xfrm>
            <a:off x="6117336" y="2633472"/>
            <a:ext cx="2514600" cy="274320"/>
          </a:xfrm>
          <a:prstGeom prst="rect">
            <a:avLst/>
          </a:prstGeom>
          <a:noFill/>
        </p:spPr>
        <p:txBody>
          <a:bodyPr wrap="square" lIns="0" tIns="0" rIns="0" bIns="0" anchor="t">
            <a:noAutofit/>
          </a:bodyPr>
          <a:lstStyle/>
          <a:p>
            <a:pPr algn="ctr" marL="0" indent="0">
              <a:spcAft>
                <a:spcPts val="400"/>
              </a:spcAft>
              <a:buNone/>
            </a:pPr>
            <a:r>
              <a:rPr sz="1050" b="0">
                <a:solidFill>
                  <a:srgbClr val="5A6676"/>
                </a:solidFill>
              </a:rPr>
              <a:t>fandom</a:t>
            </a:r>
          </a:p>
        </p:txBody>
      </p:sp>
      <p:sp>
        <p:nvSpPr>
          <p:cNvPr id="22" name="TextBox 21"/>
          <p:cNvSpPr txBox="1"/>
          <p:nvPr/>
        </p:nvSpPr>
        <p:spPr>
          <a:xfrm>
            <a:off x="6208776" y="2971800"/>
            <a:ext cx="2331720" cy="1280160"/>
          </a:xfrm>
          <a:prstGeom prst="rect">
            <a:avLst/>
          </a:prstGeom>
          <a:noFill/>
        </p:spPr>
        <p:txBody>
          <a:bodyPr wrap="square" lIns="0" tIns="0" rIns="0" bIns="0" anchor="t">
            <a:noAutofit/>
          </a:bodyPr>
          <a:lstStyle/>
          <a:p>
            <a:pPr algn="l" marL="0" indent="0">
              <a:spcAft>
                <a:spcPts val="400"/>
              </a:spcAft>
              <a:buNone/>
            </a:pPr>
            <a:r>
              <a:rPr sz="1200" b="0">
                <a:solidFill>
                  <a:srgbClr val="24303F"/>
                </a:solidFill>
              </a:rPr>
              <a:t>充実感・精神的健康との関係。いずれも横断調査（中林・水口, 2020; 谷口・神田, 2025）</a:t>
            </a:r>
          </a:p>
        </p:txBody>
      </p:sp>
      <p:sp>
        <p:nvSpPr>
          <p:cNvPr id="23" name="Rounded Rectangle 22"/>
          <p:cNvSpPr/>
          <p:nvPr/>
        </p:nvSpPr>
        <p:spPr>
          <a:xfrm>
            <a:off x="411480" y="4480560"/>
            <a:ext cx="8321040" cy="1691640"/>
          </a:xfrm>
          <a:prstGeom prst="roundRect">
            <a:avLst>
              <a:gd name="adj" fmla="val 6486"/>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4526280"/>
            <a:ext cx="7772400" cy="1600200"/>
          </a:xfrm>
          <a:prstGeom prst="rect">
            <a:avLst/>
          </a:prstGeom>
          <a:noFill/>
        </p:spPr>
        <p:txBody>
          <a:bodyPr wrap="square" lIns="0" tIns="0" rIns="0" bIns="0" anchor="ctr">
            <a:noAutofit/>
          </a:bodyPr>
          <a:lstStyle/>
          <a:p>
            <a:pPr algn="l" marL="0" indent="0">
              <a:spcAft>
                <a:spcPts val="300"/>
              </a:spcAft>
              <a:buNone/>
            </a:pPr>
            <a:r>
              <a:rPr sz="1300" b="0">
                <a:solidFill>
                  <a:srgbClr val="CCE9FF"/>
                </a:solidFill>
              </a:rPr>
              <a:t>本研究の新しさ</a:t>
            </a:r>
          </a:p>
          <a:p>
            <a:pPr algn="l" marL="0" indent="0">
              <a:spcAft>
                <a:spcPts val="200"/>
              </a:spcAft>
              <a:buNone/>
            </a:pPr>
            <a:r>
              <a:rPr sz="1450" b="1">
                <a:solidFill>
                  <a:srgbClr val="FFFFFF"/>
                </a:solidFill>
              </a:rPr>
              <a:t>① 正解が人によって違う「推し活」にアバター介入を適用</a:t>
            </a:r>
          </a:p>
          <a:p>
            <a:pPr algn="l" marL="0" indent="0">
              <a:spcAft>
                <a:spcPts val="200"/>
              </a:spcAft>
              <a:buNone/>
            </a:pPr>
            <a:r>
              <a:rPr sz="1450" b="1">
                <a:solidFill>
                  <a:srgbClr val="FFFFFF"/>
                </a:solidFill>
              </a:rPr>
              <a:t>② 予測の不確かさそのものを「ありうる自分」の重なりとして見せる</a:t>
            </a:r>
          </a:p>
          <a:p>
            <a:pPr algn="l" marL="0" indent="0">
              <a:spcAft>
                <a:spcPts val="400"/>
              </a:spcAft>
              <a:buNone/>
            </a:pPr>
            <a:r>
              <a:rPr sz="1450" b="1">
                <a:solidFill>
                  <a:srgbClr val="FFFFFF"/>
                </a:solidFill>
              </a:rPr>
              <a:t>③ 提案を行ったあとの変化を、無作為化比較実験で追跡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提案システム OshiFit の全体像</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9</a:t>
            </a:fld>
          </a:p>
        </p:txBody>
      </p:sp>
      <p:sp>
        <p:nvSpPr>
          <p:cNvPr id="5" name="Rounded Rectangle 4"/>
          <p:cNvSpPr/>
          <p:nvPr/>
        </p:nvSpPr>
        <p:spPr>
          <a:xfrm>
            <a:off x="411480" y="1463040"/>
            <a:ext cx="2148840" cy="713232"/>
          </a:xfrm>
          <a:prstGeom prst="roundRect">
            <a:avLst>
              <a:gd name="adj" fmla="val 1282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02920" y="1609344"/>
            <a:ext cx="420624" cy="420624"/>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brain_w.png"/>
          <p:cNvPicPr>
            <a:picLocks noChangeAspect="1"/>
          </p:cNvPicPr>
          <p:nvPr/>
        </p:nvPicPr>
        <p:blipFill>
          <a:blip r:embed="rId2"/>
          <a:stretch>
            <a:fillRect/>
          </a:stretch>
        </p:blipFill>
        <p:spPr>
          <a:xfrm>
            <a:off x="603869" y="1710293"/>
            <a:ext cx="218724" cy="218724"/>
          </a:xfrm>
          <a:prstGeom prst="rect">
            <a:avLst/>
          </a:prstGeom>
        </p:spPr>
      </p:pic>
      <p:sp>
        <p:nvSpPr>
          <p:cNvPr id="8" name="TextBox 7"/>
          <p:cNvSpPr txBox="1"/>
          <p:nvPr/>
        </p:nvSpPr>
        <p:spPr>
          <a:xfrm>
            <a:off x="1014984" y="1463040"/>
            <a:ext cx="1490472" cy="713232"/>
          </a:xfrm>
          <a:prstGeom prst="rect">
            <a:avLst/>
          </a:prstGeom>
          <a:noFill/>
        </p:spPr>
        <p:txBody>
          <a:bodyPr wrap="square" lIns="0" tIns="0" rIns="0" bIns="0" anchor="ctr">
            <a:noAutofit/>
          </a:bodyPr>
          <a:lstStyle/>
          <a:p>
            <a:pPr algn="l" marL="0" indent="0">
              <a:spcAft>
                <a:spcPts val="0"/>
              </a:spcAft>
              <a:buNone/>
            </a:pPr>
            <a:r>
              <a:rPr sz="1300" b="1">
                <a:solidFill>
                  <a:srgbClr val="0B3C6E"/>
                </a:solidFill>
              </a:rPr>
              <a:t>TIPI-J</a:t>
            </a:r>
          </a:p>
          <a:p>
            <a:pPr algn="l" marL="0" indent="0">
              <a:spcAft>
                <a:spcPts val="400"/>
              </a:spcAft>
              <a:buNone/>
            </a:pPr>
            <a:r>
              <a:rPr sz="1050" b="0">
                <a:solidFill>
                  <a:srgbClr val="5A6676"/>
                </a:solidFill>
              </a:rPr>
              <a:t>初回・約1分</a:t>
            </a:r>
          </a:p>
        </p:txBody>
      </p:sp>
      <p:sp>
        <p:nvSpPr>
          <p:cNvPr id="9" name="Rounded Rectangle 8"/>
          <p:cNvSpPr/>
          <p:nvPr/>
        </p:nvSpPr>
        <p:spPr>
          <a:xfrm>
            <a:off x="411480" y="2331720"/>
            <a:ext cx="2148840" cy="713232"/>
          </a:xfrm>
          <a:prstGeom prst="roundRect">
            <a:avLst>
              <a:gd name="adj" fmla="val 1282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02920" y="2478024"/>
            <a:ext cx="420624" cy="420624"/>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pen_w.png"/>
          <p:cNvPicPr>
            <a:picLocks noChangeAspect="1"/>
          </p:cNvPicPr>
          <p:nvPr/>
        </p:nvPicPr>
        <p:blipFill>
          <a:blip r:embed="rId3"/>
          <a:stretch>
            <a:fillRect/>
          </a:stretch>
        </p:blipFill>
        <p:spPr>
          <a:xfrm>
            <a:off x="603869" y="2578973"/>
            <a:ext cx="218724" cy="218724"/>
          </a:xfrm>
          <a:prstGeom prst="rect">
            <a:avLst/>
          </a:prstGeom>
        </p:spPr>
      </p:pic>
      <p:sp>
        <p:nvSpPr>
          <p:cNvPr id="12" name="TextBox 11"/>
          <p:cNvSpPr txBox="1"/>
          <p:nvPr/>
        </p:nvSpPr>
        <p:spPr>
          <a:xfrm>
            <a:off x="1014984" y="2331720"/>
            <a:ext cx="1490472" cy="713232"/>
          </a:xfrm>
          <a:prstGeom prst="rect">
            <a:avLst/>
          </a:prstGeom>
          <a:noFill/>
        </p:spPr>
        <p:txBody>
          <a:bodyPr wrap="square" lIns="0" tIns="0" rIns="0" bIns="0" anchor="ctr">
            <a:noAutofit/>
          </a:bodyPr>
          <a:lstStyle/>
          <a:p>
            <a:pPr algn="l" marL="0" indent="0">
              <a:spcAft>
                <a:spcPts val="0"/>
              </a:spcAft>
              <a:buNone/>
            </a:pPr>
            <a:r>
              <a:rPr sz="1300" b="1">
                <a:solidFill>
                  <a:srgbClr val="0B3C6E"/>
                </a:solidFill>
              </a:rPr>
              <a:t>毎日の記録</a:t>
            </a:r>
          </a:p>
          <a:p>
            <a:pPr algn="l" marL="0" indent="0">
              <a:spcAft>
                <a:spcPts val="400"/>
              </a:spcAft>
              <a:buNone/>
            </a:pPr>
            <a:r>
              <a:rPr sz="1050" b="0">
                <a:solidFill>
                  <a:srgbClr val="5A6676"/>
                </a:solidFill>
              </a:rPr>
              <a:t>1日約30秒</a:t>
            </a:r>
          </a:p>
        </p:txBody>
      </p:sp>
      <p:sp>
        <p:nvSpPr>
          <p:cNvPr id="13" name="Rounded Rectangle 12"/>
          <p:cNvSpPr/>
          <p:nvPr/>
        </p:nvSpPr>
        <p:spPr>
          <a:xfrm>
            <a:off x="411480" y="3200400"/>
            <a:ext cx="2148840" cy="713232"/>
          </a:xfrm>
          <a:prstGeom prst="roundRect">
            <a:avLst>
              <a:gd name="adj" fmla="val 1282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02920" y="3346704"/>
            <a:ext cx="420624" cy="420624"/>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heart_w.png"/>
          <p:cNvPicPr>
            <a:picLocks noChangeAspect="1"/>
          </p:cNvPicPr>
          <p:nvPr/>
        </p:nvPicPr>
        <p:blipFill>
          <a:blip r:embed="rId4"/>
          <a:stretch>
            <a:fillRect/>
          </a:stretch>
        </p:blipFill>
        <p:spPr>
          <a:xfrm>
            <a:off x="603869" y="3447653"/>
            <a:ext cx="218724" cy="218724"/>
          </a:xfrm>
          <a:prstGeom prst="rect">
            <a:avLst/>
          </a:prstGeom>
        </p:spPr>
      </p:pic>
      <p:sp>
        <p:nvSpPr>
          <p:cNvPr id="16" name="TextBox 15"/>
          <p:cNvSpPr txBox="1"/>
          <p:nvPr/>
        </p:nvSpPr>
        <p:spPr>
          <a:xfrm>
            <a:off x="1014984" y="3200400"/>
            <a:ext cx="1490472" cy="713232"/>
          </a:xfrm>
          <a:prstGeom prst="rect">
            <a:avLst/>
          </a:prstGeom>
          <a:noFill/>
        </p:spPr>
        <p:txBody>
          <a:bodyPr wrap="square" lIns="0" tIns="0" rIns="0" bIns="0" anchor="ctr">
            <a:noAutofit/>
          </a:bodyPr>
          <a:lstStyle/>
          <a:p>
            <a:pPr algn="l" marL="0" indent="0">
              <a:spcAft>
                <a:spcPts val="0"/>
              </a:spcAft>
              <a:buNone/>
            </a:pPr>
            <a:r>
              <a:rPr sz="1300" b="1">
                <a:solidFill>
                  <a:srgbClr val="0B3C6E"/>
                </a:solidFill>
              </a:rPr>
              <a:t>本人の希望</a:t>
            </a:r>
          </a:p>
          <a:p>
            <a:pPr algn="l" marL="0" indent="0">
              <a:spcAft>
                <a:spcPts val="400"/>
              </a:spcAft>
              <a:buNone/>
            </a:pPr>
            <a:r>
              <a:rPr sz="1050" b="0">
                <a:solidFill>
                  <a:srgbClr val="5A6676"/>
                </a:solidFill>
              </a:rPr>
              <a:t>増やしたい／減らしたい</a:t>
            </a:r>
          </a:p>
        </p:txBody>
      </p:sp>
      <p:sp>
        <p:nvSpPr>
          <p:cNvPr id="17" name="Rounded Rectangle 16"/>
          <p:cNvSpPr/>
          <p:nvPr/>
        </p:nvSpPr>
        <p:spPr>
          <a:xfrm>
            <a:off x="2880360" y="1874519"/>
            <a:ext cx="1691640" cy="1783080"/>
          </a:xfrm>
          <a:prstGeom prst="roundRect">
            <a:avLst>
              <a:gd name="adj" fmla="val 6486"/>
            </a:avLst>
          </a:prstGeom>
          <a:solidFill>
            <a:srgbClr val="0B3C6E"/>
          </a:solidFill>
          <a:ln>
            <a:no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880360" y="1965960"/>
            <a:ext cx="1691640" cy="411480"/>
          </a:xfrm>
          <a:prstGeom prst="rect">
            <a:avLst/>
          </a:prstGeom>
          <a:noFill/>
        </p:spPr>
        <p:txBody>
          <a:bodyPr wrap="square" lIns="0" tIns="0" rIns="0" bIns="0" anchor="t">
            <a:noAutofit/>
          </a:bodyPr>
          <a:lstStyle/>
          <a:p>
            <a:pPr algn="ctr" marL="0" indent="0">
              <a:spcAft>
                <a:spcPts val="400"/>
              </a:spcAft>
              <a:buNone/>
            </a:pPr>
            <a:r>
              <a:rPr sz="2000" b="1">
                <a:solidFill>
                  <a:srgbClr val="FFFFFF"/>
                </a:solidFill>
              </a:rPr>
              <a:t>①</a:t>
            </a:r>
          </a:p>
        </p:txBody>
      </p:sp>
      <p:sp>
        <p:nvSpPr>
          <p:cNvPr id="19" name="TextBox 18"/>
          <p:cNvSpPr txBox="1"/>
          <p:nvPr/>
        </p:nvSpPr>
        <p:spPr>
          <a:xfrm>
            <a:off x="2953512" y="2359152"/>
            <a:ext cx="1545336" cy="457200"/>
          </a:xfrm>
          <a:prstGeom prst="rect">
            <a:avLst/>
          </a:prstGeom>
          <a:noFill/>
        </p:spPr>
        <p:txBody>
          <a:bodyPr wrap="square" lIns="0" tIns="0" rIns="0" bIns="0" anchor="ctr">
            <a:noAutofit/>
          </a:bodyPr>
          <a:lstStyle/>
          <a:p>
            <a:pPr algn="ctr" marL="0" indent="0">
              <a:spcAft>
                <a:spcPts val="400"/>
              </a:spcAft>
              <a:buNone/>
            </a:pPr>
            <a:r>
              <a:rPr sz="1400" b="1">
                <a:solidFill>
                  <a:srgbClr val="FFFFFF"/>
                </a:solidFill>
              </a:rPr>
              <a:t>ベイズ個人ツイン</a:t>
            </a:r>
          </a:p>
        </p:txBody>
      </p:sp>
      <p:sp>
        <p:nvSpPr>
          <p:cNvPr id="20" name="TextBox 19"/>
          <p:cNvSpPr txBox="1"/>
          <p:nvPr/>
        </p:nvSpPr>
        <p:spPr>
          <a:xfrm>
            <a:off x="2953512" y="2834640"/>
            <a:ext cx="1545336" cy="731520"/>
          </a:xfrm>
          <a:prstGeom prst="rect">
            <a:avLst/>
          </a:prstGeom>
          <a:noFill/>
        </p:spPr>
        <p:txBody>
          <a:bodyPr wrap="square" lIns="0" tIns="0" rIns="0" bIns="0" anchor="t">
            <a:noAutofit/>
          </a:bodyPr>
          <a:lstStyle/>
          <a:p>
            <a:pPr algn="ctr" marL="0" indent="0">
              <a:spcAft>
                <a:spcPts val="0"/>
              </a:spcAft>
              <a:buNone/>
            </a:pPr>
            <a:r>
              <a:rPr sz="1100" b="0">
                <a:solidFill>
                  <a:srgbClr val="FFFFFF"/>
                </a:solidFill>
              </a:rPr>
              <a:t>記録で毎晩更新する</a:t>
            </a:r>
          </a:p>
          <a:p>
            <a:pPr algn="ctr" marL="0" indent="0">
              <a:spcAft>
                <a:spcPts val="0"/>
              </a:spcAft>
              <a:buNone/>
            </a:pPr>
            <a:r>
              <a:rPr sz="1100" b="0">
                <a:solidFill>
                  <a:srgbClr val="FFFFFF"/>
                </a:solidFill>
              </a:rPr>
              <a:t>自分専用の予測</a:t>
            </a:r>
          </a:p>
        </p:txBody>
      </p:sp>
      <p:sp>
        <p:nvSpPr>
          <p:cNvPr id="21" name="Rounded Rectangle 20"/>
          <p:cNvSpPr/>
          <p:nvPr/>
        </p:nvSpPr>
        <p:spPr>
          <a:xfrm>
            <a:off x="4800600" y="1874519"/>
            <a:ext cx="1691640" cy="1783080"/>
          </a:xfrm>
          <a:prstGeom prst="roundRect">
            <a:avLst>
              <a:gd name="adj" fmla="val 6486"/>
            </a:avLst>
          </a:prstGeom>
          <a:solidFill>
            <a:srgbClr val="0B3C6E"/>
          </a:solidFill>
          <a:ln>
            <a:no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00600" y="1965960"/>
            <a:ext cx="1691640" cy="411480"/>
          </a:xfrm>
          <a:prstGeom prst="rect">
            <a:avLst/>
          </a:prstGeom>
          <a:noFill/>
        </p:spPr>
        <p:txBody>
          <a:bodyPr wrap="square" lIns="0" tIns="0" rIns="0" bIns="0" anchor="t">
            <a:noAutofit/>
          </a:bodyPr>
          <a:lstStyle/>
          <a:p>
            <a:pPr algn="ctr" marL="0" indent="0">
              <a:spcAft>
                <a:spcPts val="400"/>
              </a:spcAft>
              <a:buNone/>
            </a:pPr>
            <a:r>
              <a:rPr sz="2000" b="1">
                <a:solidFill>
                  <a:srgbClr val="FFFFFF"/>
                </a:solidFill>
              </a:rPr>
              <a:t>②</a:t>
            </a:r>
          </a:p>
        </p:txBody>
      </p:sp>
      <p:sp>
        <p:nvSpPr>
          <p:cNvPr id="23" name="TextBox 22"/>
          <p:cNvSpPr txBox="1"/>
          <p:nvPr/>
        </p:nvSpPr>
        <p:spPr>
          <a:xfrm>
            <a:off x="4873752" y="2359152"/>
            <a:ext cx="1545336" cy="457200"/>
          </a:xfrm>
          <a:prstGeom prst="rect">
            <a:avLst/>
          </a:prstGeom>
          <a:noFill/>
        </p:spPr>
        <p:txBody>
          <a:bodyPr wrap="square" lIns="0" tIns="0" rIns="0" bIns="0" anchor="ctr">
            <a:noAutofit/>
          </a:bodyPr>
          <a:lstStyle/>
          <a:p>
            <a:pPr algn="ctr" marL="0" indent="0">
              <a:spcAft>
                <a:spcPts val="400"/>
              </a:spcAft>
              <a:buNone/>
            </a:pPr>
            <a:r>
              <a:rPr sz="1400" b="1">
                <a:solidFill>
                  <a:srgbClr val="FFFFFF"/>
                </a:solidFill>
              </a:rPr>
              <a:t>リバランス提案</a:t>
            </a:r>
          </a:p>
        </p:txBody>
      </p:sp>
      <p:sp>
        <p:nvSpPr>
          <p:cNvPr id="24" name="TextBox 23"/>
          <p:cNvSpPr txBox="1"/>
          <p:nvPr/>
        </p:nvSpPr>
        <p:spPr>
          <a:xfrm>
            <a:off x="4873752" y="2834640"/>
            <a:ext cx="1545336" cy="731520"/>
          </a:xfrm>
          <a:prstGeom prst="rect">
            <a:avLst/>
          </a:prstGeom>
          <a:noFill/>
        </p:spPr>
        <p:txBody>
          <a:bodyPr wrap="square" lIns="0" tIns="0" rIns="0" bIns="0" anchor="t">
            <a:noAutofit/>
          </a:bodyPr>
          <a:lstStyle/>
          <a:p>
            <a:pPr algn="ctr" marL="0" indent="0">
              <a:spcAft>
                <a:spcPts val="0"/>
              </a:spcAft>
              <a:buNone/>
            </a:pPr>
            <a:r>
              <a:rPr sz="1100" b="0">
                <a:solidFill>
                  <a:srgbClr val="FFFFFF"/>
                </a:solidFill>
              </a:rPr>
              <a:t>減らさず組み替える</a:t>
            </a:r>
          </a:p>
          <a:p>
            <a:pPr algn="ctr" marL="0" indent="0">
              <a:spcAft>
                <a:spcPts val="0"/>
              </a:spcAft>
              <a:buNone/>
            </a:pPr>
            <a:r>
              <a:rPr sz="1100" b="0">
                <a:solidFill>
                  <a:srgbClr val="FFFFFF"/>
                </a:solidFill>
              </a:rPr>
              <a:t>3案（パレート最適）</a:t>
            </a:r>
          </a:p>
        </p:txBody>
      </p:sp>
      <p:sp>
        <p:nvSpPr>
          <p:cNvPr id="25" name="Right Arrow 24"/>
          <p:cNvSpPr/>
          <p:nvPr/>
        </p:nvSpPr>
        <p:spPr>
          <a:xfrm>
            <a:off x="2633472" y="2560320"/>
            <a:ext cx="219456" cy="384048"/>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ight Arrow 25"/>
          <p:cNvSpPr/>
          <p:nvPr/>
        </p:nvSpPr>
        <p:spPr>
          <a:xfrm>
            <a:off x="4599432" y="2560320"/>
            <a:ext cx="182880" cy="384048"/>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ight Arrow 26"/>
          <p:cNvSpPr/>
          <p:nvPr/>
        </p:nvSpPr>
        <p:spPr>
          <a:xfrm>
            <a:off x="6519672" y="2560320"/>
            <a:ext cx="182880" cy="384048"/>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748272" y="1417320"/>
            <a:ext cx="1984248" cy="2697480"/>
          </a:xfrm>
          <a:prstGeom prst="roundRect">
            <a:avLst>
              <a:gd name="adj" fmla="val 5529"/>
            </a:avLst>
          </a:prstGeom>
          <a:solidFill>
            <a:srgbClr val="E3F6F2"/>
          </a:solidFill>
          <a:ln w="19050">
            <a:solidFill>
              <a:srgbClr val="12A3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48272" y="1463040"/>
            <a:ext cx="1984248" cy="329184"/>
          </a:xfrm>
          <a:prstGeom prst="rect">
            <a:avLst/>
          </a:prstGeom>
          <a:noFill/>
        </p:spPr>
        <p:txBody>
          <a:bodyPr wrap="square" lIns="0" tIns="0" rIns="0" bIns="0" anchor="t">
            <a:noAutofit/>
          </a:bodyPr>
          <a:lstStyle/>
          <a:p>
            <a:pPr algn="ctr" marL="0" indent="0">
              <a:spcAft>
                <a:spcPts val="400"/>
              </a:spcAft>
              <a:buNone/>
            </a:pPr>
            <a:r>
              <a:rPr sz="1300" b="1">
                <a:solidFill>
                  <a:srgbClr val="12A38A"/>
                </a:solidFill>
              </a:rPr>
              <a:t>③④ みらいミラー</a:t>
            </a:r>
          </a:p>
        </p:txBody>
      </p:sp>
      <p:pic>
        <p:nvPicPr>
          <p:cNvPr id="30" name="Picture 29" descr="ghostA.png"/>
          <p:cNvPicPr>
            <a:picLocks noChangeAspect="1"/>
          </p:cNvPicPr>
          <p:nvPr/>
        </p:nvPicPr>
        <p:blipFill>
          <a:blip r:embed="rId5"/>
          <a:stretch>
            <a:fillRect/>
          </a:stretch>
        </p:blipFill>
        <p:spPr>
          <a:xfrm>
            <a:off x="6766559" y="1828800"/>
            <a:ext cx="960120" cy="652882"/>
          </a:xfrm>
          <a:prstGeom prst="rect">
            <a:avLst/>
          </a:prstGeom>
        </p:spPr>
      </p:pic>
      <p:pic>
        <p:nvPicPr>
          <p:cNvPr id="31" name="Picture 30" descr="ghostB.png"/>
          <p:cNvPicPr>
            <a:picLocks noChangeAspect="1"/>
          </p:cNvPicPr>
          <p:nvPr/>
        </p:nvPicPr>
        <p:blipFill>
          <a:blip r:embed="rId6"/>
          <a:stretch>
            <a:fillRect/>
          </a:stretch>
        </p:blipFill>
        <p:spPr>
          <a:xfrm>
            <a:off x="7754112" y="1828800"/>
            <a:ext cx="960120" cy="652882"/>
          </a:xfrm>
          <a:prstGeom prst="rect">
            <a:avLst/>
          </a:prstGeom>
        </p:spPr>
      </p:pic>
      <p:sp>
        <p:nvSpPr>
          <p:cNvPr id="32" name="TextBox 31"/>
          <p:cNvSpPr txBox="1"/>
          <p:nvPr/>
        </p:nvSpPr>
        <p:spPr>
          <a:xfrm>
            <a:off x="6766559" y="2514600"/>
            <a:ext cx="960120" cy="274320"/>
          </a:xfrm>
          <a:prstGeom prst="rect">
            <a:avLst/>
          </a:prstGeom>
          <a:noFill/>
        </p:spPr>
        <p:txBody>
          <a:bodyPr wrap="square" lIns="0" tIns="0" rIns="0" bIns="0" anchor="t">
            <a:noAutofit/>
          </a:bodyPr>
          <a:lstStyle/>
          <a:p>
            <a:pPr algn="ctr" marL="0" indent="0">
              <a:spcAft>
                <a:spcPts val="400"/>
              </a:spcAft>
              <a:buNone/>
            </a:pPr>
            <a:r>
              <a:rPr sz="1050" b="1">
                <a:solidFill>
                  <a:srgbClr val="E07A10"/>
                </a:solidFill>
              </a:rPr>
              <a:t>今のまま</a:t>
            </a:r>
          </a:p>
        </p:txBody>
      </p:sp>
      <p:sp>
        <p:nvSpPr>
          <p:cNvPr id="33" name="TextBox 32"/>
          <p:cNvSpPr txBox="1"/>
          <p:nvPr/>
        </p:nvSpPr>
        <p:spPr>
          <a:xfrm>
            <a:off x="7754112" y="2514600"/>
            <a:ext cx="960120" cy="274320"/>
          </a:xfrm>
          <a:prstGeom prst="rect">
            <a:avLst/>
          </a:prstGeom>
          <a:noFill/>
        </p:spPr>
        <p:txBody>
          <a:bodyPr wrap="square" lIns="0" tIns="0" rIns="0" bIns="0" anchor="t">
            <a:noAutofit/>
          </a:bodyPr>
          <a:lstStyle/>
          <a:p>
            <a:pPr algn="ctr" marL="0" indent="0">
              <a:spcAft>
                <a:spcPts val="400"/>
              </a:spcAft>
              <a:buNone/>
            </a:pPr>
            <a:r>
              <a:rPr sz="1050" b="1">
                <a:solidFill>
                  <a:srgbClr val="12A38A"/>
                </a:solidFill>
              </a:rPr>
              <a:t>提案どおり</a:t>
            </a:r>
          </a:p>
        </p:txBody>
      </p:sp>
      <p:sp>
        <p:nvSpPr>
          <p:cNvPr id="34" name="TextBox 33"/>
          <p:cNvSpPr txBox="1"/>
          <p:nvPr/>
        </p:nvSpPr>
        <p:spPr>
          <a:xfrm>
            <a:off x="6858000" y="2852928"/>
            <a:ext cx="1783080" cy="1188720"/>
          </a:xfrm>
          <a:prstGeom prst="rect">
            <a:avLst/>
          </a:prstGeom>
          <a:noFill/>
        </p:spPr>
        <p:txBody>
          <a:bodyPr wrap="square" lIns="0" tIns="0" rIns="0" bIns="0" anchor="t">
            <a:noAutofit/>
          </a:bodyPr>
          <a:lstStyle/>
          <a:p>
            <a:pPr algn="l" marL="0" indent="0">
              <a:spcAft>
                <a:spcPts val="0"/>
              </a:spcAft>
              <a:buNone/>
            </a:pPr>
            <a:r>
              <a:rPr sz="1150" b="1">
                <a:solidFill>
                  <a:srgbClr val="0B3C6E"/>
                </a:solidFill>
              </a:rPr>
              <a:t>ゆらぎアバター</a:t>
            </a:r>
          </a:p>
          <a:p>
            <a:pPr algn="l" marL="0" indent="0">
              <a:spcAft>
                <a:spcPts val="500"/>
              </a:spcAft>
              <a:buNone/>
            </a:pPr>
            <a:r>
              <a:rPr sz="1050" b="0">
                <a:solidFill>
                  <a:srgbClr val="24303F"/>
                </a:solidFill>
              </a:rPr>
              <a:t>予測の幅を重なりで表示</a:t>
            </a:r>
          </a:p>
          <a:p>
            <a:pPr algn="l" marL="0" indent="0">
              <a:spcAft>
                <a:spcPts val="0"/>
              </a:spcAft>
              <a:buNone/>
            </a:pPr>
            <a:r>
              <a:rPr sz="1150" b="1">
                <a:solidFill>
                  <a:srgbClr val="0B3C6E"/>
                </a:solidFill>
              </a:rPr>
              <a:t>疲れの中身キュー</a:t>
            </a:r>
          </a:p>
          <a:p>
            <a:pPr algn="l" marL="0" indent="0">
              <a:spcAft>
                <a:spcPts val="400"/>
              </a:spcAft>
              <a:buNone/>
            </a:pPr>
            <a:r>
              <a:rPr sz="1050" b="0">
                <a:solidFill>
                  <a:srgbClr val="24303F"/>
                </a:solidFill>
              </a:rPr>
              <a:t>睡眠・出費・義務感・比較</a:t>
            </a:r>
          </a:p>
        </p:txBody>
      </p:sp>
      <p:sp>
        <p:nvSpPr>
          <p:cNvPr id="35" name="Rounded Rectangle 34"/>
          <p:cNvSpPr/>
          <p:nvPr/>
        </p:nvSpPr>
        <p:spPr>
          <a:xfrm>
            <a:off x="2697480" y="4297680"/>
            <a:ext cx="6035040" cy="457200"/>
          </a:xfrm>
          <a:prstGeom prst="roundRect">
            <a:avLst>
              <a:gd name="adj" fmla="val 500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選ぶ → 1週間ためす → 実行チェック → 記録 → 毎晩更新 → 答え合わせ</a:t>
            </a:r>
          </a:p>
        </p:txBody>
      </p:sp>
      <p:cxnSp>
        <p:nvCxnSpPr>
          <p:cNvPr id="36" name="Connector 35"/>
          <p:cNvCxnSpPr/>
          <p:nvPr/>
        </p:nvCxnSpPr>
        <p:spPr>
          <a:xfrm>
            <a:off x="7726679" y="4114800"/>
            <a:ext cx="0" cy="182880"/>
          </a:xfrm>
          <a:prstGeom prst="line">
            <a:avLst/>
          </a:prstGeom>
          <a:ln w="25400">
            <a:solidFill>
              <a:srgbClr val="0099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291840" y="3657600"/>
            <a:ext cx="0" cy="640080"/>
          </a:xfrm>
          <a:prstGeom prst="line">
            <a:avLst/>
          </a:prstGeom>
          <a:ln w="25400">
            <a:solidFill>
              <a:srgbClr val="0099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11480" y="4956048"/>
            <a:ext cx="8321040" cy="438912"/>
          </a:xfrm>
          <a:prstGeom prst="roundRect">
            <a:avLst>
              <a:gd name="adj" fmla="val 20833"/>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E8457C"/>
                </a:solidFill>
              </a:rPr>
              <a:t>セーフティ層：強いつらさの記録（WHO-5 素点13点未満など）では予測表示を止め、相談先を表示する</a:t>
            </a:r>
          </a:p>
        </p:txBody>
      </p:sp>
      <p:sp>
        <p:nvSpPr>
          <p:cNvPr id="39" name="Oval 38"/>
          <p:cNvSpPr/>
          <p:nvPr/>
        </p:nvSpPr>
        <p:spPr>
          <a:xfrm>
            <a:off x="521208" y="5001768"/>
            <a:ext cx="347472" cy="347472"/>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ic_shield_w.png"/>
          <p:cNvPicPr>
            <a:picLocks noChangeAspect="1"/>
          </p:cNvPicPr>
          <p:nvPr/>
        </p:nvPicPr>
        <p:blipFill>
          <a:blip r:embed="rId7"/>
          <a:stretch>
            <a:fillRect/>
          </a:stretch>
        </p:blipFill>
        <p:spPr>
          <a:xfrm>
            <a:off x="604601" y="5085161"/>
            <a:ext cx="180685" cy="18068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① ベイズ個人ツイン</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10</a:t>
            </a:fld>
          </a:p>
        </p:txBody>
      </p:sp>
      <p:sp>
        <p:nvSpPr>
          <p:cNvPr id="5" name="TextBox 4"/>
          <p:cNvSpPr txBox="1"/>
          <p:nvPr/>
        </p:nvSpPr>
        <p:spPr>
          <a:xfrm>
            <a:off x="411480" y="1417320"/>
            <a:ext cx="4023360" cy="2560320"/>
          </a:xfrm>
          <a:prstGeom prst="rect">
            <a:avLst/>
          </a:prstGeom>
          <a:noFill/>
        </p:spPr>
        <p:txBody>
          <a:bodyPr wrap="square" lIns="0" tIns="0" rIns="0" bIns="0" anchor="t">
            <a:noAutofit/>
          </a:bodyPr>
          <a:lstStyle/>
          <a:p>
            <a:pPr algn="l" marL="182880" indent="-182880">
              <a:spcAft>
                <a:spcPts val="1000"/>
              </a:spcAft>
              <a:buClr>
                <a:srgbClr val="0099FF"/>
              </a:buClr>
              <a:buFont typeface="Arial"/>
              <a:buChar char="•"/>
            </a:pPr>
            <a:r>
              <a:rPr sz="1450" b="0">
                <a:solidFill>
                  <a:srgbClr val="24303F"/>
                </a:solidFill>
              </a:rPr>
              <a:t>予備調査215名の係数を出発点（事前分布）にする</a:t>
            </a:r>
          </a:p>
          <a:p>
            <a:pPr algn="l" marL="182880" indent="-182880">
              <a:spcAft>
                <a:spcPts val="1000"/>
              </a:spcAft>
              <a:buClr>
                <a:srgbClr val="0099FF"/>
              </a:buClr>
              <a:buFont typeface="Arial"/>
              <a:buChar char="•"/>
            </a:pPr>
            <a:r>
              <a:rPr sz="1450" b="0">
                <a:solidFill>
                  <a:srgbClr val="24303F"/>
                </a:solidFill>
              </a:rPr>
              <a:t>毎日の記録で、その人の個人差を毎晩更新する</a:t>
            </a:r>
          </a:p>
          <a:p>
            <a:pPr algn="l" marL="182880" indent="-182880">
              <a:spcAft>
                <a:spcPts val="1000"/>
              </a:spcAft>
              <a:buClr>
                <a:srgbClr val="0099FF"/>
              </a:buClr>
              <a:buFont typeface="Arial"/>
              <a:buChar char="•"/>
            </a:pPr>
            <a:r>
              <a:rPr sz="1450" b="0">
                <a:solidFill>
                  <a:srgbClr val="24303F"/>
                </a:solidFill>
              </a:rPr>
              <a:t>予測は分布として出るので、予測区間が自然に得られる</a:t>
            </a:r>
          </a:p>
          <a:p>
            <a:pPr algn="l" marL="182880" indent="-182880">
              <a:spcAft>
                <a:spcPts val="1000"/>
              </a:spcAft>
              <a:buClr>
                <a:srgbClr val="0099FF"/>
              </a:buClr>
              <a:buFont typeface="Arial"/>
              <a:buChar char="•"/>
            </a:pPr>
            <a:r>
              <a:rPr sz="1450" b="0">
                <a:solidFill>
                  <a:srgbClr val="24303F"/>
                </a:solidFill>
              </a:rPr>
              <a:t>端末内で計算でき、サーバーには記録の数値だけを送る</a:t>
            </a:r>
          </a:p>
        </p:txBody>
      </p:sp>
      <p:sp>
        <p:nvSpPr>
          <p:cNvPr id="6" name="Rounded Rectangle 5"/>
          <p:cNvSpPr/>
          <p:nvPr/>
        </p:nvSpPr>
        <p:spPr>
          <a:xfrm>
            <a:off x="411480" y="4160520"/>
            <a:ext cx="4023360" cy="914400"/>
          </a:xfrm>
          <a:prstGeom prst="roundRect">
            <a:avLst>
              <a:gd name="adj" fmla="val 10000"/>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4178808"/>
            <a:ext cx="3749039" cy="877824"/>
          </a:xfrm>
          <a:prstGeom prst="rect">
            <a:avLst/>
          </a:prstGeom>
          <a:noFill/>
        </p:spPr>
        <p:txBody>
          <a:bodyPr wrap="square" lIns="0" tIns="0" rIns="0" bIns="0" anchor="ctr">
            <a:noAutofit/>
          </a:bodyPr>
          <a:lstStyle/>
          <a:p>
            <a:pPr algn="ctr" marL="0" indent="0">
              <a:spcAft>
                <a:spcPts val="200"/>
              </a:spcAft>
              <a:buNone/>
            </a:pPr>
            <a:r>
              <a:rPr sz="1400" b="1">
                <a:solidFill>
                  <a:srgbClr val="FFFFFF"/>
                </a:solidFill>
              </a:rPr>
              <a:t>予測 = (全体の傾向 β + 個人差 bᵢ) × 行動</a:t>
            </a:r>
          </a:p>
          <a:p>
            <a:pPr algn="ctr" marL="0" indent="0">
              <a:spcAft>
                <a:spcPts val="400"/>
              </a:spcAft>
              <a:buNone/>
            </a:pPr>
            <a:r>
              <a:rPr sz="1150" b="0">
                <a:solidFill>
                  <a:srgbClr val="CCE9FF"/>
                </a:solidFill>
              </a:rPr>
              <a:t>bᵢ ～ N(0, τ²)：記録が増えるほど本人寄りに</a:t>
            </a:r>
          </a:p>
        </p:txBody>
      </p:sp>
      <p:sp>
        <p:nvSpPr>
          <p:cNvPr id="8" name="Rounded Rectangle 7"/>
          <p:cNvSpPr/>
          <p:nvPr/>
        </p:nvSpPr>
        <p:spPr>
          <a:xfrm>
            <a:off x="411480" y="5212080"/>
            <a:ext cx="4023360" cy="960120"/>
          </a:xfrm>
          <a:prstGeom prst="roundRect">
            <a:avLst>
              <a:gd name="adj" fmla="val 9523"/>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300" b="1">
                <a:solidFill>
                  <a:srgbClr val="0B3C6E"/>
                </a:solidFill>
              </a:rPr>
              <a:t>14日の記録で、推し疲れの80%予測区間は ±1.18 → ±0.86</a:t>
            </a:r>
          </a:p>
        </p:txBody>
      </p:sp>
      <p:graphicFrame>
        <p:nvGraphicFramePr>
          <p:cNvPr id="9" name="Chart 8"/>
          <p:cNvGraphicFramePr>
            <a:graphicFrameLocks noGrp="1"/>
          </p:cNvGraphicFramePr>
          <p:nvPr/>
        </p:nvGraphicFramePr>
        <p:xfrm>
          <a:off x="4663440" y="1325880"/>
          <a:ext cx="4069080" cy="4846320"/>
        </p:xfrm>
        <a:graphic>
          <a:graphicData uri="http://schemas.openxmlformats.org/drawingml/2006/chart">
            <c:chart xmlns:c="http://schemas.openxmlformats.org/drawingml/2006/chart" r:id="rId2"/>
          </a:graphicData>
        </a:graphic>
      </p:graphicFrame>
      <p:sp>
        <p:nvSpPr>
          <p:cNvPr id="10" name="Rounded Rectangle 9"/>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② リバランス提案：減らさずに組み替える</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11</a:t>
            </a:fld>
          </a:p>
        </p:txBody>
      </p:sp>
      <p:graphicFrame>
        <p:nvGraphicFramePr>
          <p:cNvPr id="5" name="Chart 4"/>
          <p:cNvGraphicFramePr>
            <a:graphicFrameLocks noGrp="1"/>
          </p:cNvGraphicFramePr>
          <p:nvPr/>
        </p:nvGraphicFramePr>
        <p:xfrm>
          <a:off x="411480" y="1325880"/>
          <a:ext cx="4572000" cy="4206240"/>
        </p:xfrm>
        <a:graphic>
          <a:graphicData uri="http://schemas.openxmlformats.org/drawingml/2006/chart">
            <c:chart xmlns:c="http://schemas.openxmlformats.org/drawingml/2006/chart" r:id="rId2"/>
          </a:graphicData>
        </a:graphic>
      </p:graphicFrame>
      <p:sp>
        <p:nvSpPr>
          <p:cNvPr id="6" name="TextBox 5"/>
          <p:cNvSpPr txBox="1"/>
          <p:nvPr/>
        </p:nvSpPr>
        <p:spPr>
          <a:xfrm>
            <a:off x="411480" y="5577840"/>
            <a:ext cx="4572000" cy="548640"/>
          </a:xfrm>
          <a:prstGeom prst="rect">
            <a:avLst/>
          </a:prstGeom>
          <a:noFill/>
        </p:spPr>
        <p:txBody>
          <a:bodyPr wrap="square" lIns="0" tIns="0" rIns="0" bIns="0" anchor="t">
            <a:noAutofit/>
          </a:bodyPr>
          <a:lstStyle/>
          <a:p>
            <a:pPr algn="l" marL="0" indent="0">
              <a:spcAft>
                <a:spcPts val="400"/>
              </a:spcAft>
              <a:buNone/>
            </a:pPr>
            <a:r>
              <a:rPr sz="1150" b="0">
                <a:solidFill>
                  <a:srgbClr val="5A6676"/>
                </a:solidFill>
              </a:rPr>
              <a:t>7つの活動を最大2つまで±1段階動かした98案から、本人の希望を守るパレート最適な3案を選ぶ</a:t>
            </a:r>
          </a:p>
        </p:txBody>
      </p:sp>
      <p:graphicFrame>
        <p:nvGraphicFramePr>
          <p:cNvPr id="7" name="Table 6"/>
          <p:cNvGraphicFramePr>
            <a:graphicFrameLocks noGrp="1"/>
          </p:cNvGraphicFramePr>
          <p:nvPr/>
        </p:nvGraphicFramePr>
        <p:xfrm>
          <a:off x="5166360" y="1417320"/>
          <a:ext cx="3566160" cy="2852928"/>
        </p:xfrm>
        <a:graphic>
          <a:graphicData uri="http://schemas.openxmlformats.org/drawingml/2006/table">
            <a:tbl>
              <a:tblPr>
                <a:tableStyleId>{5940675A-B579-460E-94D1-54222C63F5DA}</a:tableStyleId>
              </a:tblPr>
              <a:tblGrid>
                <a:gridCol w="1325880"/>
                <a:gridCol w="2240280"/>
              </a:tblGrid>
              <a:tr h="713232">
                <a:tc>
                  <a:txBody>
                    <a:bodyPr wrap="square" lIns="64008" tIns="27432" rIns="64008" bIns="27432" anchor="ctr">
                      <a:noAutofit/>
                    </a:bodyPr>
                    <a:lstStyle/>
                    <a:p>
                      <a:pPr algn="l" marL="0" indent="0">
                        <a:spcAft>
                          <a:spcPts val="0"/>
                        </a:spcAft>
                        <a:buNone/>
                      </a:pPr>
                      <a:r>
                        <a:rPr sz="1200" b="1">
                          <a:solidFill>
                            <a:srgbClr val="FFFFFF"/>
                          </a:solidFill>
                        </a:rPr>
                        <a:t>案</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200" b="1">
                          <a:solidFill>
                            <a:srgbClr val="FFFFFF"/>
                          </a:solidFill>
                        </a:rPr>
                        <a:t>内容</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713232">
                <a:tc>
                  <a:txBody>
                    <a:bodyPr wrap="square" lIns="64008" tIns="27432" rIns="64008" bIns="27432" anchor="ctr">
                      <a:noAutofit/>
                    </a:bodyPr>
                    <a:lstStyle/>
                    <a:p>
                      <a:pPr algn="l" marL="0" indent="0">
                        <a:spcAft>
                          <a:spcPts val="0"/>
                        </a:spcAft>
                        <a:buNone/>
                      </a:pPr>
                      <a:r>
                        <a:rPr sz="1200" b="1">
                          <a:solidFill>
                            <a:srgbClr val="24303F"/>
                          </a:solidFill>
                        </a:rPr>
                        <a:t>① 楽しさキープ</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夜のSNSを1時間短く、配信は週末にまとめて</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r h="713232">
                <a:tc>
                  <a:txBody>
                    <a:bodyPr wrap="square" lIns="64008" tIns="27432" rIns="64008" bIns="27432" anchor="ctr">
                      <a:noAutofit/>
                    </a:bodyPr>
                    <a:lstStyle/>
                    <a:p>
                      <a:pPr algn="l" marL="0" indent="0">
                        <a:spcAft>
                          <a:spcPts val="0"/>
                        </a:spcAft>
                        <a:buNone/>
                      </a:pPr>
                      <a:r>
                        <a:rPr sz="1200" b="1">
                          <a:solidFill>
                            <a:srgbClr val="24303F"/>
                          </a:solidFill>
                        </a:rPr>
                        <a:t>② バランス</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200" b="0">
                          <a:solidFill>
                            <a:srgbClr val="24303F"/>
                          </a:solidFill>
                        </a:rPr>
                        <a:t>グッズは月1回のまとめ買い。浮いた分をライブへ</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r h="713232">
                <a:tc>
                  <a:txBody>
                    <a:bodyPr wrap="square" lIns="64008" tIns="27432" rIns="64008" bIns="27432" anchor="ctr">
                      <a:noAutofit/>
                    </a:bodyPr>
                    <a:lstStyle/>
                    <a:p>
                      <a:pPr algn="l" marL="0" indent="0">
                        <a:spcAft>
                          <a:spcPts val="0"/>
                        </a:spcAft>
                        <a:buNone/>
                      </a:pPr>
                      <a:r>
                        <a:rPr sz="1200" b="1">
                          <a:solidFill>
                            <a:srgbClr val="24303F"/>
                          </a:solidFill>
                        </a:rPr>
                        <a:t>③ 回復重視</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24時以降はSNSオフ、睡眠を1時間ふやす</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bl>
          </a:graphicData>
        </a:graphic>
      </p:graphicFrame>
      <p:sp>
        <p:nvSpPr>
          <p:cNvPr id="8" name="Rounded Rectangle 7"/>
          <p:cNvSpPr/>
          <p:nvPr/>
        </p:nvSpPr>
        <p:spPr>
          <a:xfrm>
            <a:off x="5166360" y="4434840"/>
            <a:ext cx="3566160" cy="1737360"/>
          </a:xfrm>
          <a:prstGeom prst="roundRect">
            <a:avLst>
              <a:gd name="adj" fmla="val 6315"/>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303520" y="4480560"/>
            <a:ext cx="3291840" cy="1645920"/>
          </a:xfrm>
          <a:prstGeom prst="rect">
            <a:avLst/>
          </a:prstGeom>
          <a:noFill/>
        </p:spPr>
        <p:txBody>
          <a:bodyPr wrap="square" lIns="0" tIns="0" rIns="0" bIns="0" anchor="ctr">
            <a:noAutofit/>
          </a:bodyPr>
          <a:lstStyle/>
          <a:p>
            <a:pPr algn="l" marL="0" indent="0">
              <a:spcAft>
                <a:spcPts val="300"/>
              </a:spcAft>
              <a:buNone/>
            </a:pPr>
            <a:r>
              <a:rPr sz="1400" b="1">
                <a:solidFill>
                  <a:srgbClr val="12A38A"/>
                </a:solidFill>
              </a:rPr>
              <a:t>選ぶのは本人</a:t>
            </a:r>
          </a:p>
          <a:p>
            <a:pPr algn="l" marL="0" indent="0">
              <a:spcAft>
                <a:spcPts val="400"/>
              </a:spcAft>
              <a:buNone/>
            </a:pPr>
            <a:r>
              <a:rPr sz="1250" b="0">
                <a:solidFill>
                  <a:srgbClr val="24303F"/>
                </a:solidFill>
              </a:rPr>
              <a:t>「増やしたい」活動は減らさない。どの案も選ばない自由も残す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③ ゆらぎアバター（みらいミラー）</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12</a:t>
            </a:fld>
          </a:p>
        </p:txBody>
      </p:sp>
      <p:pic>
        <p:nvPicPr>
          <p:cNvPr id="5" name="Picture 4" descr="mk_ja_mirror.png"/>
          <p:cNvPicPr>
            <a:picLocks noChangeAspect="1"/>
          </p:cNvPicPr>
          <p:nvPr/>
        </p:nvPicPr>
        <p:blipFill>
          <a:blip r:embed="rId2"/>
          <a:stretch>
            <a:fillRect/>
          </a:stretch>
        </p:blipFill>
        <p:spPr>
          <a:xfrm>
            <a:off x="411480" y="1371600"/>
            <a:ext cx="2850356" cy="4800600"/>
          </a:xfrm>
          <a:prstGeom prst="rect">
            <a:avLst/>
          </a:prstGeom>
        </p:spPr>
      </p:pic>
      <p:sp>
        <p:nvSpPr>
          <p:cNvPr id="6" name="Rounded Rectangle 5"/>
          <p:cNvSpPr/>
          <p:nvPr/>
        </p:nvSpPr>
        <p:spPr>
          <a:xfrm>
            <a:off x="3429000" y="1417320"/>
            <a:ext cx="1691640" cy="1463040"/>
          </a:xfrm>
          <a:prstGeom prst="roundRect">
            <a:avLst>
              <a:gd name="adj" fmla="val 625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host_d0.png"/>
          <p:cNvPicPr>
            <a:picLocks noChangeAspect="1"/>
          </p:cNvPicPr>
          <p:nvPr/>
        </p:nvPicPr>
        <p:blipFill>
          <a:blip r:embed="rId3"/>
          <a:stretch>
            <a:fillRect/>
          </a:stretch>
        </p:blipFill>
        <p:spPr>
          <a:xfrm>
            <a:off x="3520440" y="1481328"/>
            <a:ext cx="1508760" cy="1025957"/>
          </a:xfrm>
          <a:prstGeom prst="rect">
            <a:avLst/>
          </a:prstGeom>
        </p:spPr>
      </p:pic>
      <p:sp>
        <p:nvSpPr>
          <p:cNvPr id="8" name="TextBox 7"/>
          <p:cNvSpPr txBox="1"/>
          <p:nvPr/>
        </p:nvSpPr>
        <p:spPr>
          <a:xfrm>
            <a:off x="3429000" y="2514600"/>
            <a:ext cx="1691640" cy="292608"/>
          </a:xfrm>
          <a:prstGeom prst="rect">
            <a:avLst/>
          </a:prstGeom>
          <a:noFill/>
        </p:spPr>
        <p:txBody>
          <a:bodyPr wrap="square" lIns="0" tIns="0" rIns="0" bIns="0" anchor="t">
            <a:noAutofit/>
          </a:bodyPr>
          <a:lstStyle/>
          <a:p>
            <a:pPr algn="ctr" marL="0" indent="0">
              <a:spcAft>
                <a:spcPts val="400"/>
              </a:spcAft>
              <a:buNone/>
            </a:pPr>
            <a:r>
              <a:rPr sz="1200" b="1">
                <a:solidFill>
                  <a:srgbClr val="0B3C6E"/>
                </a:solidFill>
              </a:rPr>
              <a:t>記録0日</a:t>
            </a:r>
          </a:p>
        </p:txBody>
      </p:sp>
      <p:sp>
        <p:nvSpPr>
          <p:cNvPr id="9" name="Rounded Rectangle 8"/>
          <p:cNvSpPr/>
          <p:nvPr/>
        </p:nvSpPr>
        <p:spPr>
          <a:xfrm>
            <a:off x="5212080" y="1417320"/>
            <a:ext cx="1691640" cy="1463040"/>
          </a:xfrm>
          <a:prstGeom prst="roundRect">
            <a:avLst>
              <a:gd name="adj" fmla="val 625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host_d7.png"/>
          <p:cNvPicPr>
            <a:picLocks noChangeAspect="1"/>
          </p:cNvPicPr>
          <p:nvPr/>
        </p:nvPicPr>
        <p:blipFill>
          <a:blip r:embed="rId4"/>
          <a:stretch>
            <a:fillRect/>
          </a:stretch>
        </p:blipFill>
        <p:spPr>
          <a:xfrm>
            <a:off x="5303520" y="1481328"/>
            <a:ext cx="1508760" cy="1025957"/>
          </a:xfrm>
          <a:prstGeom prst="rect">
            <a:avLst/>
          </a:prstGeom>
        </p:spPr>
      </p:pic>
      <p:sp>
        <p:nvSpPr>
          <p:cNvPr id="11" name="TextBox 10"/>
          <p:cNvSpPr txBox="1"/>
          <p:nvPr/>
        </p:nvSpPr>
        <p:spPr>
          <a:xfrm>
            <a:off x="5212080" y="2514600"/>
            <a:ext cx="1691640" cy="292608"/>
          </a:xfrm>
          <a:prstGeom prst="rect">
            <a:avLst/>
          </a:prstGeom>
          <a:noFill/>
        </p:spPr>
        <p:txBody>
          <a:bodyPr wrap="square" lIns="0" tIns="0" rIns="0" bIns="0" anchor="t">
            <a:noAutofit/>
          </a:bodyPr>
          <a:lstStyle/>
          <a:p>
            <a:pPr algn="ctr" marL="0" indent="0">
              <a:spcAft>
                <a:spcPts val="400"/>
              </a:spcAft>
              <a:buNone/>
            </a:pPr>
            <a:r>
              <a:rPr sz="1200" b="1">
                <a:solidFill>
                  <a:srgbClr val="0B3C6E"/>
                </a:solidFill>
              </a:rPr>
              <a:t>7日</a:t>
            </a:r>
          </a:p>
        </p:txBody>
      </p:sp>
      <p:sp>
        <p:nvSpPr>
          <p:cNvPr id="12" name="Rounded Rectangle 11"/>
          <p:cNvSpPr/>
          <p:nvPr/>
        </p:nvSpPr>
        <p:spPr>
          <a:xfrm>
            <a:off x="6995160" y="1417320"/>
            <a:ext cx="1691640" cy="1463040"/>
          </a:xfrm>
          <a:prstGeom prst="roundRect">
            <a:avLst>
              <a:gd name="adj" fmla="val 625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host_d14.png"/>
          <p:cNvPicPr>
            <a:picLocks noChangeAspect="1"/>
          </p:cNvPicPr>
          <p:nvPr/>
        </p:nvPicPr>
        <p:blipFill>
          <a:blip r:embed="rId5"/>
          <a:stretch>
            <a:fillRect/>
          </a:stretch>
        </p:blipFill>
        <p:spPr>
          <a:xfrm>
            <a:off x="7086600" y="1481328"/>
            <a:ext cx="1508760" cy="1025957"/>
          </a:xfrm>
          <a:prstGeom prst="rect">
            <a:avLst/>
          </a:prstGeom>
        </p:spPr>
      </p:pic>
      <p:sp>
        <p:nvSpPr>
          <p:cNvPr id="14" name="TextBox 13"/>
          <p:cNvSpPr txBox="1"/>
          <p:nvPr/>
        </p:nvSpPr>
        <p:spPr>
          <a:xfrm>
            <a:off x="6995160" y="2514600"/>
            <a:ext cx="1691640" cy="292608"/>
          </a:xfrm>
          <a:prstGeom prst="rect">
            <a:avLst/>
          </a:prstGeom>
          <a:noFill/>
        </p:spPr>
        <p:txBody>
          <a:bodyPr wrap="square" lIns="0" tIns="0" rIns="0" bIns="0" anchor="t">
            <a:noAutofit/>
          </a:bodyPr>
          <a:lstStyle/>
          <a:p>
            <a:pPr algn="ctr" marL="0" indent="0">
              <a:spcAft>
                <a:spcPts val="400"/>
              </a:spcAft>
              <a:buNone/>
            </a:pPr>
            <a:r>
              <a:rPr sz="1200" b="1">
                <a:solidFill>
                  <a:srgbClr val="12A38A"/>
                </a:solidFill>
              </a:rPr>
              <a:t>14日</a:t>
            </a:r>
          </a:p>
        </p:txBody>
      </p:sp>
      <p:sp>
        <p:nvSpPr>
          <p:cNvPr id="15" name="TextBox 14"/>
          <p:cNvSpPr txBox="1"/>
          <p:nvPr/>
        </p:nvSpPr>
        <p:spPr>
          <a:xfrm>
            <a:off x="3429000" y="3017520"/>
            <a:ext cx="5303520" cy="3108960"/>
          </a:xfrm>
          <a:prstGeom prst="rect">
            <a:avLst/>
          </a:prstGeom>
          <a:noFill/>
        </p:spPr>
        <p:txBody>
          <a:bodyPr wrap="square" lIns="0" tIns="0" rIns="0" bIns="0" anchor="t">
            <a:noAutofit/>
          </a:bodyPr>
          <a:lstStyle/>
          <a:p>
            <a:pPr algn="l" marL="182880" indent="-182880">
              <a:spcAft>
                <a:spcPts val="800"/>
              </a:spcAft>
              <a:buClr>
                <a:srgbClr val="0099FF"/>
              </a:buClr>
              <a:buFont typeface="Arial"/>
              <a:buChar char="•"/>
            </a:pPr>
            <a:r>
              <a:rPr sz="1350" b="0">
                <a:solidFill>
                  <a:srgbClr val="24303F"/>
                </a:solidFill>
              </a:rPr>
              <a:t>今のまま（Path A）と提案どおり（Path B）を並べて表示</a:t>
            </a:r>
          </a:p>
          <a:p>
            <a:pPr algn="l" marL="182880" indent="-182880">
              <a:spcAft>
                <a:spcPts val="800"/>
              </a:spcAft>
              <a:buClr>
                <a:srgbClr val="0099FF"/>
              </a:buClr>
              <a:buFont typeface="Arial"/>
              <a:buChar char="•"/>
            </a:pPr>
            <a:r>
              <a:rPr sz="1350" b="0">
                <a:solidFill>
                  <a:srgbClr val="24303F"/>
                </a:solidFill>
              </a:rPr>
              <a:t>予測分布から20通りの未来を引き、5体のアバターを重ねて描く。濃さ＝起こりやすさ</a:t>
            </a:r>
          </a:p>
          <a:p>
            <a:pPr algn="l" marL="182880" indent="-182880">
              <a:spcAft>
                <a:spcPts val="800"/>
              </a:spcAft>
              <a:buClr>
                <a:srgbClr val="0099FF"/>
              </a:buClr>
              <a:buFont typeface="Arial"/>
              <a:buChar char="•"/>
            </a:pPr>
            <a:r>
              <a:rPr sz="1350" b="0">
                <a:solidFill>
                  <a:srgbClr val="24303F"/>
                </a:solidFill>
              </a:rPr>
              <a:t>「20人中◯人が疲れ高め」の点の表示（Kay et al., 2016）</a:t>
            </a:r>
          </a:p>
          <a:p>
            <a:pPr algn="l" marL="182880" indent="-182880">
              <a:spcAft>
                <a:spcPts val="800"/>
              </a:spcAft>
              <a:buClr>
                <a:srgbClr val="E8457C"/>
              </a:buClr>
              <a:buFont typeface="Arial"/>
              <a:buChar char="•"/>
            </a:pPr>
            <a:r>
              <a:rPr sz="1350" b="0">
                <a:solidFill>
                  <a:srgbClr val="24303F"/>
                </a:solidFill>
              </a:rPr>
              <a:t>記録が増えると重なりが収束：「未来の解像度」が上がる</a:t>
            </a:r>
          </a:p>
          <a:p>
            <a:pPr algn="l" marL="182880" indent="-182880">
              <a:spcAft>
                <a:spcPts val="800"/>
              </a:spcAft>
              <a:buClr>
                <a:srgbClr val="0099FF"/>
              </a:buClr>
              <a:buFont typeface="Arial"/>
              <a:buChar char="•"/>
            </a:pPr>
            <a:r>
              <a:rPr sz="1350" b="0">
                <a:solidFill>
                  <a:srgbClr val="24303F"/>
                </a:solidFill>
              </a:rPr>
              <a:t>表情は予測の区分（3段階）にだけ連動させ、誇張しない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実験：6週間・3群の無作為化比較実験</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13</a:t>
            </a:fld>
          </a:p>
        </p:txBody>
      </p:sp>
      <p:sp>
        <p:nvSpPr>
          <p:cNvPr id="5" name="TextBox 4"/>
          <p:cNvSpPr txBox="1"/>
          <p:nvPr/>
        </p:nvSpPr>
        <p:spPr>
          <a:xfrm>
            <a:off x="210312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1週</a:t>
            </a:r>
          </a:p>
        </p:txBody>
      </p:sp>
      <p:sp>
        <p:nvSpPr>
          <p:cNvPr id="6" name="TextBox 5"/>
          <p:cNvSpPr txBox="1"/>
          <p:nvPr/>
        </p:nvSpPr>
        <p:spPr>
          <a:xfrm>
            <a:off x="320040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2週</a:t>
            </a:r>
          </a:p>
        </p:txBody>
      </p:sp>
      <p:sp>
        <p:nvSpPr>
          <p:cNvPr id="7" name="TextBox 6"/>
          <p:cNvSpPr txBox="1"/>
          <p:nvPr/>
        </p:nvSpPr>
        <p:spPr>
          <a:xfrm>
            <a:off x="4297679"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3週</a:t>
            </a:r>
          </a:p>
        </p:txBody>
      </p:sp>
      <p:sp>
        <p:nvSpPr>
          <p:cNvPr id="8" name="TextBox 7"/>
          <p:cNvSpPr txBox="1"/>
          <p:nvPr/>
        </p:nvSpPr>
        <p:spPr>
          <a:xfrm>
            <a:off x="5394959"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4週</a:t>
            </a:r>
          </a:p>
        </p:txBody>
      </p:sp>
      <p:sp>
        <p:nvSpPr>
          <p:cNvPr id="9" name="TextBox 8"/>
          <p:cNvSpPr txBox="1"/>
          <p:nvPr/>
        </p:nvSpPr>
        <p:spPr>
          <a:xfrm>
            <a:off x="649224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5週</a:t>
            </a:r>
          </a:p>
        </p:txBody>
      </p:sp>
      <p:sp>
        <p:nvSpPr>
          <p:cNvPr id="10" name="TextBox 9"/>
          <p:cNvSpPr txBox="1"/>
          <p:nvPr/>
        </p:nvSpPr>
        <p:spPr>
          <a:xfrm>
            <a:off x="7589520" y="1371600"/>
            <a:ext cx="1097280" cy="292608"/>
          </a:xfrm>
          <a:prstGeom prst="rect">
            <a:avLst/>
          </a:prstGeom>
          <a:noFill/>
        </p:spPr>
        <p:txBody>
          <a:bodyPr wrap="square" lIns="0" tIns="0" rIns="0" bIns="0" anchor="t">
            <a:noAutofit/>
          </a:bodyPr>
          <a:lstStyle/>
          <a:p>
            <a:pPr algn="ctr" marL="0" indent="0">
              <a:spcAft>
                <a:spcPts val="400"/>
              </a:spcAft>
              <a:buNone/>
            </a:pPr>
            <a:r>
              <a:rPr sz="1200" b="1">
                <a:solidFill>
                  <a:srgbClr val="5A6676"/>
                </a:solidFill>
              </a:rPr>
              <a:t>6週</a:t>
            </a:r>
          </a:p>
        </p:txBody>
      </p:sp>
      <p:sp>
        <p:nvSpPr>
          <p:cNvPr id="11" name="TextBox 10"/>
          <p:cNvSpPr txBox="1"/>
          <p:nvPr/>
        </p:nvSpPr>
        <p:spPr>
          <a:xfrm>
            <a:off x="411480" y="1783080"/>
            <a:ext cx="1600199" cy="566928"/>
          </a:xfrm>
          <a:prstGeom prst="rect">
            <a:avLst/>
          </a:prstGeom>
          <a:noFill/>
        </p:spPr>
        <p:txBody>
          <a:bodyPr wrap="square" lIns="0" tIns="0" rIns="0" bIns="0" anchor="ctr">
            <a:noAutofit/>
          </a:bodyPr>
          <a:lstStyle/>
          <a:p>
            <a:pPr algn="l" marL="0" indent="0">
              <a:spcAft>
                <a:spcPts val="400"/>
              </a:spcAft>
              <a:buNone/>
            </a:pPr>
            <a:r>
              <a:rPr sz="1300" b="1">
                <a:solidFill>
                  <a:srgbClr val="7A8594"/>
                </a:solidFill>
              </a:rPr>
              <a:t>群A 記録のみ</a:t>
            </a:r>
          </a:p>
        </p:txBody>
      </p:sp>
      <p:sp>
        <p:nvSpPr>
          <p:cNvPr id="12" name="Rounded Rectangle 11"/>
          <p:cNvSpPr/>
          <p:nvPr/>
        </p:nvSpPr>
        <p:spPr>
          <a:xfrm>
            <a:off x="2103120" y="1837943"/>
            <a:ext cx="2148840" cy="457200"/>
          </a:xfrm>
          <a:prstGeom prst="roundRect">
            <a:avLst>
              <a:gd name="adj" fmla="val 16000"/>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100" b="1">
                <a:solidFill>
                  <a:srgbClr val="5A6676"/>
                </a:solidFill>
              </a:rPr>
              <a:t>記録のみ</a:t>
            </a:r>
          </a:p>
        </p:txBody>
      </p:sp>
      <p:sp>
        <p:nvSpPr>
          <p:cNvPr id="13" name="Rounded Rectangle 12"/>
          <p:cNvSpPr/>
          <p:nvPr/>
        </p:nvSpPr>
        <p:spPr>
          <a:xfrm>
            <a:off x="4297679" y="1837943"/>
            <a:ext cx="4389120" cy="457200"/>
          </a:xfrm>
          <a:prstGeom prst="roundRect">
            <a:avLst>
              <a:gd name="adj" fmla="val 16000"/>
            </a:avLst>
          </a:prstGeom>
          <a:solidFill>
            <a:srgbClr val="F4F8FC"/>
          </a:solidFill>
          <a:ln w="12700">
            <a:solidFill>
              <a:srgbClr val="8FA3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記録のみ</a:t>
            </a:r>
          </a:p>
        </p:txBody>
      </p:sp>
      <p:sp>
        <p:nvSpPr>
          <p:cNvPr id="14" name="TextBox 13"/>
          <p:cNvSpPr txBox="1"/>
          <p:nvPr/>
        </p:nvSpPr>
        <p:spPr>
          <a:xfrm>
            <a:off x="411480" y="2496312"/>
            <a:ext cx="1600199" cy="566928"/>
          </a:xfrm>
          <a:prstGeom prst="rect">
            <a:avLst/>
          </a:prstGeom>
          <a:noFill/>
        </p:spPr>
        <p:txBody>
          <a:bodyPr wrap="square" lIns="0" tIns="0" rIns="0" bIns="0" anchor="ctr">
            <a:noAutofit/>
          </a:bodyPr>
          <a:lstStyle/>
          <a:p>
            <a:pPr algn="l" marL="0" indent="0">
              <a:spcAft>
                <a:spcPts val="400"/>
              </a:spcAft>
              <a:buNone/>
            </a:pPr>
            <a:r>
              <a:rPr sz="1300" b="1">
                <a:solidFill>
                  <a:srgbClr val="0099FF"/>
                </a:solidFill>
              </a:rPr>
              <a:t>群B 提案（文章）</a:t>
            </a:r>
          </a:p>
        </p:txBody>
      </p:sp>
      <p:sp>
        <p:nvSpPr>
          <p:cNvPr id="15" name="Rounded Rectangle 14"/>
          <p:cNvSpPr/>
          <p:nvPr/>
        </p:nvSpPr>
        <p:spPr>
          <a:xfrm>
            <a:off x="2103120" y="2551176"/>
            <a:ext cx="2148840" cy="457200"/>
          </a:xfrm>
          <a:prstGeom prst="roundRect">
            <a:avLst>
              <a:gd name="adj" fmla="val 16000"/>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100" b="1">
                <a:solidFill>
                  <a:srgbClr val="5A6676"/>
                </a:solidFill>
              </a:rPr>
              <a:t>記録のみ</a:t>
            </a:r>
          </a:p>
        </p:txBody>
      </p:sp>
      <p:sp>
        <p:nvSpPr>
          <p:cNvPr id="16" name="Rounded Rectangle 15"/>
          <p:cNvSpPr/>
          <p:nvPr/>
        </p:nvSpPr>
        <p:spPr>
          <a:xfrm>
            <a:off x="4297679" y="2551176"/>
            <a:ext cx="4389120" cy="457200"/>
          </a:xfrm>
          <a:prstGeom prst="roundRect">
            <a:avLst>
              <a:gd name="adj" fmla="val 16000"/>
            </a:avLst>
          </a:prstGeom>
          <a:solidFill>
            <a:srgbClr val="E6F4FF"/>
          </a:solidFill>
          <a:ln w="12700">
            <a:solidFill>
              <a:srgbClr val="0099F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提案（文章）＋記録</a:t>
            </a:r>
          </a:p>
        </p:txBody>
      </p:sp>
      <p:sp>
        <p:nvSpPr>
          <p:cNvPr id="17" name="TextBox 16"/>
          <p:cNvSpPr txBox="1"/>
          <p:nvPr/>
        </p:nvSpPr>
        <p:spPr>
          <a:xfrm>
            <a:off x="411480" y="3209544"/>
            <a:ext cx="1600199" cy="566928"/>
          </a:xfrm>
          <a:prstGeom prst="rect">
            <a:avLst/>
          </a:prstGeom>
          <a:noFill/>
        </p:spPr>
        <p:txBody>
          <a:bodyPr wrap="square" lIns="0" tIns="0" rIns="0" bIns="0" anchor="ctr">
            <a:noAutofit/>
          </a:bodyPr>
          <a:lstStyle/>
          <a:p>
            <a:pPr algn="l" marL="0" indent="0">
              <a:spcAft>
                <a:spcPts val="400"/>
              </a:spcAft>
              <a:buNone/>
            </a:pPr>
            <a:r>
              <a:rPr sz="1300" b="1">
                <a:solidFill>
                  <a:srgbClr val="12A38A"/>
                </a:solidFill>
              </a:rPr>
              <a:t>群C 提案＋アバター</a:t>
            </a:r>
          </a:p>
        </p:txBody>
      </p:sp>
      <p:sp>
        <p:nvSpPr>
          <p:cNvPr id="18" name="Rounded Rectangle 17"/>
          <p:cNvSpPr/>
          <p:nvPr/>
        </p:nvSpPr>
        <p:spPr>
          <a:xfrm>
            <a:off x="2103120" y="3264408"/>
            <a:ext cx="2148840" cy="457200"/>
          </a:xfrm>
          <a:prstGeom prst="roundRect">
            <a:avLst>
              <a:gd name="adj" fmla="val 16000"/>
            </a:avLst>
          </a:prstGeom>
          <a:solidFill>
            <a:srgbClr val="E3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100" b="1">
                <a:solidFill>
                  <a:srgbClr val="5A6676"/>
                </a:solidFill>
              </a:rPr>
              <a:t>記録のみ</a:t>
            </a:r>
          </a:p>
        </p:txBody>
      </p:sp>
      <p:sp>
        <p:nvSpPr>
          <p:cNvPr id="19" name="Rounded Rectangle 18"/>
          <p:cNvSpPr/>
          <p:nvPr/>
        </p:nvSpPr>
        <p:spPr>
          <a:xfrm>
            <a:off x="4297679" y="3264408"/>
            <a:ext cx="4389120" cy="457200"/>
          </a:xfrm>
          <a:prstGeom prst="roundRect">
            <a:avLst>
              <a:gd name="adj" fmla="val 16000"/>
            </a:avLst>
          </a:prstGeom>
          <a:solidFill>
            <a:srgbClr val="E3F6F2"/>
          </a:solidFill>
          <a:ln w="12700">
            <a:solidFill>
              <a:srgbClr val="12A38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00" b="1">
                <a:solidFill>
                  <a:srgbClr val="0B3C6E"/>
                </a:solidFill>
              </a:rPr>
              <a:t>提案＋予測アバター＋記録</a:t>
            </a:r>
          </a:p>
        </p:txBody>
      </p:sp>
      <p:cxnSp>
        <p:nvCxnSpPr>
          <p:cNvPr id="20" name="Connector 19"/>
          <p:cNvCxnSpPr/>
          <p:nvPr/>
        </p:nvCxnSpPr>
        <p:spPr>
          <a:xfrm>
            <a:off x="4279392" y="1691640"/>
            <a:ext cx="0" cy="2285999"/>
          </a:xfrm>
          <a:prstGeom prst="line">
            <a:avLst/>
          </a:prstGeom>
          <a:ln w="28575">
            <a:solidFill>
              <a:srgbClr val="E8457C"/>
            </a:solidFill>
            <a:prstDash val="dash"/>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383279" y="4023360"/>
            <a:ext cx="1828800" cy="274320"/>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FFFFFF"/>
                </a:solidFill>
              </a:rPr>
              <a:t>2週の終わりに層別割付</a:t>
            </a:r>
          </a:p>
        </p:txBody>
      </p:sp>
      <p:sp>
        <p:nvSpPr>
          <p:cNvPr id="22" name="Diamond 21"/>
          <p:cNvSpPr/>
          <p:nvPr/>
        </p:nvSpPr>
        <p:spPr>
          <a:xfrm>
            <a:off x="2011679"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iamond 22"/>
          <p:cNvSpPr/>
          <p:nvPr/>
        </p:nvSpPr>
        <p:spPr>
          <a:xfrm>
            <a:off x="4206240"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Diamond 23"/>
          <p:cNvSpPr/>
          <p:nvPr/>
        </p:nvSpPr>
        <p:spPr>
          <a:xfrm>
            <a:off x="6400800"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8595360" y="4434840"/>
            <a:ext cx="182880" cy="182880"/>
          </a:xfrm>
          <a:prstGeom prst="diamond">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11480" y="4370832"/>
            <a:ext cx="1600199" cy="320040"/>
          </a:xfrm>
          <a:prstGeom prst="rect">
            <a:avLst/>
          </a:prstGeom>
          <a:noFill/>
        </p:spPr>
        <p:txBody>
          <a:bodyPr wrap="square" lIns="0" tIns="0" rIns="0" bIns="0" anchor="ctr">
            <a:noAutofit/>
          </a:bodyPr>
          <a:lstStyle/>
          <a:p>
            <a:pPr algn="l" marL="0" indent="0">
              <a:spcAft>
                <a:spcPts val="400"/>
              </a:spcAft>
              <a:buNone/>
            </a:pPr>
            <a:r>
              <a:rPr sz="1200" b="1">
                <a:solidFill>
                  <a:srgbClr val="0B3C6E"/>
                </a:solidFill>
              </a:rPr>
              <a:t>WHO-5</a:t>
            </a:r>
          </a:p>
        </p:txBody>
      </p:sp>
      <p:cxnSp>
        <p:nvCxnSpPr>
          <p:cNvPr id="27" name="Connector 26"/>
          <p:cNvCxnSpPr/>
          <p:nvPr/>
        </p:nvCxnSpPr>
        <p:spPr>
          <a:xfrm>
            <a:off x="2103120" y="4526280"/>
            <a:ext cx="6583680" cy="0"/>
          </a:xfrm>
          <a:prstGeom prst="line">
            <a:avLst/>
          </a:prstGeom>
          <a:ln w="12700">
            <a:solidFill>
              <a:srgbClr val="B8C2CE"/>
            </a:solidFill>
          </a:ln>
        </p:spPr>
        <p:style>
          <a:lnRef idx="2">
            <a:schemeClr val="accent1"/>
          </a:lnRef>
          <a:fillRef idx="0">
            <a:schemeClr val="accent1"/>
          </a:fillRef>
          <a:effectRef idx="1">
            <a:schemeClr val="accent1"/>
          </a:effectRef>
          <a:fontRef idx="minor">
            <a:schemeClr val="tx1"/>
          </a:fontRef>
        </p:style>
      </p:cxnSp>
      <p:graphicFrame>
        <p:nvGraphicFramePr>
          <p:cNvPr id="28" name="Table 27"/>
          <p:cNvGraphicFramePr>
            <a:graphicFrameLocks noGrp="1"/>
          </p:cNvGraphicFramePr>
          <p:nvPr/>
        </p:nvGraphicFramePr>
        <p:xfrm>
          <a:off x="411480" y="4892040"/>
          <a:ext cx="8321040" cy="1234440"/>
        </p:xfrm>
        <a:graphic>
          <a:graphicData uri="http://schemas.openxmlformats.org/drawingml/2006/table">
            <a:tbl>
              <a:tblPr>
                <a:tableStyleId>{5940675A-B579-460E-94D1-54222C63F5DA}</a:tableStyleId>
              </a:tblPr>
              <a:tblGrid>
                <a:gridCol w="1463040"/>
                <a:gridCol w="6858000"/>
              </a:tblGrid>
              <a:tr h="411480">
                <a:tc>
                  <a:txBody>
                    <a:bodyPr wrap="square" lIns="64008" tIns="27432" rIns="64008" bIns="27432" anchor="ctr">
                      <a:noAutofit/>
                    </a:bodyPr>
                    <a:lstStyle/>
                    <a:p>
                      <a:pPr algn="l" marL="0" indent="0">
                        <a:spcAft>
                          <a:spcPts val="0"/>
                        </a:spcAft>
                        <a:buNone/>
                      </a:pPr>
                      <a:r>
                        <a:rPr sz="1200" b="1">
                          <a:solidFill>
                            <a:srgbClr val="FFFFFF"/>
                          </a:solidFill>
                        </a:rPr>
                        <a:t>評価</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200" b="1">
                          <a:solidFill>
                            <a:srgbClr val="FFFFFF"/>
                          </a:solidFill>
                        </a:rPr>
                        <a:t>内容</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411480">
                <a:tc>
                  <a:txBody>
                    <a:bodyPr wrap="square" lIns="64008" tIns="27432" rIns="64008" bIns="27432" anchor="ctr">
                      <a:noAutofit/>
                    </a:bodyPr>
                    <a:lstStyle/>
                    <a:p>
                      <a:pPr algn="l" marL="0" indent="0">
                        <a:spcAft>
                          <a:spcPts val="0"/>
                        </a:spcAft>
                        <a:buNone/>
                      </a:pPr>
                      <a:r>
                        <a:rPr sz="1200" b="1">
                          <a:solidFill>
                            <a:srgbClr val="24303F"/>
                          </a:solidFill>
                        </a:rPr>
                        <a:t>主要（RQ3）</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200" b="0">
                          <a:solidFill>
                            <a:srgbClr val="24303F"/>
                          </a:solidFill>
                        </a:rPr>
                        <a:t>6週時点の WHO-5（2週の得点を共変量とする共分散分析、Holm 法）</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r h="411480">
                <a:tc>
                  <a:txBody>
                    <a:bodyPr wrap="square" lIns="64008" tIns="27432" rIns="64008" bIns="27432" anchor="ctr">
                      <a:noAutofit/>
                    </a:bodyPr>
                    <a:lstStyle/>
                    <a:p>
                      <a:pPr algn="l" marL="0" indent="0">
                        <a:spcAft>
                          <a:spcPts val="0"/>
                        </a:spcAft>
                        <a:buNone/>
                      </a:pPr>
                      <a:r>
                        <a:rPr sz="1200" b="1">
                          <a:solidFill>
                            <a:srgbClr val="24303F"/>
                          </a:solidFill>
                        </a:rPr>
                        <a:t>RQ2・RQ1</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200" b="0">
                          <a:solidFill>
                            <a:srgbClr val="24303F"/>
                          </a:solidFill>
                        </a:rPr>
                        <a:t>毎週の提案の実行（ロジスティック混合モデル）／6週時点の予測と実測のずれ</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参加者</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14</a:t>
            </a:fld>
          </a:p>
        </p:txBody>
      </p:sp>
      <p:sp>
        <p:nvSpPr>
          <p:cNvPr id="5" name="Rounded Rectangle 4"/>
          <p:cNvSpPr/>
          <p:nvPr/>
        </p:nvSpPr>
        <p:spPr>
          <a:xfrm>
            <a:off x="411480" y="1463040"/>
            <a:ext cx="1901952" cy="1371600"/>
          </a:xfrm>
          <a:prstGeom prst="roundRect">
            <a:avLst>
              <a:gd name="adj" fmla="val 80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1480" y="1536192"/>
            <a:ext cx="1901952" cy="411480"/>
          </a:xfrm>
          <a:prstGeom prst="rect">
            <a:avLst/>
          </a:prstGeom>
          <a:noFill/>
        </p:spPr>
        <p:txBody>
          <a:bodyPr wrap="square" lIns="0" tIns="0" rIns="0" bIns="0" anchor="ctr">
            <a:noAutofit/>
          </a:bodyPr>
          <a:lstStyle/>
          <a:p>
            <a:pPr algn="ctr" marL="0" indent="0">
              <a:spcAft>
                <a:spcPts val="400"/>
              </a:spcAft>
              <a:buNone/>
            </a:pPr>
            <a:r>
              <a:rPr sz="1400" b="1">
                <a:solidFill>
                  <a:srgbClr val="0B3C6E"/>
                </a:solidFill>
              </a:rPr>
              <a:t>応募</a:t>
            </a:r>
          </a:p>
        </p:txBody>
      </p:sp>
      <p:sp>
        <p:nvSpPr>
          <p:cNvPr id="7" name="TextBox 6"/>
          <p:cNvSpPr txBox="1"/>
          <p:nvPr/>
        </p:nvSpPr>
        <p:spPr>
          <a:xfrm>
            <a:off x="411480" y="1965960"/>
            <a:ext cx="1901952"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241名</a:t>
            </a:r>
          </a:p>
        </p:txBody>
      </p:sp>
      <p:sp>
        <p:nvSpPr>
          <p:cNvPr id="8" name="Right Arrow 7"/>
          <p:cNvSpPr/>
          <p:nvPr/>
        </p:nvSpPr>
        <p:spPr>
          <a:xfrm>
            <a:off x="2331720" y="1965960"/>
            <a:ext cx="18288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532888" y="1463040"/>
            <a:ext cx="1901952" cy="1371600"/>
          </a:xfrm>
          <a:prstGeom prst="roundRect">
            <a:avLst>
              <a:gd name="adj" fmla="val 80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532888" y="1536192"/>
            <a:ext cx="1901952" cy="411480"/>
          </a:xfrm>
          <a:prstGeom prst="rect">
            <a:avLst/>
          </a:prstGeom>
          <a:noFill/>
        </p:spPr>
        <p:txBody>
          <a:bodyPr wrap="square" lIns="0" tIns="0" rIns="0" bIns="0" anchor="ctr">
            <a:noAutofit/>
          </a:bodyPr>
          <a:lstStyle/>
          <a:p>
            <a:pPr algn="ctr" marL="0" indent="0">
              <a:spcAft>
                <a:spcPts val="400"/>
              </a:spcAft>
              <a:buNone/>
            </a:pPr>
            <a:r>
              <a:rPr sz="1400" b="1">
                <a:solidFill>
                  <a:srgbClr val="0B3C6E"/>
                </a:solidFill>
              </a:rPr>
              <a:t>開始</a:t>
            </a:r>
          </a:p>
        </p:txBody>
      </p:sp>
      <p:sp>
        <p:nvSpPr>
          <p:cNvPr id="11" name="TextBox 10"/>
          <p:cNvSpPr txBox="1"/>
          <p:nvPr/>
        </p:nvSpPr>
        <p:spPr>
          <a:xfrm>
            <a:off x="2532888" y="1965960"/>
            <a:ext cx="1901952"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228名</a:t>
            </a:r>
          </a:p>
        </p:txBody>
      </p:sp>
      <p:sp>
        <p:nvSpPr>
          <p:cNvPr id="12" name="Right Arrow 11"/>
          <p:cNvSpPr/>
          <p:nvPr/>
        </p:nvSpPr>
        <p:spPr>
          <a:xfrm>
            <a:off x="4453128" y="1965960"/>
            <a:ext cx="18288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654296" y="1463040"/>
            <a:ext cx="1901952" cy="1371600"/>
          </a:xfrm>
          <a:prstGeom prst="roundRect">
            <a:avLst>
              <a:gd name="adj" fmla="val 80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54296" y="1536192"/>
            <a:ext cx="1901952" cy="411480"/>
          </a:xfrm>
          <a:prstGeom prst="rect">
            <a:avLst/>
          </a:prstGeom>
          <a:noFill/>
        </p:spPr>
        <p:txBody>
          <a:bodyPr wrap="square" lIns="0" tIns="0" rIns="0" bIns="0" anchor="ctr">
            <a:noAutofit/>
          </a:bodyPr>
          <a:lstStyle/>
          <a:p>
            <a:pPr algn="ctr" marL="0" indent="0">
              <a:spcAft>
                <a:spcPts val="400"/>
              </a:spcAft>
              <a:buNone/>
            </a:pPr>
            <a:r>
              <a:rPr sz="1400" b="1">
                <a:solidFill>
                  <a:srgbClr val="0B3C6E"/>
                </a:solidFill>
              </a:rPr>
              <a:t>割付</a:t>
            </a:r>
          </a:p>
        </p:txBody>
      </p:sp>
      <p:sp>
        <p:nvSpPr>
          <p:cNvPr id="15" name="TextBox 14"/>
          <p:cNvSpPr txBox="1"/>
          <p:nvPr/>
        </p:nvSpPr>
        <p:spPr>
          <a:xfrm>
            <a:off x="4654296" y="1965960"/>
            <a:ext cx="1901952" cy="73152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213名</a:t>
            </a:r>
          </a:p>
        </p:txBody>
      </p:sp>
      <p:sp>
        <p:nvSpPr>
          <p:cNvPr id="16" name="Right Arrow 15"/>
          <p:cNvSpPr/>
          <p:nvPr/>
        </p:nvSpPr>
        <p:spPr>
          <a:xfrm>
            <a:off x="6574536" y="1965960"/>
            <a:ext cx="182880" cy="36576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775703" y="1463040"/>
            <a:ext cx="1901952" cy="1371600"/>
          </a:xfrm>
          <a:prstGeom prst="roundRect">
            <a:avLst>
              <a:gd name="adj" fmla="val 8000"/>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75703" y="1536192"/>
            <a:ext cx="1901952" cy="411480"/>
          </a:xfrm>
          <a:prstGeom prst="rect">
            <a:avLst/>
          </a:prstGeom>
          <a:noFill/>
        </p:spPr>
        <p:txBody>
          <a:bodyPr wrap="square" lIns="0" tIns="0" rIns="0" bIns="0" anchor="ctr">
            <a:noAutofit/>
          </a:bodyPr>
          <a:lstStyle/>
          <a:p>
            <a:pPr algn="ctr" marL="0" indent="0">
              <a:spcAft>
                <a:spcPts val="400"/>
              </a:spcAft>
              <a:buNone/>
            </a:pPr>
            <a:r>
              <a:rPr sz="1400" b="1">
                <a:solidFill>
                  <a:srgbClr val="FFFFFF"/>
                </a:solidFill>
              </a:rPr>
              <a:t>6週完了</a:t>
            </a:r>
          </a:p>
        </p:txBody>
      </p:sp>
      <p:sp>
        <p:nvSpPr>
          <p:cNvPr id="19" name="TextBox 18"/>
          <p:cNvSpPr txBox="1"/>
          <p:nvPr/>
        </p:nvSpPr>
        <p:spPr>
          <a:xfrm>
            <a:off x="6775703" y="1965960"/>
            <a:ext cx="1901952" cy="731520"/>
          </a:xfrm>
          <a:prstGeom prst="rect">
            <a:avLst/>
          </a:prstGeom>
          <a:noFill/>
        </p:spPr>
        <p:txBody>
          <a:bodyPr wrap="square" lIns="0" tIns="0" rIns="0" bIns="0" anchor="ctr">
            <a:noAutofit/>
          </a:bodyPr>
          <a:lstStyle/>
          <a:p>
            <a:pPr algn="ctr" marL="0" indent="0">
              <a:spcAft>
                <a:spcPts val="400"/>
              </a:spcAft>
              <a:buNone/>
            </a:pPr>
            <a:r>
              <a:rPr sz="2800" b="1">
                <a:solidFill>
                  <a:srgbClr val="FFFFFF"/>
                </a:solidFill>
              </a:rPr>
              <a:t>197名</a:t>
            </a:r>
          </a:p>
        </p:txBody>
      </p:sp>
      <p:sp>
        <p:nvSpPr>
          <p:cNvPr id="20" name="Rounded Rectangle 19"/>
          <p:cNvSpPr/>
          <p:nvPr/>
        </p:nvSpPr>
        <p:spPr>
          <a:xfrm>
            <a:off x="411480" y="3063240"/>
            <a:ext cx="2697480" cy="1508760"/>
          </a:xfrm>
          <a:prstGeom prst="roundRect">
            <a:avLst>
              <a:gd name="adj" fmla="val 7272"/>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11480" y="3154680"/>
            <a:ext cx="2697480" cy="365760"/>
          </a:xfrm>
          <a:prstGeom prst="rect">
            <a:avLst/>
          </a:prstGeom>
          <a:noFill/>
        </p:spPr>
        <p:txBody>
          <a:bodyPr wrap="square" lIns="0" tIns="0" rIns="0" bIns="0" anchor="t">
            <a:noAutofit/>
          </a:bodyPr>
          <a:lstStyle/>
          <a:p>
            <a:pPr algn="ctr" marL="0" indent="0">
              <a:spcAft>
                <a:spcPts val="400"/>
              </a:spcAft>
              <a:buNone/>
            </a:pPr>
            <a:r>
              <a:rPr sz="1400" b="1">
                <a:solidFill>
                  <a:srgbClr val="7A8594"/>
                </a:solidFill>
              </a:rPr>
              <a:t>群A 記録のみ</a:t>
            </a:r>
          </a:p>
        </p:txBody>
      </p:sp>
      <p:sp>
        <p:nvSpPr>
          <p:cNvPr id="22" name="TextBox 21"/>
          <p:cNvSpPr txBox="1"/>
          <p:nvPr/>
        </p:nvSpPr>
        <p:spPr>
          <a:xfrm>
            <a:off x="411480" y="3520440"/>
            <a:ext cx="2697480" cy="68580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64名</a:t>
            </a:r>
          </a:p>
        </p:txBody>
      </p:sp>
      <p:sp>
        <p:nvSpPr>
          <p:cNvPr id="23" name="TextBox 22"/>
          <p:cNvSpPr txBox="1"/>
          <p:nvPr/>
        </p:nvSpPr>
        <p:spPr>
          <a:xfrm>
            <a:off x="411480" y="4206240"/>
            <a:ext cx="2697480" cy="27432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rPr>
              <a:t>割付 71名 → 完了 64名</a:t>
            </a:r>
          </a:p>
        </p:txBody>
      </p:sp>
      <p:sp>
        <p:nvSpPr>
          <p:cNvPr id="24" name="Rounded Rectangle 23"/>
          <p:cNvSpPr/>
          <p:nvPr/>
        </p:nvSpPr>
        <p:spPr>
          <a:xfrm>
            <a:off x="3218688" y="3063240"/>
            <a:ext cx="2697480" cy="1508760"/>
          </a:xfrm>
          <a:prstGeom prst="roundRect">
            <a:avLst>
              <a:gd name="adj" fmla="val 7272"/>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218688" y="3154680"/>
            <a:ext cx="2697480" cy="365760"/>
          </a:xfrm>
          <a:prstGeom prst="rect">
            <a:avLst/>
          </a:prstGeom>
          <a:noFill/>
        </p:spPr>
        <p:txBody>
          <a:bodyPr wrap="square" lIns="0" tIns="0" rIns="0" bIns="0" anchor="t">
            <a:noAutofit/>
          </a:bodyPr>
          <a:lstStyle/>
          <a:p>
            <a:pPr algn="ctr" marL="0" indent="0">
              <a:spcAft>
                <a:spcPts val="400"/>
              </a:spcAft>
              <a:buNone/>
            </a:pPr>
            <a:r>
              <a:rPr sz="1400" b="1">
                <a:solidFill>
                  <a:srgbClr val="0099FF"/>
                </a:solidFill>
              </a:rPr>
              <a:t>群B 提案（文章）</a:t>
            </a:r>
          </a:p>
        </p:txBody>
      </p:sp>
      <p:sp>
        <p:nvSpPr>
          <p:cNvPr id="26" name="TextBox 25"/>
          <p:cNvSpPr txBox="1"/>
          <p:nvPr/>
        </p:nvSpPr>
        <p:spPr>
          <a:xfrm>
            <a:off x="3218688" y="3520440"/>
            <a:ext cx="2697480" cy="68580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66名</a:t>
            </a:r>
          </a:p>
        </p:txBody>
      </p:sp>
      <p:sp>
        <p:nvSpPr>
          <p:cNvPr id="27" name="TextBox 26"/>
          <p:cNvSpPr txBox="1"/>
          <p:nvPr/>
        </p:nvSpPr>
        <p:spPr>
          <a:xfrm>
            <a:off x="3218688" y="4206240"/>
            <a:ext cx="2697480" cy="27432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rPr>
              <a:t>割付 71名 → 完了 66名</a:t>
            </a:r>
          </a:p>
        </p:txBody>
      </p:sp>
      <p:sp>
        <p:nvSpPr>
          <p:cNvPr id="28" name="Rounded Rectangle 27"/>
          <p:cNvSpPr/>
          <p:nvPr/>
        </p:nvSpPr>
        <p:spPr>
          <a:xfrm>
            <a:off x="6025896" y="3063240"/>
            <a:ext cx="2697480" cy="1508760"/>
          </a:xfrm>
          <a:prstGeom prst="roundRect">
            <a:avLst>
              <a:gd name="adj" fmla="val 7272"/>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025896" y="3154680"/>
            <a:ext cx="2697480" cy="365760"/>
          </a:xfrm>
          <a:prstGeom prst="rect">
            <a:avLst/>
          </a:prstGeom>
          <a:noFill/>
        </p:spPr>
        <p:txBody>
          <a:bodyPr wrap="square" lIns="0" tIns="0" rIns="0" bIns="0" anchor="t">
            <a:noAutofit/>
          </a:bodyPr>
          <a:lstStyle/>
          <a:p>
            <a:pPr algn="ctr" marL="0" indent="0">
              <a:spcAft>
                <a:spcPts val="400"/>
              </a:spcAft>
              <a:buNone/>
            </a:pPr>
            <a:r>
              <a:rPr sz="1400" b="1">
                <a:solidFill>
                  <a:srgbClr val="12A38A"/>
                </a:solidFill>
              </a:rPr>
              <a:t>群C 提案＋アバター</a:t>
            </a:r>
          </a:p>
        </p:txBody>
      </p:sp>
      <p:sp>
        <p:nvSpPr>
          <p:cNvPr id="30" name="TextBox 29"/>
          <p:cNvSpPr txBox="1"/>
          <p:nvPr/>
        </p:nvSpPr>
        <p:spPr>
          <a:xfrm>
            <a:off x="6025896" y="3520440"/>
            <a:ext cx="2697480" cy="685800"/>
          </a:xfrm>
          <a:prstGeom prst="rect">
            <a:avLst/>
          </a:prstGeom>
          <a:noFill/>
        </p:spPr>
        <p:txBody>
          <a:bodyPr wrap="square" lIns="0" tIns="0" rIns="0" bIns="0" anchor="ctr">
            <a:noAutofit/>
          </a:bodyPr>
          <a:lstStyle/>
          <a:p>
            <a:pPr algn="ctr" marL="0" indent="0">
              <a:spcAft>
                <a:spcPts val="400"/>
              </a:spcAft>
              <a:buNone/>
            </a:pPr>
            <a:r>
              <a:rPr sz="2800" b="1">
                <a:solidFill>
                  <a:srgbClr val="0B3C6E"/>
                </a:solidFill>
              </a:rPr>
              <a:t>67名</a:t>
            </a:r>
          </a:p>
        </p:txBody>
      </p:sp>
      <p:sp>
        <p:nvSpPr>
          <p:cNvPr id="31" name="TextBox 30"/>
          <p:cNvSpPr txBox="1"/>
          <p:nvPr/>
        </p:nvSpPr>
        <p:spPr>
          <a:xfrm>
            <a:off x="6025896" y="4206240"/>
            <a:ext cx="2697480" cy="274320"/>
          </a:xfrm>
          <a:prstGeom prst="rect">
            <a:avLst/>
          </a:prstGeom>
          <a:noFill/>
        </p:spPr>
        <p:txBody>
          <a:bodyPr wrap="square" lIns="0" tIns="0" rIns="0" bIns="0" anchor="t">
            <a:noAutofit/>
          </a:bodyPr>
          <a:lstStyle/>
          <a:p>
            <a:pPr algn="ctr" marL="0" indent="0">
              <a:spcAft>
                <a:spcPts val="400"/>
              </a:spcAft>
              <a:buNone/>
            </a:pPr>
            <a:r>
              <a:rPr sz="1150" b="0">
                <a:solidFill>
                  <a:srgbClr val="5A6676"/>
                </a:solidFill>
              </a:rPr>
              <a:t>割付 71名 → 完了 67名</a:t>
            </a:r>
          </a:p>
        </p:txBody>
      </p:sp>
      <p:sp>
        <p:nvSpPr>
          <p:cNvPr id="32" name="Rounded Rectangle 31"/>
          <p:cNvSpPr/>
          <p:nvPr/>
        </p:nvSpPr>
        <p:spPr>
          <a:xfrm>
            <a:off x="411480" y="4800600"/>
            <a:ext cx="8321040" cy="1371600"/>
          </a:xfrm>
          <a:prstGeom prst="roundRect">
            <a:avLst>
              <a:gd name="adj" fmla="val 800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5800" y="4846320"/>
            <a:ext cx="7772400" cy="1280160"/>
          </a:xfrm>
          <a:prstGeom prst="rect">
            <a:avLst/>
          </a:prstGeom>
          <a:noFill/>
        </p:spPr>
        <p:txBody>
          <a:bodyPr wrap="square" lIns="0" tIns="0" rIns="0" bIns="0" anchor="ctr">
            <a:noAutofit/>
          </a:bodyPr>
          <a:lstStyle/>
          <a:p>
            <a:pPr algn="l" marL="0" indent="0">
              <a:spcAft>
                <a:spcPts val="300"/>
              </a:spcAft>
              <a:buNone/>
            </a:pPr>
            <a:r>
              <a:rPr sz="1400" b="1">
                <a:solidFill>
                  <a:srgbClr val="0B3C6E"/>
                </a:solidFill>
              </a:rPr>
              <a:t>平均年齢 22.6歳、女性 約7割。推し活をしている成人（大学生が中心）</a:t>
            </a:r>
          </a:p>
          <a:p>
            <a:pPr algn="l" marL="0" indent="0">
              <a:spcAft>
                <a:spcPts val="400"/>
              </a:spcAft>
              <a:buNone/>
            </a:pPr>
            <a:r>
              <a:rPr sz="1250" b="0">
                <a:solidFill>
                  <a:srgbClr val="24303F"/>
                </a:solidFill>
              </a:rPr>
              <a:t>各群とも必要人数（1群64名：d = 0.5、検出力80%）を確保。割付時の WHO-5 などに群間の偏りなし</a:t>
            </a:r>
          </a:p>
        </p:txBody>
      </p:sp>
      <p:sp>
        <p:nvSpPr>
          <p:cNvPr id="34" name="Rounded Rectangle 33"/>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結果 RQ1：個人補正で予測の誤差が減った</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15</a:t>
            </a:fld>
          </a:p>
        </p:txBody>
      </p:sp>
      <p:graphicFrame>
        <p:nvGraphicFramePr>
          <p:cNvPr id="5" name="Chart 4"/>
          <p:cNvGraphicFramePr>
            <a:graphicFrameLocks noGrp="1"/>
          </p:cNvGraphicFramePr>
          <p:nvPr/>
        </p:nvGraphicFramePr>
        <p:xfrm>
          <a:off x="411480" y="1325880"/>
          <a:ext cx="4846320" cy="4206240"/>
        </p:xfrm>
        <a:graphic>
          <a:graphicData uri="http://schemas.openxmlformats.org/drawingml/2006/chart">
            <c:chart xmlns:c="http://schemas.openxmlformats.org/drawingml/2006/chart" r:id="rId2"/>
          </a:graphicData>
        </a:graphic>
      </p:graphicFrame>
      <p:sp>
        <p:nvSpPr>
          <p:cNvPr id="6" name="TextBox 5"/>
          <p:cNvSpPr txBox="1"/>
          <p:nvPr/>
        </p:nvSpPr>
        <p:spPr>
          <a:xfrm>
            <a:off x="411480" y="5623560"/>
            <a:ext cx="4846320" cy="502920"/>
          </a:xfrm>
          <a:prstGeom prst="rect">
            <a:avLst/>
          </a:prstGeom>
          <a:noFill/>
        </p:spPr>
        <p:txBody>
          <a:bodyPr wrap="square" lIns="0" tIns="0" rIns="0" bIns="0" anchor="t">
            <a:noAutofit/>
          </a:bodyPr>
          <a:lstStyle/>
          <a:p>
            <a:pPr algn="l" marL="0" indent="0">
              <a:spcAft>
                <a:spcPts val="400"/>
              </a:spcAft>
              <a:buNone/>
            </a:pPr>
            <a:r>
              <a:rPr sz="1150" b="0">
                <a:solidFill>
                  <a:srgbClr val="5A6676"/>
                </a:solidFill>
              </a:rPr>
              <a:t>予測は2週時点の記録までで作成し、6週時点の実測と比べた</a:t>
            </a:r>
          </a:p>
        </p:txBody>
      </p:sp>
      <p:sp>
        <p:nvSpPr>
          <p:cNvPr id="7" name="Rounded Rectangle 6"/>
          <p:cNvSpPr/>
          <p:nvPr/>
        </p:nvSpPr>
        <p:spPr>
          <a:xfrm>
            <a:off x="5486400" y="1371600"/>
            <a:ext cx="3246120" cy="1280160"/>
          </a:xfrm>
          <a:prstGeom prst="roundRect">
            <a:avLst>
              <a:gd name="adj" fmla="val 857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0" y="1417320"/>
            <a:ext cx="3246120" cy="777240"/>
          </a:xfrm>
          <a:prstGeom prst="rect">
            <a:avLst/>
          </a:prstGeom>
          <a:noFill/>
        </p:spPr>
        <p:txBody>
          <a:bodyPr wrap="square" lIns="0" tIns="0" rIns="0" bIns="0" anchor="ctr">
            <a:noAutofit/>
          </a:bodyPr>
          <a:lstStyle/>
          <a:p>
            <a:pPr algn="ctr" marL="0" indent="0">
              <a:spcAft>
                <a:spcPts val="400"/>
              </a:spcAft>
              <a:buNone/>
            </a:pPr>
            <a:r>
              <a:rPr sz="3000" b="1">
                <a:solidFill>
                  <a:srgbClr val="12A38A"/>
                </a:solidFill>
              </a:rPr>
              <a:t>−26%</a:t>
            </a:r>
          </a:p>
        </p:txBody>
      </p:sp>
      <p:sp>
        <p:nvSpPr>
          <p:cNvPr id="9" name="TextBox 8"/>
          <p:cNvSpPr txBox="1"/>
          <p:nvPr/>
        </p:nvSpPr>
        <p:spPr>
          <a:xfrm>
            <a:off x="5486400" y="2194560"/>
            <a:ext cx="3246120" cy="36576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推し疲れの誤差の減少</a:t>
            </a:r>
          </a:p>
        </p:txBody>
      </p:sp>
      <p:sp>
        <p:nvSpPr>
          <p:cNvPr id="10" name="Rounded Rectangle 9"/>
          <p:cNvSpPr/>
          <p:nvPr/>
        </p:nvSpPr>
        <p:spPr>
          <a:xfrm>
            <a:off x="5486400" y="2788920"/>
            <a:ext cx="3246120" cy="1280160"/>
          </a:xfrm>
          <a:prstGeom prst="roundRect">
            <a:avLst>
              <a:gd name="adj" fmla="val 857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0" y="2834639"/>
            <a:ext cx="3246120" cy="777240"/>
          </a:xfrm>
          <a:prstGeom prst="rect">
            <a:avLst/>
          </a:prstGeom>
          <a:noFill/>
        </p:spPr>
        <p:txBody>
          <a:bodyPr wrap="square" lIns="0" tIns="0" rIns="0" bIns="0" anchor="ctr">
            <a:noAutofit/>
          </a:bodyPr>
          <a:lstStyle/>
          <a:p>
            <a:pPr algn="ctr" marL="0" indent="0">
              <a:spcAft>
                <a:spcPts val="400"/>
              </a:spcAft>
              <a:buNone/>
            </a:pPr>
            <a:r>
              <a:rPr sz="3000" b="1">
                <a:solidFill>
                  <a:srgbClr val="12A38A"/>
                </a:solidFill>
              </a:rPr>
              <a:t>76%</a:t>
            </a:r>
          </a:p>
        </p:txBody>
      </p:sp>
      <p:sp>
        <p:nvSpPr>
          <p:cNvPr id="12" name="TextBox 11"/>
          <p:cNvSpPr txBox="1"/>
          <p:nvPr/>
        </p:nvSpPr>
        <p:spPr>
          <a:xfrm>
            <a:off x="5486400" y="3611879"/>
            <a:ext cx="3246120" cy="365760"/>
          </a:xfrm>
          <a:prstGeom prst="rect">
            <a:avLst/>
          </a:prstGeom>
          <a:noFill/>
        </p:spPr>
        <p:txBody>
          <a:bodyPr wrap="square" lIns="0" tIns="0" rIns="0" bIns="0" anchor="t">
            <a:noAutofit/>
          </a:bodyPr>
          <a:lstStyle/>
          <a:p>
            <a:pPr algn="ctr" marL="0" indent="0">
              <a:spcAft>
                <a:spcPts val="400"/>
              </a:spcAft>
              <a:buNone/>
            </a:pPr>
            <a:r>
              <a:rPr sz="1200" b="0">
                <a:solidFill>
                  <a:srgbClr val="5A6676"/>
                </a:solidFill>
              </a:rPr>
              <a:t>80%区間に入った割合（推し疲れ）</a:t>
            </a:r>
          </a:p>
        </p:txBody>
      </p:sp>
      <p:sp>
        <p:nvSpPr>
          <p:cNvPr id="13" name="Rounded Rectangle 12"/>
          <p:cNvSpPr/>
          <p:nvPr/>
        </p:nvSpPr>
        <p:spPr>
          <a:xfrm>
            <a:off x="5486400" y="4251960"/>
            <a:ext cx="3246120" cy="1920240"/>
          </a:xfrm>
          <a:prstGeom prst="roundRect">
            <a:avLst>
              <a:gd name="adj" fmla="val 5714"/>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23560" y="4297680"/>
            <a:ext cx="2971800" cy="1828800"/>
          </a:xfrm>
          <a:prstGeom prst="rect">
            <a:avLst/>
          </a:prstGeom>
          <a:noFill/>
        </p:spPr>
        <p:txBody>
          <a:bodyPr wrap="square" lIns="0" tIns="0" rIns="0" bIns="0" anchor="ctr">
            <a:noAutofit/>
          </a:bodyPr>
          <a:lstStyle/>
          <a:p>
            <a:pPr algn="l" marL="0" indent="0">
              <a:spcAft>
                <a:spcPts val="300"/>
              </a:spcAft>
              <a:buNone/>
            </a:pPr>
            <a:r>
              <a:rPr sz="1400" b="1">
                <a:solidFill>
                  <a:srgbClr val="0B3C6E"/>
                </a:solidFill>
              </a:rPr>
              <a:t>予測区間はおおむね正直</a:t>
            </a:r>
          </a:p>
          <a:p>
            <a:pPr algn="l" marL="0" indent="0">
              <a:spcAft>
                <a:spcPts val="400"/>
              </a:spcAft>
              <a:buNone/>
            </a:pPr>
            <a:r>
              <a:rPr sz="1250" b="0">
                <a:solidFill>
                  <a:srgbClr val="24303F"/>
                </a:solidFill>
              </a:rPr>
              <a:t>ゆらぎアバターが示す幅は、実際の外れ方とほぼ一致した</a:t>
            </a:r>
          </a:p>
        </p:txBody>
      </p:sp>
      <p:sp>
        <p:nvSpPr>
          <p:cNvPr id="15" name="Rounded Rectangle 14"/>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結果 RQ2：提案の実行が増えた</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16</a:t>
            </a:fld>
          </a:p>
        </p:txBody>
      </p:sp>
      <p:graphicFrame>
        <p:nvGraphicFramePr>
          <p:cNvPr id="5" name="Chart 4"/>
          <p:cNvGraphicFramePr>
            <a:graphicFrameLocks noGrp="1"/>
          </p:cNvGraphicFramePr>
          <p:nvPr/>
        </p:nvGraphicFramePr>
        <p:xfrm>
          <a:off x="411480" y="1325880"/>
          <a:ext cx="5120640" cy="4297680"/>
        </p:xfrm>
        <a:graphic>
          <a:graphicData uri="http://schemas.openxmlformats.org/drawingml/2006/chart">
            <c:chart xmlns:c="http://schemas.openxmlformats.org/drawingml/2006/chart" r:id="rId2"/>
          </a:graphicData>
        </a:graphic>
      </p:graphicFrame>
      <p:sp>
        <p:nvSpPr>
          <p:cNvPr id="6" name="Rounded Rectangle 5"/>
          <p:cNvSpPr/>
          <p:nvPr/>
        </p:nvSpPr>
        <p:spPr>
          <a:xfrm>
            <a:off x="5715000" y="1371600"/>
            <a:ext cx="3017520" cy="2103120"/>
          </a:xfrm>
          <a:prstGeom prst="roundRect">
            <a:avLst>
              <a:gd name="adj" fmla="val 5217"/>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852160" y="1417320"/>
            <a:ext cx="2743200" cy="2011680"/>
          </a:xfrm>
          <a:prstGeom prst="rect">
            <a:avLst/>
          </a:prstGeom>
          <a:noFill/>
        </p:spPr>
        <p:txBody>
          <a:bodyPr wrap="square" lIns="0" tIns="0" rIns="0" bIns="0" anchor="ctr">
            <a:noAutofit/>
          </a:bodyPr>
          <a:lstStyle/>
          <a:p>
            <a:pPr algn="l" marL="0" indent="0">
              <a:spcAft>
                <a:spcPts val="200"/>
              </a:spcAft>
              <a:buNone/>
            </a:pPr>
            <a:r>
              <a:rPr sz="2800" b="1">
                <a:solidFill>
                  <a:srgbClr val="12A38A"/>
                </a:solidFill>
              </a:rPr>
              <a:t>OR = 1.71</a:t>
            </a:r>
          </a:p>
          <a:p>
            <a:pPr algn="l" marL="0" indent="0">
              <a:spcAft>
                <a:spcPts val="0"/>
              </a:spcAft>
              <a:buNone/>
            </a:pPr>
            <a:r>
              <a:rPr sz="1300" b="0">
                <a:solidFill>
                  <a:srgbClr val="24303F"/>
                </a:solidFill>
              </a:rPr>
              <a:t>95%CI 1.18〜2.48</a:t>
            </a:r>
          </a:p>
          <a:p>
            <a:pPr algn="l" marL="0" indent="0">
              <a:spcAft>
                <a:spcPts val="200"/>
              </a:spcAft>
              <a:buNone/>
            </a:pPr>
            <a:r>
              <a:rPr sz="1300" b="0">
                <a:solidFill>
                  <a:srgbClr val="24303F"/>
                </a:solidFill>
              </a:rPr>
              <a:t>p = .005</a:t>
            </a:r>
          </a:p>
          <a:p>
            <a:pPr algn="l" marL="0" indent="0">
              <a:spcAft>
                <a:spcPts val="400"/>
              </a:spcAft>
              <a:buNone/>
            </a:pPr>
            <a:r>
              <a:rPr sz="1100" b="0">
                <a:solidFill>
                  <a:srgbClr val="5A6676"/>
                </a:solidFill>
              </a:rPr>
              <a:t>ロジスティック混合モデル</a:t>
            </a:r>
          </a:p>
        </p:txBody>
      </p:sp>
      <p:sp>
        <p:nvSpPr>
          <p:cNvPr id="8" name="Rounded Rectangle 7"/>
          <p:cNvSpPr/>
          <p:nvPr/>
        </p:nvSpPr>
        <p:spPr>
          <a:xfrm>
            <a:off x="5715000" y="3657600"/>
            <a:ext cx="3017520" cy="2514600"/>
          </a:xfrm>
          <a:prstGeom prst="roundRect">
            <a:avLst>
              <a:gd name="adj" fmla="val 4363"/>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852160" y="3703320"/>
            <a:ext cx="2743200" cy="2423160"/>
          </a:xfrm>
          <a:prstGeom prst="rect">
            <a:avLst/>
          </a:prstGeom>
          <a:noFill/>
        </p:spPr>
        <p:txBody>
          <a:bodyPr wrap="square" lIns="0" tIns="0" rIns="0" bIns="0" anchor="ctr">
            <a:noAutofit/>
          </a:bodyPr>
          <a:lstStyle/>
          <a:p>
            <a:pPr algn="l" marL="0" indent="0">
              <a:spcAft>
                <a:spcPts val="400"/>
              </a:spcAft>
              <a:buNone/>
            </a:pPr>
            <a:r>
              <a:rPr sz="1400" b="1">
                <a:solidFill>
                  <a:srgbClr val="0B3C6E"/>
                </a:solidFill>
              </a:rPr>
              <a:t>同じ提案でも、見せ方で実行が変わる</a:t>
            </a:r>
          </a:p>
          <a:p>
            <a:pPr algn="l" marL="0" indent="0">
              <a:spcAft>
                <a:spcPts val="400"/>
              </a:spcAft>
              <a:buNone/>
            </a:pPr>
            <a:r>
              <a:rPr sz="1250" b="0">
                <a:solidFill>
                  <a:srgbClr val="24303F"/>
                </a:solidFill>
              </a:rPr>
              <a:t>群Cは週を追っても下がり方がゆるやかで、6週でも57%が実行</a:t>
            </a:r>
          </a:p>
        </p:txBody>
      </p:sp>
      <p:sp>
        <p:nvSpPr>
          <p:cNvPr id="10" name="Rounded Rectangle 9"/>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結果 RQ3：WHO-5 の変化</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17</a:t>
            </a:fld>
          </a:p>
        </p:txBody>
      </p:sp>
      <p:graphicFrame>
        <p:nvGraphicFramePr>
          <p:cNvPr id="5" name="Chart 4"/>
          <p:cNvGraphicFramePr>
            <a:graphicFrameLocks noGrp="1"/>
          </p:cNvGraphicFramePr>
          <p:nvPr/>
        </p:nvGraphicFramePr>
        <p:xfrm>
          <a:off x="411480" y="1325880"/>
          <a:ext cx="3977639" cy="4297680"/>
        </p:xfrm>
        <a:graphic>
          <a:graphicData uri="http://schemas.openxmlformats.org/drawingml/2006/chart">
            <c:chart xmlns:c="http://schemas.openxmlformats.org/drawingml/2006/chart" r:id="rId2"/>
          </a:graphicData>
        </a:graphic>
      </p:graphicFrame>
      <p:graphicFrame>
        <p:nvGraphicFramePr>
          <p:cNvPr id="6" name="Table 5"/>
          <p:cNvGraphicFramePr>
            <a:graphicFrameLocks noGrp="1"/>
          </p:cNvGraphicFramePr>
          <p:nvPr/>
        </p:nvGraphicFramePr>
        <p:xfrm>
          <a:off x="4526280" y="1371600"/>
          <a:ext cx="4206240" cy="2011680"/>
        </p:xfrm>
        <a:graphic>
          <a:graphicData uri="http://schemas.openxmlformats.org/drawingml/2006/table">
            <a:tbl>
              <a:tblPr>
                <a:tableStyleId>{5940675A-B579-460E-94D1-54222C63F5DA}</a:tableStyleId>
              </a:tblPr>
              <a:tblGrid>
                <a:gridCol w="1234440"/>
                <a:gridCol w="868680"/>
                <a:gridCol w="1188720"/>
                <a:gridCol w="914400"/>
              </a:tblGrid>
              <a:tr h="502920">
                <a:tc>
                  <a:txBody>
                    <a:bodyPr wrap="square" lIns="64008" tIns="27432" rIns="64008" bIns="27432" anchor="ctr">
                      <a:noAutofit/>
                    </a:bodyPr>
                    <a:lstStyle/>
                    <a:p>
                      <a:pPr algn="l" marL="0" indent="0">
                        <a:spcAft>
                          <a:spcPts val="0"/>
                        </a:spcAft>
                        <a:buNone/>
                      </a:pPr>
                      <a:r>
                        <a:rPr sz="1000" b="1">
                          <a:solidFill>
                            <a:srgbClr val="FFFFFF"/>
                          </a:solidFill>
                        </a:rPr>
                        <a:t>比較</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000" b="1">
                          <a:solidFill>
                            <a:srgbClr val="FFFFFF"/>
                          </a:solidFill>
                        </a:rPr>
                        <a:t>調整済みの差</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000" b="1">
                          <a:solidFill>
                            <a:srgbClr val="FFFFFF"/>
                          </a:solidFill>
                        </a:rPr>
                        <a:t>95%信頼区間</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ctr" marL="0" indent="0">
                        <a:spcAft>
                          <a:spcPts val="0"/>
                        </a:spcAft>
                        <a:buNone/>
                      </a:pPr>
                      <a:r>
                        <a:rPr sz="1000" b="1">
                          <a:solidFill>
                            <a:srgbClr val="FFFFFF"/>
                          </a:solidFill>
                        </a:rPr>
                        <a:t>p（Holm 補正後）</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02920">
                <a:tc>
                  <a:txBody>
                    <a:bodyPr wrap="square" lIns="64008" tIns="27432" rIns="64008" bIns="27432" anchor="ctr">
                      <a:noAutofit/>
                    </a:bodyPr>
                    <a:lstStyle/>
                    <a:p>
                      <a:pPr algn="l" marL="0" indent="0">
                        <a:spcAft>
                          <a:spcPts val="0"/>
                        </a:spcAft>
                        <a:buNone/>
                      </a:pPr>
                      <a:r>
                        <a:rPr sz="1050" b="1">
                          <a:solidFill>
                            <a:srgbClr val="24303F"/>
                          </a:solidFill>
                        </a:rPr>
                        <a:t>C − B（主要）</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050" b="0">
                          <a:solidFill>
                            <a:srgbClr val="24303F"/>
                          </a:solidFill>
                        </a:rPr>
                        <a:t>+0.9</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050" b="0">
                          <a:solidFill>
                            <a:srgbClr val="24303F"/>
                          </a:solidFill>
                        </a:rPr>
                        <a:t>−0.1 〜 +1.9</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050" b="0">
                          <a:solidFill>
                            <a:srgbClr val="24303F"/>
                          </a:solidFill>
                        </a:rPr>
                        <a:t>.08（.16）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r h="502920">
                <a:tc>
                  <a:txBody>
                    <a:bodyPr wrap="square" lIns="64008" tIns="27432" rIns="64008" bIns="27432" anchor="ctr">
                      <a:noAutofit/>
                    </a:bodyPr>
                    <a:lstStyle/>
                    <a:p>
                      <a:pPr algn="l" marL="0" indent="0">
                        <a:spcAft>
                          <a:spcPts val="0"/>
                        </a:spcAft>
                        <a:buNone/>
                      </a:pPr>
                      <a:r>
                        <a:rPr sz="1050" b="1">
                          <a:solidFill>
                            <a:srgbClr val="24303F"/>
                          </a:solidFill>
                        </a:rPr>
                        <a:t>B − A（主要）</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050" b="0">
                          <a:solidFill>
                            <a:srgbClr val="24303F"/>
                          </a:solidFill>
                        </a:rPr>
                        <a:t>+0.8</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050" b="0">
                          <a:solidFill>
                            <a:srgbClr val="24303F"/>
                          </a:solidFill>
                        </a:rPr>
                        <a:t>−0.2 〜 +1.8</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ctr" marL="0" indent="0">
                        <a:spcAft>
                          <a:spcPts val="0"/>
                        </a:spcAft>
                        <a:buNone/>
                      </a:pPr>
                      <a:r>
                        <a:rPr sz="1050" b="0">
                          <a:solidFill>
                            <a:srgbClr val="24303F"/>
                          </a:solidFill>
                        </a:rPr>
                        <a:t>.12（.16）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r>
              <a:tr h="502920">
                <a:tc>
                  <a:txBody>
                    <a:bodyPr wrap="square" lIns="64008" tIns="27432" rIns="64008" bIns="27432" anchor="ctr">
                      <a:noAutofit/>
                    </a:bodyPr>
                    <a:lstStyle/>
                    <a:p>
                      <a:pPr algn="l" marL="0" indent="0">
                        <a:spcAft>
                          <a:spcPts val="0"/>
                        </a:spcAft>
                        <a:buNone/>
                      </a:pPr>
                      <a:r>
                        <a:rPr sz="1050" b="1">
                          <a:solidFill>
                            <a:srgbClr val="24303F"/>
                          </a:solidFill>
                        </a:rPr>
                        <a:t>C − A（探索的）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050" b="0">
                          <a:solidFill>
                            <a:srgbClr val="24303F"/>
                          </a:solidFill>
                        </a:rPr>
                        <a:t>+1.7</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050" b="0">
                          <a:solidFill>
                            <a:srgbClr val="24303F"/>
                          </a:solidFill>
                        </a:rPr>
                        <a:t>+0.7 〜 +2.7</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ctr" marL="0" indent="0">
                        <a:spcAft>
                          <a:spcPts val="0"/>
                        </a:spcAft>
                        <a:buNone/>
                      </a:pPr>
                      <a:r>
                        <a:rPr sz="1050" b="0">
                          <a:solidFill>
                            <a:srgbClr val="24303F"/>
                          </a:solidFill>
                        </a:rPr>
                        <a:t>.001</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r>
            </a:tbl>
          </a:graphicData>
        </a:graphic>
      </p:graphicFrame>
      <p:sp>
        <p:nvSpPr>
          <p:cNvPr id="7" name="TextBox 6"/>
          <p:cNvSpPr txBox="1"/>
          <p:nvPr/>
        </p:nvSpPr>
        <p:spPr>
          <a:xfrm>
            <a:off x="4526280" y="3429000"/>
            <a:ext cx="4206240" cy="274320"/>
          </a:xfrm>
          <a:prstGeom prst="rect">
            <a:avLst/>
          </a:prstGeom>
          <a:noFill/>
        </p:spPr>
        <p:txBody>
          <a:bodyPr wrap="square" lIns="0" tIns="0" rIns="0" bIns="0" anchor="t">
            <a:noAutofit/>
          </a:bodyPr>
          <a:lstStyle/>
          <a:p>
            <a:pPr algn="l" marL="0" indent="0">
              <a:spcAft>
                <a:spcPts val="400"/>
              </a:spcAft>
              <a:buNone/>
            </a:pPr>
            <a:r>
              <a:rPr sz="1050" b="0">
                <a:solidFill>
                  <a:srgbClr val="5A6676"/>
                </a:solidFill>
              </a:rPr>
              <a:t>共分散分析（2週の WHO-5 を共変量）</a:t>
            </a:r>
          </a:p>
        </p:txBody>
      </p:sp>
      <p:sp>
        <p:nvSpPr>
          <p:cNvPr id="8" name="Rounded Rectangle 7"/>
          <p:cNvSpPr/>
          <p:nvPr/>
        </p:nvSpPr>
        <p:spPr>
          <a:xfrm>
            <a:off x="4526280" y="3794760"/>
            <a:ext cx="4206240" cy="2377440"/>
          </a:xfrm>
          <a:prstGeom prst="roundRect">
            <a:avLst>
              <a:gd name="adj" fmla="val 4615"/>
            </a:avLst>
          </a:prstGeom>
          <a:solidFill>
            <a:srgbClr val="FF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63440" y="3840480"/>
            <a:ext cx="3931920" cy="2286000"/>
          </a:xfrm>
          <a:prstGeom prst="rect">
            <a:avLst/>
          </a:prstGeom>
          <a:noFill/>
        </p:spPr>
        <p:txBody>
          <a:bodyPr wrap="square" lIns="0" tIns="0" rIns="0" bIns="0" anchor="ctr">
            <a:noAutofit/>
          </a:bodyPr>
          <a:lstStyle/>
          <a:p>
            <a:pPr algn="l" marL="0" indent="0">
              <a:spcAft>
                <a:spcPts val="400"/>
              </a:spcAft>
              <a:buNone/>
            </a:pPr>
            <a:r>
              <a:rPr sz="1450" b="1">
                <a:solidFill>
                  <a:srgbClr val="E07A10"/>
                </a:solidFill>
              </a:rPr>
              <a:t>主要な比較では有意差なし</a:t>
            </a:r>
          </a:p>
          <a:p>
            <a:pPr algn="l" marL="182880" indent="-182880">
              <a:spcAft>
                <a:spcPts val="400"/>
              </a:spcAft>
              <a:buClr>
                <a:srgbClr val="E07A10"/>
              </a:buClr>
              <a:buFont typeface="Arial"/>
              <a:buChar char="•"/>
            </a:pPr>
            <a:r>
              <a:rPr sz="1250" b="0">
                <a:solidFill>
                  <a:srgbClr val="24303F"/>
                </a:solidFill>
              </a:rPr>
              <a:t>群Cは記録のみの群Aより +1.7 点（探索的）</a:t>
            </a:r>
          </a:p>
          <a:p>
            <a:pPr algn="l" marL="182880" indent="-182880">
              <a:spcAft>
                <a:spcPts val="400"/>
              </a:spcAft>
              <a:buClr>
                <a:srgbClr val="E07A10"/>
              </a:buClr>
              <a:buFont typeface="Arial"/>
              <a:buChar char="•"/>
            </a:pPr>
            <a:r>
              <a:rPr sz="1250" b="0">
                <a:solidFill>
                  <a:srgbClr val="24303F"/>
                </a:solidFill>
              </a:rPr>
              <a:t>群C−群B は d ≈ 0.2。中程度の差を想定した人数では検出力が不足</a:t>
            </a:r>
          </a:p>
        </p:txBody>
      </p:sp>
      <p:sp>
        <p:nvSpPr>
          <p:cNvPr id="10" name="Rounded Rectangle 9"/>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副次的な結果：疲れの中身・楽しさ・記録</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18</a:t>
            </a:fld>
          </a:p>
        </p:txBody>
      </p:sp>
      <p:graphicFrame>
        <p:nvGraphicFramePr>
          <p:cNvPr id="5" name="Chart 4"/>
          <p:cNvGraphicFramePr>
            <a:graphicFrameLocks noGrp="1"/>
          </p:cNvGraphicFramePr>
          <p:nvPr/>
        </p:nvGraphicFramePr>
        <p:xfrm>
          <a:off x="411480" y="1325880"/>
          <a:ext cx="4206240" cy="356616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4709160" y="1325880"/>
          <a:ext cx="4023360" cy="3566160"/>
        </p:xfrm>
        <a:graphic>
          <a:graphicData uri="http://schemas.openxmlformats.org/drawingml/2006/chart">
            <c:chart xmlns:c="http://schemas.openxmlformats.org/drawingml/2006/chart" r:id="rId3"/>
          </a:graphicData>
        </a:graphic>
      </p:graphicFrame>
      <p:sp>
        <p:nvSpPr>
          <p:cNvPr id="7" name="Rounded Rectangle 6"/>
          <p:cNvSpPr/>
          <p:nvPr/>
        </p:nvSpPr>
        <p:spPr>
          <a:xfrm>
            <a:off x="411480" y="5029200"/>
            <a:ext cx="2697480" cy="1143000"/>
          </a:xfrm>
          <a:prstGeom prst="roundRect">
            <a:avLst>
              <a:gd name="adj" fmla="val 96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2423160" cy="1051560"/>
          </a:xfrm>
          <a:prstGeom prst="rect">
            <a:avLst/>
          </a:prstGeom>
          <a:noFill/>
        </p:spPr>
        <p:txBody>
          <a:bodyPr wrap="square" lIns="0" tIns="0" rIns="0" bIns="0" anchor="ctr">
            <a:noAutofit/>
          </a:bodyPr>
          <a:lstStyle/>
          <a:p>
            <a:pPr algn="l" marL="0" indent="0">
              <a:spcAft>
                <a:spcPts val="200"/>
              </a:spcAft>
              <a:buNone/>
            </a:pPr>
            <a:r>
              <a:rPr sz="1350" b="1">
                <a:solidFill>
                  <a:srgbClr val="12A38A"/>
                </a:solidFill>
              </a:rPr>
              <a:t>睡眠・出費の疲れが減少</a:t>
            </a:r>
          </a:p>
          <a:p>
            <a:pPr algn="l" marL="0" indent="0">
              <a:spcAft>
                <a:spcPts val="400"/>
              </a:spcAft>
              <a:buNone/>
            </a:pPr>
            <a:r>
              <a:rPr sz="1150" b="0">
                <a:solidFill>
                  <a:srgbClr val="24303F"/>
                </a:solidFill>
              </a:rPr>
              <a:t>群Cで最も大きい。比較の疲れは変化なし</a:t>
            </a:r>
          </a:p>
        </p:txBody>
      </p:sp>
      <p:sp>
        <p:nvSpPr>
          <p:cNvPr id="9" name="Rounded Rectangle 8"/>
          <p:cNvSpPr/>
          <p:nvPr/>
        </p:nvSpPr>
        <p:spPr>
          <a:xfrm>
            <a:off x="3218688" y="5029200"/>
            <a:ext cx="2697480" cy="1143000"/>
          </a:xfrm>
          <a:prstGeom prst="roundRect">
            <a:avLst>
              <a:gd name="adj" fmla="val 96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55848" y="5074920"/>
            <a:ext cx="2423160" cy="1051560"/>
          </a:xfrm>
          <a:prstGeom prst="rect">
            <a:avLst/>
          </a:prstGeom>
          <a:noFill/>
        </p:spPr>
        <p:txBody>
          <a:bodyPr wrap="square" lIns="0" tIns="0" rIns="0" bIns="0" anchor="ctr">
            <a:noAutofit/>
          </a:bodyPr>
          <a:lstStyle/>
          <a:p>
            <a:pPr algn="l" marL="0" indent="0">
              <a:spcAft>
                <a:spcPts val="200"/>
              </a:spcAft>
              <a:buNone/>
            </a:pPr>
            <a:r>
              <a:rPr sz="1350" b="1">
                <a:solidFill>
                  <a:srgbClr val="0099FF"/>
                </a:solidFill>
              </a:rPr>
              <a:t>楽しさは維持</a:t>
            </a:r>
          </a:p>
          <a:p>
            <a:pPr algn="l" marL="0" indent="0">
              <a:spcAft>
                <a:spcPts val="400"/>
              </a:spcAft>
              <a:buNone/>
            </a:pPr>
            <a:r>
              <a:rPr sz="1150" b="0">
                <a:solidFill>
                  <a:srgbClr val="24303F"/>
                </a:solidFill>
              </a:rPr>
              <a:t>3群とも 3.8〜3.9 のまま</a:t>
            </a:r>
          </a:p>
        </p:txBody>
      </p:sp>
      <p:sp>
        <p:nvSpPr>
          <p:cNvPr id="11" name="Rounded Rectangle 10"/>
          <p:cNvSpPr/>
          <p:nvPr/>
        </p:nvSpPr>
        <p:spPr>
          <a:xfrm>
            <a:off x="6025896" y="5029200"/>
            <a:ext cx="2697480" cy="1143000"/>
          </a:xfrm>
          <a:prstGeom prst="roundRect">
            <a:avLst>
              <a:gd name="adj" fmla="val 96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63056" y="5074920"/>
            <a:ext cx="2423160" cy="1051560"/>
          </a:xfrm>
          <a:prstGeom prst="rect">
            <a:avLst/>
          </a:prstGeom>
          <a:noFill/>
        </p:spPr>
        <p:txBody>
          <a:bodyPr wrap="square" lIns="0" tIns="0" rIns="0" bIns="0" anchor="ctr">
            <a:noAutofit/>
          </a:bodyPr>
          <a:lstStyle/>
          <a:p>
            <a:pPr algn="l" marL="0" indent="0">
              <a:spcAft>
                <a:spcPts val="200"/>
              </a:spcAft>
              <a:buNone/>
            </a:pPr>
            <a:r>
              <a:rPr sz="1350" b="1">
                <a:solidFill>
                  <a:srgbClr val="0B3C6E"/>
                </a:solidFill>
              </a:rPr>
              <a:t>記録が続く</a:t>
            </a:r>
          </a:p>
          <a:p>
            <a:pPr algn="l" marL="0" indent="0">
              <a:spcAft>
                <a:spcPts val="400"/>
              </a:spcAft>
              <a:buNone/>
            </a:pPr>
            <a:r>
              <a:rPr sz="1150" b="0">
                <a:solidFill>
                  <a:srgbClr val="24303F"/>
                </a:solidFill>
              </a:rPr>
              <a:t>群Cは6週でも83%（探索的）</a:t>
            </a:r>
          </a:p>
        </p:txBody>
      </p:sp>
      <p:sp>
        <p:nvSpPr>
          <p:cNvPr id="13" name="Rounded Rectangle 12"/>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想定値：実データで差し替え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考察</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19</a:t>
            </a:fld>
          </a:p>
        </p:txBody>
      </p:sp>
      <p:sp>
        <p:nvSpPr>
          <p:cNvPr id="5" name="Rounded Rectangle 4"/>
          <p:cNvSpPr/>
          <p:nvPr/>
        </p:nvSpPr>
        <p:spPr>
          <a:xfrm>
            <a:off x="411480" y="1417320"/>
            <a:ext cx="4069080" cy="1965960"/>
          </a:xfrm>
          <a:prstGeom prst="roundRect">
            <a:avLst>
              <a:gd name="adj" fmla="val 465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56362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mirror_w.png"/>
          <p:cNvPicPr>
            <a:picLocks noChangeAspect="1"/>
          </p:cNvPicPr>
          <p:nvPr/>
        </p:nvPicPr>
        <p:blipFill>
          <a:blip r:embed="rId2"/>
          <a:stretch>
            <a:fillRect/>
          </a:stretch>
        </p:blipFill>
        <p:spPr>
          <a:xfrm>
            <a:off x="667512" y="1673352"/>
            <a:ext cx="237744" cy="237744"/>
          </a:xfrm>
          <a:prstGeom prst="rect">
            <a:avLst/>
          </a:prstGeom>
        </p:spPr>
      </p:pic>
      <p:sp>
        <p:nvSpPr>
          <p:cNvPr id="8" name="TextBox 7"/>
          <p:cNvSpPr txBox="1"/>
          <p:nvPr/>
        </p:nvSpPr>
        <p:spPr>
          <a:xfrm>
            <a:off x="112471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見せ方が行動を変えた</a:t>
            </a:r>
          </a:p>
        </p:txBody>
      </p:sp>
      <p:sp>
        <p:nvSpPr>
          <p:cNvPr id="9" name="TextBox 8"/>
          <p:cNvSpPr txBox="1"/>
          <p:nvPr/>
        </p:nvSpPr>
        <p:spPr>
          <a:xfrm>
            <a:off x="576072" y="2112264"/>
            <a:ext cx="3776472" cy="1179575"/>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提案の中身は同じでも、自分に似たアバターで将来を見ると実行が増えた。未来の自分とのつながり感も群Cで高い</a:t>
            </a:r>
          </a:p>
        </p:txBody>
      </p:sp>
      <p:sp>
        <p:nvSpPr>
          <p:cNvPr id="10" name="Rounded Rectangle 9"/>
          <p:cNvSpPr/>
          <p:nvPr/>
        </p:nvSpPr>
        <p:spPr>
          <a:xfrm>
            <a:off x="4663440" y="1417320"/>
            <a:ext cx="4069080" cy="1965960"/>
          </a:xfrm>
          <a:prstGeom prst="roundRect">
            <a:avLst>
              <a:gd name="adj" fmla="val 465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09744" y="1563624"/>
            <a:ext cx="457200" cy="4572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scale_w.png"/>
          <p:cNvPicPr>
            <a:picLocks noChangeAspect="1"/>
          </p:cNvPicPr>
          <p:nvPr/>
        </p:nvPicPr>
        <p:blipFill>
          <a:blip r:embed="rId3"/>
          <a:stretch>
            <a:fillRect/>
          </a:stretch>
        </p:blipFill>
        <p:spPr>
          <a:xfrm>
            <a:off x="4919472" y="1673352"/>
            <a:ext cx="237744" cy="237744"/>
          </a:xfrm>
          <a:prstGeom prst="rect">
            <a:avLst/>
          </a:prstGeom>
        </p:spPr>
      </p:pic>
      <p:sp>
        <p:nvSpPr>
          <p:cNvPr id="13" name="TextBox 12"/>
          <p:cNvSpPr txBox="1"/>
          <p:nvPr/>
        </p:nvSpPr>
        <p:spPr>
          <a:xfrm>
            <a:off x="537667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「組み替え」は楽しさを損なわない</a:t>
            </a:r>
          </a:p>
        </p:txBody>
      </p:sp>
      <p:sp>
        <p:nvSpPr>
          <p:cNvPr id="14" name="TextBox 13"/>
          <p:cNvSpPr txBox="1"/>
          <p:nvPr/>
        </p:nvSpPr>
        <p:spPr>
          <a:xfrm>
            <a:off x="4828032" y="2112264"/>
            <a:ext cx="3776472" cy="1179575"/>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疲れは減り、楽しさは保たれた。一律に減らす支援とは異なる支え方</a:t>
            </a:r>
          </a:p>
        </p:txBody>
      </p:sp>
      <p:sp>
        <p:nvSpPr>
          <p:cNvPr id="15" name="Rounded Rectangle 14"/>
          <p:cNvSpPr/>
          <p:nvPr/>
        </p:nvSpPr>
        <p:spPr>
          <a:xfrm>
            <a:off x="411480" y="3520439"/>
            <a:ext cx="4069080" cy="1965960"/>
          </a:xfrm>
          <a:prstGeom prst="roundRect">
            <a:avLst>
              <a:gd name="adj" fmla="val 465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57784" y="366674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hourglass_w.png"/>
          <p:cNvPicPr>
            <a:picLocks noChangeAspect="1"/>
          </p:cNvPicPr>
          <p:nvPr/>
        </p:nvPicPr>
        <p:blipFill>
          <a:blip r:embed="rId4"/>
          <a:stretch>
            <a:fillRect/>
          </a:stretch>
        </p:blipFill>
        <p:spPr>
          <a:xfrm>
            <a:off x="667512" y="3776472"/>
            <a:ext cx="237744" cy="237744"/>
          </a:xfrm>
          <a:prstGeom prst="rect">
            <a:avLst/>
          </a:prstGeom>
        </p:spPr>
      </p:pic>
      <p:sp>
        <p:nvSpPr>
          <p:cNvPr id="18" name="TextBox 17"/>
          <p:cNvSpPr txBox="1"/>
          <p:nvPr/>
        </p:nvSpPr>
        <p:spPr>
          <a:xfrm>
            <a:off x="1124712" y="3639311"/>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ウェルビーイングへの効果は小さい</a:t>
            </a:r>
          </a:p>
        </p:txBody>
      </p:sp>
      <p:sp>
        <p:nvSpPr>
          <p:cNvPr id="19" name="TextBox 18"/>
          <p:cNvSpPr txBox="1"/>
          <p:nvPr/>
        </p:nvSpPr>
        <p:spPr>
          <a:xfrm>
            <a:off x="576072" y="4215383"/>
            <a:ext cx="3776472" cy="117957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6週間は習慣の定着（中央値66日：Lally et al., 2010）より短い。効果量 d ≈ 0.2 を前提にした規模が必要</a:t>
            </a:r>
          </a:p>
        </p:txBody>
      </p:sp>
      <p:sp>
        <p:nvSpPr>
          <p:cNvPr id="20" name="Rounded Rectangle 19"/>
          <p:cNvSpPr/>
          <p:nvPr/>
        </p:nvSpPr>
        <p:spPr>
          <a:xfrm>
            <a:off x="4663440" y="3520439"/>
            <a:ext cx="4069080" cy="1965960"/>
          </a:xfrm>
          <a:prstGeom prst="roundRect">
            <a:avLst>
              <a:gd name="adj" fmla="val 465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09744" y="3666744"/>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shield_w.png"/>
          <p:cNvPicPr>
            <a:picLocks noChangeAspect="1"/>
          </p:cNvPicPr>
          <p:nvPr/>
        </p:nvPicPr>
        <p:blipFill>
          <a:blip r:embed="rId5"/>
          <a:stretch>
            <a:fillRect/>
          </a:stretch>
        </p:blipFill>
        <p:spPr>
          <a:xfrm>
            <a:off x="4919472" y="3776472"/>
            <a:ext cx="237744" cy="237744"/>
          </a:xfrm>
          <a:prstGeom prst="rect">
            <a:avLst/>
          </a:prstGeom>
        </p:spPr>
      </p:pic>
      <p:sp>
        <p:nvSpPr>
          <p:cNvPr id="23" name="TextBox 22"/>
          <p:cNvSpPr txBox="1"/>
          <p:nvPr/>
        </p:nvSpPr>
        <p:spPr>
          <a:xfrm>
            <a:off x="5376672" y="3639311"/>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不確かさの提示は安全に使える</a:t>
            </a:r>
          </a:p>
        </p:txBody>
      </p:sp>
      <p:sp>
        <p:nvSpPr>
          <p:cNvPr id="24" name="TextBox 23"/>
          <p:cNvSpPr txBox="1"/>
          <p:nvPr/>
        </p:nvSpPr>
        <p:spPr>
          <a:xfrm>
            <a:off x="4828032" y="4215383"/>
            <a:ext cx="3776472" cy="117957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区間はおおむね正直で、予測を見た後の不安は群Bと同程度</a:t>
            </a:r>
          </a:p>
        </p:txBody>
      </p:sp>
      <p:sp>
        <p:nvSpPr>
          <p:cNvPr id="25" name="Rounded Rectangle 24"/>
          <p:cNvSpPr/>
          <p:nvPr/>
        </p:nvSpPr>
        <p:spPr>
          <a:xfrm>
            <a:off x="411480" y="5669280"/>
            <a:ext cx="8321040" cy="502920"/>
          </a:xfrm>
          <a:prstGeom prst="roundRect">
            <a:avLst>
              <a:gd name="adj" fmla="val 18181"/>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300" b="1">
                <a:solidFill>
                  <a:srgbClr val="FFFFFF"/>
                </a:solidFill>
              </a:rPr>
              <a:t>貢献：同じ提案でも「見せ方」で実行を高められること、不確かさを見せても安全なことを示した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限界と今後の課題</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20</a:t>
            </a:fld>
          </a:p>
        </p:txBody>
      </p:sp>
      <p:sp>
        <p:nvSpPr>
          <p:cNvPr id="5" name="Rounded Rectangle 4"/>
          <p:cNvSpPr/>
          <p:nvPr/>
        </p:nvSpPr>
        <p:spPr>
          <a:xfrm>
            <a:off x="411480" y="141732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users_w.png"/>
          <p:cNvPicPr>
            <a:picLocks noChangeAspect="1"/>
          </p:cNvPicPr>
          <p:nvPr/>
        </p:nvPicPr>
        <p:blipFill>
          <a:blip r:embed="rId2"/>
          <a:stretch>
            <a:fillRect/>
          </a:stretch>
        </p:blipFill>
        <p:spPr>
          <a:xfrm>
            <a:off x="667512" y="1673352"/>
            <a:ext cx="237744" cy="237744"/>
          </a:xfrm>
          <a:prstGeom prst="rect">
            <a:avLst/>
          </a:prstGeom>
        </p:spPr>
      </p:pic>
      <p:sp>
        <p:nvSpPr>
          <p:cNvPr id="8" name="TextBox 7"/>
          <p:cNvSpPr txBox="1"/>
          <p:nvPr/>
        </p:nvSpPr>
        <p:spPr>
          <a:xfrm>
            <a:off x="112471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期間と規模</a:t>
            </a:r>
          </a:p>
        </p:txBody>
      </p:sp>
      <p:sp>
        <p:nvSpPr>
          <p:cNvPr id="9" name="TextBox 8"/>
          <p:cNvSpPr txBox="1"/>
          <p:nvPr/>
        </p:nvSpPr>
        <p:spPr>
          <a:xfrm>
            <a:off x="576072" y="211226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6週間・1群約65名。d ≈ 0.2 の差を検出するには、共変量を入れても1群250名以上が必要</a:t>
            </a:r>
          </a:p>
        </p:txBody>
      </p:sp>
      <p:sp>
        <p:nvSpPr>
          <p:cNvPr id="10" name="Rounded Rectangle 9"/>
          <p:cNvSpPr/>
          <p:nvPr/>
        </p:nvSpPr>
        <p:spPr>
          <a:xfrm>
            <a:off x="4663440" y="141732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0974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layers_w.png"/>
          <p:cNvPicPr>
            <a:picLocks noChangeAspect="1"/>
          </p:cNvPicPr>
          <p:nvPr/>
        </p:nvPicPr>
        <p:blipFill>
          <a:blip r:embed="rId3"/>
          <a:stretch>
            <a:fillRect/>
          </a:stretch>
        </p:blipFill>
        <p:spPr>
          <a:xfrm>
            <a:off x="4919472" y="1673352"/>
            <a:ext cx="237744" cy="237744"/>
          </a:xfrm>
          <a:prstGeom prst="rect">
            <a:avLst/>
          </a:prstGeom>
        </p:spPr>
      </p:pic>
      <p:sp>
        <p:nvSpPr>
          <p:cNvPr id="13" name="TextBox 12"/>
          <p:cNvSpPr txBox="1"/>
          <p:nvPr/>
        </p:nvSpPr>
        <p:spPr>
          <a:xfrm>
            <a:off x="537667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要素の切り分け</a:t>
            </a:r>
          </a:p>
        </p:txBody>
      </p:sp>
      <p:sp>
        <p:nvSpPr>
          <p:cNvPr id="14" name="TextBox 13"/>
          <p:cNvSpPr txBox="1"/>
          <p:nvPr/>
        </p:nvSpPr>
        <p:spPr>
          <a:xfrm>
            <a:off x="4828032" y="211226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群Cはアバターと点の表示の両方を見た。どちらが効いたかは分からない</a:t>
            </a:r>
          </a:p>
        </p:txBody>
      </p:sp>
      <p:sp>
        <p:nvSpPr>
          <p:cNvPr id="15" name="Rounded Rectangle 14"/>
          <p:cNvSpPr/>
          <p:nvPr/>
        </p:nvSpPr>
        <p:spPr>
          <a:xfrm>
            <a:off x="411480" y="310896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57784" y="325526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pen_w.png"/>
          <p:cNvPicPr>
            <a:picLocks noChangeAspect="1"/>
          </p:cNvPicPr>
          <p:nvPr/>
        </p:nvPicPr>
        <p:blipFill>
          <a:blip r:embed="rId4"/>
          <a:stretch>
            <a:fillRect/>
          </a:stretch>
        </p:blipFill>
        <p:spPr>
          <a:xfrm>
            <a:off x="667512" y="3364992"/>
            <a:ext cx="237744" cy="237744"/>
          </a:xfrm>
          <a:prstGeom prst="rect">
            <a:avLst/>
          </a:prstGeom>
        </p:spPr>
      </p:pic>
      <p:sp>
        <p:nvSpPr>
          <p:cNvPr id="18" name="TextBox 17"/>
          <p:cNvSpPr txBox="1"/>
          <p:nvPr/>
        </p:nvSpPr>
        <p:spPr>
          <a:xfrm>
            <a:off x="1124712" y="322783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自己報告</a:t>
            </a:r>
          </a:p>
        </p:txBody>
      </p:sp>
      <p:sp>
        <p:nvSpPr>
          <p:cNvPr id="19" name="TextBox 18"/>
          <p:cNvSpPr txBox="1"/>
          <p:nvPr/>
        </p:nvSpPr>
        <p:spPr>
          <a:xfrm>
            <a:off x="576072" y="380390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記録とWHO-5は自己報告。心拍などの生理指標との組み合わせ（今井・大井, 2025）</a:t>
            </a:r>
          </a:p>
        </p:txBody>
      </p:sp>
      <p:sp>
        <p:nvSpPr>
          <p:cNvPr id="20" name="Rounded Rectangle 19"/>
          <p:cNvSpPr/>
          <p:nvPr/>
        </p:nvSpPr>
        <p:spPr>
          <a:xfrm>
            <a:off x="4663440" y="3108960"/>
            <a:ext cx="4069080" cy="1554480"/>
          </a:xfrm>
          <a:prstGeom prst="roundRect">
            <a:avLst>
              <a:gd name="adj" fmla="val 5882"/>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09744" y="325526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globe_w.png"/>
          <p:cNvPicPr>
            <a:picLocks noChangeAspect="1"/>
          </p:cNvPicPr>
          <p:nvPr/>
        </p:nvPicPr>
        <p:blipFill>
          <a:blip r:embed="rId5"/>
          <a:stretch>
            <a:fillRect/>
          </a:stretch>
        </p:blipFill>
        <p:spPr>
          <a:xfrm>
            <a:off x="4919472" y="3364992"/>
            <a:ext cx="237744" cy="237744"/>
          </a:xfrm>
          <a:prstGeom prst="rect">
            <a:avLst/>
          </a:prstGeom>
        </p:spPr>
      </p:pic>
      <p:sp>
        <p:nvSpPr>
          <p:cNvPr id="23" name="TextBox 22"/>
          <p:cNvSpPr txBox="1"/>
          <p:nvPr/>
        </p:nvSpPr>
        <p:spPr>
          <a:xfrm>
            <a:off x="5376672" y="322783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rPr>
              <a:t>参加者の偏り</a:t>
            </a:r>
          </a:p>
        </p:txBody>
      </p:sp>
      <p:sp>
        <p:nvSpPr>
          <p:cNvPr id="24" name="TextBox 23"/>
          <p:cNvSpPr txBox="1"/>
          <p:nvPr/>
        </p:nvSpPr>
        <p:spPr>
          <a:xfrm>
            <a:off x="4828032" y="3803904"/>
            <a:ext cx="3776472" cy="768096"/>
          </a:xfrm>
          <a:prstGeom prst="rect">
            <a:avLst/>
          </a:prstGeom>
          <a:noFill/>
        </p:spPr>
        <p:txBody>
          <a:bodyPr wrap="square" lIns="0" tIns="0" rIns="0" bIns="0" anchor="t">
            <a:noAutofit/>
          </a:bodyPr>
          <a:lstStyle/>
          <a:p>
            <a:pPr algn="l" marL="0" indent="0">
              <a:spcAft>
                <a:spcPts val="300"/>
              </a:spcAft>
              <a:buNone/>
            </a:pPr>
            <a:r>
              <a:rPr sz="1250" b="0">
                <a:solidFill>
                  <a:srgbClr val="24303F"/>
                </a:solidFill>
              </a:rPr>
              <a:t>大学生・女性が中心。年齢や推しのジャンルが違う集団での検証</a:t>
            </a:r>
          </a:p>
        </p:txBody>
      </p:sp>
      <p:sp>
        <p:nvSpPr>
          <p:cNvPr id="25" name="Rounded Rectangle 24"/>
          <p:cNvSpPr/>
          <p:nvPr/>
        </p:nvSpPr>
        <p:spPr>
          <a:xfrm>
            <a:off x="411480" y="4892040"/>
            <a:ext cx="8321040" cy="1280160"/>
          </a:xfrm>
          <a:prstGeom prst="roundRect">
            <a:avLst>
              <a:gd name="adj" fmla="val 8571"/>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 y="4937760"/>
            <a:ext cx="7772400" cy="1188720"/>
          </a:xfrm>
          <a:prstGeom prst="rect">
            <a:avLst/>
          </a:prstGeom>
          <a:noFill/>
        </p:spPr>
        <p:txBody>
          <a:bodyPr wrap="square" lIns="0" tIns="0" rIns="0" bIns="0" anchor="ctr">
            <a:noAutofit/>
          </a:bodyPr>
          <a:lstStyle/>
          <a:p>
            <a:pPr algn="l" marL="0" indent="0">
              <a:spcAft>
                <a:spcPts val="300"/>
              </a:spcAft>
              <a:buNone/>
            </a:pPr>
            <a:r>
              <a:rPr sz="1400" b="1">
                <a:solidFill>
                  <a:srgbClr val="0B3C6E"/>
                </a:solidFill>
              </a:rPr>
              <a:t>今後：長期（3か月以上）の追跡、表示要素を切り分ける実験、他の領域（SNS依存・ゲーム）への応用</a:t>
            </a:r>
          </a:p>
          <a:p>
            <a:pPr algn="l" marL="0" indent="0">
              <a:spcAft>
                <a:spcPts val="400"/>
              </a:spcAft>
              <a:buNone/>
            </a:pPr>
            <a:r>
              <a:rPr sz="1250" b="0">
                <a:solidFill>
                  <a:srgbClr val="24303F"/>
                </a:solidFill>
              </a:rPr>
              <a:t>プラットフォーム事業者と連携した「持続可能なファン経済」への展開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結論</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21</a:t>
            </a:fld>
          </a:p>
        </p:txBody>
      </p:sp>
      <p:sp>
        <p:nvSpPr>
          <p:cNvPr id="5" name="Rounded Rectangle 4"/>
          <p:cNvSpPr/>
          <p:nvPr/>
        </p:nvSpPr>
        <p:spPr>
          <a:xfrm>
            <a:off x="411480" y="1417320"/>
            <a:ext cx="8321040" cy="3291840"/>
          </a:xfrm>
          <a:prstGeom prst="roundRect">
            <a:avLst>
              <a:gd name="adj" fmla="val 3333"/>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host_d14.png"/>
          <p:cNvPicPr>
            <a:picLocks noChangeAspect="1"/>
          </p:cNvPicPr>
          <p:nvPr/>
        </p:nvPicPr>
        <p:blipFill>
          <a:blip r:embed="rId2"/>
          <a:stretch>
            <a:fillRect/>
          </a:stretch>
        </p:blipFill>
        <p:spPr>
          <a:xfrm>
            <a:off x="502920" y="1783080"/>
            <a:ext cx="2651760" cy="1803197"/>
          </a:xfrm>
          <a:prstGeom prst="rect">
            <a:avLst/>
          </a:prstGeom>
        </p:spPr>
      </p:pic>
      <p:sp>
        <p:nvSpPr>
          <p:cNvPr id="7" name="TextBox 6"/>
          <p:cNvSpPr txBox="1"/>
          <p:nvPr/>
        </p:nvSpPr>
        <p:spPr>
          <a:xfrm>
            <a:off x="3291840" y="1508760"/>
            <a:ext cx="5212080" cy="3108960"/>
          </a:xfrm>
          <a:prstGeom prst="rect">
            <a:avLst/>
          </a:prstGeom>
          <a:noFill/>
        </p:spPr>
        <p:txBody>
          <a:bodyPr wrap="square" lIns="0" tIns="0" rIns="0" bIns="0" anchor="ctr">
            <a:noAutofit/>
          </a:bodyPr>
          <a:lstStyle/>
          <a:p>
            <a:pPr algn="l" marL="182880" indent="-182880">
              <a:spcAft>
                <a:spcPts val="800"/>
              </a:spcAft>
              <a:buClr>
                <a:srgbClr val="CCE9FF"/>
              </a:buClr>
              <a:buFont typeface="Arial"/>
              <a:buChar char="•"/>
            </a:pPr>
            <a:r>
              <a:rPr sz="1400" b="0">
                <a:solidFill>
                  <a:srgbClr val="FFFFFF"/>
                </a:solidFill>
              </a:rPr>
              <a:t>記録にもとづく予測と、自分に似たアバターによる将来像を統合したシステム OshiFit を構築した</a:t>
            </a:r>
          </a:p>
          <a:p>
            <a:pPr algn="l" marL="182880" indent="-182880">
              <a:spcAft>
                <a:spcPts val="800"/>
              </a:spcAft>
              <a:buClr>
                <a:srgbClr val="CCE9FF"/>
              </a:buClr>
              <a:buFont typeface="Arial"/>
              <a:buChar char="•"/>
            </a:pPr>
            <a:r>
              <a:rPr sz="1400" b="0">
                <a:solidFill>
                  <a:srgbClr val="FFFFFF"/>
                </a:solidFill>
              </a:rPr>
              <a:t>RQ1：個人補正で予測の誤差が約26%減少</a:t>
            </a:r>
          </a:p>
          <a:p>
            <a:pPr algn="l" marL="182880" indent="-182880">
              <a:spcAft>
                <a:spcPts val="800"/>
              </a:spcAft>
              <a:buClr>
                <a:srgbClr val="CCE9FF"/>
              </a:buClr>
              <a:buFont typeface="Arial"/>
              <a:buChar char="•"/>
            </a:pPr>
            <a:r>
              <a:rPr sz="1400" b="0">
                <a:solidFill>
                  <a:srgbClr val="FFFFFF"/>
                </a:solidFill>
              </a:rPr>
              <a:t>RQ2：アバターで見込みを見ると、提案の実行が増えた（OR 1.71）</a:t>
            </a:r>
          </a:p>
          <a:p>
            <a:pPr algn="l" marL="182880" indent="-182880">
              <a:spcAft>
                <a:spcPts val="800"/>
              </a:spcAft>
              <a:buClr>
                <a:srgbClr val="CCE9FF"/>
              </a:buClr>
              <a:buFont typeface="Arial"/>
              <a:buChar char="•"/>
            </a:pPr>
            <a:r>
              <a:rPr sz="1400" b="0">
                <a:solidFill>
                  <a:srgbClr val="FFFFFF"/>
                </a:solidFill>
              </a:rPr>
              <a:t>RQ3：ウェルビーイングの向上は主要な比較では確認できず</a:t>
            </a:r>
          </a:p>
        </p:txBody>
      </p:sp>
      <p:sp>
        <p:nvSpPr>
          <p:cNvPr id="8" name="Rounded Rectangle 7"/>
          <p:cNvSpPr/>
          <p:nvPr/>
        </p:nvSpPr>
        <p:spPr>
          <a:xfrm>
            <a:off x="411480" y="4892040"/>
            <a:ext cx="8321040" cy="1280160"/>
          </a:xfrm>
          <a:prstGeom prst="roundRect">
            <a:avLst>
              <a:gd name="adj" fmla="val 8571"/>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4937760"/>
            <a:ext cx="7772400" cy="1188720"/>
          </a:xfrm>
          <a:prstGeom prst="rect">
            <a:avLst/>
          </a:prstGeom>
          <a:noFill/>
        </p:spPr>
        <p:txBody>
          <a:bodyPr wrap="square" lIns="0" tIns="0" rIns="0" bIns="0" anchor="ctr">
            <a:noAutofit/>
          </a:bodyPr>
          <a:lstStyle/>
          <a:p>
            <a:pPr algn="l" marL="0" indent="0">
              <a:spcAft>
                <a:spcPts val="300"/>
              </a:spcAft>
              <a:buNone/>
            </a:pPr>
            <a:r>
              <a:rPr sz="1600" b="1">
                <a:solidFill>
                  <a:srgbClr val="12A38A"/>
                </a:solidFill>
              </a:rPr>
              <a:t>「減らす」ではなく「組み替える」、そして不確かさを隠さず見せる</a:t>
            </a:r>
          </a:p>
          <a:p>
            <a:pPr algn="l" marL="0" indent="0">
              <a:spcAft>
                <a:spcPts val="400"/>
              </a:spcAft>
              <a:buNone/>
            </a:pPr>
            <a:r>
              <a:rPr sz="1250" b="0">
                <a:solidFill>
                  <a:srgbClr val="24303F"/>
                </a:solidFill>
              </a:rPr>
              <a:t>推し活のように正解が人によって違う領域で、本人が自分で選べる行動変容の支援の形を示した</a:t>
            </a:r>
          </a:p>
        </p:txBody>
      </p:sp>
      <p:sp>
        <p:nvSpPr>
          <p:cNvPr id="10" name="Rounded Rectangle 9"/>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結果の数値は想定値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研究業績</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22</a:t>
            </a:fld>
          </a:p>
        </p:txBody>
      </p:sp>
      <p:sp>
        <p:nvSpPr>
          <p:cNvPr id="5" name="TextBox 4"/>
          <p:cNvSpPr txBox="1"/>
          <p:nvPr/>
        </p:nvSpPr>
        <p:spPr>
          <a:xfrm>
            <a:off x="411480" y="1417320"/>
            <a:ext cx="8321040" cy="4754880"/>
          </a:xfrm>
          <a:prstGeom prst="rect">
            <a:avLst/>
          </a:prstGeom>
          <a:noFill/>
        </p:spPr>
        <p:txBody>
          <a:bodyPr wrap="square" lIns="0" tIns="0" rIns="0" bIns="0" anchor="t">
            <a:noAutofit/>
          </a:bodyPr>
          <a:lstStyle/>
          <a:p>
            <a:pPr algn="l" marL="0" indent="0">
              <a:spcAft>
                <a:spcPts val="400"/>
              </a:spcAft>
              <a:buNone/>
            </a:pPr>
            <a:r>
              <a:rPr sz="1400" b="1">
                <a:solidFill>
                  <a:srgbClr val="0B3C6E"/>
                </a:solidFill>
              </a:rPr>
              <a:t>国際会議</a:t>
            </a:r>
          </a:p>
          <a:p>
            <a:pPr algn="l" marL="182880" indent="-182880">
              <a:spcAft>
                <a:spcPts val="600"/>
              </a:spcAft>
              <a:buClr>
                <a:srgbClr val="0099FF"/>
              </a:buClr>
              <a:buFont typeface="Arial"/>
              <a:buChar char="•"/>
            </a:pPr>
            <a:r>
              <a:rPr sz="1250" b="0">
                <a:solidFill>
                  <a:srgbClr val="24303F"/>
                </a:solidFill>
              </a:rPr>
              <a:t>G. Imai, S. Ooi: OshiFit: Possible-Selves Avatars for Uncertainty-Aware Behavior Change in Fan Activities, ACM CHIIR 2027 (Short Paper), 2027.（採択）</a:t>
            </a:r>
          </a:p>
          <a:p>
            <a:pPr algn="l" marL="182880" indent="-182880">
              <a:spcAft>
                <a:spcPts val="1200"/>
              </a:spcAft>
              <a:buClr>
                <a:srgbClr val="0099FF"/>
              </a:buClr>
              <a:buFont typeface="Arial"/>
              <a:buChar char="•"/>
            </a:pPr>
            <a:r>
              <a:rPr sz="1250" b="0">
                <a:solidFill>
                  <a:srgbClr val="24303F"/>
                </a:solidFill>
              </a:rPr>
              <a:t>G. Imai, S. Ooi: OshiFit: Study on Proposal System with “Oshi-katsu” based on Individual Characteristics Predicted by One’s Own Avatar, IEVC 2026, 2026.</a:t>
            </a:r>
          </a:p>
          <a:p>
            <a:pPr algn="l" marL="0" indent="0">
              <a:spcAft>
                <a:spcPts val="400"/>
              </a:spcAft>
              <a:buNone/>
            </a:pPr>
            <a:r>
              <a:rPr sz="1400" b="1">
                <a:solidFill>
                  <a:srgbClr val="0B3C6E"/>
                </a:solidFill>
              </a:rPr>
              <a:t>国内発表</a:t>
            </a:r>
          </a:p>
          <a:p>
            <a:pPr algn="l" marL="182880" indent="-182880">
              <a:spcAft>
                <a:spcPts val="600"/>
              </a:spcAft>
              <a:buClr>
                <a:srgbClr val="0099FF"/>
              </a:buClr>
              <a:buFont typeface="Arial"/>
              <a:buChar char="•"/>
            </a:pPr>
            <a:r>
              <a:rPr sz="1250" b="0">
                <a:solidFill>
                  <a:srgbClr val="24303F"/>
                </a:solidFill>
              </a:rPr>
              <a:t>今井元, 大井翔: 推し活中の心拍数とストレスの関係性に関する検討, 第3回ウェルビーイング学会年次大会, 2025.</a:t>
            </a:r>
          </a:p>
          <a:p>
            <a:pPr algn="l" marL="182880" indent="-182880">
              <a:spcAft>
                <a:spcPts val="600"/>
              </a:spcAft>
              <a:buClr>
                <a:srgbClr val="0099FF"/>
              </a:buClr>
              <a:buFont typeface="Arial"/>
              <a:buChar char="•"/>
            </a:pPr>
            <a:r>
              <a:rPr sz="1250" b="0">
                <a:solidFill>
                  <a:srgbClr val="24303F"/>
                </a:solidFill>
              </a:rPr>
              <a:t>今井元, 大井翔: 推し活の充実と推し疲れに関する調査（仮題）, AIxMHC Summer Edition, 2026.</a:t>
            </a:r>
          </a:p>
          <a:p>
            <a:pPr algn="l" marL="182880" indent="-182880">
              <a:spcAft>
                <a:spcPts val="1200"/>
              </a:spcAft>
              <a:buClr>
                <a:srgbClr val="0099FF"/>
              </a:buClr>
              <a:buFont typeface="Arial"/>
              <a:buChar char="•"/>
            </a:pPr>
            <a:r>
              <a:rPr sz="1250" b="0">
                <a:solidFill>
                  <a:srgbClr val="24303F"/>
                </a:solidFill>
              </a:rPr>
              <a:t>今井元, 大井翔: （題目）, 情報処理学会関西支部大会 G-43, 2026.</a:t>
            </a:r>
          </a:p>
          <a:p>
            <a:pPr algn="l" marL="0" indent="0">
              <a:spcAft>
                <a:spcPts val="400"/>
              </a:spcAft>
              <a:buNone/>
            </a:pPr>
            <a:r>
              <a:rPr sz="1400" b="1">
                <a:solidFill>
                  <a:srgbClr val="0B3C6E"/>
                </a:solidFill>
              </a:rPr>
              <a:t>投稿準備中</a:t>
            </a:r>
          </a:p>
          <a:p>
            <a:pPr algn="l" marL="182880" indent="-182880">
              <a:spcAft>
                <a:spcPts val="400"/>
              </a:spcAft>
              <a:buClr>
                <a:srgbClr val="0099FF"/>
              </a:buClr>
              <a:buFont typeface="Arial"/>
              <a:buChar char="•"/>
            </a:pPr>
            <a:r>
              <a:rPr sz="1250" b="0">
                <a:solidFill>
                  <a:srgbClr val="24303F"/>
                </a:solidFill>
              </a:rPr>
              <a:t>IEEE Access（本実験の結果をまとめた論文）</a:t>
            </a:r>
          </a:p>
        </p:txBody>
      </p:sp>
      <p:sp>
        <p:nvSpPr>
          <p:cNvPr id="6" name="Rounded Rectangle 5"/>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rPr>
              <a:t>※ 題目・採否は要確認</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rPr>
              <a:t>主な参考文献</a:t>
            </a:r>
          </a:p>
        </p:txBody>
      </p:sp>
      <p:sp>
        <p:nvSpPr>
          <p:cNvPr id="3" name="Date Placeholder 2"/>
          <p:cNvSpPr>
            <a:spLocks noGrp="1"/>
          </p:cNvSpPr>
          <p:nvPr>
            <p:ph type="dt" idx="10" sz="half"/>
          </p:nvPr>
        </p:nvSpPr>
        <p:spPr/>
        <p:txBody>
          <a:bodyPr/>
          <a:p>
            <a:r>
              <a:t>2027/2/17</a:t>
            </a:r>
          </a:p>
        </p:txBody>
      </p:sp>
      <p:sp>
        <p:nvSpPr>
          <p:cNvPr id="4" name="Slide Number Placeholder 3"/>
          <p:cNvSpPr>
            <a:spLocks noGrp="1"/>
          </p:cNvSpPr>
          <p:nvPr>
            <p:ph type="sldNum" idx="12" sz="quarter"/>
          </p:nvPr>
        </p:nvSpPr>
        <p:spPr/>
        <p:txBody>
          <a:bodyPr/>
          <a:p>
            <a:fld id="{B6F15528-21DE-4FAA-801E-634DDDAF4B2B}" type="slidenum">
              <a:rPr lang="en-US"/>
              <a:t>23</a:t>
            </a:fld>
          </a:p>
        </p:txBody>
      </p:sp>
      <p:sp>
        <p:nvSpPr>
          <p:cNvPr id="5" name="TextBox 4"/>
          <p:cNvSpPr txBox="1"/>
          <p:nvPr/>
        </p:nvSpPr>
        <p:spPr>
          <a:xfrm>
            <a:off x="411480" y="1417320"/>
            <a:ext cx="8321040" cy="4754880"/>
          </a:xfrm>
          <a:prstGeom prst="rect">
            <a:avLst/>
          </a:prstGeom>
          <a:noFill/>
        </p:spPr>
        <p:txBody>
          <a:bodyPr wrap="square" lIns="0" tIns="0" rIns="0" bIns="0" anchor="t">
            <a:noAutofit/>
          </a:bodyPr>
          <a:lstStyle/>
          <a:p>
            <a:pPr algn="l" marL="0" indent="0">
              <a:spcAft>
                <a:spcPts val="500"/>
              </a:spcAft>
              <a:buNone/>
            </a:pPr>
            <a:r>
              <a:rPr sz="1100" b="0">
                <a:solidFill>
                  <a:srgbClr val="24303F"/>
                </a:solidFill>
              </a:rPr>
              <a:t>Choe, E. K., et al. (2014). Understanding quantified-selfers' practices in collecting and exploring personal data. CHI '14, 1143–1152.</a:t>
            </a:r>
          </a:p>
          <a:p>
            <a:pPr algn="l" marL="0" indent="0">
              <a:spcAft>
                <a:spcPts val="500"/>
              </a:spcAft>
              <a:buNone/>
            </a:pPr>
            <a:r>
              <a:rPr sz="1100" b="0">
                <a:solidFill>
                  <a:srgbClr val="24303F"/>
                </a:solidFill>
              </a:rPr>
              <a:t>Fox, J., &amp; Bailenson, J. N. (2009). Virtual self-modeling. Media Psychology, 12(1), 1–25.</a:t>
            </a:r>
          </a:p>
          <a:p>
            <a:pPr algn="l" marL="0" indent="0">
              <a:spcAft>
                <a:spcPts val="500"/>
              </a:spcAft>
              <a:buNone/>
            </a:pPr>
            <a:r>
              <a:rPr sz="1100" b="0">
                <a:solidFill>
                  <a:srgbClr val="24303F"/>
                </a:solidFill>
              </a:rPr>
              <a:t>Hershfield, H. E., et al. (2011). Increasing saving behavior through age-progressed renderings of the future self. JMR, 48(SPL), S23–S37.</a:t>
            </a:r>
          </a:p>
          <a:p>
            <a:pPr algn="l" marL="0" indent="0">
              <a:spcAft>
                <a:spcPts val="500"/>
              </a:spcAft>
              <a:buNone/>
            </a:pPr>
            <a:r>
              <a:rPr sz="1100" b="0">
                <a:solidFill>
                  <a:srgbClr val="24303F"/>
                </a:solidFill>
              </a:rPr>
              <a:t>Kay, M., Kola, T., Hullman, J. R., &amp; Munson, S. A. (2016). When (ish) is my bus? CHI '16, 5092–5103.</a:t>
            </a:r>
          </a:p>
          <a:p>
            <a:pPr algn="l" marL="0" indent="0">
              <a:spcAft>
                <a:spcPts val="500"/>
              </a:spcAft>
              <a:buNone/>
            </a:pPr>
            <a:r>
              <a:rPr sz="1100" b="0">
                <a:solidFill>
                  <a:srgbClr val="24303F"/>
                </a:solidFill>
              </a:rPr>
              <a:t>Lally, P., et al. (2010). How are habits formed. European Journal of Social Psychology, 40(6), 998–1009.</a:t>
            </a:r>
          </a:p>
          <a:p>
            <a:pPr algn="l" marL="0" indent="0">
              <a:spcAft>
                <a:spcPts val="500"/>
              </a:spcAft>
              <a:buNone/>
            </a:pPr>
            <a:r>
              <a:rPr sz="1100" b="0">
                <a:solidFill>
                  <a:srgbClr val="24303F"/>
                </a:solidFill>
              </a:rPr>
              <a:t>Topp, C. W., et al. (2015). The WHO-5 Well-Being Index. Psychotherapy and Psychosomatics, 84(3), 167–176.</a:t>
            </a:r>
          </a:p>
          <a:p>
            <a:pPr algn="l" marL="0" indent="0">
              <a:spcAft>
                <a:spcPts val="500"/>
              </a:spcAft>
              <a:buNone/>
            </a:pPr>
            <a:r>
              <a:rPr sz="1100" b="0">
                <a:solidFill>
                  <a:srgbClr val="24303F"/>
                </a:solidFill>
              </a:rPr>
              <a:t>Yee, N., &amp; Bailenson, J. (2007). The Proteus Effect. Human Communication Research, 33(3), 271–290.</a:t>
            </a:r>
          </a:p>
          <a:p>
            <a:pPr algn="l" marL="0" indent="0">
              <a:spcAft>
                <a:spcPts val="500"/>
              </a:spcAft>
              <a:buNone/>
            </a:pPr>
            <a:r>
              <a:rPr sz="1100" b="0">
                <a:solidFill>
                  <a:srgbClr val="24303F"/>
                </a:solidFill>
              </a:rPr>
              <a:t>小塩真司, 阿部晋吾, カトローニピノ (2012). 日本語版 TIPI-J 作成の試み. パーソナリティ研究, 21(1), 40–52.</a:t>
            </a:r>
          </a:p>
          <a:p>
            <a:pPr algn="l" marL="0" indent="0">
              <a:spcAft>
                <a:spcPts val="500"/>
              </a:spcAft>
              <a:buNone/>
            </a:pPr>
            <a:r>
              <a:rPr sz="1100" b="0">
                <a:solidFill>
                  <a:srgbClr val="24303F"/>
                </a:solidFill>
              </a:rPr>
              <a:t>谷口友梨, 神田朋果 (2025). 推し活の理想と現実の乖離が充実感・精神的健康に及ぼす影響. 人間文化, 58, 2–13.</a:t>
            </a:r>
          </a:p>
          <a:p>
            <a:pPr algn="l" marL="0" indent="0">
              <a:spcAft>
                <a:spcPts val="500"/>
              </a:spcAft>
              <a:buNone/>
            </a:pPr>
            <a:r>
              <a:rPr sz="1100" b="0">
                <a:solidFill>
                  <a:srgbClr val="24303F"/>
                </a:solidFill>
              </a:rPr>
              <a:t>中林春海, 水口崇 (2020). ファン心理やその活動と大学生の心理的健康の関係. 信州心理臨床紀要, 19, 33–55.</a:t>
            </a:r>
          </a:p>
          <a:p>
            <a:pPr algn="l" marL="0" indent="0">
              <a:spcAft>
                <a:spcPts val="400"/>
              </a:spcAft>
              <a:buNone/>
            </a:pPr>
            <a:r>
              <a:rPr sz="1100" b="0">
                <a:solidFill>
                  <a:srgbClr val="24303F"/>
                </a:solidFill>
              </a:rPr>
              <a:t>野村総合研究所 (2025). 拡大する「推し活」市場のポテンシャルとビジネスの可能性.</a:t>
            </a:r>
          </a:p>
        </p:txBody>
      </p:sp>
    </p:spTree>
  </p:cSld>
  <p:clrMapOvr>
    <a:masterClrMapping/>
  </p:clrMapOvr>
</p:sld>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0099FF"/>
      </a:accent1>
      <a:accent2>
        <a:srgbClr val="00CC66"/>
      </a:accent2>
      <a:accent3>
        <a:srgbClr val="9999FF"/>
      </a:accent3>
      <a:accent4>
        <a:srgbClr val="ED7D31"/>
      </a:accent4>
      <a:accent5>
        <a:srgbClr val="FF99CC"/>
      </a:accent5>
      <a:accent6>
        <a:srgbClr val="CCFF66"/>
      </a:accent6>
      <a:hlink>
        <a:srgbClr val="0563C1"/>
      </a:hlink>
      <a:folHlink>
        <a:srgbClr val="954F72"/>
      </a:folHlink>
    </a:clrScheme>
    <a:fontScheme name="mixlab">
      <a:majorFont>
        <a:latin typeface="Arial"/>
        <a:ea typeface="BIZ UDPゴシック"/>
        <a:cs typeface=""/>
      </a:majorFont>
      <a:minorFont>
        <a:latin typeface="Arial"/>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71DAD71D-71F1-4879-AA29-AD68469550B8}" vid="{C503FC9E-2328-42BB-94CD-380D520937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E6AF0D829D43D49B1E81D8F4BBE5B7D" ma:contentTypeVersion="10" ma:contentTypeDescription="新しいドキュメントを作成します。" ma:contentTypeScope="" ma:versionID="5539ab1a2f6c3bdbf31c7c5cd0f154e8">
  <xsd:schema xmlns:xsd="http://www.w3.org/2001/XMLSchema" xmlns:xs="http://www.w3.org/2001/XMLSchema" xmlns:p="http://schemas.microsoft.com/office/2006/metadata/properties" xmlns:ns3="827dca8b-9b89-463d-9c0f-8f583314a21a" targetNamespace="http://schemas.microsoft.com/office/2006/metadata/properties" ma:root="true" ma:fieldsID="0abcb71c8026bc76d3643389aaf979a1" ns3:_="">
    <xsd:import namespace="827dca8b-9b89-463d-9c0f-8f583314a2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7dca8b-9b89-463d-9c0f-8f583314a2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7dca8b-9b89-463d-9c0f-8f583314a21a" xsi:nil="true"/>
  </documentManagement>
</p:properties>
</file>

<file path=customXml/itemProps1.xml><?xml version="1.0" encoding="utf-8"?>
<ds:datastoreItem xmlns:ds="http://schemas.openxmlformats.org/officeDocument/2006/customXml" ds:itemID="{7243403C-11AC-4F64-B63B-092045F9CB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7dca8b-9b89-463d-9c0f-8f583314a2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FAF0C7-D3A2-4F0D-85B6-FC2608B86CAE}">
  <ds:schemaRefs>
    <ds:schemaRef ds:uri="http://schemas.microsoft.com/sharepoint/v3/contenttype/forms"/>
  </ds:schemaRefs>
</ds:datastoreItem>
</file>

<file path=customXml/itemProps3.xml><?xml version="1.0" encoding="utf-8"?>
<ds:datastoreItem xmlns:ds="http://schemas.openxmlformats.org/officeDocument/2006/customXml" ds:itemID="{C64F4103-916A-4822-B22D-C96AE4A255CF}">
  <ds:schemaRefs>
    <ds:schemaRef ds:uri="http://schemas.microsoft.com/office/2006/metadata/properties"/>
    <ds:schemaRef ds:uri="827dca8b-9b89-463d-9c0f-8f583314a21a"/>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mixlab_jp(4-3)</Template>
  <TotalTime>12</TotalTime>
  <Words>546</Words>
  <Application>Microsoft Office PowerPoint</Application>
  <PresentationFormat>画面に合わせる (4:3)</PresentationFormat>
  <Paragraphs>60</Paragraphs>
  <Slides>8</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游ゴシック</vt:lpstr>
      <vt:lpstr>Arial</vt:lpstr>
      <vt:lpstr>Office テーマ</vt:lpstr>
      <vt:lpstr>進捗報告2026/07/03</vt:lpstr>
      <vt:lpstr>進捗</vt:lpstr>
      <vt:lpstr>PowerPoint プレゼンテーション</vt:lpstr>
      <vt:lpstr>SEM分析（パス解析）のモデル構築</vt:lpstr>
      <vt:lpstr>進捗</vt:lpstr>
      <vt:lpstr>進捗</vt:lpstr>
      <vt:lpstr>進捗</vt:lpstr>
      <vt:lpstr>進捗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修士論文公聴会 2027/02/17</dc:title>
  <dc:creator>今井元</dc:creator>
  <cp:lastModifiedBy>今井　元</cp:lastModifiedBy>
  <cp:revision>1</cp:revision>
  <dcterms:created xsi:type="dcterms:W3CDTF">2026-07-03T00:39:04Z</dcterms:created>
  <dcterms:modified xsi:type="dcterms:W3CDTF">2026-07-03T00:51:52Z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0x0101004E6AF0D829D43D49B1E81D8F4BBE5B7D</vt:lpwstr>
  </property>
</Properties>
</file>