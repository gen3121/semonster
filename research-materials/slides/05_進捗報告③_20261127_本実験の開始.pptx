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10"/>
    <p:sldId id="257" r:id="rId11"/>
    <p:sldId id="258" r:id="rId12"/>
    <p:sldId id="259" r:id="rId9"/>
    <p:sldId id="260" r:id="rId8"/>
    <p:sldId id="261" r:id="rId7"/>
    <p:sldId id="262" r:id="rId6"/>
    <p:sldId id="263" r:id="rId5"/>
    <p:sldId id="264" r:id="rId18"/>
    <p:sldId id="265" r:id="rId19"/>
    <p:sldId id="266" r:id="rId20"/>
    <p:sldId id="267" r:id="rId2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" y="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日ごとの記録率（全参加者・%）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記録率（%）</c:v>
                </c:pt>
              </c:strCache>
            </c:strRef>
          </c:tx>
          <c:spPr>
            <a:ln w="31750">
              <a:solidFill>
                <a:srgbClr val="0099FF"/>
              </a:solidFill>
            </a:ln>
          </c:spPr>
          <c:marker>
            <c:symbol val="circle"/>
            <c:size val="7"/>
            <c:spPr>
              <a:solidFill>
                <a:srgbClr val="0099FF"/>
              </a:solidFill>
              <a:ln>
                <a:solidFill>
                  <a:srgbClr val="0099FF"/>
                </a:solidFill>
              </a:ln>
            </c:spPr>
          </c:marker>
          <c:dLbls>
            <c:dLbl>
              <c:idx val="13"/>
              <c:numFmt formatCode="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099FF"/>
                      </a:solidFill>
                      <a:latin typeface="BIZ UDPゴシック"/>
                      <a:ea typeface="BIZ UDPゴシック"/>
                      <a:cs typeface="BIZ UDPゴシック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97</c:v>
                </c:pt>
                <c:pt idx="1">
                  <c:v>95</c:v>
                </c:pt>
                <c:pt idx="2">
                  <c:v>93</c:v>
                </c:pt>
                <c:pt idx="3">
                  <c:v>92</c:v>
                </c:pt>
                <c:pt idx="4">
                  <c:v>91</c:v>
                </c:pt>
                <c:pt idx="5">
                  <c:v>90</c:v>
                </c:pt>
                <c:pt idx="6">
                  <c:v>88</c:v>
                </c:pt>
                <c:pt idx="7">
                  <c:v>89</c:v>
                </c:pt>
                <c:pt idx="8">
                  <c:v>88</c:v>
                </c:pt>
                <c:pt idx="9">
                  <c:v>87</c:v>
                </c:pt>
                <c:pt idx="10">
                  <c:v>86</c:v>
                </c:pt>
                <c:pt idx="11">
                  <c:v>86</c:v>
                </c:pt>
                <c:pt idx="12">
                  <c:v>85</c:v>
                </c:pt>
                <c:pt idx="13">
                  <c:v>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7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80%予測区間の幅（±）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記録0日（全体の傾向のみ）</c:v>
                </c:pt>
              </c:strCache>
            </c:strRef>
          </c:tx>
          <c:spPr>
            <a:solidFill>
              <a:srgbClr val="8FA3B8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充実</c:v>
                </c:pt>
                <c:pt idx="1">
                  <c:v>推し疲れ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記録14日（個人補正後）</c:v>
                </c:pt>
              </c:strCache>
            </c:strRef>
          </c:tx>
          <c:spPr>
            <a:solidFill>
              <a:srgbClr val="12A38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充実</c:v>
                </c:pt>
                <c:pt idx="1">
                  <c:v>推し疲れ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0.67</c:v>
                </c:pt>
                <c:pt idx="1">
                  <c:v>0.86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24303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4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1100">
              <a:latin typeface="BIZ UDPゴシック"/>
              <a:ea typeface="BIZ UDPゴシック"/>
              <a:cs typeface="BIZ UDPゴシック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最も多く選ばれた疲れの中身（参加者ごと）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割合（%）</c:v>
                </c:pt>
              </c:strCache>
            </c:strRef>
          </c:tx>
          <c:spPr>
            <a:solidFill>
              <a:srgbClr val="7C6BC4"/>
            </a:solidFill>
          </c:spPr>
          <c:invertIfNegative val="0"/>
          <c:dPt>
            <c:idx val="0"/>
            <c:spPr>
              <a:solidFill>
                <a:srgbClr val="7C6BC4"/>
              </a:solidFill>
            </c:spPr>
          </c:dPt>
          <c:dPt>
            <c:idx val="1"/>
            <c:spPr>
              <a:solidFill>
                <a:srgbClr val="E07A10"/>
              </a:solidFill>
            </c:spPr>
          </c:dPt>
          <c:dPt>
            <c:idx val="2"/>
            <c:spPr>
              <a:solidFill>
                <a:srgbClr val="0B3C6E"/>
              </a:solidFill>
            </c:spPr>
          </c:dPt>
          <c:dPt>
            <c:idx val="3"/>
            <c:spPr>
              <a:solidFill>
                <a:srgbClr val="0099FF"/>
              </a:solidFill>
            </c:spPr>
          </c:dPt>
          <c:cat>
            <c:strRef>
              <c:f>Sheet1!$A$2:$A$5</c:f>
              <c:strCache>
                <c:ptCount val="4"/>
                <c:pt idx="0">
                  <c:v>睡眠</c:v>
                </c:pt>
                <c:pt idx="1">
                  <c:v>出費</c:v>
                </c:pt>
                <c:pt idx="2">
                  <c:v>義務感</c:v>
                </c:pt>
                <c:pt idx="3">
                  <c:v>比較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19</c:v>
                </c:pt>
                <c:pt idx="3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24303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選ばれた提案の割合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楽しさキープ</c:v>
                </c:pt>
              </c:strCache>
            </c:strRef>
          </c:tx>
          <c:spPr>
            <a:solidFill>
              <a:srgbClr val="12A38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群B（文章）</c:v>
                </c:pt>
                <c:pt idx="1">
                  <c:v>群C（アバター）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バランス</c:v>
                </c:pt>
              </c:strCache>
            </c:strRef>
          </c:tx>
          <c:spPr>
            <a:solidFill>
              <a:srgbClr val="0099F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群B（文章）</c:v>
                </c:pt>
                <c:pt idx="1">
                  <c:v>群C（アバター）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回復重視</c:v>
                </c:pt>
              </c:strCache>
            </c:strRef>
          </c:tx>
          <c:spPr>
            <a:solidFill>
              <a:srgbClr val="7C6BC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群B（文章）</c:v>
                </c:pt>
                <c:pt idx="1">
                  <c:v>群C（アバター）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17</c:v>
                </c:pt>
                <c:pt idx="1">
                  <c:v>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見送り</c:v>
                </c:pt>
              </c:strCache>
            </c:strRef>
          </c:tx>
          <c:spPr>
            <a:solidFill>
              <a:srgbClr val="B8C2CE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群B（文章）</c:v>
                </c:pt>
                <c:pt idx="1">
                  <c:v>群C（アバター）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9525">
              <a:solidFill>
                <a:srgbClr val="E3E8EF"/>
              </a:solidFill>
            </a:ln>
          </c:spPr>
        </c:majorGridlines>
        <c:numFmt formatCode="0&quot;%&quot;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BIZ UDPゴシック"/>
              <a:ea typeface="BIZ UDPゴシック"/>
              <a:cs typeface="BIZ UDPゴシック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139FF-5DF4-46B1-A730-4E68595A117A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D2F10-75EE-4518-AB94-CE9EAC6EA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63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11/2に本実験を開始しました。今日は実験4週目で、最初の2週間の記録期間の結果、11/15の割付、介入1週目の様子を報告します。途中経過なので、群間の検定は行っていません。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前回からの進捗です。11/2に228名で本実験を開始し、2週間の記録期間を経て、11/15に213名を3群に割り付けました。現在は介入期間の2週目です。全群共通の不具合を1件修正し、逸脱として記録しています。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スケジュール上は本実験の4週目にいます。予定どおり12/13に終了する見込みです。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参加者の流れです。応募241名のうち、適格で同意した233名、開始した228名、2週間継続した213名を3群に割り付けました。現在の継続は群Aが69名、群Bと群Cが70名です。必要人数の1群64名は上回っています。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最初の2週間は全群が記録だけを行いました。記録率は1日目の97%から14日目の84%へゆるやかに下がりましたが、平均は89%でした。1回の記録は平均31秒で、目標の30秒程度に収まっています。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割付のバランスです。2週時点のWHO-5で層別したので、主要な指標の差は小さくなっています。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ベイズ個人ツインの初期結果です。2週間の記録で、推し疲れの80%予測区間は±1.18から±0.86へ、約27%縮みました。進捗①の試算よりは少し縮みが小さく、記録が途切れた日がある人ほど縮みが小さい傾向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記録期間中に、いちばんの疲れとして選ばれた中身の割合です。睡眠が38%で最も多く、予備調査で約3割が睡眠への支障を感じていたことと一致しています。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入1週目に選ばれた提案は、楽しさキープとバランスで約8割でした。予備調査の「増やしたい人が多い」という結果と一致しています。選んだ案を実行できた割合は群Bが54%、群Cが63%でしたが、まだ1週分なので、検定は終了後に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験中に起きたことと対応です。Androidで通知が遅れる問題は、全群共通の修正として11/18に直しました。強い疲れの記録で相談先が表示されたのは3件で、手順どおりに対応しています。群Cで1名、今のままの顔を見るのがつらいという声があり、非表示設定を案内しました。解析では割り付けた群のまま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析計画は割付の前日、11/14に版を固定しました。主要解析は6週時点のWHO-5の共分散分析で、C対BとB対AをHolm法で補正します。割り付けた群のまま解析し、実行した人ほど幸せかという分析は探索的な補助解析に限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/13に本実験が終わり、事後アンケートのあと12/17にデータを固定して主要解析を行います。次回12/18に速報を報告します。相談したいのは、ミラーを非表示にした人の扱いと、記録率の差が出てきた場合の欠測の扱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3340" y="3607869"/>
            <a:ext cx="8915400" cy="165576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00740" y="5356274"/>
            <a:ext cx="4925889" cy="141895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9" name="サブタイトル 2"/>
          <p:cNvSpPr txBox="1">
            <a:spLocks/>
          </p:cNvSpPr>
          <p:nvPr userDrawn="1"/>
        </p:nvSpPr>
        <p:spPr>
          <a:xfrm>
            <a:off x="6068860" y="4277519"/>
            <a:ext cx="2949880" cy="16557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400" dirty="0"/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27B4E2A7-DAEA-4D6D-82DB-9419AF5FA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0" y="5346399"/>
            <a:ext cx="1182362" cy="1428837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CAFA43D-FE5B-48C3-863A-33F247D129D4}"/>
              </a:ext>
            </a:extLst>
          </p:cNvPr>
          <p:cNvCxnSpPr/>
          <p:nvPr userDrawn="1"/>
        </p:nvCxnSpPr>
        <p:spPr>
          <a:xfrm>
            <a:off x="103340" y="5252744"/>
            <a:ext cx="891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F561B1-C9EC-4DC6-912D-C77D62F90B04}"/>
              </a:ext>
            </a:extLst>
          </p:cNvPr>
          <p:cNvSpPr/>
          <p:nvPr userDrawn="1"/>
        </p:nvSpPr>
        <p:spPr>
          <a:xfrm>
            <a:off x="0" y="-1"/>
            <a:ext cx="9144000" cy="3435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5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9C76-77F1-4215-9649-4092C94102D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7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1" y="0"/>
            <a:ext cx="9114626" cy="6300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0625" y="1709739"/>
            <a:ext cx="858659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00625" y="4589464"/>
            <a:ext cx="858659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CBC8-C13F-44F6-BCB3-948A96AAE3E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85" y="25052"/>
            <a:ext cx="1155615" cy="13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22128" y="1716067"/>
            <a:ext cx="4392722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716067"/>
            <a:ext cx="4408379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10EA-EFB6-4ED7-B593-CE78B197306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6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2129" y="1681163"/>
            <a:ext cx="437605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22129" y="2505075"/>
            <a:ext cx="4376053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48547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48547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46DE9-826E-4F2E-9FBE-79AF29EDC55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24B-FEB0-415C-8C57-9662DE1E203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50C9-8340-4923-BDA6-FE9093DBE1F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4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8FF-8035-4960-B29B-D2E38E699D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798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0" y="6394366"/>
            <a:ext cx="1155526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155526" y="6394366"/>
            <a:ext cx="7158625" cy="463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314151" y="6394366"/>
            <a:ext cx="829850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" y="0"/>
            <a:ext cx="7565720" cy="1083832"/>
          </a:xfrm>
          <a:prstGeom prst="rect">
            <a:avLst/>
          </a:prstGeom>
          <a:gradFill>
            <a:gsLst>
              <a:gs pos="68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0" y="-7407"/>
            <a:ext cx="8109606" cy="873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16237" y="1261733"/>
            <a:ext cx="8903777" cy="4915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6973" y="6455298"/>
            <a:ext cx="967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30C953D-9D36-4E45-98EB-F4573D85DE5F}" type="datetime1">
              <a:rPr lang="ja-JP" altLang="en-US" smtClean="0"/>
              <a:t>2026/7/3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02498" y="6435466"/>
            <a:ext cx="7082278" cy="384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" y="880126"/>
            <a:ext cx="9143999" cy="320675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0"/>
                </a:schemeClr>
              </a:gs>
              <a:gs pos="8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0" y="855796"/>
            <a:ext cx="620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50" b="1" i="1" dirty="0">
                <a:solidFill>
                  <a:schemeClr val="bg1"/>
                </a:solidFill>
              </a:rPr>
              <a:t>Media</a:t>
            </a:r>
            <a:r>
              <a:rPr kumimoji="1" lang="en-US" altLang="ja-JP" sz="1350" b="1" i="1" baseline="0" dirty="0">
                <a:solidFill>
                  <a:schemeClr val="bg1"/>
                </a:solidFill>
              </a:rPr>
              <a:t> Interaction Laboratory, Osaka Institute of Technology</a:t>
            </a:r>
            <a:endParaRPr kumimoji="1" lang="ja-JP" altLang="en-US" sz="1350" b="1" i="1" dirty="0">
              <a:solidFill>
                <a:schemeClr val="bg1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89307" y="6455298"/>
            <a:ext cx="725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531E9D-61D6-4888-9999-68160698B78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7" name="図 16" descr="アイコン&#10;&#10;自動的に生成された説明">
            <a:extLst>
              <a:ext uri="{FF2B5EF4-FFF2-40B4-BE49-F238E27FC236}">
                <a16:creationId xmlns:a16="http://schemas.microsoft.com/office/drawing/2014/main" id="{2CB505E5-1A9F-4F7A-B174-AC352F0CDE0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0" y="21772"/>
            <a:ext cx="975646" cy="11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b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進捗報告 2026/11/27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今井元</a:t>
            </a:r>
          </a:p>
        </p:txBody>
      </p:sp>
      <p:sp>
        <p:nvSpPr>
          <p:cNvPr id="4" name="会議名"/>
          <p:cNvSpPr txBox="1"/>
          <p:nvPr/>
        </p:nvSpPr>
        <p:spPr>
          <a:xfrm>
            <a:off x="64008" y="82296"/>
            <a:ext cx="4206240" cy="384048"/>
          </a:xfrm>
          <a:prstGeom prst="rect">
            <a:avLst/>
          </a:prstGeom>
          <a:solidFill>
            <a:srgbClr val="A9DCFF"/>
          </a:solidFill>
        </p:spPr>
        <p:txBody>
          <a:bodyPr wrap="square" tIns="18288" bIns="1828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　進捗報告</a:t>
            </a:r>
          </a:p>
        </p:txBody>
      </p:sp>
      <p:sp>
        <p:nvSpPr>
          <p:cNvPr id="5" name="著者所属"/>
          <p:cNvSpPr txBox="1"/>
          <p:nvPr/>
        </p:nvSpPr>
        <p:spPr>
          <a:xfrm>
            <a:off x="3931920" y="5358384"/>
            <a:ext cx="49377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大阪工業大学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</a:t>
            </a:r>
          </a:p>
        </p:txBody>
      </p:sp>
      <p:sp>
        <p:nvSpPr>
          <p:cNvPr id="6" name="サブタイトル"/>
          <p:cNvSpPr txBox="1"/>
          <p:nvPr/>
        </p:nvSpPr>
        <p:spPr>
          <a:xfrm>
            <a:off x="411480" y="914400"/>
            <a:ext cx="5669280" cy="2103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本実験がスタート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最初の2週間の記録と3群への割付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介入1週目の提案の選ばれ方 ／ 実験中に起きたこと</a:t>
            </a:r>
          </a:p>
        </p:txBody>
      </p:sp>
      <p:pic>
        <p:nvPicPr>
          <p:cNvPr id="7" name="Picture 6" descr="ghost_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658368"/>
            <a:ext cx="40341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前回（10/30）からの進捗サマリー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2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813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89888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本実験を開始（11/2・228名）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応募241名のうち同意233名。目標240名にはわずかに届かず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94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03120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2週間の記録期間（全群：記録のみ）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平均記録率 89%、1回の記録は平均31秒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077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6352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解析計画書を版固定（11/14）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割付の前日に固定。主要な解析・補正方法・欠測の扱いを明記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2102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9584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WHO-5 で層別して3群に割付（11/15・213名）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各群71名。年齢・WHO-5 などのバランスは良好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342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進行中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42816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介入期間（11/16〜12/13）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現在2週目。提案は毎週日曜21時に配信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0474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7C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継続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956048"/>
            <a:ext cx="740664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全群共通の不具合を1件修正（11/18）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Android で通知が遅れる問題。逸脱として記録済み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人数・割合は想定値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全体スケジュールと現在地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3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1874519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0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11月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4173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12月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1417320"/>
            <a:ext cx="91439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465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60919" y="1417320"/>
            <a:ext cx="77723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2月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59" y="141732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3月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5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176479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システム開発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1874520"/>
            <a:ext cx="1496961" cy="329184"/>
          </a:xfrm>
          <a:prstGeom prst="roundRect">
            <a:avLst>
              <a:gd name="adj" fmla="val 22222"/>
            </a:avLst>
          </a:prstGeom>
          <a:solidFill>
            <a:srgbClr val="C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874519" y="1874520"/>
            <a:ext cx="1496961" cy="329184"/>
          </a:xfrm>
          <a:prstGeom prst="roundRect">
            <a:avLst>
              <a:gd name="adj" fmla="val 22222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74519" y="1874520"/>
            <a:ext cx="149696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設計 → ベータ版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31343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倫理審査・募集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7474" y="2423160"/>
            <a:ext cx="722670" cy="329184"/>
          </a:xfrm>
          <a:prstGeom prst="roundRect">
            <a:avLst>
              <a:gd name="adj" fmla="val 22222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287474" y="2423160"/>
            <a:ext cx="722670" cy="329184"/>
          </a:xfrm>
          <a:prstGeom prst="roundRect">
            <a:avLst>
              <a:gd name="adj" fmla="val 22222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87474" y="2423160"/>
            <a:ext cx="72267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審査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1765" y="2423160"/>
            <a:ext cx="412954" cy="329184"/>
          </a:xfrm>
          <a:prstGeom prst="roundRect">
            <a:avLst>
              <a:gd name="adj" fmla="val 22222"/>
            </a:avLst>
          </a:prstGeom>
          <a:solidFill>
            <a:srgbClr val="EF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061765" y="2423160"/>
            <a:ext cx="412954" cy="329184"/>
          </a:xfrm>
          <a:prstGeom prst="roundRect">
            <a:avLst>
              <a:gd name="adj" fmla="val 22222"/>
            </a:avLst>
          </a:prstGeom>
          <a:solidFill>
            <a:srgbClr val="7C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061765" y="2423160"/>
            <a:ext cx="45720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5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募集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86207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本実験（6週間）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8059" y="2971800"/>
            <a:ext cx="693420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528059" y="2971800"/>
            <a:ext cx="693420" cy="329184"/>
          </a:xfrm>
          <a:prstGeom prst="roundRect">
            <a:avLst>
              <a:gd name="adj" fmla="val 22222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8059" y="2971800"/>
            <a:ext cx="69342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記録のみ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4820" y="2971800"/>
            <a:ext cx="1331041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274820" y="2971800"/>
            <a:ext cx="586740" cy="329184"/>
          </a:xfrm>
          <a:prstGeom prst="roundRect">
            <a:avLst>
              <a:gd name="adj" fmla="val 22222"/>
            </a:avLst>
          </a:prstGeom>
          <a:solidFill>
            <a:srgbClr val="7F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74820" y="2971800"/>
            <a:ext cx="133104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介入（3群）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41071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解析・修論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50107" y="3520440"/>
            <a:ext cx="1622322" cy="329184"/>
          </a:xfrm>
          <a:prstGeom prst="roundRect">
            <a:avLst>
              <a:gd name="adj" fmla="val 22222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50107" y="3520440"/>
            <a:ext cx="1622322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 → 執筆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95935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対外発表</a:t>
            </a:r>
          </a:p>
        </p:txBody>
      </p:sp>
      <p:sp>
        <p:nvSpPr>
          <p:cNvPr id="39" name="Diamond 38"/>
          <p:cNvSpPr/>
          <p:nvPr/>
        </p:nvSpPr>
        <p:spPr>
          <a:xfrm>
            <a:off x="3228421" y="4032504"/>
            <a:ext cx="182880" cy="182880"/>
          </a:xfrm>
          <a:prstGeom prst="diamond">
            <a:avLst/>
          </a:prstGeom>
          <a:solidFill>
            <a:srgbClr val="E8457C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816941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CHIIR投稿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10/29</a:t>
            </a:r>
          </a:p>
        </p:txBody>
      </p:sp>
      <p:sp>
        <p:nvSpPr>
          <p:cNvPr id="41" name="Diamond 40"/>
          <p:cNvSpPr/>
          <p:nvPr/>
        </p:nvSpPr>
        <p:spPr>
          <a:xfrm>
            <a:off x="718098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6950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修論提出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1/29</a:t>
            </a:r>
          </a:p>
        </p:txBody>
      </p:sp>
      <p:sp>
        <p:nvSpPr>
          <p:cNvPr id="43" name="Diamond 42"/>
          <p:cNvSpPr/>
          <p:nvPr/>
        </p:nvSpPr>
        <p:spPr>
          <a:xfrm>
            <a:off x="7713617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02137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公聴会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2/17</a:t>
            </a:r>
          </a:p>
        </p:txBody>
      </p:sp>
      <p:sp>
        <p:nvSpPr>
          <p:cNvPr id="45" name="Diamond 44"/>
          <p:cNvSpPr/>
          <p:nvPr/>
        </p:nvSpPr>
        <p:spPr>
          <a:xfrm>
            <a:off x="829817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8669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3/7–11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861560" y="1719072"/>
            <a:ext cx="0" cy="2286000"/>
          </a:xfrm>
          <a:prstGeom prst="line">
            <a:avLst/>
          </a:prstGeom>
          <a:ln w="28575">
            <a:solidFill>
              <a:srgbClr val="E845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221480" y="4617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いまここ 11/27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029200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94360" y="5321808"/>
            <a:ext cx="548640" cy="54864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ic_flas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" y="5453481"/>
            <a:ext cx="285292" cy="2852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325880" y="5074920"/>
            <a:ext cx="72237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本実験は6週間のうち4週目。予定どおり 12/13 に終了する見込み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前回（10/30）から：募集 → 記録のみ期間 → 割付 → 介入開始まで進んだ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参加者の流れ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4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01952" cy="1051560"/>
          </a:xfrm>
          <a:prstGeom prst="roundRect">
            <a:avLst>
              <a:gd name="adj" fmla="val 10434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応募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9019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2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241名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1783080"/>
            <a:ext cx="182880" cy="329184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532888" y="1417320"/>
            <a:ext cx="1901952" cy="1051560"/>
          </a:xfrm>
          <a:prstGeom prst="roundRect">
            <a:avLst>
              <a:gd name="adj" fmla="val 10434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32888" y="1463040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同意・適格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828800"/>
            <a:ext cx="19019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2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233名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53128" y="1783080"/>
            <a:ext cx="182880" cy="329184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54296" y="1417320"/>
            <a:ext cx="1901952" cy="1051560"/>
          </a:xfrm>
          <a:prstGeom prst="roundRect">
            <a:avLst>
              <a:gd name="adj" fmla="val 10434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54296" y="1463040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開始（11/2）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1828800"/>
            <a:ext cx="19019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2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228名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74536" y="1783080"/>
            <a:ext cx="182880" cy="329184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775703" y="1417320"/>
            <a:ext cx="1901952" cy="1051560"/>
          </a:xfrm>
          <a:prstGeom prst="roundRect">
            <a:avLst>
              <a:gd name="adj" fmla="val 10434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75703" y="1463040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2週継続（11/15）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3" y="1828800"/>
            <a:ext cx="19019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213名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2651760"/>
            <a:ext cx="1783080" cy="777240"/>
          </a:xfrm>
          <a:prstGeom prst="roundRect">
            <a:avLst>
              <a:gd name="adj" fmla="val 9411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581912" y="267004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除外 8名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推し活なし3・未成年2・撤回3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0168" y="2651760"/>
            <a:ext cx="1783080" cy="777240"/>
          </a:xfrm>
          <a:prstGeom prst="roundRect">
            <a:avLst>
              <a:gd name="adj" fmla="val 9411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03320" y="267004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未開始 5名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初回設定せず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51575" y="2651760"/>
            <a:ext cx="1783080" cy="777240"/>
          </a:xfrm>
          <a:prstGeom prst="roundRect">
            <a:avLst>
              <a:gd name="adj" fmla="val 9411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24727" y="267004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脱落 15名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記録が7日以上途絶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05472" y="2468880"/>
            <a:ext cx="0" cy="1234440"/>
          </a:xfrm>
          <a:prstGeom prst="line">
            <a:avLst/>
          </a:prstGeom>
          <a:ln w="25400">
            <a:solidFill>
              <a:srgbClr val="0B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00200" y="3703320"/>
            <a:ext cx="6035040" cy="0"/>
          </a:xfrm>
          <a:prstGeom prst="line">
            <a:avLst/>
          </a:prstGeom>
          <a:ln w="25400">
            <a:solidFill>
              <a:srgbClr val="0B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74519" y="3703320"/>
            <a:ext cx="0" cy="274319"/>
          </a:xfrm>
          <a:prstGeom prst="line">
            <a:avLst/>
          </a:prstGeom>
          <a:ln w="25400">
            <a:solidFill>
              <a:srgbClr val="0B3C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" y="40233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096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50" b="1">
                <a:solidFill>
                  <a:srgbClr val="7A8594"/>
                </a:solidFill>
                <a:latin typeface="BIZ UDPゴシック"/>
                <a:ea typeface="BIZ UDPゴシック"/>
                <a:cs typeface="BIZ UDPゴシック"/>
              </a:rPr>
              <a:t>群A 記録のみ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71名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割付（11/15）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現在の継続：69名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17720" y="3703320"/>
            <a:ext cx="0" cy="274319"/>
          </a:xfrm>
          <a:prstGeom prst="line">
            <a:avLst/>
          </a:prstGeom>
          <a:ln w="25400">
            <a:solidFill>
              <a:srgbClr val="0B3C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74720" y="40233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74720" y="4096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50" b="1">
                <a:solidFill>
                  <a:srgbClr val="0099FF"/>
                </a:solidFill>
                <a:latin typeface="BIZ UDPゴシック"/>
                <a:ea typeface="BIZ UDPゴシック"/>
                <a:cs typeface="BIZ UDPゴシック"/>
              </a:rPr>
              <a:t>群B 提案（文章）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48056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71名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2120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割付（11/15）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5321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現在の継続：70名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60920" y="3703320"/>
            <a:ext cx="0" cy="274319"/>
          </a:xfrm>
          <a:prstGeom prst="line">
            <a:avLst/>
          </a:prstGeom>
          <a:ln w="25400">
            <a:solidFill>
              <a:srgbClr val="0B3C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217920" y="40233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17920" y="4096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群C 提案＋アバター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8056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71名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2120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割付（11/15）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321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現在の継続：70名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人数は想定値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最初の2週間：記録は続いたか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5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5394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0749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記録開始からの日数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35040" y="14173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4884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平均の記録率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9748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31秒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47472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1回の記録の平均時間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2336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5040" y="406908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8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80060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21時の通知の直後の記録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4068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rIns="137160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記録率は1日目97% → 14日目84%。週末（6・13日目）にやや下がる。介入期間に向けて通知の時刻は変えない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想定値：実データで差し替え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割付のバランス（11/15）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6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60320"/>
                <a:gridCol w="1920240"/>
                <a:gridCol w="1920240"/>
                <a:gridCol w="1920240"/>
              </a:tblGrid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群A 記録のみ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群B 提案（文章）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群C 提案＋アバター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人数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年齢（平均）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22.4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22.8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22.5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女性の割合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73%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WHO-5（2週・0〜25）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13.2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13.1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13.3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推し疲れ（1〜5）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充実（1〜5）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記録率（1〜2週）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89%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88%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90%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66360"/>
            <a:ext cx="8321040" cy="1005840"/>
          </a:xfrm>
          <a:prstGeom prst="roundRect">
            <a:avLst>
              <a:gd name="adj" fmla="val 10909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94360" y="5367528"/>
            <a:ext cx="594360" cy="59436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c_sca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5510174"/>
            <a:ext cx="309067" cy="3090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5193792"/>
            <a:ext cx="7132320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2週時点の WHO-5 で層別して割り付けたため、主要な指標の差は小さい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主要解析では2週時点の WHO-5 を共変量に入れる（解析計画書どおり）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想定値：実データで差し替え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ベイズ個人ツイン：2週間の初期結果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7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49377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577840" y="137160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715000" y="141732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36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約27%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推し疲れの予測の幅が縮んだ（充実は約26%）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383280"/>
            <a:ext cx="3154680" cy="2788920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24144" y="3529584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c_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639312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91072" y="3502152"/>
            <a:ext cx="23317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進捗①の試算との比較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1" y="4078224"/>
            <a:ext cx="2862072" cy="2002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試算では推し疲れ ±0.83、実際は ±0.86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記録が途切れた日がある人ほど縮みが小さい</a:t>
            </a:r>
          </a:p>
          <a:p>
            <a:pPr algn="l" marL="182880" indent="-182880">
              <a:spcAft>
                <a:spcPts val="300"/>
              </a:spcAft>
              <a:buClr>
                <a:srgbClr val="E8457C"/>
              </a:buClr>
              <a:buFont typeface="BIZ UDPゴシック"/>
              <a:buChar char="•"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6週時点での実測との一致は、終了後に評価（RQ1）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3492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※ 区間の幅は「記録0日時点の母集団モデル」と「14日の記録で更新したツイン」の参加者平均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想定値：実データで差し替え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いちばんの疲れの中身（記録期間）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8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45720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21208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v_sl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08760"/>
            <a:ext cx="137160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46304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睡眠がいちばん多い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深夜の配信・SNS が中心。平日に集中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3832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v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520440"/>
            <a:ext cx="1371600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0840" y="347472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出費は月末と発売日に集中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グッズの発売・予約のタイミングと一致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4068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EF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rIns="137160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7C6BC4"/>
                </a:solidFill>
                <a:latin typeface="BIZ UDPゴシック"/>
                <a:ea typeface="BIZ UDPゴシック"/>
                <a:cs typeface="BIZ UDPゴシック"/>
              </a:rPr>
              <a:t>予備調査（睡眠への支障 約3割）と同じく、睡眠の疲れが最も多い。提案も睡眠に関わる案が選ばれやすい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想定値：実データで差し替え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介入1週目：どの提案が選ばれ、実行されたか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9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25880"/>
          <a:ext cx="51206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343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「楽しさキープ」と「バランス」で約8割。減らす方向の「回復重視」は2割弱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8006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予備調査の「増やしたい ＞ 減らしたい」と一致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「組み替える」提案にしたことで、見送りは5%前後に抑えられている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371600"/>
            <a:ext cx="2971800" cy="1417320"/>
          </a:xfrm>
          <a:prstGeom prst="roundRect">
            <a:avLst>
              <a:gd name="adj" fmla="val 7741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97880" y="1417320"/>
            <a:ext cx="914400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0099FF"/>
                </a:solidFill>
                <a:latin typeface="BIZ UDPゴシック"/>
                <a:ea typeface="BIZ UDPゴシック"/>
                <a:cs typeface="BIZ UDPゴシック"/>
              </a:rPr>
              <a:t>群B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3400" b="1">
                <a:solidFill>
                  <a:srgbClr val="0099FF"/>
                </a:solidFill>
                <a:latin typeface="BIZ UDPゴシック"/>
                <a:ea typeface="BIZ UDPゴシック"/>
                <a:cs typeface="BIZ UDPゴシック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選んだ案を実行できた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971800"/>
            <a:ext cx="2971800" cy="1417320"/>
          </a:xfrm>
          <a:prstGeom prst="roundRect">
            <a:avLst>
              <a:gd name="adj" fmla="val 7741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97880" y="3017520"/>
            <a:ext cx="914400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群C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34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選んだ案を実行できた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572000"/>
            <a:ext cx="2971800" cy="1600200"/>
          </a:xfrm>
          <a:prstGeom prst="roundRect">
            <a:avLst>
              <a:gd name="adj" fmla="val 6857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7880" y="4617720"/>
            <a:ext cx="2697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まだ1週分のみ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群間の検定は事前に決めたとおり終了後に行う。途中で結論は出さない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想定値：実データで差し替え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実験中に起きたことと対応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10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/>
                <a:gridCol w="2743200"/>
                <a:gridCol w="3017520"/>
                <a:gridCol w="1737360"/>
              </a:tblGrid>
              <a:tr h="65836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日付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起きたこと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対応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影響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65836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11/6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Android で通知が最大2時間遅れる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通知の優先度を上げて修正（11/18・全群共通）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記録率への影響は小さい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11/9〜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強い疲れの記録で相談先を表示（3件）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手順どおり表示。継続は本人の判断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各群1件ずつ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65836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11/20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「今のままの顔を見るのがつらい」（群C・1名）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ミラーの非表示設定を案内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解析は群Cのまま（ITT）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随時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前日の記録を忘れた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前日分までの後入力を許可（事前規定）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後入力は記録の6%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846320"/>
            <a:ext cx="8321040" cy="1325880"/>
          </a:xfrm>
          <a:prstGeom prst="roundRect">
            <a:avLst>
              <a:gd name="adj" fmla="val 8275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94360" y="5212080"/>
            <a:ext cx="594360" cy="59436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c_cli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5354726"/>
            <a:ext cx="309067" cy="3090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4892040"/>
            <a:ext cx="7132320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すべて「逸脱・有害事象の記録表」に日時と内容を記録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重い有害事象はなし。相談先の表示は事前に決めた基準どおりに作動した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件数は想定値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解析計画（11/14 に版を固定）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11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8321040" cy="37307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/>
                <a:gridCol w="2651760"/>
                <a:gridCol w="4206240"/>
              </a:tblGrid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問い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目的変数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方法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RQ3（主要）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6週時点の WHO-5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共分散分析（2週の WHO-5 を共変量）。C対B・B対A を Holm 法で補正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RQ2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毎週の提案の実行（する／しない）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ロジスティック混合モデル（群×週、参加者ごとの切片）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RQ1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6週時点の予測と実測のずれ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平均絶対誤差と80%区間に入った割合（母集団モデルと比較）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副次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推し疲れの中身・楽しさ・生活への支障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線形混合モデル。多重性の補正は行わず探索的に扱う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62179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感度分析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欠測のある参加者を含めた主要解析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多重代入法（20セット）で同じ結論になるか確認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25780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rIns="137160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解析は割り付けた群のまま行う（ITT）。「実行した人ほど幸せか」は自己選択の偏りがあるため探索的な補助解析に限る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今後の予定と相談事項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2026/11/27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12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やること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本実験の終了（6週間）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780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12/14–16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86584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事後アンケート（SUS・似ている度・つながり感など）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815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12/17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9008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データを固定して主要解析を実行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8503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12/18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93591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次回の進捗で速報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2885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12/21〜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97096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修論の執筆を開始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371600"/>
            <a:ext cx="4023360" cy="3611880"/>
          </a:xfrm>
          <a:prstGeom prst="roundRect">
            <a:avLst>
              <a:gd name="adj" fmla="val 3037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c_comment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0" y="1629460"/>
            <a:ext cx="261518" cy="2615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32120" y="15087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相談したいこと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148840"/>
            <a:ext cx="370332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ミラーを非表示にした人の扱い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主解析は ITT。非表示の人を除いた感度分析も示すか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記録率の差が出てきた場合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欠測が群で偏ると主要解析に影響。多重代入の結果を本文に並べるか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166360"/>
            <a:ext cx="8321040" cy="1005840"/>
          </a:xfrm>
          <a:prstGeom prst="roundRect">
            <a:avLst>
              <a:gd name="adj" fmla="val 909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94360" y="5394960"/>
            <a:ext cx="548640" cy="548640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c_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" y="5526633"/>
            <a:ext cx="285292" cy="2852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25880" y="5193792"/>
            <a:ext cx="7223760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次回（12/18）に見せるもの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RQ1〜3 の主要な結果（速報）／脱落と記録率／アバターの評価／修論の章立て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9FF"/>
      </a:accent1>
      <a:accent2>
        <a:srgbClr val="00CC66"/>
      </a:accent2>
      <a:accent3>
        <a:srgbClr val="9999FF"/>
      </a:accent3>
      <a:accent4>
        <a:srgbClr val="ED7D31"/>
      </a:accent4>
      <a:accent5>
        <a:srgbClr val="FF99CC"/>
      </a:accent5>
      <a:accent6>
        <a:srgbClr val="CCFF66"/>
      </a:accent6>
      <a:hlink>
        <a:srgbClr val="0563C1"/>
      </a:hlink>
      <a:folHlink>
        <a:srgbClr val="954F72"/>
      </a:folHlink>
    </a:clrScheme>
    <a:fontScheme name="mixlab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71DAD71D-71F1-4879-AA29-AD68469550B8}" vid="{C503FC9E-2328-42BB-94CD-380D5209378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E6AF0D829D43D49B1E81D8F4BBE5B7D" ma:contentTypeVersion="10" ma:contentTypeDescription="新しいドキュメントを作成します。" ma:contentTypeScope="" ma:versionID="5539ab1a2f6c3bdbf31c7c5cd0f154e8">
  <xsd:schema xmlns:xsd="http://www.w3.org/2001/XMLSchema" xmlns:xs="http://www.w3.org/2001/XMLSchema" xmlns:p="http://schemas.microsoft.com/office/2006/metadata/properties" xmlns:ns3="827dca8b-9b89-463d-9c0f-8f583314a21a" targetNamespace="http://schemas.microsoft.com/office/2006/metadata/properties" ma:root="true" ma:fieldsID="0abcb71c8026bc76d3643389aaf979a1" ns3:_="">
    <xsd:import namespace="827dca8b-9b89-463d-9c0f-8f583314a2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dca8b-9b89-463d-9c0f-8f583314a2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7dca8b-9b89-463d-9c0f-8f583314a21a" xsi:nil="true"/>
  </documentManagement>
</p:properties>
</file>

<file path=customXml/itemProps1.xml><?xml version="1.0" encoding="utf-8"?>
<ds:datastoreItem xmlns:ds="http://schemas.openxmlformats.org/officeDocument/2006/customXml" ds:itemID="{7243403C-11AC-4F64-B63B-092045F9C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7dca8b-9b89-463d-9c0f-8f583314a2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FAF0C7-D3A2-4F0D-85B6-FC2608B86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F4103-916A-4822-B22D-C96AE4A255CF}">
  <ds:schemaRefs>
    <ds:schemaRef ds:uri="http://schemas.microsoft.com/office/2006/metadata/properties"/>
    <ds:schemaRef ds:uri="827dca8b-9b89-463d-9c0f-8f583314a21a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mixlab_jp(4-3)</Template>
  <TotalTime>12</TotalTime>
  <Words>546</Words>
  <Application>Microsoft Office PowerPoint</Application>
  <PresentationFormat>画面に合わせる 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游ゴシック</vt:lpstr>
      <vt:lpstr>Arial</vt:lpstr>
      <vt:lpstr>Office テーマ</vt:lpstr>
      <vt:lpstr>進捗報告2026/07/03</vt:lpstr>
      <vt:lpstr>進捗</vt:lpstr>
      <vt:lpstr>PowerPoint プレゼンテーション</vt:lpstr>
      <vt:lpstr>SEM分析（パス解析）のモデル構築</vt:lpstr>
      <vt:lpstr>進捗</vt:lpstr>
      <vt:lpstr>進捗</vt:lpstr>
      <vt:lpstr>進捗</vt:lpstr>
      <vt:lpstr>進捗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 2026/11/27</dc:title>
  <dc:creator>今井元</dc:creator>
  <cp:lastModifiedBy>今井　元</cp:lastModifiedBy>
  <cp:revision>1</cp:revision>
  <dcterms:created xsi:type="dcterms:W3CDTF">2026-07-03T00:39:04Z</dcterms:created>
  <dcterms:modified xsi:type="dcterms:W3CDTF">2026-07-03T00:51:52Z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0x0101004E6AF0D829D43D49B1E81D8F4BBE5B7D</vt:lpwstr>
  </property>
</Properties>
</file>