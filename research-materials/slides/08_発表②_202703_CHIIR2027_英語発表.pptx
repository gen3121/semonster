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3"/>
  </p:notesMasterIdLst>
  <p:sldIdLst>
    <p:sldId id="256" r:id="rId10"/>
    <p:sldId id="257" r:id="rId11"/>
    <p:sldId id="258" r:id="rId12"/>
    <p:sldId id="259" r:id="rId9"/>
    <p:sldId id="260" r:id="rId8"/>
    <p:sldId id="261" r:id="rId7"/>
    <p:sldId id="262" r:id="rId6"/>
    <p:sldId id="263" r:id="rId5"/>
    <p:sldId id="264" r:id="rId18"/>
    <p:sldId id="265" r:id="rId19"/>
    <p:sldId id="266" r:id="rId20"/>
    <p:sldId id="267" r:id="rId21"/>
    <p:sldId id="268" r:id="rId22"/>
    <p:sldId id="269" r:id="rId23"/>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75" autoAdjust="0"/>
    <p:restoredTop sz="94660"/>
  </p:normalViewPr>
  <p:slideViewPr>
    <p:cSldViewPr snapToGrid="0" showGuides="1">
      <p:cViewPr varScale="1">
        <p:scale>
          <a:sx n="59" d="100"/>
          <a:sy n="59" d="100"/>
        </p:scale>
        <p:origin x="96" y="68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Path coefficients</a:t>
            </a:r>
          </a:p>
        </c:rich>
      </c:tx>
      <c:layout/>
      <c:overlay val="0"/>
    </c:title>
    <c:autoTitleDeleted val="0"/>
    <c:plotArea>
      <c:barChart>
        <c:barDir val="col"/>
        <c:grouping val="clustered"/>
        <c:ser>
          <c:idx val="0"/>
          <c:order val="0"/>
          <c:tx>
            <c:strRef>
              <c:f>Sheet1!$B$1</c:f>
              <c:strCache>
                <c:ptCount val="1"/>
                <c:pt idx="0">
                  <c:v>coef.</c:v>
                </c:pt>
              </c:strCache>
            </c:strRef>
          </c:tx>
          <c:spPr>
            <a:solidFill>
              <a:srgbClr val="12A38A"/>
            </a:solidFill>
          </c:spPr>
          <c:invertIfNegative val="0"/>
          <c:dPt>
            <c:idx val="0"/>
            <c:spPr>
              <a:solidFill>
                <a:srgbClr val="12A38A"/>
              </a:solidFill>
            </c:spPr>
          </c:dPt>
          <c:dPt>
            <c:idx val="1"/>
            <c:spPr>
              <a:solidFill>
                <a:srgbClr val="12A38A"/>
              </a:solidFill>
            </c:spPr>
          </c:dPt>
          <c:dPt>
            <c:idx val="2"/>
            <c:spPr>
              <a:solidFill>
                <a:srgbClr val="E07A10"/>
              </a:solidFill>
            </c:spPr>
          </c:dPt>
          <c:dPt>
            <c:idx val="3"/>
            <c:spPr>
              <a:solidFill>
                <a:srgbClr val="E07A10"/>
              </a:solidFill>
            </c:spPr>
          </c:dPt>
          <c:cat>
            <c:strRef>
              <c:f>Sheet1!$A$2:$A$5</c:f>
              <c:strCache>
                <c:ptCount val="4"/>
                <c:pt idx="0">
                  <c:v>Frequency
→ Fulfil</c:v>
                </c:pt>
                <c:pt idx="1">
                  <c:v>Immersion
→ Fulfil</c:v>
                </c:pt>
                <c:pt idx="2">
                  <c:v>Frequency
→ Fatigue</c:v>
                </c:pt>
                <c:pt idx="3">
                  <c:v>Immersion
→ Fatigue</c:v>
                </c:pt>
              </c:strCache>
            </c:strRef>
          </c:cat>
          <c:val>
            <c:numRef>
              <c:f>Sheet1!$B$2:$B$5</c:f>
              <c:numCache>
                <c:formatCode>General</c:formatCode>
                <c:ptCount val="4"/>
                <c:pt idx="0">
                  <c:v>0.43</c:v>
                </c:pt>
                <c:pt idx="1">
                  <c:v>0.2</c:v>
                </c:pt>
                <c:pt idx="2">
                  <c:v>0.29</c:v>
                </c:pt>
                <c:pt idx="3">
                  <c:v>0.23</c:v>
                </c:pt>
              </c:numCache>
            </c:numRef>
          </c:val>
        </c:ser>
        <c:dLbls>
          <c:numFmt formatCode="0.00" sourceLinked="0"/>
          <c:txPr>
            <a:bodyPr/>
            <a:lstStyle/>
            <a:p>
              <a:pPr>
                <a:defRPr sz="1100" b="1">
                  <a:solidFill>
                    <a:srgbClr val="24303F"/>
                  </a:solidFill>
                  <a:latin typeface="BIZ UDPゴシック"/>
                  <a:ea typeface="BIZ UDPゴシック"/>
                  <a:cs typeface="BIZ UDPゴシック"/>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13994440"/>
        <c:crosses val="autoZero"/>
        <c:auto val="1"/>
        <c:lblAlgn val="ctr"/>
        <c:lblOffset val="100"/>
        <c:noMultiLvlLbl val="0"/>
      </c:catAx>
      <c:valAx>
        <c:axId val="-2113994440"/>
        <c:scaling>
          <c:max val="0.5"/>
          <c:min val="0.0"/>
        </c:scaling>
        <c:delete val="0"/>
        <c:axPos val="l"/>
        <c:majorGridlines>
          <c:spPr>
            <a:ln w="9525">
              <a:solidFill>
                <a:srgbClr val="E3E8EF"/>
              </a:solidFill>
            </a:ln>
          </c:spPr>
        </c:majorGridlines>
        <c:numFmt formatCode="0.0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068027336"/>
        <c:crosses val="autoZero"/>
        <c:majorUnit val="0.1"/>
      </c:valAx>
    </c:plotArea>
    <c:dispBlanksAs val="gap"/>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More people want MORE than less</a:t>
            </a:r>
          </a:p>
        </c:rich>
      </c:tx>
      <c:layout/>
      <c:overlay val="0"/>
    </c:title>
    <c:autoTitleDeleted val="0"/>
    <c:plotArea>
      <c:barChart>
        <c:barDir val="bar"/>
        <c:grouping val="clustered"/>
        <c:ser>
          <c:idx val="0"/>
          <c:order val="0"/>
          <c:tx>
            <c:strRef>
              <c:f>Sheet1!$B$1</c:f>
              <c:strCache>
                <c:ptCount val="1"/>
                <c:pt idx="0">
                  <c:v>share</c:v>
                </c:pt>
              </c:strCache>
            </c:strRef>
          </c:tx>
          <c:spPr>
            <a:solidFill>
              <a:srgbClr val="12A38A"/>
            </a:solidFill>
          </c:spPr>
          <c:invertIfNegative val="0"/>
          <c:dPt>
            <c:idx val="0"/>
            <c:spPr>
              <a:solidFill>
                <a:srgbClr val="12A38A"/>
              </a:solidFill>
            </c:spPr>
          </c:dPt>
          <c:dPt>
            <c:idx val="1"/>
            <c:spPr>
              <a:solidFill>
                <a:srgbClr val="12A38A"/>
              </a:solidFill>
            </c:spPr>
          </c:dPt>
          <c:dPt>
            <c:idx val="2"/>
            <c:spPr>
              <a:solidFill>
                <a:srgbClr val="E07A10"/>
              </a:solidFill>
            </c:spPr>
          </c:dPt>
          <c:cat>
            <c:strRef>
              <c:f>Sheet1!$A$2:$A$4</c:f>
              <c:strCache>
                <c:ptCount val="3"/>
                <c:pt idx="0">
                  <c:v>Want more live events</c:v>
                </c:pt>
                <c:pt idx="1">
                  <c:v>Want more goods</c:v>
                </c:pt>
                <c:pt idx="2">
                  <c:v>Want less social media</c:v>
                </c:pt>
              </c:strCache>
            </c:strRef>
          </c:cat>
          <c:val>
            <c:numRef>
              <c:f>Sheet1!$B$2:$B$4</c:f>
              <c:numCache>
                <c:formatCode>General</c:formatCode>
                <c:ptCount val="3"/>
                <c:pt idx="0">
                  <c:v>39</c:v>
                </c:pt>
                <c:pt idx="1">
                  <c:v>36</c:v>
                </c:pt>
                <c:pt idx="2">
                  <c:v>22</c:v>
                </c:pt>
              </c:numCache>
            </c:numRef>
          </c:val>
        </c:ser>
        <c:dLbls>
          <c:numFmt formatCode="0&quot;%&quot;" sourceLinked="0"/>
          <c:txPr>
            <a:bodyPr/>
            <a:lstStyle/>
            <a:p>
              <a:pPr>
                <a:defRPr sz="1100" b="1">
                  <a:solidFill>
                    <a:srgbClr val="24303F"/>
                  </a:solidFill>
                  <a:latin typeface="BIZ UDPゴシック"/>
                  <a:ea typeface="BIZ UDPゴシック"/>
                  <a:cs typeface="BIZ UDPゴシック"/>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13994440"/>
        <c:crosses val="autoZero"/>
        <c:auto val="1"/>
        <c:lblAlgn val="ctr"/>
        <c:lblOffset val="100"/>
        <c:noMultiLvlLbl val="0"/>
      </c:catAx>
      <c:valAx>
        <c:axId val="-2113994440"/>
        <c:scaling>
          <c:max val="50.0"/>
          <c:min val="0.0"/>
        </c:scaling>
        <c:delete val="0"/>
        <c:axPos val="b"/>
        <c:majorGridlines>
          <c:spPr>
            <a:ln w="9525">
              <a:solidFill>
                <a:srgbClr val="E3E8EF"/>
              </a:solidFill>
            </a:ln>
          </c:spPr>
        </c:majorGridlines>
        <c:numFmt formatCode="0&quot;%&quot;" sourceLinked="0"/>
        <c:majorTickMark val="out"/>
        <c:minorTickMark val="none"/>
        <c:tickLblPos val="none"/>
        <c:spPr>
          <a:ln>
            <a:noFill/>
          </a:ln>
        </c:spPr>
        <c:txPr>
          <a:bodyPr/>
          <a:lstStyle/>
          <a:p>
            <a:pPr>
              <a:defRPr sz="1050">
                <a:solidFill>
                  <a:srgbClr val="5A6676"/>
                </a:solidFill>
                <a:latin typeface="BIZ UDPゴシック"/>
                <a:ea typeface="BIZ UDPゴシック"/>
                <a:cs typeface="BIZ UDPゴシック"/>
              </a:defRPr>
            </a:pPr>
          </a:p>
        </c:txPr>
        <c:crossAx val="-2068027336"/>
        <c:crosses val="autoZero"/>
      </c:valAx>
    </c:plotArea>
    <c:dispBlanksAs val="gap"/>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0B3C6E"/>
                </a:solidFill>
                <a:latin typeface="BIZ UDPゴシック"/>
                <a:ea typeface="BIZ UDPゴシック"/>
                <a:cs typeface="BIZ UDPゴシック"/>
              </a:rPr>
              <a:t>Three Pareto-optimal options (example)</a:t>
            </a:r>
          </a:p>
        </c:rich>
      </c:tx>
      <c:layout/>
      <c:overlay val="0"/>
    </c:title>
    <c:plotArea>
      <c:scatterChart>
        <c:scatterStyle val="lineMarker"/>
        <c:varyColors val="0"/>
        <c:ser>
          <c:idx val="0"/>
          <c:order val="0"/>
          <c:tx>
            <c:strRef>
              <c:f>Sheet1!$B$1</c:f>
              <c:strCache>
                <c:ptCount val="1"/>
                <c:pt idx="0">
                  <c:v>As is</c:v>
                </c:pt>
              </c:strCache>
            </c:strRef>
          </c:tx>
          <c:spPr>
            <a:ln w="47625">
              <a:noFill/>
            </a:ln>
          </c:spPr>
          <c:marker>
            <c:symbol val="circle"/>
            <c:size val="15"/>
            <c:spPr>
              <a:solidFill>
                <a:srgbClr val="E07A10"/>
              </a:solidFill>
              <a:ln>
                <a:solidFill>
                  <a:srgbClr val="FFFFFF"/>
                </a:solidFill>
              </a:ln>
            </c:spPr>
          </c:marker>
          <c:dLbls>
            <c:dLbl>
              <c:idx val="0"/>
              <c:tx>
                <c:rich>
                  <a:bodyPr/>
                  <a:lstStyle/>
                  <a:p>
                    <a:r>
                      <a:rPr sz="1100" b="1">
                        <a:solidFill>
                          <a:srgbClr val="E07A10"/>
                        </a:solidFill>
                        <a:latin typeface="BIZ UDPゴシック"/>
                        <a:ea typeface="BIZ UDPゴシック"/>
                        <a:cs typeface="BIZ UDPゴシック"/>
                      </a:rPr>
                      <a:t>As is</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Sheet1!$A$2:$A$2</c:f>
              <c:numCache>
                <c:formatCode>General</c:formatCode>
                <c:ptCount val="1"/>
                <c:pt idx="0">
                  <c:v>3.5</c:v>
                </c:pt>
              </c:numCache>
            </c:numRef>
          </c:xVal>
          <c:yVal>
            <c:numRef>
              <c:f>Sheet1!$B$2:$B$2</c:f>
              <c:numCache>
                <c:formatCode>General</c:formatCode>
                <c:ptCount val="1"/>
                <c:pt idx="0">
                  <c:v>3.6</c:v>
                </c:pt>
              </c:numCache>
            </c:numRef>
          </c:yVal>
          <c:smooth val="0"/>
        </c:ser>
        <c:ser>
          <c:idx val="1"/>
          <c:order val="1"/>
          <c:tx>
            <c:strRef>
              <c:f>Sheet1!$B$4</c:f>
              <c:strCache>
                <c:ptCount val="1"/>
                <c:pt idx="0">
                  <c:v>① Keep-the-joy</c:v>
                </c:pt>
              </c:strCache>
            </c:strRef>
          </c:tx>
          <c:spPr>
            <a:ln w="47625">
              <a:noFill/>
            </a:ln>
          </c:spPr>
          <c:marker>
            <c:symbol val="circle"/>
            <c:size val="13"/>
            <c:spPr>
              <a:solidFill>
                <a:srgbClr val="12A38A"/>
              </a:solidFill>
              <a:ln>
                <a:solidFill>
                  <a:srgbClr val="FFFFFF"/>
                </a:solidFill>
              </a:ln>
            </c:spPr>
          </c:marker>
          <c:dLbls>
            <c:dLbl>
              <c:idx val="0"/>
              <c:tx>
                <c:rich>
                  <a:bodyPr/>
                  <a:lstStyle/>
                  <a:p>
                    <a:r>
                      <a:rPr sz="1100" b="1">
                        <a:solidFill>
                          <a:srgbClr val="12A38A"/>
                        </a:solidFill>
                        <a:latin typeface="BIZ UDPゴシック"/>
                        <a:ea typeface="BIZ UDPゴシック"/>
                        <a:cs typeface="BIZ UDPゴシック"/>
                      </a:rPr>
                      <a:t>① Keep-the-joy</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xVal>
            <c:numRef>
              <c:f>Sheet1!$A$5:$A$5</c:f>
              <c:numCache>
                <c:formatCode>General</c:formatCode>
                <c:ptCount val="1"/>
                <c:pt idx="0">
                  <c:v>3.1</c:v>
                </c:pt>
              </c:numCache>
            </c:numRef>
          </c:xVal>
          <c:yVal>
            <c:numRef>
              <c:f>Sheet1!$B$5:$B$5</c:f>
              <c:numCache>
                <c:formatCode>General</c:formatCode>
                <c:ptCount val="1"/>
                <c:pt idx="0">
                  <c:v>3.6</c:v>
                </c:pt>
              </c:numCache>
            </c:numRef>
          </c:yVal>
          <c:smooth val="0"/>
        </c:ser>
        <c:ser>
          <c:idx val="2"/>
          <c:order val="2"/>
          <c:tx>
            <c:strRef>
              <c:f>Sheet1!$B$7</c:f>
              <c:strCache>
                <c:ptCount val="1"/>
                <c:pt idx="0">
                  <c:v>② Balanced</c:v>
                </c:pt>
              </c:strCache>
            </c:strRef>
          </c:tx>
          <c:spPr>
            <a:ln w="47625">
              <a:noFill/>
            </a:ln>
          </c:spPr>
          <c:marker>
            <c:symbol val="circle"/>
            <c:size val="13"/>
            <c:spPr>
              <a:solidFill>
                <a:srgbClr val="12A38A"/>
              </a:solidFill>
              <a:ln>
                <a:solidFill>
                  <a:srgbClr val="FFFFFF"/>
                </a:solidFill>
              </a:ln>
            </c:spPr>
          </c:marker>
          <c:dLbls>
            <c:dLbl>
              <c:idx val="0"/>
              <c:tx>
                <c:rich>
                  <a:bodyPr/>
                  <a:lstStyle/>
                  <a:p>
                    <a:r>
                      <a:rPr sz="1100" b="1">
                        <a:solidFill>
                          <a:srgbClr val="12A38A"/>
                        </a:solidFill>
                        <a:latin typeface="BIZ UDPゴシック"/>
                        <a:ea typeface="BIZ UDPゴシック"/>
                        <a:cs typeface="BIZ UDPゴシック"/>
                      </a:rPr>
                      <a:t>② Balanced</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Sheet1!$A$8:$A$8</c:f>
              <c:numCache>
                <c:formatCode>General</c:formatCode>
                <c:ptCount val="1"/>
                <c:pt idx="0">
                  <c:v>3.3</c:v>
                </c:pt>
              </c:numCache>
            </c:numRef>
          </c:xVal>
          <c:yVal>
            <c:numRef>
              <c:f>Sheet1!$B$8:$B$8</c:f>
              <c:numCache>
                <c:formatCode>General</c:formatCode>
                <c:ptCount val="1"/>
                <c:pt idx="0">
                  <c:v>3.8</c:v>
                </c:pt>
              </c:numCache>
            </c:numRef>
          </c:yVal>
          <c:smooth val="0"/>
        </c:ser>
        <c:ser>
          <c:idx val="3"/>
          <c:order val="3"/>
          <c:tx>
            <c:strRef>
              <c:f>Sheet1!$B$10</c:f>
              <c:strCache>
                <c:ptCount val="1"/>
                <c:pt idx="0">
                  <c:v>③ Recovery-first</c:v>
                </c:pt>
              </c:strCache>
            </c:strRef>
          </c:tx>
          <c:spPr>
            <a:ln w="47625">
              <a:noFill/>
            </a:ln>
          </c:spPr>
          <c:marker>
            <c:symbol val="circle"/>
            <c:size val="13"/>
            <c:spPr>
              <a:solidFill>
                <a:srgbClr val="12A38A"/>
              </a:solidFill>
              <a:ln>
                <a:solidFill>
                  <a:srgbClr val="FFFFFF"/>
                </a:solidFill>
              </a:ln>
            </c:spPr>
          </c:marker>
          <c:dLbls>
            <c:dLbl>
              <c:idx val="0"/>
              <c:tx>
                <c:rich>
                  <a:bodyPr/>
                  <a:lstStyle/>
                  <a:p>
                    <a:r>
                      <a:rPr sz="1100" b="1">
                        <a:solidFill>
                          <a:srgbClr val="12A38A"/>
                        </a:solidFill>
                        <a:latin typeface="BIZ UDPゴシック"/>
                        <a:ea typeface="BIZ UDPゴシック"/>
                        <a:cs typeface="BIZ UDPゴシック"/>
                      </a:rPr>
                      <a:t>③ Recovery-first</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Sheet1!$A$11:$A$11</c:f>
              <c:numCache>
                <c:formatCode>General</c:formatCode>
                <c:ptCount val="1"/>
                <c:pt idx="0">
                  <c:v>2.8</c:v>
                </c:pt>
              </c:numCache>
            </c:numRef>
          </c:xVal>
          <c:yVal>
            <c:numRef>
              <c:f>Sheet1!$B$11:$B$11</c:f>
              <c:numCache>
                <c:formatCode>General</c:formatCode>
                <c:ptCount val="1"/>
                <c:pt idx="0">
                  <c:v>3.4</c:v>
                </c:pt>
              </c:numCache>
            </c:numRef>
          </c:yVal>
          <c:smooth val="0"/>
        </c:ser>
        <c:axId val="-2128940872"/>
        <c:axId val="-2129643912"/>
      </c:scatterChart>
      <c:valAx>
        <c:axId val="-2128940872"/>
        <c:scaling>
          <c:orientation val="minMax"/>
          <c:max val="3.8"/>
          <c:min val="2.6"/>
        </c:scaling>
        <c:delete val="0"/>
        <c:axPos val="b"/>
        <c:majorGridlines>
          <c:spPr>
            <a:ln>
              <a:solidFill>
                <a:srgbClr val="E3E8EF"/>
              </a:solidFill>
            </a:ln>
          </c:spPr>
        </c:majorGridlines>
        <c:title>
          <c:tx>
            <c:rich>
              <a:bodyPr/>
              <a:lstStyle/>
              <a:p>
                <a:r>
                  <a:rPr sz="1100" b="1">
                    <a:solidFill>
                      <a:srgbClr val="0B3C6E"/>
                    </a:solidFill>
                    <a:latin typeface="BIZ UDPゴシック"/>
                    <a:ea typeface="BIZ UDPゴシック"/>
                    <a:cs typeface="BIZ UDPゴシック"/>
                  </a:rPr>
                  <a:t>Predicted fatigue (lower is better)</a:t>
                </a:r>
              </a:p>
            </c:rich>
          </c:tx>
          <c:layout/>
          <c:overlay val="0"/>
        </c:title>
        <c:numFmt formatCode="0.0" sourceLinked="0"/>
        <c:majorTickMark val="out"/>
        <c:minorTickMark val="none"/>
        <c:tickLblPos val="nextTo"/>
        <c:spPr>
          <a:ln>
            <a:solidFill>
              <a:srgbClr val="B8C2CE"/>
            </a:solidFill>
          </a:ln>
        </c:spPr>
        <c:txPr>
          <a:bodyPr/>
          <a:lstStyle/>
          <a:p>
            <a:pPr>
              <a:defRPr sz="1050">
                <a:solidFill>
                  <a:srgbClr val="5A6676"/>
                </a:solidFill>
                <a:latin typeface="BIZ UDPゴシック"/>
                <a:ea typeface="BIZ UDPゴシック"/>
                <a:cs typeface="BIZ UDPゴシック"/>
              </a:defRPr>
            </a:pPr>
          </a:p>
        </c:txPr>
        <c:crossAx val="-2129643912"/>
        <c:crosses val="autoZero"/>
        <c:crossBetween val="midCat"/>
        <c:majorUnit val="0.2"/>
      </c:valAx>
      <c:valAx>
        <c:axId val="-2129643912"/>
        <c:scaling>
          <c:orientation val="minMax"/>
          <c:max val="4.0"/>
          <c:min val="3.2"/>
        </c:scaling>
        <c:delete val="0"/>
        <c:axPos val="l"/>
        <c:majorGridlines>
          <c:spPr>
            <a:ln>
              <a:solidFill>
                <a:srgbClr val="E3E8EF"/>
              </a:solidFill>
            </a:ln>
          </c:spPr>
        </c:majorGridlines>
        <c:title>
          <c:tx>
            <c:rich>
              <a:bodyPr/>
              <a:lstStyle/>
              <a:p>
                <a:r>
                  <a:rPr sz="1100" b="1">
                    <a:solidFill>
                      <a:srgbClr val="0B3C6E"/>
                    </a:solidFill>
                    <a:latin typeface="BIZ UDPゴシック"/>
                    <a:ea typeface="BIZ UDPゴシック"/>
                    <a:cs typeface="BIZ UDPゴシック"/>
                  </a:rPr>
                  <a:t>Predicted fulfilment</a:t>
                </a:r>
              </a:p>
            </c:rich>
          </c:tx>
          <c:layout/>
          <c:overlay val="0"/>
        </c:title>
        <c:numFmt formatCode="0.0" sourceLinked="0"/>
        <c:majorTickMark val="out"/>
        <c:minorTickMark val="none"/>
        <c:tickLblPos val="nextTo"/>
        <c:spPr>
          <a:ln>
            <a:solidFill>
              <a:srgbClr val="B8C2CE"/>
            </a:solidFill>
          </a:ln>
        </c:spPr>
        <c:txPr>
          <a:bodyPr/>
          <a:lstStyle/>
          <a:p>
            <a:pPr>
              <a:defRPr sz="1050">
                <a:solidFill>
                  <a:srgbClr val="5A6676"/>
                </a:solidFill>
                <a:latin typeface="BIZ UDPゴシック"/>
                <a:ea typeface="BIZ UDPゴシック"/>
                <a:cs typeface="BIZ UDPゴシック"/>
              </a:defRPr>
            </a:pPr>
          </a:p>
        </c:txPr>
        <c:crossAx val="-2128940872"/>
        <c:crosses val="autoZero"/>
        <c:crossBetween val="midCat"/>
        <c:majorUnit val="0.2"/>
      </c:valAx>
    </c:plotArea>
    <c:plotVisOnly val="1"/>
    <c:dispBlanksAs val="gap"/>
    <c:showDLblsOverMax val="0"/>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Proposal follow-through (%)</a:t>
            </a:r>
          </a:p>
        </c:rich>
      </c:tx>
      <c:layout/>
      <c:overlay val="0"/>
    </c:title>
    <c:autoTitleDeleted val="0"/>
    <c:plotArea>
      <c:lineChart>
        <c:grouping val="standard"/>
        <c:varyColors val="0"/>
        <c:ser>
          <c:idx val="0"/>
          <c:order val="0"/>
          <c:tx>
            <c:strRef>
              <c:f>Sheet1!$B$1</c:f>
              <c:strCache>
                <c:ptCount val="1"/>
                <c:pt idx="0">
                  <c:v>B: Text</c:v>
                </c:pt>
              </c:strCache>
            </c:strRef>
          </c:tx>
          <c:spPr>
            <a:ln w="31750">
              <a:solidFill>
                <a:srgbClr val="0099FF"/>
              </a:solidFill>
            </a:ln>
          </c:spPr>
          <c:marker>
            <c:symbol val="circle"/>
            <c:size val="7"/>
            <c:spPr>
              <a:solidFill>
                <a:srgbClr val="0099FF"/>
              </a:solidFill>
              <a:ln>
                <a:solidFill>
                  <a:srgbClr val="0099FF"/>
                </a:solidFill>
              </a:ln>
            </c:spPr>
          </c:marker>
          <c:dLbls>
            <c:numFmt formatCode="0" sourceLinked="0"/>
            <c:txPr>
              <a:bodyPr/>
              <a:lstStyle/>
              <a:p>
                <a:pPr>
                  <a:defRPr sz="1000" b="1">
                    <a:solidFill>
                      <a:srgbClr val="0099FF"/>
                    </a:solidFill>
                    <a:latin typeface="BIZ UDPゴシック"/>
                    <a:ea typeface="BIZ UDPゴシック"/>
                    <a:cs typeface="BIZ UDPゴシック"/>
                  </a:defRPr>
                </a:pPr>
              </a:p>
            </c:txPr>
            <c:dLblPos val="t"/>
            <c:showLegendKey val="0"/>
            <c:showVal val="1"/>
            <c:showCatName val="0"/>
            <c:showSerName val="0"/>
            <c:showPercent val="0"/>
            <c:showBubbleSize val="0"/>
            <c:showLeaderLines val="1"/>
          </c:dLbls>
          <c:cat>
            <c:strRef>
              <c:f>Sheet1!$A$2:$A$5</c:f>
              <c:strCache>
                <c:ptCount val="4"/>
                <c:pt idx="0">
                  <c:v>Wk 3</c:v>
                </c:pt>
                <c:pt idx="1">
                  <c:v>Wk 4</c:v>
                </c:pt>
                <c:pt idx="2">
                  <c:v>Wk 5</c:v>
                </c:pt>
                <c:pt idx="3">
                  <c:v>Wk 6</c:v>
                </c:pt>
              </c:strCache>
            </c:strRef>
          </c:cat>
          <c:val>
            <c:numRef>
              <c:f>Sheet1!$B$2:$B$5</c:f>
              <c:numCache>
                <c:formatCode>General</c:formatCode>
                <c:ptCount val="4"/>
                <c:pt idx="0">
                  <c:v>54</c:v>
                </c:pt>
                <c:pt idx="1">
                  <c:v>49</c:v>
                </c:pt>
                <c:pt idx="2">
                  <c:v>46</c:v>
                </c:pt>
                <c:pt idx="3">
                  <c:v>44</c:v>
                </c:pt>
              </c:numCache>
            </c:numRef>
          </c:val>
          <c:smooth val="0"/>
        </c:ser>
        <c:ser>
          <c:idx val="1"/>
          <c:order val="1"/>
          <c:tx>
            <c:strRef>
              <c:f>Sheet1!$C$1</c:f>
              <c:strCache>
                <c:ptCount val="1"/>
                <c:pt idx="0">
                  <c:v>C: + Avatar</c:v>
                </c:pt>
              </c:strCache>
            </c:strRef>
          </c:tx>
          <c:spPr>
            <a:ln w="31750">
              <a:solidFill>
                <a:srgbClr val="12A38A"/>
              </a:solidFill>
            </a:ln>
          </c:spPr>
          <c:marker>
            <c:symbol val="circle"/>
            <c:size val="7"/>
            <c:spPr>
              <a:solidFill>
                <a:srgbClr val="12A38A"/>
              </a:solidFill>
              <a:ln>
                <a:solidFill>
                  <a:srgbClr val="12A38A"/>
                </a:solidFill>
              </a:ln>
            </c:spPr>
          </c:marker>
          <c:dLbls>
            <c:numFmt formatCode="0" sourceLinked="0"/>
            <c:txPr>
              <a:bodyPr/>
              <a:lstStyle/>
              <a:p>
                <a:pPr>
                  <a:defRPr sz="1000" b="1">
                    <a:solidFill>
                      <a:srgbClr val="12A38A"/>
                    </a:solidFill>
                    <a:latin typeface="BIZ UDPゴシック"/>
                    <a:ea typeface="BIZ UDPゴシック"/>
                    <a:cs typeface="BIZ UDPゴシック"/>
                  </a:defRPr>
                </a:pPr>
              </a:p>
            </c:txPr>
            <c:dLblPos val="t"/>
            <c:showLegendKey val="0"/>
            <c:showVal val="1"/>
            <c:showCatName val="0"/>
            <c:showSerName val="0"/>
            <c:showPercent val="0"/>
            <c:showBubbleSize val="0"/>
            <c:showLeaderLines val="1"/>
          </c:dLbls>
          <c:cat>
            <c:strRef>
              <c:f>Sheet1!$A$2:$A$5</c:f>
              <c:strCache>
                <c:ptCount val="4"/>
                <c:pt idx="0">
                  <c:v>Wk 3</c:v>
                </c:pt>
                <c:pt idx="1">
                  <c:v>Wk 4</c:v>
                </c:pt>
                <c:pt idx="2">
                  <c:v>Wk 5</c:v>
                </c:pt>
                <c:pt idx="3">
                  <c:v>Wk 6</c:v>
                </c:pt>
              </c:strCache>
            </c:strRef>
          </c:cat>
          <c:val>
            <c:numRef>
              <c:f>Sheet1!$C$2:$C$5</c:f>
              <c:numCache>
                <c:formatCode>General</c:formatCode>
                <c:ptCount val="4"/>
                <c:pt idx="0">
                  <c:v>63</c:v>
                </c:pt>
                <c:pt idx="1">
                  <c:v>61</c:v>
                </c:pt>
                <c:pt idx="2">
                  <c:v>58</c:v>
                </c:pt>
                <c:pt idx="3">
                  <c:v>57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40495176"/>
        <c:crosses val="autoZero"/>
        <c:auto val="1"/>
        <c:lblAlgn val="ctr"/>
        <c:lblOffset val="100"/>
        <c:noMultiLvlLbl val="0"/>
      </c:catAx>
      <c:valAx>
        <c:axId val="2140495176"/>
        <c:scaling>
          <c:max val="70.0"/>
          <c:min val="30.0"/>
        </c:scaling>
        <c:delete val="0"/>
        <c:axPos val="l"/>
        <c:majorGridlines>
          <c:spPr>
            <a:ln w="9525">
              <a:solidFill>
                <a:srgbClr val="E3E8EF"/>
              </a:solidFill>
            </a:ln>
          </c:spPr>
        </c:majorGridlines>
        <c:numFmt formatCode="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118791784"/>
        <c:crosses val="autoZero"/>
        <c:majorUnit val="10.0"/>
      </c:valAx>
    </c:plotArea>
    <c:legend>
      <c:legendPos val="b"/>
      <c:layout/>
      <c:overlay val="0"/>
      <c:txPr>
        <a:bodyPr/>
        <a:lstStyle/>
        <a:p>
          <a:pPr>
            <a:defRPr sz="1100">
              <a:latin typeface="BIZ UDPゴシック"/>
              <a:ea typeface="BIZ UDPゴシック"/>
              <a:cs typeface="BIZ UDPゴシック"/>
            </a:defRPr>
          </a:pPr>
        </a:p>
      </c:txPr>
    </c:legend>
    <c:plotVisOnly val="1"/>
    <c:dispBlanksAs val="gap"/>
    <c:showDLblsOverMax val="0"/>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WHO-5 (raw 0–25)</a:t>
            </a:r>
          </a:p>
        </c:rich>
      </c:tx>
      <c:layout/>
      <c:overlay val="0"/>
    </c:title>
    <c:autoTitleDeleted val="0"/>
    <c:plotArea>
      <c:lineChart>
        <c:grouping val="standard"/>
        <c:varyColors val="0"/>
        <c:ser>
          <c:idx val="0"/>
          <c:order val="0"/>
          <c:tx>
            <c:strRef>
              <c:f>Sheet1!$B$1</c:f>
              <c:strCache>
                <c:ptCount val="1"/>
                <c:pt idx="0">
                  <c:v>A</c:v>
                </c:pt>
              </c:strCache>
            </c:strRef>
          </c:tx>
          <c:spPr>
            <a:ln w="31750">
              <a:solidFill>
                <a:srgbClr val="8FA3B8"/>
              </a:solidFill>
            </a:ln>
          </c:spPr>
          <c:marker>
            <c:symbol val="circle"/>
            <c:size val="7"/>
            <c:spPr>
              <a:solidFill>
                <a:srgbClr val="8FA3B8"/>
              </a:solidFill>
              <a:ln>
                <a:solidFill>
                  <a:srgbClr val="8FA3B8"/>
                </a:solidFill>
              </a:ln>
            </c:spPr>
          </c:marker>
          <c:dLbls>
            <c:dLbl>
              <c:idx val="3"/>
              <c:numFmt formatCode="0.0" sourceLinked="0"/>
              <c:spPr/>
              <c:txPr>
                <a:bodyPr/>
                <a:lstStyle/>
                <a:p>
                  <a:pPr>
                    <a:defRPr sz="1100" b="1">
                      <a:solidFill>
                        <a:srgbClr val="8FA3B8"/>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Wk 0</c:v>
                </c:pt>
                <c:pt idx="1">
                  <c:v>Wk 2</c:v>
                </c:pt>
                <c:pt idx="2">
                  <c:v>Wk 4</c:v>
                </c:pt>
                <c:pt idx="3">
                  <c:v>Wk 6</c:v>
                </c:pt>
              </c:strCache>
            </c:strRef>
          </c:cat>
          <c:val>
            <c:numRef>
              <c:f>Sheet1!$B$2:$B$5</c:f>
              <c:numCache>
                <c:formatCode>General</c:formatCode>
                <c:ptCount val="4"/>
                <c:pt idx="0">
                  <c:v>13.0</c:v>
                </c:pt>
                <c:pt idx="1">
                  <c:v>13.2</c:v>
                </c:pt>
                <c:pt idx="2">
                  <c:v>13.1</c:v>
                </c:pt>
                <c:pt idx="3">
                  <c:v>13.0</c:v>
                </c:pt>
              </c:numCache>
            </c:numRef>
          </c:val>
          <c:smooth val="0"/>
        </c:ser>
        <c:ser>
          <c:idx val="1"/>
          <c:order val="1"/>
          <c:tx>
            <c:strRef>
              <c:f>Sheet1!$C$1</c:f>
              <c:strCache>
                <c:ptCount val="1"/>
                <c:pt idx="0">
                  <c:v>B</c:v>
                </c:pt>
              </c:strCache>
            </c:strRef>
          </c:tx>
          <c:spPr>
            <a:ln w="31750">
              <a:solidFill>
                <a:srgbClr val="0099FF"/>
              </a:solidFill>
            </a:ln>
          </c:spPr>
          <c:marker>
            <c:symbol val="circle"/>
            <c:size val="7"/>
            <c:spPr>
              <a:solidFill>
                <a:srgbClr val="0099FF"/>
              </a:solidFill>
              <a:ln>
                <a:solidFill>
                  <a:srgbClr val="0099FF"/>
                </a:solidFill>
              </a:ln>
            </c:spPr>
          </c:marker>
          <c:dLbls>
            <c:dLbl>
              <c:idx val="3"/>
              <c:numFmt formatCode="0.0" sourceLinked="0"/>
              <c:spPr/>
              <c:txPr>
                <a:bodyPr/>
                <a:lstStyle/>
                <a:p>
                  <a:pPr>
                    <a:defRPr sz="1100" b="1">
                      <a:solidFill>
                        <a:srgbClr val="0099FF"/>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Wk 0</c:v>
                </c:pt>
                <c:pt idx="1">
                  <c:v>Wk 2</c:v>
                </c:pt>
                <c:pt idx="2">
                  <c:v>Wk 4</c:v>
                </c:pt>
                <c:pt idx="3">
                  <c:v>Wk 6</c:v>
                </c:pt>
              </c:strCache>
            </c:strRef>
          </c:cat>
          <c:val>
            <c:numRef>
              <c:f>Sheet1!$C$2:$C$5</c:f>
              <c:numCache>
                <c:formatCode>General</c:formatCode>
                <c:ptCount val="4"/>
                <c:pt idx="0">
                  <c:v>13.2</c:v>
                </c:pt>
                <c:pt idx="1">
                  <c:v>13.1</c:v>
                </c:pt>
                <c:pt idx="2">
                  <c:v>13.6</c:v>
                </c:pt>
                <c:pt idx="3">
                  <c:v>13.8</c:v>
                </c:pt>
              </c:numCache>
            </c:numRef>
          </c:val>
          <c:smooth val="0"/>
        </c:ser>
        <c:ser>
          <c:idx val="2"/>
          <c:order val="2"/>
          <c:tx>
            <c:strRef>
              <c:f>Sheet1!$D$1</c:f>
              <c:strCache>
                <c:ptCount val="1"/>
                <c:pt idx="0">
                  <c:v>C</c:v>
                </c:pt>
              </c:strCache>
            </c:strRef>
          </c:tx>
          <c:spPr>
            <a:ln w="31750">
              <a:solidFill>
                <a:srgbClr val="12A38A"/>
              </a:solidFill>
            </a:ln>
          </c:spPr>
          <c:marker>
            <c:symbol val="circle"/>
            <c:size val="7"/>
            <c:spPr>
              <a:solidFill>
                <a:srgbClr val="12A38A"/>
              </a:solidFill>
              <a:ln>
                <a:solidFill>
                  <a:srgbClr val="12A38A"/>
                </a:solidFill>
              </a:ln>
            </c:spPr>
          </c:marker>
          <c:dLbls>
            <c:dLbl>
              <c:idx val="3"/>
              <c:numFmt formatCode="0.0" sourceLinked="0"/>
              <c:spPr/>
              <c:txPr>
                <a:bodyPr/>
                <a:lstStyle/>
                <a:p>
                  <a:pPr>
                    <a:defRPr sz="1100" b="1">
                      <a:solidFill>
                        <a:srgbClr val="12A38A"/>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Wk 0</c:v>
                </c:pt>
                <c:pt idx="1">
                  <c:v>Wk 2</c:v>
                </c:pt>
                <c:pt idx="2">
                  <c:v>Wk 4</c:v>
                </c:pt>
                <c:pt idx="3">
                  <c:v>Wk 6</c:v>
                </c:pt>
              </c:strCache>
            </c:strRef>
          </c:cat>
          <c:val>
            <c:numRef>
              <c:f>Sheet1!$D$2:$D$5</c:f>
              <c:numCache>
                <c:formatCode>General</c:formatCode>
                <c:ptCount val="4"/>
                <c:pt idx="0">
                  <c:v>13.1</c:v>
                </c:pt>
                <c:pt idx="1">
                  <c:v>13.3</c:v>
                </c:pt>
                <c:pt idx="2">
                  <c:v>14.2</c:v>
                </c:pt>
                <c:pt idx="3">
                  <c:v>14.7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40495176"/>
        <c:crosses val="autoZero"/>
        <c:auto val="1"/>
        <c:lblAlgn val="ctr"/>
        <c:lblOffset val="100"/>
        <c:noMultiLvlLbl val="0"/>
      </c:catAx>
      <c:valAx>
        <c:axId val="2140495176"/>
        <c:scaling>
          <c:max val="15.5"/>
          <c:min val="12.0"/>
        </c:scaling>
        <c:delete val="0"/>
        <c:axPos val="l"/>
        <c:majorGridlines>
          <c:spPr>
            <a:ln w="9525">
              <a:solidFill>
                <a:srgbClr val="E3E8EF"/>
              </a:solidFill>
            </a:ln>
          </c:spPr>
        </c:majorGridlines>
        <c:numFmt formatCode="0.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118791784"/>
        <c:crosses val="autoZero"/>
        <c:majorUnit val="0.5"/>
      </c:valAx>
    </c:plotArea>
    <c:legend>
      <c:legendPos val="b"/>
      <c:layout/>
      <c:overlay val="0"/>
      <c:txPr>
        <a:bodyPr/>
        <a:lstStyle/>
        <a:p>
          <a:pPr>
            <a:defRPr sz="1100">
              <a:latin typeface="BIZ UDPゴシック"/>
              <a:ea typeface="BIZ UDPゴシック"/>
              <a:cs typeface="BIZ UDPゴシック"/>
            </a:defRPr>
          </a:pPr>
        </a:p>
      </c:txPr>
    </c:legend>
    <c:plotVisOnly val="1"/>
    <c:dispBlanksAs val="gap"/>
    <c:showDLblsOverMax val="0"/>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Weekly logging rate (%)</a:t>
            </a:r>
          </a:p>
        </c:rich>
      </c:tx>
      <c:layout/>
      <c:overlay val="0"/>
    </c:title>
    <c:autoTitleDeleted val="0"/>
    <c:plotArea>
      <c:lineChart>
        <c:grouping val="standard"/>
        <c:varyColors val="0"/>
        <c:ser>
          <c:idx val="0"/>
          <c:order val="0"/>
          <c:tx>
            <c:strRef>
              <c:f>Sheet1!$B$1</c:f>
              <c:strCache>
                <c:ptCount val="1"/>
                <c:pt idx="0">
                  <c:v>A</c:v>
                </c:pt>
              </c:strCache>
            </c:strRef>
          </c:tx>
          <c:spPr>
            <a:ln w="31750">
              <a:solidFill>
                <a:srgbClr val="8FA3B8"/>
              </a:solidFill>
            </a:ln>
          </c:spPr>
          <c:marker>
            <c:symbol val="circle"/>
            <c:size val="7"/>
            <c:spPr>
              <a:solidFill>
                <a:srgbClr val="8FA3B8"/>
              </a:solidFill>
              <a:ln>
                <a:solidFill>
                  <a:srgbClr val="8FA3B8"/>
                </a:solidFill>
              </a:ln>
            </c:spPr>
          </c:marker>
          <c:dLbls>
            <c:dLbl>
              <c:idx val="5"/>
              <c:numFmt formatCode="0" sourceLinked="0"/>
              <c:spPr/>
              <c:txPr>
                <a:bodyPr/>
                <a:lstStyle/>
                <a:p>
                  <a:pPr>
                    <a:defRPr sz="1100" b="1">
                      <a:solidFill>
                        <a:srgbClr val="8FA3B8"/>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1</c:v>
                </c:pt>
                <c:pt idx="1">
                  <c:v>2</c:v>
                </c:pt>
                <c:pt idx="2">
                  <c:v>3</c:v>
                </c:pt>
                <c:pt idx="3">
                  <c:v>4</c:v>
                </c:pt>
                <c:pt idx="4">
                  <c:v>5</c:v>
                </c:pt>
                <c:pt idx="5">
                  <c:v>6</c:v>
                </c:pt>
              </c:strCache>
            </c:strRef>
          </c:cat>
          <c:val>
            <c:numRef>
              <c:f>Sheet1!$B$2:$B$7</c:f>
              <c:numCache>
                <c:formatCode>General</c:formatCode>
                <c:ptCount val="6"/>
                <c:pt idx="0">
                  <c:v>91</c:v>
                </c:pt>
                <c:pt idx="1">
                  <c:v>87</c:v>
                </c:pt>
                <c:pt idx="2">
                  <c:v>82</c:v>
                </c:pt>
                <c:pt idx="3">
                  <c:v>78</c:v>
                </c:pt>
                <c:pt idx="4">
                  <c:v>74</c:v>
                </c:pt>
                <c:pt idx="5">
                  <c:v>71</c:v>
                </c:pt>
              </c:numCache>
            </c:numRef>
          </c:val>
          <c:smooth val="0"/>
        </c:ser>
        <c:ser>
          <c:idx val="1"/>
          <c:order val="1"/>
          <c:tx>
            <c:strRef>
              <c:f>Sheet1!$C$1</c:f>
              <c:strCache>
                <c:ptCount val="1"/>
                <c:pt idx="0">
                  <c:v>B</c:v>
                </c:pt>
              </c:strCache>
            </c:strRef>
          </c:tx>
          <c:spPr>
            <a:ln w="31750">
              <a:solidFill>
                <a:srgbClr val="0099FF"/>
              </a:solidFill>
            </a:ln>
          </c:spPr>
          <c:marker>
            <c:symbol val="circle"/>
            <c:size val="7"/>
            <c:spPr>
              <a:solidFill>
                <a:srgbClr val="0099FF"/>
              </a:solidFill>
              <a:ln>
                <a:solidFill>
                  <a:srgbClr val="0099FF"/>
                </a:solidFill>
              </a:ln>
            </c:spPr>
          </c:marker>
          <c:dLbls>
            <c:dLbl>
              <c:idx val="5"/>
              <c:numFmt formatCode="0" sourceLinked="0"/>
              <c:spPr/>
              <c:txPr>
                <a:bodyPr/>
                <a:lstStyle/>
                <a:p>
                  <a:pPr>
                    <a:defRPr sz="1100" b="1">
                      <a:solidFill>
                        <a:srgbClr val="0099FF"/>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1</c:v>
                </c:pt>
                <c:pt idx="1">
                  <c:v>2</c:v>
                </c:pt>
                <c:pt idx="2">
                  <c:v>3</c:v>
                </c:pt>
                <c:pt idx="3">
                  <c:v>4</c:v>
                </c:pt>
                <c:pt idx="4">
                  <c:v>5</c:v>
                </c:pt>
                <c:pt idx="5">
                  <c:v>6</c:v>
                </c:pt>
              </c:strCache>
            </c:strRef>
          </c:cat>
          <c:val>
            <c:numRef>
              <c:f>Sheet1!$C$2:$C$7</c:f>
              <c:numCache>
                <c:formatCode>General</c:formatCode>
                <c:ptCount val="6"/>
                <c:pt idx="0">
                  <c:v>90</c:v>
                </c:pt>
                <c:pt idx="1">
                  <c:v>88</c:v>
                </c:pt>
                <c:pt idx="2">
                  <c:v>84</c:v>
                </c:pt>
                <c:pt idx="3">
                  <c:v>81</c:v>
                </c:pt>
                <c:pt idx="4">
                  <c:v>78</c:v>
                </c:pt>
                <c:pt idx="5">
                  <c:v>75</c:v>
                </c:pt>
              </c:numCache>
            </c:numRef>
          </c:val>
          <c:smooth val="0"/>
        </c:ser>
        <c:ser>
          <c:idx val="2"/>
          <c:order val="2"/>
          <c:tx>
            <c:strRef>
              <c:f>Sheet1!$D$1</c:f>
              <c:strCache>
                <c:ptCount val="1"/>
                <c:pt idx="0">
                  <c:v>C</c:v>
                </c:pt>
              </c:strCache>
            </c:strRef>
          </c:tx>
          <c:spPr>
            <a:ln w="31750">
              <a:solidFill>
                <a:srgbClr val="12A38A"/>
              </a:solidFill>
            </a:ln>
          </c:spPr>
          <c:marker>
            <c:symbol val="circle"/>
            <c:size val="7"/>
            <c:spPr>
              <a:solidFill>
                <a:srgbClr val="12A38A"/>
              </a:solidFill>
              <a:ln>
                <a:solidFill>
                  <a:srgbClr val="12A38A"/>
                </a:solidFill>
              </a:ln>
            </c:spPr>
          </c:marker>
          <c:dLbls>
            <c:dLbl>
              <c:idx val="5"/>
              <c:numFmt formatCode="0" sourceLinked="0"/>
              <c:spPr/>
              <c:txPr>
                <a:bodyPr/>
                <a:lstStyle/>
                <a:p>
                  <a:pPr>
                    <a:defRPr sz="1100" b="1">
                      <a:solidFill>
                        <a:srgbClr val="12A38A"/>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1</c:v>
                </c:pt>
                <c:pt idx="1">
                  <c:v>2</c:v>
                </c:pt>
                <c:pt idx="2">
                  <c:v>3</c:v>
                </c:pt>
                <c:pt idx="3">
                  <c:v>4</c:v>
                </c:pt>
                <c:pt idx="4">
                  <c:v>5</c:v>
                </c:pt>
                <c:pt idx="5">
                  <c:v>6</c:v>
                </c:pt>
              </c:strCache>
            </c:strRef>
          </c:cat>
          <c:val>
            <c:numRef>
              <c:f>Sheet1!$D$2:$D$7</c:f>
              <c:numCache>
                <c:formatCode>General</c:formatCode>
                <c:ptCount val="6"/>
                <c:pt idx="0">
                  <c:v>91</c:v>
                </c:pt>
                <c:pt idx="1">
                  <c:v>88</c:v>
                </c:pt>
                <c:pt idx="2">
                  <c:v>87</c:v>
                </c:pt>
                <c:pt idx="3">
                  <c:v>86</c:v>
                </c:pt>
                <c:pt idx="4">
                  <c:v>84</c:v>
                </c:pt>
                <c:pt idx="5">
                  <c:v>83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40495176"/>
        <c:crosses val="autoZero"/>
        <c:auto val="1"/>
        <c:lblAlgn val="ctr"/>
        <c:lblOffset val="100"/>
        <c:noMultiLvlLbl val="0"/>
      </c:catAx>
      <c:valAx>
        <c:axId val="2140495176"/>
        <c:scaling>
          <c:max val="100.0"/>
          <c:min val="60.0"/>
        </c:scaling>
        <c:delete val="0"/>
        <c:axPos val="l"/>
        <c:majorGridlines>
          <c:spPr>
            <a:ln w="9525">
              <a:solidFill>
                <a:srgbClr val="E3E8EF"/>
              </a:solidFill>
            </a:ln>
          </c:spPr>
        </c:majorGridlines>
        <c:numFmt formatCode="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118791784"/>
        <c:crosses val="autoZero"/>
        <c:majorUnit val="10.0"/>
      </c:valAx>
    </c:plotArea>
    <c:legend>
      <c:legendPos val="b"/>
      <c:layout/>
      <c:overlay val="0"/>
      <c:txPr>
        <a:bodyPr/>
        <a:lstStyle/>
        <a:p>
          <a:pPr>
            <a:defRPr sz="1100">
              <a:latin typeface="BIZ UDPゴシック"/>
              <a:ea typeface="BIZ UDPゴシック"/>
              <a:cs typeface="BIZ UDPゴシック"/>
            </a:defRPr>
          </a:pPr>
        </a:p>
      </c:txPr>
    </c:legend>
    <c:plotVisOnly val="1"/>
    <c:dispBlanksAs val="gap"/>
    <c:showDLblsOverMax val="0"/>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F139FF-5DF4-46B1-A730-4E68595A117A}" type="datetimeFigureOut">
              <a:rPr kumimoji="1" lang="ja-JP" altLang="en-US" smtClean="0"/>
              <a:t>2026/7/3</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6D2F10-75EE-4518-AB94-CE9EAC6EA3C6}" type="slidenum">
              <a:rPr kumimoji="1" lang="ja-JP" altLang="en-US" smtClean="0"/>
              <a:t>‹#›</a:t>
            </a:fld>
            <a:endParaRPr kumimoji="1" lang="ja-JP" altLang="en-US"/>
          </a:p>
        </p:txBody>
      </p:sp>
    </p:spTree>
    <p:extLst>
      <p:ext uri="{BB962C8B-B14F-4D97-AF65-F5344CB8AC3E}">
        <p14:creationId xmlns:p14="http://schemas.microsoft.com/office/powerpoint/2010/main" val="234563921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Hi, I'm Gen Imai from Osaka Institute of Technology. Today I'll present OshiFit, a system that shows people possible futures of their fan activities, honestly including uncertainty, to support behavior change without taking the joy away.</a:t>
            </a:r>
          </a:p>
          <a:p/>
          <a:p>
            <a:r>
              <a:t>[訳]</a:t>
            </a:r>
          </a:p>
          <a:p>
            <a:r>
              <a:t>大阪工業大学の今井元です。推し活の将来の見込みを、不確かさも含めて正直に見せることで、楽しさを奪わずに行動変容を支えるシステムOshiFitについて発表します。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Oshi-katsu means passionately supporting your favorite idol or character. It is now a huge culture in Japan: a market estimated at 3.8 trillion yen, with about one in three people involved. It can bring purpose and better mental health. But there is a dark side called fandom fatigue: overspending, comparing yourself with other fans, and burnout from obligation.</a:t>
            </a:r>
          </a:p>
          <a:p/>
          <a:p>
            <a:r>
              <a:t>[訳]</a:t>
            </a:r>
          </a:p>
          <a:p>
            <a:r>
              <a:t>推し活は、推しのアイドルやキャラクターを熱心に応援することです。市場規模は約3.8兆円、国民の約3人に1人が行う文化になり、生きがいや精神的健康にもつながります。一方で、使いすぎ、他のファンとの比較、義務感による燃え尽きといった「推し疲れ」が問題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We first surveyed 215 fans. About 80 percent said their oshi is their reason to live, yet 40 percent worried about money and 30 percent lost sleep. Activity frequency and immersion predicted both fulfilment and fatigue, and 27 percent were high in both. Also, more people wanted to do more, not less. So simply telling fans to cut back would take away the joy.</a:t>
            </a:r>
          </a:p>
          <a:p/>
          <a:p>
            <a:r>
              <a:t>[訳]</a:t>
            </a:r>
          </a:p>
          <a:p>
            <a:r>
              <a:t>215名の予備調査では、約8割が推しを生きがいと答える一方、約4割が出費に不安、約3割が睡眠に支障を感じていました。頻度と没入は充実と疲れの両方を予測し、両方高い人が27%いました。また、減らしたい人より増やしたい人が多く、「減らせ」という支援では楽しさを奪ってしまい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This creates a design challenge. Our forecasts are noisy: R-squared is .27 for fulfilment and only .11 for fatigue. Showing a single confident future self would overclaim. We made three design moves: personalize the forecast, show the uncertainty, and rebalance rather than restrict.</a:t>
            </a:r>
          </a:p>
          <a:p/>
          <a:p>
            <a:r>
              <a:t>[訳]</a:t>
            </a:r>
          </a:p>
          <a:p>
            <a:r>
              <a:t>ここに設計上の課題があります。予測の説明率は充実で.27、疲れでは.11にとどまります。1つの確定した未来の自分を見せるのは言い過ぎです。そこで、予測の個人化、不確かさの提示、そして減らすのではなく組み替える提案、という3つの設計を行い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Here is the system. Inputs are a 1-minute personality test, a 30-second daily log, and the user's own wishes. The Bayesian twin updates every night, the rebalance engine proposes three options, and the Future Mirror shows 'as is' next to 'with the proposal'. Strong distress signals pause the forecasts and show help resources.</a:t>
            </a:r>
          </a:p>
          <a:p/>
          <a:p>
            <a:r>
              <a:t>[訳]</a:t>
            </a:r>
          </a:p>
          <a:p>
            <a:r>
              <a:t>システムの全体像です。入力は1分の性格検査、毎日30秒の記録、本人の希望です。ベイズ個人ツインが毎晩更新され、リバランス提案エンジンが3案を出し、みらいミラーで「今のまま」と「提案どおり」を並べます。強いつらさが見られる場合は予測を止め、相談先を表示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Our key idea is the possible-selves avatar. Instead of one face, we draw 20 futures from the forecast distribution and overlay five versions of your look-alike avatar. With few logs, your future self is blurry; as you log, the selves converge and your future becomes sharper. The blur is honest about uncertainty, and the growing resolution gives a reason to keep logging.</a:t>
            </a:r>
          </a:p>
          <a:p/>
          <a:p>
            <a:r>
              <a:t>[訳]</a:t>
            </a:r>
          </a:p>
          <a:p>
            <a:r>
              <a:t>中心となるアイデアがゆらぎアバターです。1つの顔ではなく、予測分布から20通りの未来を引き、自分に似たアバターを5体重ねて描きます。記録が少ないうちは未来の自分がぼやけ、記録が増えると重なりが収束してくっきりします。ぼやけは不確かさに正直であり、解像度が上がることは記録を続ける理由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Proposals rebalance rather than restrict. We generate 98 candidates by nudging up to two of seven activities, drop any that cut what the user wants more of, and keep the Pareto front. The user picks one of three options, or skips the week.</a:t>
            </a:r>
          </a:p>
          <a:p/>
          <a:p>
            <a:r>
              <a:t>[訳]</a:t>
            </a:r>
          </a:p>
          <a:p>
            <a:r>
              <a:t>提案は「減らす」ではなく「組み替える」ものです。7つの活動のうち最大2つを1段階動かした98案を作り、本人が増やしたい活動を減らす案を除いて、パレート最適な案を残します。本人は3案から1つを選ぶか、その週は見送ることも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Here is a week with OshiFit. Every day you log your fan activities in about 30 seconds. Once a week you pick a proposal. In the avatar condition, you also see the Future Mirror, comparing 'as is' with 'with the proposal', including how many of 20 possible futures end up highly fatigued.</a:t>
            </a:r>
          </a:p>
          <a:p/>
          <a:p>
            <a:r>
              <a:t>[訳]</a:t>
            </a:r>
          </a:p>
          <a:p>
            <a:r>
              <a:t>OshiFitの1週間です。毎日約30秒で推し活を記録し、週に1回提案を選びます。アバター群では、みらいミラーで「今のまま」と「提案どおり」を比べ、20通りの未来のうち何通りが疲れ高めになるかも確認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We ran a six-week randomized controlled trial with three arms. Everyone logged for two weeks, then we randomized, stratified by WHO-5. Groups B and C received identical proposals; only group C saw the forecasts and the possible-selves avatar. The primary outcome was WHO-5 well-being at week six.</a:t>
            </a:r>
          </a:p>
          <a:p/>
          <a:p>
            <a:r>
              <a:t>[訳]</a:t>
            </a:r>
          </a:p>
          <a:p>
            <a:r>
              <a:t>6週間・3群の無作為化比較実験を行いました。全員が2週間記録したあと、WHO-5で層別して割り付けました。群Bと群Cの提案は同じで、群Cだけが予測とゆらぎアバターを見ます。主要評価は6週時点のWHO-5です。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Since submitting the paper, we completed the study with 197 participants. Group C followed through on proposals more often than group B in every week, with an odds ratio of 1.71. The proposals were identical, so the difference comes from how the future was shown. Personalization also reduced forecast error, and the 80 percent intervals were roughly honest.</a:t>
            </a:r>
          </a:p>
          <a:p/>
          <a:p>
            <a:r>
              <a:t>[訳]</a:t>
            </a:r>
          </a:p>
          <a:p>
            <a:r>
              <a:t>論文投稿後、197名で実験を完了しました。群Cはすべての週で群Bより提案を多く実行し、オッズ比は1.71でした。提案は同じなので、差は未来の見せ方によるものです。個人補正で予測誤差も減り、80%区間もおおむね正直でし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For well-being, the effect was small. WHO-5 rose most in group C, but the primary comparisons were not significant after Holm correction. Importantly, enjoyment did not drop in any group, and group C kept logging at higher rates, which suggests that future-self resolution works as a motivator, although this is exploratory.</a:t>
            </a:r>
          </a:p>
          <a:p/>
          <a:p>
            <a:r>
              <a:t>[訳]</a:t>
            </a:r>
          </a:p>
          <a:p>
            <a:r>
              <a:t>ウェルビーイングへの効果は小さいものでした。WHO-5は群Cで最も上がりましたが、主要な比較はHolm補正後に有意ではありませんでした。重要なのは、どの群でも楽しさが下がらなかったこと、そして群Cの記録率が高く保たれたことです。未来の解像度が動機になった可能性がありますが、探索的な結果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Three implications for designers. First, make uncertainty a feature, not a footnote. Second, in domains without one right answer, rebalance rather than restrict. Third, the same advice framed through a possible future self can change what people actually do.</a:t>
            </a:r>
          </a:p>
          <a:p/>
          <a:p>
            <a:r>
              <a:t>[訳]</a:t>
            </a:r>
          </a:p>
          <a:p>
            <a:r>
              <a:t>設計者への示唆は3つです。1つ目は、不確かさを注釈ではなく機能にすること。2つ目は、正解が1つではない領域では、制限ではなく組み替えること。3つ目は、同じ助言でも未来の自分を通して見せると実際の行動が変わること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There are limitations: the study was short and modest in size, the avatar and dot displays were bundled, outcomes were self-reported, and the sample was mostly students. Next, we plan a longer follow-up and a factorial study that separates avatars from dot counts.</a:t>
            </a:r>
          </a:p>
          <a:p/>
          <a:p>
            <a:r>
              <a:t>[訳]</a:t>
            </a:r>
          </a:p>
          <a:p>
            <a:r>
              <a:t>限界として、期間と規模が小さいこと、アバターと点の表示を同時に見せたこと、自己報告であること、参加者が学生中心であることが挙げられます。今後は長期の追跡と、アバターと点の表示を切り分ける実験を計画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To summarize: show the future honestly, rebalance rather than restrict, and let people choose. Thank you, and I'm happy to take questions.</a:t>
            </a:r>
          </a:p>
          <a:p/>
          <a:p>
            <a:r>
              <a:t>[訳]</a:t>
            </a:r>
          </a:p>
          <a:p>
            <a:r>
              <a:t>まとめると、未来を正直に見せること、制限ではなく組み替えること、そして本人に選んでもらうことです。ご清聴ありがとうございました。質問をお受けします。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8" name="正方形/長方形 7"/>
          <p:cNvSpPr/>
          <p:nvPr userDrawn="1"/>
        </p:nvSpPr>
        <p:spPr>
          <a:xfrm>
            <a:off x="0" y="0"/>
            <a:ext cx="9144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1"/>
          <p:cNvSpPr>
            <a:spLocks noGrp="1"/>
          </p:cNvSpPr>
          <p:nvPr>
            <p:ph type="ctrTitle"/>
          </p:nvPr>
        </p:nvSpPr>
        <p:spPr>
          <a:xfrm>
            <a:off x="103340" y="3607869"/>
            <a:ext cx="8915400" cy="1655761"/>
          </a:xfrm>
        </p:spPr>
        <p:txBody>
          <a:bodyPr anchor="b"/>
          <a:lstStyle>
            <a:lvl1pPr algn="ctr">
              <a:defRPr sz="4500"/>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300740" y="5356274"/>
            <a:ext cx="4925889" cy="1418957"/>
          </a:xfrm>
        </p:spPr>
        <p:txBody>
          <a:bodyPr>
            <a:normAutofit/>
          </a:bodyPr>
          <a:lstStyle>
            <a:lvl1pPr marL="0" indent="0" algn="l">
              <a:buNone/>
              <a:defRPr sz="20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endParaRPr kumimoji="1" lang="ja-JP" altLang="en-US" dirty="0"/>
          </a:p>
        </p:txBody>
      </p:sp>
      <p:sp>
        <p:nvSpPr>
          <p:cNvPr id="19" name="サブタイトル 2"/>
          <p:cNvSpPr txBox="1">
            <a:spLocks/>
          </p:cNvSpPr>
          <p:nvPr userDrawn="1"/>
        </p:nvSpPr>
        <p:spPr>
          <a:xfrm>
            <a:off x="6068860" y="4277519"/>
            <a:ext cx="2949880" cy="1655762"/>
          </a:xfrm>
          <a:prstGeom prst="rect">
            <a:avLst/>
          </a:prstGeom>
        </p:spPr>
        <p:txBody>
          <a:bodyPr vert="horz" lIns="68580" tIns="34290" rIns="68580" bIns="34290" rtlCol="0">
            <a:normAutofit/>
          </a:bodyPr>
          <a:lstStyle>
            <a:lvl1pPr marL="0" indent="0" algn="l" defTabSz="914400"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kumimoji="1"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kumimoji="1"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9pPr>
          </a:lstStyle>
          <a:p>
            <a:endParaRPr lang="ja-JP" altLang="en-US" sz="2400" dirty="0"/>
          </a:p>
        </p:txBody>
      </p:sp>
      <p:pic>
        <p:nvPicPr>
          <p:cNvPr id="9" name="図 8" descr="アイコン&#10;&#10;自動的に生成された説明">
            <a:extLst>
              <a:ext uri="{FF2B5EF4-FFF2-40B4-BE49-F238E27FC236}">
                <a16:creationId xmlns:a16="http://schemas.microsoft.com/office/drawing/2014/main" id="{27B4E2A7-DAEA-4D6D-82DB-9419AF5FAF5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340" y="5346399"/>
            <a:ext cx="1182362" cy="1428837"/>
          </a:xfrm>
          <a:prstGeom prst="rect">
            <a:avLst/>
          </a:prstGeom>
        </p:spPr>
      </p:pic>
      <p:cxnSp>
        <p:nvCxnSpPr>
          <p:cNvPr id="5" name="直線コネクタ 4">
            <a:extLst>
              <a:ext uri="{FF2B5EF4-FFF2-40B4-BE49-F238E27FC236}">
                <a16:creationId xmlns:a16="http://schemas.microsoft.com/office/drawing/2014/main" id="{CCAFA43D-FE5B-48C3-863A-33F247D129D4}"/>
              </a:ext>
            </a:extLst>
          </p:cNvPr>
          <p:cNvCxnSpPr/>
          <p:nvPr userDrawn="1"/>
        </p:nvCxnSpPr>
        <p:spPr>
          <a:xfrm>
            <a:off x="103340" y="5252744"/>
            <a:ext cx="89154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6" name="正方形/長方形 5">
            <a:extLst>
              <a:ext uri="{FF2B5EF4-FFF2-40B4-BE49-F238E27FC236}">
                <a16:creationId xmlns:a16="http://schemas.microsoft.com/office/drawing/2014/main" id="{B5F561B1-C9EC-4DC6-912D-C77D62F90B04}"/>
              </a:ext>
            </a:extLst>
          </p:cNvPr>
          <p:cNvSpPr/>
          <p:nvPr userDrawn="1"/>
        </p:nvSpPr>
        <p:spPr>
          <a:xfrm>
            <a:off x="0" y="-1"/>
            <a:ext cx="9144000" cy="343556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198568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F5D49C76-77F1-4215-9649-4092C94102D0}"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26457730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8" name="正方形/長方形 7"/>
          <p:cNvSpPr/>
          <p:nvPr userDrawn="1"/>
        </p:nvSpPr>
        <p:spPr>
          <a:xfrm>
            <a:off x="1" y="0"/>
            <a:ext cx="9114626" cy="63005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1"/>
          <p:cNvSpPr>
            <a:spLocks noGrp="1"/>
          </p:cNvSpPr>
          <p:nvPr>
            <p:ph type="title"/>
          </p:nvPr>
        </p:nvSpPr>
        <p:spPr>
          <a:xfrm>
            <a:off x="300625" y="1709739"/>
            <a:ext cx="8586592" cy="2852737"/>
          </a:xfrm>
        </p:spPr>
        <p:txBody>
          <a:bodyPr anchor="b"/>
          <a:lstStyle>
            <a:lvl1pPr>
              <a:defRPr sz="45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300625" y="4589464"/>
            <a:ext cx="8586592"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C867CBC8-C13F-44F6-BCB3-948A96AAE3EF}"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pic>
        <p:nvPicPr>
          <p:cNvPr id="9" name="図 8"/>
          <p:cNvPicPr>
            <a:picLocks noChangeAspect="1"/>
          </p:cNvPicPr>
          <p:nvPr userDrawn="1"/>
        </p:nvPicPr>
        <p:blipFill>
          <a:blip r:embed="rId2">
            <a:clrChange>
              <a:clrFrom>
                <a:srgbClr val="FEFEFE"/>
              </a:clrFrom>
              <a:clrTo>
                <a:srgbClr val="FEFEFE">
                  <a:alpha val="0"/>
                </a:srgbClr>
              </a:clrTo>
            </a:clrChange>
            <a:extLst>
              <a:ext uri="{28A0092B-C50C-407E-A947-70E740481C1C}">
                <a14:useLocalDpi xmlns:a14="http://schemas.microsoft.com/office/drawing/2010/main" val="0"/>
              </a:ext>
            </a:extLst>
          </a:blip>
          <a:stretch>
            <a:fillRect/>
          </a:stretch>
        </p:blipFill>
        <p:spPr>
          <a:xfrm>
            <a:off x="7988385" y="25052"/>
            <a:ext cx="1155615" cy="1342496"/>
          </a:xfrm>
          <a:prstGeom prst="rect">
            <a:avLst/>
          </a:prstGeom>
        </p:spPr>
      </p:pic>
    </p:spTree>
    <p:extLst>
      <p:ext uri="{BB962C8B-B14F-4D97-AF65-F5344CB8AC3E}">
        <p14:creationId xmlns:p14="http://schemas.microsoft.com/office/powerpoint/2010/main" val="2163646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122128" y="1716067"/>
            <a:ext cx="4392722" cy="446089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4629150" y="1716067"/>
            <a:ext cx="4408379" cy="446089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5" name="日付プレースホルダー 4"/>
          <p:cNvSpPr>
            <a:spLocks noGrp="1"/>
          </p:cNvSpPr>
          <p:nvPr>
            <p:ph type="dt" sz="half" idx="10"/>
          </p:nvPr>
        </p:nvSpPr>
        <p:spPr/>
        <p:txBody>
          <a:bodyPr/>
          <a:lstStyle/>
          <a:p>
            <a:fld id="{9AA910EA-EFB6-4ED7-B593-CE78B1973066}" type="datetime1">
              <a:rPr kumimoji="1" lang="ja-JP" altLang="en-US" smtClean="0"/>
              <a:t>2026/7/3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8196328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0" y="1"/>
            <a:ext cx="7886700" cy="1325563"/>
          </a:xfrm>
        </p:spPr>
        <p:txBody>
          <a:bodyPr/>
          <a:lstStyle/>
          <a:p>
            <a:r>
              <a:rPr kumimoji="1" lang="ja-JP" altLang="en-US"/>
              <a:t>マスター タイトルの書式設定</a:t>
            </a:r>
            <a:endParaRPr kumimoji="1" lang="ja-JP" altLang="en-US" dirty="0"/>
          </a:p>
        </p:txBody>
      </p:sp>
      <p:sp>
        <p:nvSpPr>
          <p:cNvPr id="3" name="テキスト プレースホルダー 2"/>
          <p:cNvSpPr>
            <a:spLocks noGrp="1"/>
          </p:cNvSpPr>
          <p:nvPr>
            <p:ph type="body" idx="1"/>
          </p:nvPr>
        </p:nvSpPr>
        <p:spPr>
          <a:xfrm>
            <a:off x="122129" y="1681163"/>
            <a:ext cx="4376053"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122129" y="2505075"/>
            <a:ext cx="4376053"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4629150" y="1681163"/>
            <a:ext cx="448547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4629150" y="2505075"/>
            <a:ext cx="448547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7" name="日付プレースホルダー 6"/>
          <p:cNvSpPr>
            <a:spLocks noGrp="1"/>
          </p:cNvSpPr>
          <p:nvPr>
            <p:ph type="dt" sz="half" idx="10"/>
          </p:nvPr>
        </p:nvSpPr>
        <p:spPr/>
        <p:txBody>
          <a:bodyPr/>
          <a:lstStyle/>
          <a:p>
            <a:fld id="{9C446DE9-826E-4F2E-9FBE-79AF29EDC55F}" type="datetime1">
              <a:rPr kumimoji="1" lang="ja-JP" altLang="en-US" smtClean="0"/>
              <a:t>2026/7/3</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348059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4ED6424B-FEB0-415C-8C57-9662DE1E2037}" type="datetime1">
              <a:rPr kumimoji="1" lang="ja-JP" altLang="en-US" smtClean="0"/>
              <a:t>2026/7/3</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571745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AB5750C9-8340-4923-BDA6-FE9093DBE1F0}" type="datetime1">
              <a:rPr kumimoji="1" lang="ja-JP" altLang="en-US" smtClean="0"/>
              <a:t>2026/7/3</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351240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5AD568FF-8035-4960-B29B-D2E38E699D23}"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13087982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正方形/長方形 10"/>
          <p:cNvSpPr/>
          <p:nvPr userDrawn="1"/>
        </p:nvSpPr>
        <p:spPr>
          <a:xfrm>
            <a:off x="0" y="6394366"/>
            <a:ext cx="1155526" cy="46363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2" name="正方形/長方形 11"/>
          <p:cNvSpPr/>
          <p:nvPr userDrawn="1"/>
        </p:nvSpPr>
        <p:spPr>
          <a:xfrm>
            <a:off x="1155526" y="6394366"/>
            <a:ext cx="7158625" cy="46363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3" name="正方形/長方形 12"/>
          <p:cNvSpPr/>
          <p:nvPr userDrawn="1"/>
        </p:nvSpPr>
        <p:spPr>
          <a:xfrm>
            <a:off x="8314151" y="6394366"/>
            <a:ext cx="829850" cy="46363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8" name="正方形/長方形 7"/>
          <p:cNvSpPr/>
          <p:nvPr userDrawn="1"/>
        </p:nvSpPr>
        <p:spPr>
          <a:xfrm>
            <a:off x="1" y="0"/>
            <a:ext cx="7565720" cy="1083832"/>
          </a:xfrm>
          <a:prstGeom prst="rect">
            <a:avLst/>
          </a:prstGeom>
          <a:gradFill>
            <a:gsLst>
              <a:gs pos="68000">
                <a:schemeClr val="accent1">
                  <a:lumMod val="20000"/>
                  <a:lumOff val="80000"/>
                </a:schemeClr>
              </a:gs>
              <a:gs pos="100000">
                <a:schemeClr val="bg1"/>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プレースホルダー 1"/>
          <p:cNvSpPr>
            <a:spLocks noGrp="1"/>
          </p:cNvSpPr>
          <p:nvPr>
            <p:ph type="title"/>
          </p:nvPr>
        </p:nvSpPr>
        <p:spPr>
          <a:xfrm>
            <a:off x="0" y="-7407"/>
            <a:ext cx="8109606" cy="873837"/>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p:cNvSpPr>
            <a:spLocks noGrp="1"/>
          </p:cNvSpPr>
          <p:nvPr>
            <p:ph type="body" idx="1"/>
          </p:nvPr>
        </p:nvSpPr>
        <p:spPr>
          <a:xfrm>
            <a:off x="116237" y="1261733"/>
            <a:ext cx="8903777" cy="4915231"/>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p:cNvSpPr>
            <a:spLocks noGrp="1"/>
          </p:cNvSpPr>
          <p:nvPr>
            <p:ph type="dt" sz="half" idx="2"/>
          </p:nvPr>
        </p:nvSpPr>
        <p:spPr>
          <a:xfrm>
            <a:off x="46973" y="6455298"/>
            <a:ext cx="967636" cy="365125"/>
          </a:xfrm>
          <a:prstGeom prst="rect">
            <a:avLst/>
          </a:prstGeom>
        </p:spPr>
        <p:txBody>
          <a:bodyPr vert="horz" lIns="91440" tIns="45720" rIns="91440" bIns="45720" rtlCol="0" anchor="ctr"/>
          <a:lstStyle>
            <a:lvl1pPr algn="l">
              <a:defRPr sz="1200">
                <a:solidFill>
                  <a:schemeClr val="tx1"/>
                </a:solidFill>
              </a:defRPr>
            </a:lvl1pPr>
          </a:lstStyle>
          <a:p>
            <a:fld id="{530C953D-9D36-4E45-98EB-F4573D85DE5F}" type="datetime1">
              <a:rPr lang="ja-JP" altLang="en-US" smtClean="0"/>
              <a:t>2026/7/3</a:t>
            </a:fld>
            <a:endParaRPr lang="ja-JP" altLang="en-US" dirty="0"/>
          </a:p>
        </p:txBody>
      </p:sp>
      <p:sp>
        <p:nvSpPr>
          <p:cNvPr id="5" name="フッター プレースホルダー 4"/>
          <p:cNvSpPr>
            <a:spLocks noGrp="1"/>
          </p:cNvSpPr>
          <p:nvPr>
            <p:ph type="ftr" sz="quarter" idx="3"/>
          </p:nvPr>
        </p:nvSpPr>
        <p:spPr>
          <a:xfrm>
            <a:off x="1202498" y="6435466"/>
            <a:ext cx="7082278" cy="384956"/>
          </a:xfrm>
          <a:prstGeom prst="rect">
            <a:avLst/>
          </a:prstGeom>
        </p:spPr>
        <p:txBody>
          <a:bodyPr vert="horz" lIns="91440" tIns="45720" rIns="91440" bIns="45720" rtlCol="0" anchor="ctr"/>
          <a:lstStyle>
            <a:lvl1pPr algn="ctr">
              <a:defRPr sz="1200">
                <a:solidFill>
                  <a:schemeClr val="tx1"/>
                </a:solidFill>
              </a:defRPr>
            </a:lvl1pPr>
          </a:lstStyle>
          <a:p>
            <a:endParaRPr lang="ja-JP" altLang="en-US" dirty="0"/>
          </a:p>
        </p:txBody>
      </p:sp>
      <p:sp>
        <p:nvSpPr>
          <p:cNvPr id="9" name="正方形/長方形 8"/>
          <p:cNvSpPr/>
          <p:nvPr userDrawn="1"/>
        </p:nvSpPr>
        <p:spPr>
          <a:xfrm>
            <a:off x="1" y="880126"/>
            <a:ext cx="9143999" cy="320675"/>
          </a:xfrm>
          <a:prstGeom prst="rect">
            <a:avLst/>
          </a:prstGeom>
          <a:gradFill flip="none" rotWithShape="1">
            <a:gsLst>
              <a:gs pos="17000">
                <a:schemeClr val="accent1">
                  <a:lumMod val="50000"/>
                </a:schemeClr>
              </a:gs>
              <a:gs pos="88000">
                <a:schemeClr val="bg1"/>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0" name="テキスト ボックス 9"/>
          <p:cNvSpPr txBox="1"/>
          <p:nvPr userDrawn="1"/>
        </p:nvSpPr>
        <p:spPr>
          <a:xfrm>
            <a:off x="0" y="855796"/>
            <a:ext cx="6200000" cy="300082"/>
          </a:xfrm>
          <a:prstGeom prst="rect">
            <a:avLst/>
          </a:prstGeom>
          <a:noFill/>
        </p:spPr>
        <p:txBody>
          <a:bodyPr wrap="none" rtlCol="0">
            <a:spAutoFit/>
          </a:bodyPr>
          <a:lstStyle/>
          <a:p>
            <a:r>
              <a:rPr kumimoji="1" lang="en-US" altLang="ja-JP" sz="1350" b="1" i="1" dirty="0">
                <a:solidFill>
                  <a:schemeClr val="bg1"/>
                </a:solidFill>
              </a:rPr>
              <a:t>Media</a:t>
            </a:r>
            <a:r>
              <a:rPr kumimoji="1" lang="en-US" altLang="ja-JP" sz="1350" b="1" i="1" baseline="0" dirty="0">
                <a:solidFill>
                  <a:schemeClr val="bg1"/>
                </a:solidFill>
              </a:rPr>
              <a:t> Interaction Laboratory, Osaka Institute of Technology</a:t>
            </a:r>
            <a:endParaRPr kumimoji="1" lang="ja-JP" altLang="en-US" sz="1350" b="1" i="1" dirty="0">
              <a:solidFill>
                <a:schemeClr val="bg1"/>
              </a:solidFill>
            </a:endParaRPr>
          </a:p>
        </p:txBody>
      </p:sp>
      <p:sp>
        <p:nvSpPr>
          <p:cNvPr id="6" name="スライド番号プレースホルダー 5"/>
          <p:cNvSpPr>
            <a:spLocks noGrp="1"/>
          </p:cNvSpPr>
          <p:nvPr>
            <p:ph type="sldNum" sz="quarter" idx="4"/>
          </p:nvPr>
        </p:nvSpPr>
        <p:spPr>
          <a:xfrm>
            <a:off x="8389307" y="6455298"/>
            <a:ext cx="725319" cy="365125"/>
          </a:xfrm>
          <a:prstGeom prst="rect">
            <a:avLst/>
          </a:prstGeom>
        </p:spPr>
        <p:txBody>
          <a:bodyPr vert="horz" lIns="91440" tIns="45720" rIns="91440" bIns="45720" rtlCol="0" anchor="ctr"/>
          <a:lstStyle>
            <a:lvl1pPr algn="r">
              <a:defRPr sz="1200">
                <a:solidFill>
                  <a:schemeClr val="tx1"/>
                </a:solidFill>
              </a:defRPr>
            </a:lvl1pPr>
          </a:lstStyle>
          <a:p>
            <a:fld id="{38531E9D-61D6-4888-9999-68160698B78F}" type="slidenum">
              <a:rPr lang="ja-JP" altLang="en-US" smtClean="0"/>
              <a:pPr/>
              <a:t>‹#›</a:t>
            </a:fld>
            <a:endParaRPr lang="ja-JP" altLang="en-US" dirty="0"/>
          </a:p>
        </p:txBody>
      </p:sp>
      <p:pic>
        <p:nvPicPr>
          <p:cNvPr id="17" name="図 16" descr="アイコン&#10;&#10;自動的に生成された説明">
            <a:extLst>
              <a:ext uri="{FF2B5EF4-FFF2-40B4-BE49-F238E27FC236}">
                <a16:creationId xmlns:a16="http://schemas.microsoft.com/office/drawing/2014/main" id="{2CB505E5-1A9F-4F7A-B174-AC352F0CDE0A}"/>
              </a:ext>
            </a:extLst>
          </p:cNvPr>
          <p:cNvPicPr>
            <a:picLocks noChangeAspect="1"/>
          </p:cNvPicPr>
          <p:nvPr userDrawn="1"/>
        </p:nvPicPr>
        <p:blipFill>
          <a:blip r:embed="rId10" cstate="print">
            <a:extLst>
              <a:ext uri="{28A0092B-C50C-407E-A947-70E740481C1C}">
                <a14:useLocalDpi xmlns:a14="http://schemas.microsoft.com/office/drawing/2010/main" val="0"/>
              </a:ext>
            </a:extLst>
          </a:blip>
          <a:stretch>
            <a:fillRect/>
          </a:stretch>
        </p:blipFill>
        <p:spPr>
          <a:xfrm>
            <a:off x="8138980" y="21772"/>
            <a:ext cx="975646" cy="1179029"/>
          </a:xfrm>
          <a:prstGeom prst="rect">
            <a:avLst/>
          </a:prstGeom>
        </p:spPr>
      </p:pic>
    </p:spTree>
    <p:extLst>
      <p:ext uri="{BB962C8B-B14F-4D97-AF65-F5344CB8AC3E}">
        <p14:creationId xmlns:p14="http://schemas.microsoft.com/office/powerpoint/2010/main" val="6557508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8" r:id="rId8"/>
  </p:sldLayoutIdLst>
  <p:hf hdr="0" ftr="0"/>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7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24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21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image" Target="../media/image1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25.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image" Target="../media/image28.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chor="b">
            <a:noAutofit/>
          </a:bodyPr>
          <a:lstStyle/>
          <a:p>
            <a:pPr algn="ctr" marL="0" indent="0">
              <a:spcAft>
                <a:spcPts val="0"/>
              </a:spcAft>
              <a:buNone/>
            </a:pPr>
            <a:r>
              <a:rPr sz="2100" b="0">
                <a:solidFill>
                  <a:srgbClr val="24303F"/>
                </a:solidFill>
                <a:latin typeface="BIZ UDPゴシック"/>
                <a:ea typeface="BIZ UDPゴシック"/>
                <a:cs typeface="BIZ UDPゴシック"/>
              </a:rPr>
              <a:t>OshiFit: Possible-Selves Avatars for</a:t>
            </a:r>
          </a:p>
          <a:p>
            <a:pPr algn="ctr" marL="0" indent="0">
              <a:spcAft>
                <a:spcPts val="0"/>
              </a:spcAft>
              <a:buNone/>
            </a:pPr>
            <a:r>
              <a:rPr sz="2100" b="0">
                <a:solidFill>
                  <a:srgbClr val="24303F"/>
                </a:solidFill>
                <a:latin typeface="BIZ UDPゴシック"/>
                <a:ea typeface="BIZ UDPゴシック"/>
                <a:cs typeface="BIZ UDPゴシック"/>
              </a:rPr>
              <a:t>Uncertainty-Aware Behavior Change in Fan Activities</a:t>
            </a:r>
          </a:p>
        </p:txBody>
      </p:sp>
      <p:sp>
        <p:nvSpPr>
          <p:cNvPr id="3" name="Subtitle 2"/>
          <p:cNvSpPr>
            <a:spLocks noGrp="1"/>
          </p:cNvSpPr>
          <p:nvPr>
            <p:ph type="subTitle" idx="1"/>
          </p:nvPr>
        </p:nvSpPr>
        <p:spPr/>
        <p:txBody>
          <a:bodyPr wrap="square" anchor="t">
            <a:noAutofit/>
          </a:bodyPr>
          <a:lstStyle/>
          <a:p>
            <a:pPr algn="l" marL="0" indent="0">
              <a:spcAft>
                <a:spcPts val="400"/>
              </a:spcAft>
              <a:buNone/>
            </a:pPr>
            <a:r>
              <a:rPr sz="1800" b="0">
                <a:solidFill>
                  <a:srgbClr val="24303F"/>
                </a:solidFill>
                <a:latin typeface="BIZ UDPゴシック"/>
                <a:ea typeface="BIZ UDPゴシック"/>
                <a:cs typeface="BIZ UDPゴシック"/>
              </a:rPr>
              <a:t>Gen Imai, Sho Ooi</a:t>
            </a:r>
          </a:p>
        </p:txBody>
      </p:sp>
      <p:sp>
        <p:nvSpPr>
          <p:cNvPr id="4" name="会議名"/>
          <p:cNvSpPr txBox="1"/>
          <p:nvPr/>
        </p:nvSpPr>
        <p:spPr>
          <a:xfrm>
            <a:off x="64008" y="82296"/>
            <a:ext cx="4206240" cy="384048"/>
          </a:xfrm>
          <a:prstGeom prst="rect">
            <a:avLst/>
          </a:prstGeom>
          <a:solidFill>
            <a:srgbClr val="A9DCFF"/>
          </a:solidFill>
        </p:spPr>
        <p:txBody>
          <a:bodyPr wrap="square" tIns="18288" bIns="18288" anchor="ctr">
            <a:noAutofit/>
          </a:bodyPr>
          <a:lstStyle/>
          <a:p>
            <a:pPr algn="l" marL="0" indent="0">
              <a:spcAft>
                <a:spcPts val="400"/>
              </a:spcAft>
              <a:buNone/>
            </a:pPr>
            <a:r>
              <a:rPr sz="1400" b="0">
                <a:solidFill>
                  <a:srgbClr val="24303F"/>
                </a:solidFill>
                <a:latin typeface="BIZ UDPゴシック"/>
                <a:ea typeface="BIZ UDPゴシック"/>
                <a:cs typeface="BIZ UDPゴシック"/>
              </a:rPr>
              <a:t>ACM CHIIR 2027 · Short Paper</a:t>
            </a:r>
          </a:p>
        </p:txBody>
      </p:sp>
      <p:sp>
        <p:nvSpPr>
          <p:cNvPr id="5" name="著者所属"/>
          <p:cNvSpPr txBox="1"/>
          <p:nvPr/>
        </p:nvSpPr>
        <p:spPr>
          <a:xfrm>
            <a:off x="3931920" y="5358384"/>
            <a:ext cx="4937760" cy="1097280"/>
          </a:xfrm>
          <a:prstGeom prst="rect">
            <a:avLst/>
          </a:prstGeom>
          <a:noFill/>
        </p:spPr>
        <p:txBody>
          <a:bodyPr wrap="square" lIns="45720" tIns="27432" rIns="45720" bIns="27432" anchor="t">
            <a:noAutofit/>
          </a:bodyPr>
          <a:lstStyle/>
          <a:p>
            <a:pPr algn="l" marL="0" indent="0">
              <a:spcAft>
                <a:spcPts val="200"/>
              </a:spcAft>
              <a:buNone/>
            </a:pPr>
            <a:r>
              <a:rPr sz="1400" b="0">
                <a:solidFill>
                  <a:srgbClr val="24303F"/>
                </a:solidFill>
                <a:latin typeface="BIZ UDPゴシック"/>
                <a:ea typeface="BIZ UDPゴシック"/>
                <a:cs typeface="BIZ UDPゴシック"/>
              </a:rPr>
              <a:t>Osaka Institute of Technology</a:t>
            </a:r>
          </a:p>
          <a:p>
            <a:pPr algn="l" marL="0" indent="0">
              <a:spcAft>
                <a:spcPts val="200"/>
              </a:spcAft>
              <a:buNone/>
            </a:pPr>
            <a:r>
              <a:rPr sz="1400" b="0">
                <a:solidFill>
                  <a:srgbClr val="24303F"/>
                </a:solidFill>
                <a:latin typeface="BIZ UDPゴシック"/>
                <a:ea typeface="BIZ UDPゴシック"/>
                <a:cs typeface="BIZ UDPゴシック"/>
              </a:rPr>
              <a:t>Media Interaction Laboratory</a:t>
            </a:r>
          </a:p>
        </p:txBody>
      </p:sp>
      <p:sp>
        <p:nvSpPr>
          <p:cNvPr id="6" name="サブタイトル"/>
          <p:cNvSpPr txBox="1"/>
          <p:nvPr/>
        </p:nvSpPr>
        <p:spPr>
          <a:xfrm>
            <a:off x="411480" y="914400"/>
            <a:ext cx="5669280" cy="2103120"/>
          </a:xfrm>
          <a:prstGeom prst="rect">
            <a:avLst/>
          </a:prstGeom>
          <a:noFill/>
        </p:spPr>
        <p:txBody>
          <a:bodyPr wrap="square" lIns="45720" tIns="27432" rIns="45720" bIns="27432" anchor="ctr">
            <a:noAutofit/>
          </a:bodyPr>
          <a:lstStyle/>
          <a:p>
            <a:pPr algn="l" marL="0" indent="0">
              <a:lnSpc>
                <a:spcPct val="105000"/>
              </a:lnSpc>
              <a:spcAft>
                <a:spcPts val="600"/>
              </a:spcAft>
              <a:buNone/>
            </a:pPr>
            <a:r>
              <a:rPr sz="1800" b="1">
                <a:solidFill>
                  <a:srgbClr val="FFFFFF"/>
                </a:solidFill>
                <a:latin typeface="BIZ UDPゴシック"/>
                <a:ea typeface="BIZ UDPゴシック"/>
                <a:cs typeface="BIZ UDPゴシック"/>
              </a:rPr>
              <a:t>Show the future honestly —</a:t>
            </a:r>
          </a:p>
          <a:p>
            <a:pPr algn="l" marL="0" indent="0">
              <a:lnSpc>
                <a:spcPct val="105000"/>
              </a:lnSpc>
              <a:spcAft>
                <a:spcPts val="600"/>
              </a:spcAft>
              <a:buNone/>
            </a:pPr>
            <a:r>
              <a:rPr sz="1500" b="0">
                <a:solidFill>
                  <a:srgbClr val="FFFFFF"/>
                </a:solidFill>
                <a:latin typeface="BIZ UDPゴシック"/>
                <a:ea typeface="BIZ UDPゴシック"/>
                <a:cs typeface="BIZ UDPゴシック"/>
              </a:rPr>
              <a:t>and let people choose how to love what they love</a:t>
            </a:r>
          </a:p>
        </p:txBody>
      </p:sp>
      <p:pic>
        <p:nvPicPr>
          <p:cNvPr id="7" name="Picture 6" descr="ghost_d14.png"/>
          <p:cNvPicPr>
            <a:picLocks noChangeAspect="1"/>
          </p:cNvPicPr>
          <p:nvPr/>
        </p:nvPicPr>
        <p:blipFill>
          <a:blip r:embed="rId2"/>
          <a:stretch>
            <a:fillRect/>
          </a:stretch>
        </p:blipFill>
        <p:spPr>
          <a:xfrm>
            <a:off x="6263640" y="658368"/>
            <a:ext cx="4034118" cy="2743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Oshi-katsu: a booming fan culture</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2</a:t>
            </a:fld>
          </a:p>
        </p:txBody>
      </p:sp>
      <p:sp>
        <p:nvSpPr>
          <p:cNvPr id="5" name="Rounded Rectangle 4"/>
          <p:cNvSpPr/>
          <p:nvPr/>
        </p:nvSpPr>
        <p:spPr>
          <a:xfrm>
            <a:off x="411480" y="1417320"/>
            <a:ext cx="2697480" cy="2148840"/>
          </a:xfrm>
          <a:prstGeom prst="roundRect">
            <a:avLst>
              <a:gd name="adj" fmla="val 5106"/>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02920" y="1536192"/>
            <a:ext cx="2514600" cy="914400"/>
          </a:xfrm>
          <a:prstGeom prst="rect">
            <a:avLst/>
          </a:prstGeom>
          <a:noFill/>
        </p:spPr>
        <p:txBody>
          <a:bodyPr wrap="square" lIns="0" tIns="0" rIns="0" bIns="0" anchor="ctr">
            <a:noAutofit/>
          </a:bodyPr>
          <a:lstStyle/>
          <a:p>
            <a:pPr algn="ctr" marL="0" indent="0">
              <a:spcAft>
                <a:spcPts val="400"/>
              </a:spcAft>
              <a:buNone/>
            </a:pPr>
            <a:r>
              <a:rPr sz="3200" b="1">
                <a:solidFill>
                  <a:srgbClr val="E8457C"/>
                </a:solidFill>
                <a:latin typeface="BIZ UDPゴシック"/>
                <a:ea typeface="BIZ UDPゴシック"/>
                <a:cs typeface="BIZ UDPゴシック"/>
              </a:rPr>
              <a:t>¥3.8T</a:t>
            </a:r>
          </a:p>
        </p:txBody>
      </p:sp>
      <p:sp>
        <p:nvSpPr>
          <p:cNvPr id="7" name="TextBox 6"/>
          <p:cNvSpPr txBox="1"/>
          <p:nvPr/>
        </p:nvSpPr>
        <p:spPr>
          <a:xfrm>
            <a:off x="594360" y="2514600"/>
            <a:ext cx="2331720" cy="960120"/>
          </a:xfrm>
          <a:prstGeom prst="rect">
            <a:avLst/>
          </a:prstGeom>
          <a:noFill/>
        </p:spPr>
        <p:txBody>
          <a:bodyPr wrap="square" lIns="0" tIns="0" rIns="0" bIns="0" anchor="t">
            <a:noAutofit/>
          </a:bodyPr>
          <a:lstStyle/>
          <a:p>
            <a:pPr algn="ctr" marL="0" indent="0">
              <a:spcAft>
                <a:spcPts val="400"/>
              </a:spcAft>
              <a:buNone/>
            </a:pPr>
            <a:r>
              <a:rPr sz="1300" b="0">
                <a:solidFill>
                  <a:srgbClr val="24303F"/>
                </a:solidFill>
                <a:latin typeface="BIZ UDPゴシック"/>
                <a:ea typeface="BIZ UDPゴシック"/>
                <a:cs typeface="BIZ UDPゴシック"/>
              </a:rPr>
              <a:t>estimated market for fan activities in Japan (NRI, 2025)</a:t>
            </a:r>
          </a:p>
        </p:txBody>
      </p:sp>
      <p:sp>
        <p:nvSpPr>
          <p:cNvPr id="8" name="Rounded Rectangle 7"/>
          <p:cNvSpPr/>
          <p:nvPr/>
        </p:nvSpPr>
        <p:spPr>
          <a:xfrm>
            <a:off x="3218688" y="1417320"/>
            <a:ext cx="2697480" cy="2148840"/>
          </a:xfrm>
          <a:prstGeom prst="roundRect">
            <a:avLst>
              <a:gd name="adj" fmla="val 5106"/>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310128" y="1536192"/>
            <a:ext cx="2514600" cy="914400"/>
          </a:xfrm>
          <a:prstGeom prst="rect">
            <a:avLst/>
          </a:prstGeom>
          <a:noFill/>
        </p:spPr>
        <p:txBody>
          <a:bodyPr wrap="square" lIns="0" tIns="0" rIns="0" bIns="0" anchor="ctr">
            <a:noAutofit/>
          </a:bodyPr>
          <a:lstStyle/>
          <a:p>
            <a:pPr algn="ctr" marL="0" indent="0">
              <a:spcAft>
                <a:spcPts val="400"/>
              </a:spcAft>
              <a:buNone/>
            </a:pPr>
            <a:r>
              <a:rPr sz="3200" b="1">
                <a:solidFill>
                  <a:srgbClr val="0099FF"/>
                </a:solidFill>
                <a:latin typeface="BIZ UDPゴシック"/>
                <a:ea typeface="BIZ UDPゴシック"/>
                <a:cs typeface="BIZ UDPゴシック"/>
              </a:rPr>
              <a:t>1 in 3</a:t>
            </a:r>
          </a:p>
        </p:txBody>
      </p:sp>
      <p:sp>
        <p:nvSpPr>
          <p:cNvPr id="10" name="TextBox 9"/>
          <p:cNvSpPr txBox="1"/>
          <p:nvPr/>
        </p:nvSpPr>
        <p:spPr>
          <a:xfrm>
            <a:off x="3401568" y="2514600"/>
            <a:ext cx="2331720" cy="960120"/>
          </a:xfrm>
          <a:prstGeom prst="rect">
            <a:avLst/>
          </a:prstGeom>
          <a:noFill/>
        </p:spPr>
        <p:txBody>
          <a:bodyPr wrap="square" lIns="0" tIns="0" rIns="0" bIns="0" anchor="t">
            <a:noAutofit/>
          </a:bodyPr>
          <a:lstStyle/>
          <a:p>
            <a:pPr algn="ctr" marL="0" indent="0">
              <a:spcAft>
                <a:spcPts val="400"/>
              </a:spcAft>
              <a:buNone/>
            </a:pPr>
            <a:r>
              <a:rPr sz="1300" b="0">
                <a:solidFill>
                  <a:srgbClr val="24303F"/>
                </a:solidFill>
                <a:latin typeface="BIZ UDPゴシック"/>
                <a:ea typeface="BIZ UDPゴシック"/>
                <a:cs typeface="BIZ UDPゴシック"/>
              </a:rPr>
              <a:t>people in Japan engage in oshi-katsu</a:t>
            </a:r>
          </a:p>
        </p:txBody>
      </p:sp>
      <p:sp>
        <p:nvSpPr>
          <p:cNvPr id="11" name="Rounded Rectangle 10"/>
          <p:cNvSpPr/>
          <p:nvPr/>
        </p:nvSpPr>
        <p:spPr>
          <a:xfrm>
            <a:off x="6025896" y="1417320"/>
            <a:ext cx="2697480" cy="2148840"/>
          </a:xfrm>
          <a:prstGeom prst="roundRect">
            <a:avLst>
              <a:gd name="adj" fmla="val 5106"/>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17336" y="1536192"/>
            <a:ext cx="2514600" cy="914400"/>
          </a:xfrm>
          <a:prstGeom prst="rect">
            <a:avLst/>
          </a:prstGeom>
          <a:noFill/>
        </p:spPr>
        <p:txBody>
          <a:bodyPr wrap="square" lIns="0" tIns="0" rIns="0" bIns="0" anchor="ctr">
            <a:noAutofit/>
          </a:bodyPr>
          <a:lstStyle/>
          <a:p>
            <a:pPr algn="ctr" marL="0" indent="0">
              <a:spcAft>
                <a:spcPts val="400"/>
              </a:spcAft>
              <a:buNone/>
            </a:pPr>
            <a:r>
              <a:rPr sz="2600" b="1">
                <a:solidFill>
                  <a:srgbClr val="12A38A"/>
                </a:solidFill>
                <a:latin typeface="BIZ UDPゴシック"/>
                <a:ea typeface="BIZ UDPゴシック"/>
                <a:cs typeface="BIZ UDPゴシック"/>
              </a:rPr>
              <a:t>Well-being</a:t>
            </a:r>
          </a:p>
        </p:txBody>
      </p:sp>
      <p:sp>
        <p:nvSpPr>
          <p:cNvPr id="13" name="TextBox 12"/>
          <p:cNvSpPr txBox="1"/>
          <p:nvPr/>
        </p:nvSpPr>
        <p:spPr>
          <a:xfrm>
            <a:off x="6208776" y="2514600"/>
            <a:ext cx="2331720" cy="960120"/>
          </a:xfrm>
          <a:prstGeom prst="rect">
            <a:avLst/>
          </a:prstGeom>
          <a:noFill/>
        </p:spPr>
        <p:txBody>
          <a:bodyPr wrap="square" lIns="0" tIns="0" rIns="0" bIns="0" anchor="t">
            <a:noAutofit/>
          </a:bodyPr>
          <a:lstStyle/>
          <a:p>
            <a:pPr algn="ctr" marL="0" indent="0">
              <a:spcAft>
                <a:spcPts val="400"/>
              </a:spcAft>
              <a:buNone/>
            </a:pPr>
            <a:r>
              <a:rPr sz="1300" b="0">
                <a:solidFill>
                  <a:srgbClr val="24303F"/>
                </a:solidFill>
                <a:latin typeface="BIZ UDPゴシック"/>
                <a:ea typeface="BIZ UDPゴシック"/>
                <a:cs typeface="BIZ UDPゴシック"/>
              </a:rPr>
              <a:t>fan activities can foster purpose and mental health</a:t>
            </a:r>
          </a:p>
        </p:txBody>
      </p:sp>
      <p:sp>
        <p:nvSpPr>
          <p:cNvPr id="14" name="Rounded Rectangle 13"/>
          <p:cNvSpPr/>
          <p:nvPr/>
        </p:nvSpPr>
        <p:spPr>
          <a:xfrm>
            <a:off x="411480" y="3749039"/>
            <a:ext cx="8321040" cy="2423160"/>
          </a:xfrm>
          <a:prstGeom prst="roundRect">
            <a:avLst>
              <a:gd name="adj" fmla="val 4528"/>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 y="3840480"/>
            <a:ext cx="4206240" cy="2240280"/>
          </a:xfrm>
          <a:prstGeom prst="rect">
            <a:avLst/>
          </a:prstGeom>
          <a:noFill/>
        </p:spPr>
        <p:txBody>
          <a:bodyPr wrap="square" lIns="0" tIns="0" rIns="0" bIns="0" anchor="ctr">
            <a:noAutofit/>
          </a:bodyPr>
          <a:lstStyle/>
          <a:p>
            <a:pPr algn="l" marL="0" indent="0">
              <a:spcAft>
                <a:spcPts val="800"/>
              </a:spcAft>
              <a:buNone/>
            </a:pPr>
            <a:r>
              <a:rPr sz="1800" b="1">
                <a:solidFill>
                  <a:srgbClr val="FFFFFF"/>
                </a:solidFill>
                <a:latin typeface="BIZ UDPゴシック"/>
                <a:ea typeface="BIZ UDPゴシック"/>
                <a:cs typeface="BIZ UDPゴシック"/>
              </a:rPr>
              <a:t>…but also “fandom fatigue”</a:t>
            </a:r>
          </a:p>
          <a:p>
            <a:pPr algn="l" marL="182880" indent="-182880">
              <a:spcAft>
                <a:spcPts val="400"/>
              </a:spcAft>
              <a:buClr>
                <a:srgbClr val="E8457C"/>
              </a:buClr>
              <a:buFont typeface="BIZ UDPゴシック"/>
              <a:buChar char="•"/>
            </a:pPr>
            <a:r>
              <a:rPr sz="1400" b="0">
                <a:solidFill>
                  <a:srgbClr val="FFFFFF"/>
                </a:solidFill>
                <a:latin typeface="BIZ UDPゴシック"/>
                <a:ea typeface="BIZ UDPゴシック"/>
                <a:cs typeface="BIZ UDPゴシック"/>
              </a:rPr>
              <a:t>Overspending money and time</a:t>
            </a:r>
          </a:p>
          <a:p>
            <a:pPr algn="l" marL="182880" indent="-182880">
              <a:spcAft>
                <a:spcPts val="400"/>
              </a:spcAft>
              <a:buClr>
                <a:srgbClr val="E8457C"/>
              </a:buClr>
              <a:buFont typeface="BIZ UDPゴシック"/>
              <a:buChar char="•"/>
            </a:pPr>
            <a:r>
              <a:rPr sz="1400" b="0">
                <a:solidFill>
                  <a:srgbClr val="FFFFFF"/>
                </a:solidFill>
                <a:latin typeface="BIZ UDPゴシック"/>
                <a:ea typeface="BIZ UDPゴシック"/>
                <a:cs typeface="BIZ UDPゴシック"/>
              </a:rPr>
              <a:t>Comparing yourself with other fans on social media</a:t>
            </a:r>
          </a:p>
          <a:p>
            <a:pPr algn="l" marL="182880" indent="-182880">
              <a:spcAft>
                <a:spcPts val="400"/>
              </a:spcAft>
              <a:buClr>
                <a:srgbClr val="E8457C"/>
              </a:buClr>
              <a:buFont typeface="BIZ UDPゴシック"/>
              <a:buChar char="•"/>
            </a:pPr>
            <a:r>
              <a:rPr sz="1400" b="0">
                <a:solidFill>
                  <a:srgbClr val="FFFFFF"/>
                </a:solidFill>
                <a:latin typeface="BIZ UDPゴシック"/>
                <a:ea typeface="BIZ UDPゴシック"/>
                <a:cs typeface="BIZ UDPゴシック"/>
              </a:rPr>
              <a:t>Burnout from a sense of obligation</a:t>
            </a:r>
          </a:p>
        </p:txBody>
      </p:sp>
      <p:pic>
        <p:nvPicPr>
          <p:cNvPr id="16" name="Picture 15" descr="av_money.png"/>
          <p:cNvPicPr>
            <a:picLocks noChangeAspect="1"/>
          </p:cNvPicPr>
          <p:nvPr/>
        </p:nvPicPr>
        <p:blipFill>
          <a:blip r:embed="rId2"/>
          <a:stretch>
            <a:fillRect/>
          </a:stretch>
        </p:blipFill>
        <p:spPr>
          <a:xfrm>
            <a:off x="4754880" y="4069080"/>
            <a:ext cx="1573306" cy="1783080"/>
          </a:xfrm>
          <a:prstGeom prst="rect">
            <a:avLst/>
          </a:prstGeom>
        </p:spPr>
      </p:pic>
      <p:pic>
        <p:nvPicPr>
          <p:cNvPr id="17" name="Picture 16" descr="av_compare.png"/>
          <p:cNvPicPr>
            <a:picLocks noChangeAspect="1"/>
          </p:cNvPicPr>
          <p:nvPr/>
        </p:nvPicPr>
        <p:blipFill>
          <a:blip r:embed="rId3"/>
          <a:stretch>
            <a:fillRect/>
          </a:stretch>
        </p:blipFill>
        <p:spPr>
          <a:xfrm>
            <a:off x="6080760" y="4069080"/>
            <a:ext cx="1573306" cy="1783080"/>
          </a:xfrm>
          <a:prstGeom prst="rect">
            <a:avLst/>
          </a:prstGeom>
        </p:spPr>
      </p:pic>
      <p:pic>
        <p:nvPicPr>
          <p:cNvPr id="18" name="Picture 17" descr="av_duty.png"/>
          <p:cNvPicPr>
            <a:picLocks noChangeAspect="1"/>
          </p:cNvPicPr>
          <p:nvPr/>
        </p:nvPicPr>
        <p:blipFill>
          <a:blip r:embed="rId4"/>
          <a:stretch>
            <a:fillRect/>
          </a:stretch>
        </p:blipFill>
        <p:spPr>
          <a:xfrm>
            <a:off x="7406640" y="4069080"/>
            <a:ext cx="1573306" cy="17830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Preliminary survey (N = 215)</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3</a:t>
            </a:fld>
          </a:p>
        </p:txBody>
      </p:sp>
      <p:sp>
        <p:nvSpPr>
          <p:cNvPr id="5" name="Rounded Rectangle 4"/>
          <p:cNvSpPr/>
          <p:nvPr/>
        </p:nvSpPr>
        <p:spPr>
          <a:xfrm>
            <a:off x="411480" y="1417320"/>
            <a:ext cx="1298448" cy="1371600"/>
          </a:xfrm>
          <a:prstGeom prst="roundRect">
            <a:avLst>
              <a:gd name="adj" fmla="val 845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11480" y="1481328"/>
            <a:ext cx="1298448" cy="731520"/>
          </a:xfrm>
          <a:prstGeom prst="rect">
            <a:avLst/>
          </a:prstGeom>
          <a:noFill/>
        </p:spPr>
        <p:txBody>
          <a:bodyPr wrap="square" lIns="0" tIns="0" rIns="0" bIns="0" anchor="ctr">
            <a:noAutofit/>
          </a:bodyPr>
          <a:lstStyle/>
          <a:p>
            <a:pPr algn="ctr" marL="0" indent="0">
              <a:spcAft>
                <a:spcPts val="400"/>
              </a:spcAft>
              <a:buNone/>
            </a:pPr>
            <a:r>
              <a:rPr sz="2200" b="1">
                <a:solidFill>
                  <a:srgbClr val="12A38A"/>
                </a:solidFill>
                <a:latin typeface="BIZ UDPゴシック"/>
                <a:ea typeface="BIZ UDPゴシック"/>
                <a:cs typeface="BIZ UDPゴシック"/>
              </a:rPr>
              <a:t>≈80%</a:t>
            </a:r>
          </a:p>
        </p:txBody>
      </p:sp>
      <p:sp>
        <p:nvSpPr>
          <p:cNvPr id="7" name="TextBox 6"/>
          <p:cNvSpPr txBox="1"/>
          <p:nvPr/>
        </p:nvSpPr>
        <p:spPr>
          <a:xfrm>
            <a:off x="457200" y="2212848"/>
            <a:ext cx="1207008" cy="502920"/>
          </a:xfrm>
          <a:prstGeom prst="rect">
            <a:avLst/>
          </a:prstGeom>
          <a:noFill/>
        </p:spPr>
        <p:txBody>
          <a:bodyPr wrap="square" lIns="0" tIns="0" rIns="0" bIns="0" anchor="t">
            <a:noAutofit/>
          </a:bodyPr>
          <a:lstStyle/>
          <a:p>
            <a:pPr algn="ctr" marL="0" indent="0">
              <a:spcAft>
                <a:spcPts val="400"/>
              </a:spcAft>
              <a:buNone/>
            </a:pPr>
            <a:r>
              <a:rPr sz="1100" b="0">
                <a:solidFill>
                  <a:srgbClr val="24303F"/>
                </a:solidFill>
                <a:latin typeface="BIZ UDPゴシック"/>
                <a:ea typeface="BIZ UDPゴシック"/>
                <a:cs typeface="BIZ UDPゴシック"/>
              </a:rPr>
              <a:t>oshi = reason to live</a:t>
            </a:r>
          </a:p>
        </p:txBody>
      </p:sp>
      <p:sp>
        <p:nvSpPr>
          <p:cNvPr id="8" name="Rounded Rectangle 7"/>
          <p:cNvSpPr/>
          <p:nvPr/>
        </p:nvSpPr>
        <p:spPr>
          <a:xfrm>
            <a:off x="1801368" y="1417320"/>
            <a:ext cx="1298448" cy="1371600"/>
          </a:xfrm>
          <a:prstGeom prst="roundRect">
            <a:avLst>
              <a:gd name="adj" fmla="val 845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801368" y="1481328"/>
            <a:ext cx="1298448" cy="731520"/>
          </a:xfrm>
          <a:prstGeom prst="rect">
            <a:avLst/>
          </a:prstGeom>
          <a:noFill/>
        </p:spPr>
        <p:txBody>
          <a:bodyPr wrap="square" lIns="0" tIns="0" rIns="0" bIns="0" anchor="ctr">
            <a:noAutofit/>
          </a:bodyPr>
          <a:lstStyle/>
          <a:p>
            <a:pPr algn="ctr" marL="0" indent="0">
              <a:spcAft>
                <a:spcPts val="400"/>
              </a:spcAft>
              <a:buNone/>
            </a:pPr>
            <a:r>
              <a:rPr sz="2200" b="1">
                <a:solidFill>
                  <a:srgbClr val="E07A10"/>
                </a:solidFill>
                <a:latin typeface="BIZ UDPゴシック"/>
                <a:ea typeface="BIZ UDPゴシック"/>
                <a:cs typeface="BIZ UDPゴシック"/>
              </a:rPr>
              <a:t>≈40%</a:t>
            </a:r>
          </a:p>
        </p:txBody>
      </p:sp>
      <p:sp>
        <p:nvSpPr>
          <p:cNvPr id="10" name="TextBox 9"/>
          <p:cNvSpPr txBox="1"/>
          <p:nvPr/>
        </p:nvSpPr>
        <p:spPr>
          <a:xfrm>
            <a:off x="1847088" y="2212848"/>
            <a:ext cx="1207008" cy="502920"/>
          </a:xfrm>
          <a:prstGeom prst="rect">
            <a:avLst/>
          </a:prstGeom>
          <a:noFill/>
        </p:spPr>
        <p:txBody>
          <a:bodyPr wrap="square" lIns="0" tIns="0" rIns="0" bIns="0" anchor="t">
            <a:noAutofit/>
          </a:bodyPr>
          <a:lstStyle/>
          <a:p>
            <a:pPr algn="ctr" marL="0" indent="0">
              <a:spcAft>
                <a:spcPts val="400"/>
              </a:spcAft>
              <a:buNone/>
            </a:pPr>
            <a:r>
              <a:rPr sz="1100" b="0">
                <a:solidFill>
                  <a:srgbClr val="24303F"/>
                </a:solidFill>
                <a:latin typeface="BIZ UDPゴシック"/>
                <a:ea typeface="BIZ UDPゴシック"/>
                <a:cs typeface="BIZ UDPゴシック"/>
              </a:rPr>
              <a:t>worry about money</a:t>
            </a:r>
          </a:p>
        </p:txBody>
      </p:sp>
      <p:sp>
        <p:nvSpPr>
          <p:cNvPr id="11" name="Rounded Rectangle 10"/>
          <p:cNvSpPr/>
          <p:nvPr/>
        </p:nvSpPr>
        <p:spPr>
          <a:xfrm>
            <a:off x="3191256" y="1417320"/>
            <a:ext cx="1298448" cy="1371600"/>
          </a:xfrm>
          <a:prstGeom prst="roundRect">
            <a:avLst>
              <a:gd name="adj" fmla="val 845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191256" y="1481328"/>
            <a:ext cx="1298448" cy="731520"/>
          </a:xfrm>
          <a:prstGeom prst="rect">
            <a:avLst/>
          </a:prstGeom>
          <a:noFill/>
        </p:spPr>
        <p:txBody>
          <a:bodyPr wrap="square" lIns="0" tIns="0" rIns="0" bIns="0" anchor="ctr">
            <a:noAutofit/>
          </a:bodyPr>
          <a:lstStyle/>
          <a:p>
            <a:pPr algn="ctr" marL="0" indent="0">
              <a:spcAft>
                <a:spcPts val="400"/>
              </a:spcAft>
              <a:buNone/>
            </a:pPr>
            <a:r>
              <a:rPr sz="2200" b="1">
                <a:solidFill>
                  <a:srgbClr val="7C6BC4"/>
                </a:solidFill>
                <a:latin typeface="BIZ UDPゴシック"/>
                <a:ea typeface="BIZ UDPゴシック"/>
                <a:cs typeface="BIZ UDPゴシック"/>
              </a:rPr>
              <a:t>≈30%</a:t>
            </a:r>
          </a:p>
        </p:txBody>
      </p:sp>
      <p:sp>
        <p:nvSpPr>
          <p:cNvPr id="13" name="TextBox 12"/>
          <p:cNvSpPr txBox="1"/>
          <p:nvPr/>
        </p:nvSpPr>
        <p:spPr>
          <a:xfrm>
            <a:off x="3236976" y="2212848"/>
            <a:ext cx="1207008" cy="502920"/>
          </a:xfrm>
          <a:prstGeom prst="rect">
            <a:avLst/>
          </a:prstGeom>
          <a:noFill/>
        </p:spPr>
        <p:txBody>
          <a:bodyPr wrap="square" lIns="0" tIns="0" rIns="0" bIns="0" anchor="t">
            <a:noAutofit/>
          </a:bodyPr>
          <a:lstStyle/>
          <a:p>
            <a:pPr algn="ctr" marL="0" indent="0">
              <a:spcAft>
                <a:spcPts val="400"/>
              </a:spcAft>
              <a:buNone/>
            </a:pPr>
            <a:r>
              <a:rPr sz="1100" b="0">
                <a:solidFill>
                  <a:srgbClr val="24303F"/>
                </a:solidFill>
                <a:latin typeface="BIZ UDPゴシック"/>
                <a:ea typeface="BIZ UDPゴシック"/>
                <a:cs typeface="BIZ UDPゴシック"/>
              </a:rPr>
              <a:t>lose sleep</a:t>
            </a:r>
          </a:p>
        </p:txBody>
      </p:sp>
      <p:graphicFrame>
        <p:nvGraphicFramePr>
          <p:cNvPr id="14" name="Chart 13"/>
          <p:cNvGraphicFramePr>
            <a:graphicFrameLocks noGrp="1"/>
          </p:cNvGraphicFramePr>
          <p:nvPr/>
        </p:nvGraphicFramePr>
        <p:xfrm>
          <a:off x="411480" y="2926080"/>
          <a:ext cx="4069080" cy="3246120"/>
        </p:xfrm>
        <a:graphic>
          <a:graphicData uri="http://schemas.openxmlformats.org/drawingml/2006/chart">
            <c:chart xmlns:c="http://schemas.openxmlformats.org/drawingml/2006/chart" r:id="rId2"/>
          </a:graphicData>
        </a:graphic>
      </p:graphicFrame>
      <p:sp>
        <p:nvSpPr>
          <p:cNvPr id="15" name="Rounded Rectangle 14"/>
          <p:cNvSpPr/>
          <p:nvPr/>
        </p:nvSpPr>
        <p:spPr>
          <a:xfrm>
            <a:off x="4709160" y="1417320"/>
            <a:ext cx="4023360" cy="2148840"/>
          </a:xfrm>
          <a:prstGeom prst="roundRect">
            <a:avLst>
              <a:gd name="adj" fmla="val 5106"/>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892040" y="1463040"/>
            <a:ext cx="3657600" cy="2057400"/>
          </a:xfrm>
          <a:prstGeom prst="rect">
            <a:avLst/>
          </a:prstGeom>
          <a:noFill/>
        </p:spPr>
        <p:txBody>
          <a:bodyPr wrap="square" lIns="0" tIns="0" rIns="0" bIns="0" anchor="ctr">
            <a:noAutofit/>
          </a:bodyPr>
          <a:lstStyle/>
          <a:p>
            <a:pPr algn="l" marL="0" indent="0">
              <a:spcAft>
                <a:spcPts val="0"/>
              </a:spcAft>
              <a:buNone/>
            </a:pPr>
            <a:r>
              <a:rPr sz="3400" b="1">
                <a:solidFill>
                  <a:srgbClr val="E07A10"/>
                </a:solidFill>
                <a:latin typeface="BIZ UDPゴシック"/>
                <a:ea typeface="BIZ UDPゴシック"/>
                <a:cs typeface="BIZ UDPゴシック"/>
              </a:rPr>
              <a:t>27%</a:t>
            </a:r>
          </a:p>
          <a:p>
            <a:pPr algn="l" marL="0" indent="0">
              <a:spcAft>
                <a:spcPts val="300"/>
              </a:spcAft>
              <a:buNone/>
            </a:pPr>
            <a:r>
              <a:rPr sz="1400" b="1">
                <a:solidFill>
                  <a:srgbClr val="0B3C6E"/>
                </a:solidFill>
                <a:latin typeface="BIZ UDPゴシック"/>
                <a:ea typeface="BIZ UDPゴシック"/>
                <a:cs typeface="BIZ UDPゴシック"/>
              </a:rPr>
              <a:t>are high in BOTH fulfilment and fatigue</a:t>
            </a:r>
          </a:p>
          <a:p>
            <a:pPr algn="l" marL="0" indent="0">
              <a:spcAft>
                <a:spcPts val="400"/>
              </a:spcAft>
              <a:buNone/>
            </a:pPr>
            <a:r>
              <a:rPr sz="1250" b="0">
                <a:solidFill>
                  <a:srgbClr val="24303F"/>
                </a:solidFill>
                <a:latin typeface="BIZ UDPゴシック"/>
                <a:ea typeface="BIZ UDPゴシック"/>
                <a:cs typeface="BIZ UDPゴシック"/>
              </a:rPr>
              <a:t>The same activities drive joy and exhaustion</a:t>
            </a:r>
          </a:p>
        </p:txBody>
      </p:sp>
      <p:graphicFrame>
        <p:nvGraphicFramePr>
          <p:cNvPr id="17" name="Chart 16"/>
          <p:cNvGraphicFramePr>
            <a:graphicFrameLocks noGrp="1"/>
          </p:cNvGraphicFramePr>
          <p:nvPr/>
        </p:nvGraphicFramePr>
        <p:xfrm>
          <a:off x="4709160" y="3703320"/>
          <a:ext cx="4023360" cy="2468880"/>
        </p:xfrm>
        <a:graphic>
          <a:graphicData uri="http://schemas.openxmlformats.org/drawingml/2006/chart">
            <c:chart xmlns:c="http://schemas.openxmlformats.org/drawingml/2006/chart" r:id="rId3"/>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The challenge: noisy forecasts</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4</a:t>
            </a:fld>
          </a:p>
        </p:txBody>
      </p:sp>
      <p:sp>
        <p:nvSpPr>
          <p:cNvPr id="5" name="Rounded Rectangle 4"/>
          <p:cNvSpPr/>
          <p:nvPr/>
        </p:nvSpPr>
        <p:spPr>
          <a:xfrm>
            <a:off x="411480" y="1417320"/>
            <a:ext cx="8321040" cy="1188720"/>
          </a:xfrm>
          <a:prstGeom prst="roundRect">
            <a:avLst>
              <a:gd name="adj" fmla="val 923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7772400" cy="1097280"/>
          </a:xfrm>
          <a:prstGeom prst="rect">
            <a:avLst/>
          </a:prstGeom>
          <a:noFill/>
        </p:spPr>
        <p:txBody>
          <a:bodyPr wrap="square" lIns="0" tIns="0" rIns="0" bIns="0" anchor="ctr">
            <a:noAutofit/>
          </a:bodyPr>
          <a:lstStyle/>
          <a:p>
            <a:pPr algn="l" marL="0" indent="0">
              <a:spcAft>
                <a:spcPts val="300"/>
              </a:spcAft>
              <a:buNone/>
            </a:pPr>
            <a:r>
              <a:rPr sz="1500" b="1">
                <a:solidFill>
                  <a:srgbClr val="0B3C6E"/>
                </a:solidFill>
                <a:latin typeface="BIZ UDPゴシック"/>
                <a:ea typeface="BIZ UDPゴシック"/>
                <a:cs typeface="BIZ UDPゴシック"/>
              </a:rPr>
              <a:t>Our forecast model explains R² = .27 of fulfilment and only R² = .11 of fatigue (±0.92 on a 5-point scale)</a:t>
            </a:r>
          </a:p>
          <a:p>
            <a:pPr algn="l" marL="0" indent="0">
              <a:spcAft>
                <a:spcPts val="400"/>
              </a:spcAft>
              <a:buNone/>
            </a:pPr>
            <a:r>
              <a:rPr sz="1300" b="0">
                <a:solidFill>
                  <a:srgbClr val="24303F"/>
                </a:solidFill>
                <a:latin typeface="BIZ UDPゴシック"/>
                <a:ea typeface="BIZ UDPゴシック"/>
                <a:cs typeface="BIZ UDPゴシック"/>
              </a:rPr>
              <a:t>Showing one confident “future you” would overclaim — and could cause needless anxiety</a:t>
            </a:r>
          </a:p>
        </p:txBody>
      </p:sp>
      <p:sp>
        <p:nvSpPr>
          <p:cNvPr id="7" name="Rounded Rectangle 6"/>
          <p:cNvSpPr/>
          <p:nvPr/>
        </p:nvSpPr>
        <p:spPr>
          <a:xfrm>
            <a:off x="411480" y="2834640"/>
            <a:ext cx="2697480" cy="2331720"/>
          </a:xfrm>
          <a:prstGeom prst="roundRect">
            <a:avLst>
              <a:gd name="adj" fmla="val 392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557784" y="2980944"/>
            <a:ext cx="457200" cy="45720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ic_user_w.png"/>
          <p:cNvPicPr>
            <a:picLocks noChangeAspect="1"/>
          </p:cNvPicPr>
          <p:nvPr/>
        </p:nvPicPr>
        <p:blipFill>
          <a:blip r:embed="rId2"/>
          <a:stretch>
            <a:fillRect/>
          </a:stretch>
        </p:blipFill>
        <p:spPr>
          <a:xfrm>
            <a:off x="667512" y="3090672"/>
            <a:ext cx="237744" cy="237744"/>
          </a:xfrm>
          <a:prstGeom prst="rect">
            <a:avLst/>
          </a:prstGeom>
        </p:spPr>
      </p:pic>
      <p:sp>
        <p:nvSpPr>
          <p:cNvPr id="10" name="TextBox 9"/>
          <p:cNvSpPr txBox="1"/>
          <p:nvPr/>
        </p:nvSpPr>
        <p:spPr>
          <a:xfrm>
            <a:off x="1124712" y="2953512"/>
            <a:ext cx="187451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Personalize</a:t>
            </a:r>
          </a:p>
        </p:txBody>
      </p:sp>
      <p:sp>
        <p:nvSpPr>
          <p:cNvPr id="11" name="TextBox 10"/>
          <p:cNvSpPr txBox="1"/>
          <p:nvPr/>
        </p:nvSpPr>
        <p:spPr>
          <a:xfrm>
            <a:off x="576072" y="3529584"/>
            <a:ext cx="2404872" cy="1545335"/>
          </a:xfrm>
          <a:prstGeom prst="rect">
            <a:avLst/>
          </a:prstGeom>
          <a:noFill/>
        </p:spPr>
        <p:txBody>
          <a:bodyPr wrap="square" lIns="0" tIns="0" rIns="0" bIns="0" anchor="t">
            <a:noAutofit/>
          </a:bodyPr>
          <a:lstStyle/>
          <a:p>
            <a:pPr algn="l" marL="0" indent="0">
              <a:spcAft>
                <a:spcPts val="300"/>
              </a:spcAft>
              <a:buNone/>
            </a:pPr>
            <a:r>
              <a:rPr sz="1350" b="0">
                <a:solidFill>
                  <a:srgbClr val="24303F"/>
                </a:solidFill>
                <a:latin typeface="BIZ UDPゴシック"/>
                <a:ea typeface="BIZ UDPゴシック"/>
                <a:cs typeface="BIZ UDPゴシック"/>
              </a:rPr>
              <a:t>A Bayesian twin starts from the survey and learns from each person's daily logs</a:t>
            </a:r>
          </a:p>
        </p:txBody>
      </p:sp>
      <p:sp>
        <p:nvSpPr>
          <p:cNvPr id="12" name="Rounded Rectangle 11"/>
          <p:cNvSpPr/>
          <p:nvPr/>
        </p:nvSpPr>
        <p:spPr>
          <a:xfrm>
            <a:off x="3218688" y="2834640"/>
            <a:ext cx="2697480" cy="2331720"/>
          </a:xfrm>
          <a:prstGeom prst="roundRect">
            <a:avLst>
              <a:gd name="adj" fmla="val 392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364992" y="2980944"/>
            <a:ext cx="457200" cy="45720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ic_dice_w.png"/>
          <p:cNvPicPr>
            <a:picLocks noChangeAspect="1"/>
          </p:cNvPicPr>
          <p:nvPr/>
        </p:nvPicPr>
        <p:blipFill>
          <a:blip r:embed="rId3"/>
          <a:stretch>
            <a:fillRect/>
          </a:stretch>
        </p:blipFill>
        <p:spPr>
          <a:xfrm>
            <a:off x="3474720" y="3090672"/>
            <a:ext cx="237744" cy="237744"/>
          </a:xfrm>
          <a:prstGeom prst="rect">
            <a:avLst/>
          </a:prstGeom>
        </p:spPr>
      </p:pic>
      <p:sp>
        <p:nvSpPr>
          <p:cNvPr id="15" name="TextBox 14"/>
          <p:cNvSpPr txBox="1"/>
          <p:nvPr/>
        </p:nvSpPr>
        <p:spPr>
          <a:xfrm>
            <a:off x="3931920" y="2953512"/>
            <a:ext cx="18745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Show uncertainty</a:t>
            </a:r>
          </a:p>
        </p:txBody>
      </p:sp>
      <p:sp>
        <p:nvSpPr>
          <p:cNvPr id="16" name="TextBox 15"/>
          <p:cNvSpPr txBox="1"/>
          <p:nvPr/>
        </p:nvSpPr>
        <p:spPr>
          <a:xfrm>
            <a:off x="3383280" y="3529584"/>
            <a:ext cx="2404872" cy="1545335"/>
          </a:xfrm>
          <a:prstGeom prst="rect">
            <a:avLst/>
          </a:prstGeom>
          <a:noFill/>
        </p:spPr>
        <p:txBody>
          <a:bodyPr wrap="square" lIns="0" tIns="0" rIns="0" bIns="0" anchor="t">
            <a:noAutofit/>
          </a:bodyPr>
          <a:lstStyle/>
          <a:p>
            <a:pPr algn="l" marL="0" indent="0">
              <a:spcAft>
                <a:spcPts val="300"/>
              </a:spcAft>
              <a:buNone/>
            </a:pPr>
            <a:r>
              <a:rPr sz="1350" b="0">
                <a:solidFill>
                  <a:srgbClr val="24303F"/>
                </a:solidFill>
                <a:latin typeface="BIZ UDPゴシック"/>
                <a:ea typeface="BIZ UDPゴシック"/>
                <a:cs typeface="BIZ UDPゴシック"/>
              </a:rPr>
              <a:t>A possible-selves avatar renders the forecast range as overlapping selves</a:t>
            </a:r>
          </a:p>
        </p:txBody>
      </p:sp>
      <p:sp>
        <p:nvSpPr>
          <p:cNvPr id="17" name="Rounded Rectangle 16"/>
          <p:cNvSpPr/>
          <p:nvPr/>
        </p:nvSpPr>
        <p:spPr>
          <a:xfrm>
            <a:off x="6025896" y="2834640"/>
            <a:ext cx="2697480" cy="2331720"/>
          </a:xfrm>
          <a:prstGeom prst="roundRect">
            <a:avLst>
              <a:gd name="adj" fmla="val 392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172200" y="2980944"/>
            <a:ext cx="457200" cy="45720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ic_scale_w.png"/>
          <p:cNvPicPr>
            <a:picLocks noChangeAspect="1"/>
          </p:cNvPicPr>
          <p:nvPr/>
        </p:nvPicPr>
        <p:blipFill>
          <a:blip r:embed="rId4"/>
          <a:stretch>
            <a:fillRect/>
          </a:stretch>
        </p:blipFill>
        <p:spPr>
          <a:xfrm>
            <a:off x="6281928" y="3090672"/>
            <a:ext cx="237744" cy="237744"/>
          </a:xfrm>
          <a:prstGeom prst="rect">
            <a:avLst/>
          </a:prstGeom>
        </p:spPr>
      </p:pic>
      <p:sp>
        <p:nvSpPr>
          <p:cNvPr id="20" name="TextBox 19"/>
          <p:cNvSpPr txBox="1"/>
          <p:nvPr/>
        </p:nvSpPr>
        <p:spPr>
          <a:xfrm>
            <a:off x="6739128" y="2953512"/>
            <a:ext cx="187451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Rebalance, not restrict</a:t>
            </a:r>
          </a:p>
        </p:txBody>
      </p:sp>
      <p:sp>
        <p:nvSpPr>
          <p:cNvPr id="21" name="TextBox 20"/>
          <p:cNvSpPr txBox="1"/>
          <p:nvPr/>
        </p:nvSpPr>
        <p:spPr>
          <a:xfrm>
            <a:off x="6190488" y="3529584"/>
            <a:ext cx="2404872" cy="1545335"/>
          </a:xfrm>
          <a:prstGeom prst="rect">
            <a:avLst/>
          </a:prstGeom>
          <a:noFill/>
        </p:spPr>
        <p:txBody>
          <a:bodyPr wrap="square" lIns="0" tIns="0" rIns="0" bIns="0" anchor="t">
            <a:noAutofit/>
          </a:bodyPr>
          <a:lstStyle/>
          <a:p>
            <a:pPr algn="l" marL="0" indent="0">
              <a:spcAft>
                <a:spcPts val="300"/>
              </a:spcAft>
              <a:buNone/>
            </a:pPr>
            <a:r>
              <a:rPr sz="1350" b="0">
                <a:solidFill>
                  <a:srgbClr val="24303F"/>
                </a:solidFill>
                <a:latin typeface="BIZ UDPゴシック"/>
                <a:ea typeface="BIZ UDPゴシック"/>
                <a:cs typeface="BIZ UDPゴシック"/>
              </a:rPr>
              <a:t>Proposals re-allocate activities and never cut what people want more of</a:t>
            </a:r>
          </a:p>
        </p:txBody>
      </p:sp>
      <p:sp>
        <p:nvSpPr>
          <p:cNvPr id="22" name="Rounded Rectangle 21"/>
          <p:cNvSpPr/>
          <p:nvPr/>
        </p:nvSpPr>
        <p:spPr>
          <a:xfrm>
            <a:off x="411480" y="5394960"/>
            <a:ext cx="8321040" cy="777240"/>
          </a:xfrm>
          <a:prstGeom prst="roundRect">
            <a:avLst>
              <a:gd name="adj" fmla="val 14117"/>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400" b="1">
                <a:solidFill>
                  <a:srgbClr val="FFFFFF"/>
                </a:solidFill>
                <a:latin typeface="BIZ UDPゴシック"/>
                <a:ea typeface="BIZ UDPゴシック"/>
                <a:cs typeface="BIZ UDPゴシック"/>
              </a:rPr>
              <a:t>Goal: support behavior change without overclaiming — and without taking the joy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OshiFit at a glance</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5</a:t>
            </a:fld>
          </a:p>
        </p:txBody>
      </p:sp>
      <p:sp>
        <p:nvSpPr>
          <p:cNvPr id="5" name="Rounded Rectangle 4"/>
          <p:cNvSpPr/>
          <p:nvPr/>
        </p:nvSpPr>
        <p:spPr>
          <a:xfrm>
            <a:off x="411480" y="1463040"/>
            <a:ext cx="2148840" cy="713232"/>
          </a:xfrm>
          <a:prstGeom prst="roundRect">
            <a:avLst>
              <a:gd name="adj" fmla="val 1282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02920" y="1609344"/>
            <a:ext cx="420624" cy="420624"/>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brain_w.png"/>
          <p:cNvPicPr>
            <a:picLocks noChangeAspect="1"/>
          </p:cNvPicPr>
          <p:nvPr/>
        </p:nvPicPr>
        <p:blipFill>
          <a:blip r:embed="rId2"/>
          <a:stretch>
            <a:fillRect/>
          </a:stretch>
        </p:blipFill>
        <p:spPr>
          <a:xfrm>
            <a:off x="603869" y="1710293"/>
            <a:ext cx="218724" cy="218724"/>
          </a:xfrm>
          <a:prstGeom prst="rect">
            <a:avLst/>
          </a:prstGeom>
        </p:spPr>
      </p:pic>
      <p:sp>
        <p:nvSpPr>
          <p:cNvPr id="8" name="TextBox 7"/>
          <p:cNvSpPr txBox="1"/>
          <p:nvPr/>
        </p:nvSpPr>
        <p:spPr>
          <a:xfrm>
            <a:off x="1014984" y="1463040"/>
            <a:ext cx="1490472" cy="713232"/>
          </a:xfrm>
          <a:prstGeom prst="rect">
            <a:avLst/>
          </a:prstGeom>
          <a:noFill/>
        </p:spPr>
        <p:txBody>
          <a:bodyPr wrap="square" lIns="0" tIns="0" rIns="0" bIns="0" anchor="ctr">
            <a:noAutofit/>
          </a:bodyPr>
          <a:lstStyle/>
          <a:p>
            <a:pPr algn="l" marL="0" indent="0">
              <a:spcAft>
                <a:spcPts val="0"/>
              </a:spcAft>
              <a:buNone/>
            </a:pPr>
            <a:r>
              <a:rPr sz="1300" b="1">
                <a:solidFill>
                  <a:srgbClr val="0B3C6E"/>
                </a:solidFill>
                <a:latin typeface="BIZ UDPゴシック"/>
                <a:ea typeface="BIZ UDPゴシック"/>
                <a:cs typeface="BIZ UDPゴシック"/>
              </a:rPr>
              <a:t>TIPI-J</a:t>
            </a:r>
          </a:p>
          <a:p>
            <a:pPr algn="l" marL="0" indent="0">
              <a:spcAft>
                <a:spcPts val="400"/>
              </a:spcAft>
              <a:buNone/>
            </a:pPr>
            <a:r>
              <a:rPr sz="1050" b="0">
                <a:solidFill>
                  <a:srgbClr val="5A6676"/>
                </a:solidFill>
                <a:latin typeface="BIZ UDPゴシック"/>
                <a:ea typeface="BIZ UDPゴシック"/>
                <a:cs typeface="BIZ UDPゴシック"/>
              </a:rPr>
              <a:t>once, 1 min</a:t>
            </a:r>
          </a:p>
        </p:txBody>
      </p:sp>
      <p:sp>
        <p:nvSpPr>
          <p:cNvPr id="9" name="Rounded Rectangle 8"/>
          <p:cNvSpPr/>
          <p:nvPr/>
        </p:nvSpPr>
        <p:spPr>
          <a:xfrm>
            <a:off x="411480" y="2331720"/>
            <a:ext cx="2148840" cy="713232"/>
          </a:xfrm>
          <a:prstGeom prst="roundRect">
            <a:avLst>
              <a:gd name="adj" fmla="val 1282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502920" y="2478024"/>
            <a:ext cx="420624" cy="420624"/>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c_pen_w.png"/>
          <p:cNvPicPr>
            <a:picLocks noChangeAspect="1"/>
          </p:cNvPicPr>
          <p:nvPr/>
        </p:nvPicPr>
        <p:blipFill>
          <a:blip r:embed="rId3"/>
          <a:stretch>
            <a:fillRect/>
          </a:stretch>
        </p:blipFill>
        <p:spPr>
          <a:xfrm>
            <a:off x="603869" y="2578973"/>
            <a:ext cx="218724" cy="218724"/>
          </a:xfrm>
          <a:prstGeom prst="rect">
            <a:avLst/>
          </a:prstGeom>
        </p:spPr>
      </p:pic>
      <p:sp>
        <p:nvSpPr>
          <p:cNvPr id="12" name="TextBox 11"/>
          <p:cNvSpPr txBox="1"/>
          <p:nvPr/>
        </p:nvSpPr>
        <p:spPr>
          <a:xfrm>
            <a:off x="1014984" y="2331720"/>
            <a:ext cx="1490472" cy="713232"/>
          </a:xfrm>
          <a:prstGeom prst="rect">
            <a:avLst/>
          </a:prstGeom>
          <a:noFill/>
        </p:spPr>
        <p:txBody>
          <a:bodyPr wrap="square" lIns="0" tIns="0" rIns="0" bIns="0" anchor="ctr">
            <a:noAutofit/>
          </a:bodyPr>
          <a:lstStyle/>
          <a:p>
            <a:pPr algn="l" marL="0" indent="0">
              <a:spcAft>
                <a:spcPts val="0"/>
              </a:spcAft>
              <a:buNone/>
            </a:pPr>
            <a:r>
              <a:rPr sz="1300" b="1">
                <a:solidFill>
                  <a:srgbClr val="0B3C6E"/>
                </a:solidFill>
                <a:latin typeface="BIZ UDPゴシック"/>
                <a:ea typeface="BIZ UDPゴシック"/>
                <a:cs typeface="BIZ UDPゴシック"/>
              </a:rPr>
              <a:t>Daily log</a:t>
            </a:r>
          </a:p>
          <a:p>
            <a:pPr algn="l" marL="0" indent="0">
              <a:spcAft>
                <a:spcPts val="400"/>
              </a:spcAft>
              <a:buNone/>
            </a:pPr>
            <a:r>
              <a:rPr sz="1050" b="0">
                <a:solidFill>
                  <a:srgbClr val="5A6676"/>
                </a:solidFill>
                <a:latin typeface="BIZ UDPゴシック"/>
                <a:ea typeface="BIZ UDPゴシック"/>
                <a:cs typeface="BIZ UDPゴシック"/>
              </a:rPr>
              <a:t>≈30 s a day</a:t>
            </a:r>
          </a:p>
        </p:txBody>
      </p:sp>
      <p:sp>
        <p:nvSpPr>
          <p:cNvPr id="13" name="Rounded Rectangle 12"/>
          <p:cNvSpPr/>
          <p:nvPr/>
        </p:nvSpPr>
        <p:spPr>
          <a:xfrm>
            <a:off x="411480" y="3200400"/>
            <a:ext cx="2148840" cy="713232"/>
          </a:xfrm>
          <a:prstGeom prst="roundRect">
            <a:avLst>
              <a:gd name="adj" fmla="val 1282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02920" y="3346704"/>
            <a:ext cx="420624" cy="420624"/>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ic_heart_w.png"/>
          <p:cNvPicPr>
            <a:picLocks noChangeAspect="1"/>
          </p:cNvPicPr>
          <p:nvPr/>
        </p:nvPicPr>
        <p:blipFill>
          <a:blip r:embed="rId4"/>
          <a:stretch>
            <a:fillRect/>
          </a:stretch>
        </p:blipFill>
        <p:spPr>
          <a:xfrm>
            <a:off x="603869" y="3447653"/>
            <a:ext cx="218724" cy="218724"/>
          </a:xfrm>
          <a:prstGeom prst="rect">
            <a:avLst/>
          </a:prstGeom>
        </p:spPr>
      </p:pic>
      <p:sp>
        <p:nvSpPr>
          <p:cNvPr id="16" name="TextBox 15"/>
          <p:cNvSpPr txBox="1"/>
          <p:nvPr/>
        </p:nvSpPr>
        <p:spPr>
          <a:xfrm>
            <a:off x="1014984" y="3200400"/>
            <a:ext cx="1490472" cy="713232"/>
          </a:xfrm>
          <a:prstGeom prst="rect">
            <a:avLst/>
          </a:prstGeom>
          <a:noFill/>
        </p:spPr>
        <p:txBody>
          <a:bodyPr wrap="square" lIns="0" tIns="0" rIns="0" bIns="0" anchor="ctr">
            <a:noAutofit/>
          </a:bodyPr>
          <a:lstStyle/>
          <a:p>
            <a:pPr algn="l" marL="0" indent="0">
              <a:spcAft>
                <a:spcPts val="0"/>
              </a:spcAft>
              <a:buNone/>
            </a:pPr>
            <a:r>
              <a:rPr sz="1300" b="1">
                <a:solidFill>
                  <a:srgbClr val="0B3C6E"/>
                </a:solidFill>
                <a:latin typeface="BIZ UDPゴシック"/>
                <a:ea typeface="BIZ UDPゴシック"/>
                <a:cs typeface="BIZ UDPゴシック"/>
              </a:rPr>
              <a:t>Wishes</a:t>
            </a:r>
          </a:p>
          <a:p>
            <a:pPr algn="l" marL="0" indent="0">
              <a:spcAft>
                <a:spcPts val="400"/>
              </a:spcAft>
              <a:buNone/>
            </a:pPr>
            <a:r>
              <a:rPr sz="1050" b="0">
                <a:solidFill>
                  <a:srgbClr val="5A6676"/>
                </a:solidFill>
                <a:latin typeface="BIZ UDPゴシック"/>
                <a:ea typeface="BIZ UDPゴシック"/>
                <a:cs typeface="BIZ UDPゴシック"/>
              </a:rPr>
              <a:t>more / less of what</a:t>
            </a:r>
          </a:p>
        </p:txBody>
      </p:sp>
      <p:sp>
        <p:nvSpPr>
          <p:cNvPr id="17" name="Rounded Rectangle 16"/>
          <p:cNvSpPr/>
          <p:nvPr/>
        </p:nvSpPr>
        <p:spPr>
          <a:xfrm>
            <a:off x="2880360" y="1874519"/>
            <a:ext cx="1691640" cy="1783080"/>
          </a:xfrm>
          <a:prstGeom prst="roundRect">
            <a:avLst>
              <a:gd name="adj" fmla="val 6486"/>
            </a:avLst>
          </a:prstGeom>
          <a:solidFill>
            <a:srgbClr val="0B3C6E"/>
          </a:solidFill>
          <a:ln>
            <a:no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880360" y="1965960"/>
            <a:ext cx="1691640" cy="411480"/>
          </a:xfrm>
          <a:prstGeom prst="rect">
            <a:avLst/>
          </a:prstGeom>
          <a:noFill/>
        </p:spPr>
        <p:txBody>
          <a:bodyPr wrap="square" lIns="0" tIns="0" rIns="0" bIns="0" anchor="t">
            <a:noAutofit/>
          </a:bodyPr>
          <a:lstStyle/>
          <a:p>
            <a:pPr algn="ctr" marL="0" indent="0">
              <a:spcAft>
                <a:spcPts val="400"/>
              </a:spcAft>
              <a:buNone/>
            </a:pPr>
            <a:r>
              <a:rPr sz="2000" b="1">
                <a:solidFill>
                  <a:srgbClr val="FFFFFF"/>
                </a:solidFill>
                <a:latin typeface="BIZ UDPゴシック"/>
                <a:ea typeface="BIZ UDPゴシック"/>
                <a:cs typeface="BIZ UDPゴシック"/>
              </a:rPr>
              <a:t>①</a:t>
            </a:r>
          </a:p>
        </p:txBody>
      </p:sp>
      <p:sp>
        <p:nvSpPr>
          <p:cNvPr id="19" name="TextBox 18"/>
          <p:cNvSpPr txBox="1"/>
          <p:nvPr/>
        </p:nvSpPr>
        <p:spPr>
          <a:xfrm>
            <a:off x="2953512" y="2359152"/>
            <a:ext cx="1545336" cy="457200"/>
          </a:xfrm>
          <a:prstGeom prst="rect">
            <a:avLst/>
          </a:prstGeom>
          <a:noFill/>
        </p:spPr>
        <p:txBody>
          <a:bodyPr wrap="square" lIns="0" tIns="0" rIns="0" bIns="0" anchor="ctr">
            <a:noAutofit/>
          </a:bodyPr>
          <a:lstStyle/>
          <a:p>
            <a:pPr algn="ctr" marL="0" indent="0">
              <a:spcAft>
                <a:spcPts val="400"/>
              </a:spcAft>
              <a:buNone/>
            </a:pPr>
            <a:r>
              <a:rPr sz="1400" b="1">
                <a:solidFill>
                  <a:srgbClr val="FFFFFF"/>
                </a:solidFill>
                <a:latin typeface="BIZ UDPゴシック"/>
                <a:ea typeface="BIZ UDPゴシック"/>
                <a:cs typeface="BIZ UDPゴシック"/>
              </a:rPr>
              <a:t>Bayesian Twin</a:t>
            </a:r>
          </a:p>
        </p:txBody>
      </p:sp>
      <p:sp>
        <p:nvSpPr>
          <p:cNvPr id="20" name="TextBox 19"/>
          <p:cNvSpPr txBox="1"/>
          <p:nvPr/>
        </p:nvSpPr>
        <p:spPr>
          <a:xfrm>
            <a:off x="2953512" y="2834640"/>
            <a:ext cx="1545336" cy="731520"/>
          </a:xfrm>
          <a:prstGeom prst="rect">
            <a:avLst/>
          </a:prstGeom>
          <a:noFill/>
        </p:spPr>
        <p:txBody>
          <a:bodyPr wrap="square" lIns="0" tIns="0" rIns="0" bIns="0" anchor="t">
            <a:noAutofit/>
          </a:bodyPr>
          <a:lstStyle/>
          <a:p>
            <a:pPr algn="ctr" marL="0" indent="0">
              <a:spcAft>
                <a:spcPts val="0"/>
              </a:spcAft>
              <a:buNone/>
            </a:pPr>
            <a:r>
              <a:rPr sz="1100" b="0">
                <a:solidFill>
                  <a:srgbClr val="FFFFFF"/>
                </a:solidFill>
                <a:latin typeface="BIZ UDPゴシック"/>
                <a:ea typeface="BIZ UDPゴシック"/>
                <a:cs typeface="BIZ UDPゴシック"/>
              </a:rPr>
              <a:t>Personal model,</a:t>
            </a:r>
          </a:p>
          <a:p>
            <a:pPr algn="ctr" marL="0" indent="0">
              <a:spcAft>
                <a:spcPts val="0"/>
              </a:spcAft>
              <a:buNone/>
            </a:pPr>
            <a:r>
              <a:rPr sz="1100" b="0">
                <a:solidFill>
                  <a:srgbClr val="FFFFFF"/>
                </a:solidFill>
                <a:latin typeface="BIZ UDPゴシック"/>
                <a:ea typeface="BIZ UDPゴシック"/>
                <a:cs typeface="BIZ UDPゴシック"/>
              </a:rPr>
              <a:t>updated nightly</a:t>
            </a:r>
          </a:p>
        </p:txBody>
      </p:sp>
      <p:sp>
        <p:nvSpPr>
          <p:cNvPr id="21" name="Rounded Rectangle 20"/>
          <p:cNvSpPr/>
          <p:nvPr/>
        </p:nvSpPr>
        <p:spPr>
          <a:xfrm>
            <a:off x="4800600" y="1874519"/>
            <a:ext cx="1691640" cy="1783080"/>
          </a:xfrm>
          <a:prstGeom prst="roundRect">
            <a:avLst>
              <a:gd name="adj" fmla="val 6486"/>
            </a:avLst>
          </a:prstGeom>
          <a:solidFill>
            <a:srgbClr val="0B3C6E"/>
          </a:solidFill>
          <a:ln>
            <a:no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800600" y="1965960"/>
            <a:ext cx="1691640" cy="411480"/>
          </a:xfrm>
          <a:prstGeom prst="rect">
            <a:avLst/>
          </a:prstGeom>
          <a:noFill/>
        </p:spPr>
        <p:txBody>
          <a:bodyPr wrap="square" lIns="0" tIns="0" rIns="0" bIns="0" anchor="t">
            <a:noAutofit/>
          </a:bodyPr>
          <a:lstStyle/>
          <a:p>
            <a:pPr algn="ctr" marL="0" indent="0">
              <a:spcAft>
                <a:spcPts val="400"/>
              </a:spcAft>
              <a:buNone/>
            </a:pPr>
            <a:r>
              <a:rPr sz="2000" b="1">
                <a:solidFill>
                  <a:srgbClr val="FFFFFF"/>
                </a:solidFill>
                <a:latin typeface="BIZ UDPゴシック"/>
                <a:ea typeface="BIZ UDPゴシック"/>
                <a:cs typeface="BIZ UDPゴシック"/>
              </a:rPr>
              <a:t>②</a:t>
            </a:r>
          </a:p>
        </p:txBody>
      </p:sp>
      <p:sp>
        <p:nvSpPr>
          <p:cNvPr id="23" name="TextBox 22"/>
          <p:cNvSpPr txBox="1"/>
          <p:nvPr/>
        </p:nvSpPr>
        <p:spPr>
          <a:xfrm>
            <a:off x="4873752" y="2359152"/>
            <a:ext cx="1545336" cy="457200"/>
          </a:xfrm>
          <a:prstGeom prst="rect">
            <a:avLst/>
          </a:prstGeom>
          <a:noFill/>
        </p:spPr>
        <p:txBody>
          <a:bodyPr wrap="square" lIns="0" tIns="0" rIns="0" bIns="0" anchor="ctr">
            <a:noAutofit/>
          </a:bodyPr>
          <a:lstStyle/>
          <a:p>
            <a:pPr algn="ctr" marL="0" indent="0">
              <a:spcAft>
                <a:spcPts val="400"/>
              </a:spcAft>
              <a:buNone/>
            </a:pPr>
            <a:r>
              <a:rPr sz="1400" b="1">
                <a:solidFill>
                  <a:srgbClr val="FFFFFF"/>
                </a:solidFill>
                <a:latin typeface="BIZ UDPゴシック"/>
                <a:ea typeface="BIZ UDPゴシック"/>
                <a:cs typeface="BIZ UDPゴシック"/>
              </a:rPr>
              <a:t>Rebalance Engine</a:t>
            </a:r>
          </a:p>
        </p:txBody>
      </p:sp>
      <p:sp>
        <p:nvSpPr>
          <p:cNvPr id="24" name="TextBox 23"/>
          <p:cNvSpPr txBox="1"/>
          <p:nvPr/>
        </p:nvSpPr>
        <p:spPr>
          <a:xfrm>
            <a:off x="4873752" y="2834640"/>
            <a:ext cx="1545336" cy="731520"/>
          </a:xfrm>
          <a:prstGeom prst="rect">
            <a:avLst/>
          </a:prstGeom>
          <a:noFill/>
        </p:spPr>
        <p:txBody>
          <a:bodyPr wrap="square" lIns="0" tIns="0" rIns="0" bIns="0" anchor="t">
            <a:noAutofit/>
          </a:bodyPr>
          <a:lstStyle/>
          <a:p>
            <a:pPr algn="ctr" marL="0" indent="0">
              <a:spcAft>
                <a:spcPts val="0"/>
              </a:spcAft>
              <a:buNone/>
            </a:pPr>
            <a:r>
              <a:rPr sz="1100" b="0">
                <a:solidFill>
                  <a:srgbClr val="FFFFFF"/>
                </a:solidFill>
                <a:latin typeface="BIZ UDPゴシック"/>
                <a:ea typeface="BIZ UDPゴシック"/>
                <a:cs typeface="BIZ UDPゴシック"/>
              </a:rPr>
              <a:t>Re-allocate, not restrict:</a:t>
            </a:r>
          </a:p>
          <a:p>
            <a:pPr algn="ctr" marL="0" indent="0">
              <a:spcAft>
                <a:spcPts val="0"/>
              </a:spcAft>
              <a:buNone/>
            </a:pPr>
            <a:r>
              <a:rPr sz="1100" b="0">
                <a:solidFill>
                  <a:srgbClr val="FFFFFF"/>
                </a:solidFill>
                <a:latin typeface="BIZ UDPゴシック"/>
                <a:ea typeface="BIZ UDPゴシック"/>
                <a:cs typeface="BIZ UDPゴシック"/>
              </a:rPr>
              <a:t>3 Pareto options</a:t>
            </a:r>
          </a:p>
        </p:txBody>
      </p:sp>
      <p:sp>
        <p:nvSpPr>
          <p:cNvPr id="25" name="Right Arrow 24"/>
          <p:cNvSpPr/>
          <p:nvPr/>
        </p:nvSpPr>
        <p:spPr>
          <a:xfrm>
            <a:off x="2633472" y="2560320"/>
            <a:ext cx="219456" cy="384048"/>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ight Arrow 25"/>
          <p:cNvSpPr/>
          <p:nvPr/>
        </p:nvSpPr>
        <p:spPr>
          <a:xfrm>
            <a:off x="4599432" y="2560320"/>
            <a:ext cx="182880" cy="384048"/>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ight Arrow 26"/>
          <p:cNvSpPr/>
          <p:nvPr/>
        </p:nvSpPr>
        <p:spPr>
          <a:xfrm>
            <a:off x="6519672" y="2560320"/>
            <a:ext cx="182880" cy="384048"/>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48272" y="1417320"/>
            <a:ext cx="1984248" cy="2697480"/>
          </a:xfrm>
          <a:prstGeom prst="roundRect">
            <a:avLst>
              <a:gd name="adj" fmla="val 5529"/>
            </a:avLst>
          </a:prstGeom>
          <a:solidFill>
            <a:srgbClr val="E3F6F2"/>
          </a:solidFill>
          <a:ln w="19050">
            <a:solidFill>
              <a:srgbClr val="12A3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48272" y="1463040"/>
            <a:ext cx="1984248" cy="329184"/>
          </a:xfrm>
          <a:prstGeom prst="rect">
            <a:avLst/>
          </a:prstGeom>
          <a:noFill/>
        </p:spPr>
        <p:txBody>
          <a:bodyPr wrap="square" lIns="0" tIns="0" rIns="0" bIns="0" anchor="t">
            <a:noAutofit/>
          </a:bodyPr>
          <a:lstStyle/>
          <a:p>
            <a:pPr algn="ctr" marL="0" indent="0">
              <a:spcAft>
                <a:spcPts val="400"/>
              </a:spcAft>
              <a:buNone/>
            </a:pPr>
            <a:r>
              <a:rPr sz="1300" b="1">
                <a:solidFill>
                  <a:srgbClr val="12A38A"/>
                </a:solidFill>
                <a:latin typeface="BIZ UDPゴシック"/>
                <a:ea typeface="BIZ UDPゴシック"/>
                <a:cs typeface="BIZ UDPゴシック"/>
              </a:rPr>
              <a:t>③④ Future Mirror</a:t>
            </a:r>
          </a:p>
        </p:txBody>
      </p:sp>
      <p:pic>
        <p:nvPicPr>
          <p:cNvPr id="30" name="Picture 29" descr="ghostA.png"/>
          <p:cNvPicPr>
            <a:picLocks noChangeAspect="1"/>
          </p:cNvPicPr>
          <p:nvPr/>
        </p:nvPicPr>
        <p:blipFill>
          <a:blip r:embed="rId5"/>
          <a:stretch>
            <a:fillRect/>
          </a:stretch>
        </p:blipFill>
        <p:spPr>
          <a:xfrm>
            <a:off x="6766559" y="1828800"/>
            <a:ext cx="960120" cy="652882"/>
          </a:xfrm>
          <a:prstGeom prst="rect">
            <a:avLst/>
          </a:prstGeom>
        </p:spPr>
      </p:pic>
      <p:pic>
        <p:nvPicPr>
          <p:cNvPr id="31" name="Picture 30" descr="ghostB.png"/>
          <p:cNvPicPr>
            <a:picLocks noChangeAspect="1"/>
          </p:cNvPicPr>
          <p:nvPr/>
        </p:nvPicPr>
        <p:blipFill>
          <a:blip r:embed="rId6"/>
          <a:stretch>
            <a:fillRect/>
          </a:stretch>
        </p:blipFill>
        <p:spPr>
          <a:xfrm>
            <a:off x="7754112" y="1828800"/>
            <a:ext cx="960120" cy="652882"/>
          </a:xfrm>
          <a:prstGeom prst="rect">
            <a:avLst/>
          </a:prstGeom>
        </p:spPr>
      </p:pic>
      <p:sp>
        <p:nvSpPr>
          <p:cNvPr id="32" name="TextBox 31"/>
          <p:cNvSpPr txBox="1"/>
          <p:nvPr/>
        </p:nvSpPr>
        <p:spPr>
          <a:xfrm>
            <a:off x="6766559" y="2514600"/>
            <a:ext cx="960120" cy="274320"/>
          </a:xfrm>
          <a:prstGeom prst="rect">
            <a:avLst/>
          </a:prstGeom>
          <a:noFill/>
        </p:spPr>
        <p:txBody>
          <a:bodyPr wrap="square" lIns="0" tIns="0" rIns="0" bIns="0" anchor="t">
            <a:noAutofit/>
          </a:bodyPr>
          <a:lstStyle/>
          <a:p>
            <a:pPr algn="ctr" marL="0" indent="0">
              <a:spcAft>
                <a:spcPts val="400"/>
              </a:spcAft>
              <a:buNone/>
            </a:pPr>
            <a:r>
              <a:rPr sz="1050" b="1">
                <a:solidFill>
                  <a:srgbClr val="E07A10"/>
                </a:solidFill>
                <a:latin typeface="BIZ UDPゴシック"/>
                <a:ea typeface="BIZ UDPゴシック"/>
                <a:cs typeface="BIZ UDPゴシック"/>
              </a:rPr>
              <a:t>As is</a:t>
            </a:r>
          </a:p>
        </p:txBody>
      </p:sp>
      <p:sp>
        <p:nvSpPr>
          <p:cNvPr id="33" name="TextBox 32"/>
          <p:cNvSpPr txBox="1"/>
          <p:nvPr/>
        </p:nvSpPr>
        <p:spPr>
          <a:xfrm>
            <a:off x="7754112" y="2514600"/>
            <a:ext cx="960120" cy="274320"/>
          </a:xfrm>
          <a:prstGeom prst="rect">
            <a:avLst/>
          </a:prstGeom>
          <a:noFill/>
        </p:spPr>
        <p:txBody>
          <a:bodyPr wrap="square" lIns="0" tIns="0" rIns="0" bIns="0" anchor="t">
            <a:noAutofit/>
          </a:bodyPr>
          <a:lstStyle/>
          <a:p>
            <a:pPr algn="ctr" marL="0" indent="0">
              <a:spcAft>
                <a:spcPts val="400"/>
              </a:spcAft>
              <a:buNone/>
            </a:pPr>
            <a:r>
              <a:rPr sz="1050" b="1">
                <a:solidFill>
                  <a:srgbClr val="12A38A"/>
                </a:solidFill>
                <a:latin typeface="BIZ UDPゴシック"/>
                <a:ea typeface="BIZ UDPゴシック"/>
                <a:cs typeface="BIZ UDPゴシック"/>
              </a:rPr>
              <a:t>Proposal</a:t>
            </a:r>
          </a:p>
        </p:txBody>
      </p:sp>
      <p:sp>
        <p:nvSpPr>
          <p:cNvPr id="34" name="TextBox 33"/>
          <p:cNvSpPr txBox="1"/>
          <p:nvPr/>
        </p:nvSpPr>
        <p:spPr>
          <a:xfrm>
            <a:off x="6858000" y="2852928"/>
            <a:ext cx="1783080" cy="1188720"/>
          </a:xfrm>
          <a:prstGeom prst="rect">
            <a:avLst/>
          </a:prstGeom>
          <a:noFill/>
        </p:spPr>
        <p:txBody>
          <a:bodyPr wrap="square" lIns="0" tIns="0" rIns="0" bIns="0" anchor="t">
            <a:noAutofit/>
          </a:bodyPr>
          <a:lstStyle/>
          <a:p>
            <a:pPr algn="l" marL="0" indent="0">
              <a:spcAft>
                <a:spcPts val="0"/>
              </a:spcAft>
              <a:buNone/>
            </a:pPr>
            <a:r>
              <a:rPr sz="1100" b="1">
                <a:solidFill>
                  <a:srgbClr val="0B3C6E"/>
                </a:solidFill>
                <a:latin typeface="BIZ UDPゴシック"/>
                <a:ea typeface="BIZ UDPゴシック"/>
                <a:cs typeface="BIZ UDPゴシック"/>
              </a:rPr>
              <a:t>Possible-selves avatar</a:t>
            </a:r>
          </a:p>
          <a:p>
            <a:pPr algn="l" marL="0" indent="0">
              <a:spcAft>
                <a:spcPts val="500"/>
              </a:spcAft>
              <a:buNone/>
            </a:pPr>
            <a:r>
              <a:rPr sz="1050" b="0">
                <a:solidFill>
                  <a:srgbClr val="24303F"/>
                </a:solidFill>
                <a:latin typeface="BIZ UDPゴシック"/>
                <a:ea typeface="BIZ UDPゴシック"/>
                <a:cs typeface="BIZ UDPゴシック"/>
              </a:rPr>
              <a:t>range shown as overlap</a:t>
            </a:r>
          </a:p>
          <a:p>
            <a:pPr algn="l" marL="0" indent="0">
              <a:spcAft>
                <a:spcPts val="0"/>
              </a:spcAft>
              <a:buNone/>
            </a:pPr>
            <a:r>
              <a:rPr sz="1100" b="1">
                <a:solidFill>
                  <a:srgbClr val="0B3C6E"/>
                </a:solidFill>
                <a:latin typeface="BIZ UDPゴシック"/>
                <a:ea typeface="BIZ UDPゴシック"/>
                <a:cs typeface="BIZ UDPゴシック"/>
              </a:rPr>
              <a:t>Fatigue-facet cues</a:t>
            </a:r>
          </a:p>
          <a:p>
            <a:pPr algn="l" marL="0" indent="0">
              <a:spcAft>
                <a:spcPts val="400"/>
              </a:spcAft>
              <a:buNone/>
            </a:pPr>
            <a:r>
              <a:rPr sz="1050" b="0">
                <a:solidFill>
                  <a:srgbClr val="24303F"/>
                </a:solidFill>
                <a:latin typeface="BIZ UDPゴシック"/>
                <a:ea typeface="BIZ UDPゴシック"/>
                <a:cs typeface="BIZ UDPゴシック"/>
              </a:rPr>
              <a:t>sleep, money, duty, compare</a:t>
            </a:r>
          </a:p>
        </p:txBody>
      </p:sp>
      <p:sp>
        <p:nvSpPr>
          <p:cNvPr id="35" name="Rounded Rectangle 34"/>
          <p:cNvSpPr/>
          <p:nvPr/>
        </p:nvSpPr>
        <p:spPr>
          <a:xfrm>
            <a:off x="2697480" y="4297680"/>
            <a:ext cx="6035040" cy="457200"/>
          </a:xfrm>
          <a:prstGeom prst="roundRect">
            <a:avLst>
              <a:gd name="adj" fmla="val 5000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200" b="1">
                <a:solidFill>
                  <a:srgbClr val="0B3C6E"/>
                </a:solidFill>
                <a:latin typeface="BIZ UDPゴシック"/>
                <a:ea typeface="BIZ UDPゴシック"/>
                <a:cs typeface="BIZ UDPゴシック"/>
              </a:rPr>
              <a:t>Choose → try a week → check-in → log → update → check forecast</a:t>
            </a:r>
          </a:p>
        </p:txBody>
      </p:sp>
      <p:cxnSp>
        <p:nvCxnSpPr>
          <p:cNvPr id="36" name="Connector 35"/>
          <p:cNvCxnSpPr/>
          <p:nvPr/>
        </p:nvCxnSpPr>
        <p:spPr>
          <a:xfrm>
            <a:off x="7726679" y="4114800"/>
            <a:ext cx="0" cy="182880"/>
          </a:xfrm>
          <a:prstGeom prst="line">
            <a:avLst/>
          </a:prstGeom>
          <a:ln w="25400">
            <a:solidFill>
              <a:srgbClr val="0099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291840" y="3657600"/>
            <a:ext cx="0" cy="640080"/>
          </a:xfrm>
          <a:prstGeom prst="line">
            <a:avLst/>
          </a:prstGeom>
          <a:ln w="25400">
            <a:solidFill>
              <a:srgbClr val="0099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11480" y="4956048"/>
            <a:ext cx="8321040" cy="438912"/>
          </a:xfrm>
          <a:prstGeom prst="roundRect">
            <a:avLst>
              <a:gd name="adj" fmla="val 20833"/>
            </a:avLst>
          </a:prstGeom>
          <a:solidFill>
            <a:srgbClr val="FDE7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66928" tIns="27432" bIns="27432">
            <a:noAutofit/>
          </a:bodyPr>
          <a:lstStyle/>
          <a:p>
            <a:pPr algn="l" marL="0" indent="0">
              <a:spcAft>
                <a:spcPts val="400"/>
              </a:spcAft>
              <a:buNone/>
            </a:pPr>
            <a:r>
              <a:rPr sz="1200" b="1">
                <a:solidFill>
                  <a:srgbClr val="E8457C"/>
                </a:solidFill>
                <a:latin typeface="BIZ UDPゴシック"/>
                <a:ea typeface="BIZ UDPゴシック"/>
                <a:cs typeface="BIZ UDPゴシック"/>
              </a:rPr>
              <a:t>Safety layer: when logs signal strong distress, forecasts pause and help resources are shown</a:t>
            </a:r>
          </a:p>
        </p:txBody>
      </p:sp>
      <p:sp>
        <p:nvSpPr>
          <p:cNvPr id="39" name="Oval 38"/>
          <p:cNvSpPr/>
          <p:nvPr/>
        </p:nvSpPr>
        <p:spPr>
          <a:xfrm>
            <a:off x="521208" y="5001768"/>
            <a:ext cx="347472" cy="347472"/>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ic_shield_w.png"/>
          <p:cNvPicPr>
            <a:picLocks noChangeAspect="1"/>
          </p:cNvPicPr>
          <p:nvPr/>
        </p:nvPicPr>
        <p:blipFill>
          <a:blip r:embed="rId7"/>
          <a:stretch>
            <a:fillRect/>
          </a:stretch>
        </p:blipFill>
        <p:spPr>
          <a:xfrm>
            <a:off x="604601" y="5085161"/>
            <a:ext cx="180685" cy="18068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Possible-selves avatar</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6</a:t>
            </a:fld>
          </a:p>
        </p:txBody>
      </p:sp>
      <p:sp>
        <p:nvSpPr>
          <p:cNvPr id="5" name="Rounded Rectangle 4"/>
          <p:cNvSpPr/>
          <p:nvPr/>
        </p:nvSpPr>
        <p:spPr>
          <a:xfrm>
            <a:off x="411480" y="1417320"/>
            <a:ext cx="2697480" cy="2331720"/>
          </a:xfrm>
          <a:prstGeom prst="roundRect">
            <a:avLst>
              <a:gd name="adj" fmla="val 4705"/>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host_d0.png"/>
          <p:cNvPicPr>
            <a:picLocks noChangeAspect="1"/>
          </p:cNvPicPr>
          <p:nvPr/>
        </p:nvPicPr>
        <p:blipFill>
          <a:blip r:embed="rId2"/>
          <a:stretch>
            <a:fillRect/>
          </a:stretch>
        </p:blipFill>
        <p:spPr>
          <a:xfrm>
            <a:off x="576072" y="1481328"/>
            <a:ext cx="2377440" cy="1616659"/>
          </a:xfrm>
          <a:prstGeom prst="rect">
            <a:avLst/>
          </a:prstGeom>
        </p:spPr>
      </p:pic>
      <p:sp>
        <p:nvSpPr>
          <p:cNvPr id="7" name="TextBox 6"/>
          <p:cNvSpPr txBox="1"/>
          <p:nvPr/>
        </p:nvSpPr>
        <p:spPr>
          <a:xfrm>
            <a:off x="411480" y="3127248"/>
            <a:ext cx="2697480" cy="292608"/>
          </a:xfrm>
          <a:prstGeom prst="rect">
            <a:avLst/>
          </a:prstGeom>
          <a:noFill/>
        </p:spPr>
        <p:txBody>
          <a:bodyPr wrap="square" lIns="0" tIns="0" rIns="0" bIns="0" anchor="t">
            <a:noAutofit/>
          </a:bodyPr>
          <a:lstStyle/>
          <a:p>
            <a:pPr algn="ctr" marL="0" indent="0">
              <a:spcAft>
                <a:spcPts val="400"/>
              </a:spcAft>
              <a:buNone/>
            </a:pPr>
            <a:r>
              <a:rPr sz="1500" b="1">
                <a:solidFill>
                  <a:srgbClr val="0B3C6E"/>
                </a:solidFill>
                <a:latin typeface="BIZ UDPゴシック"/>
                <a:ea typeface="BIZ UDPゴシック"/>
                <a:cs typeface="BIZ UDPゴシック"/>
              </a:rPr>
              <a:t>Day 0</a:t>
            </a:r>
          </a:p>
        </p:txBody>
      </p:sp>
      <p:sp>
        <p:nvSpPr>
          <p:cNvPr id="8" name="TextBox 7"/>
          <p:cNvSpPr txBox="1"/>
          <p:nvPr/>
        </p:nvSpPr>
        <p:spPr>
          <a:xfrm>
            <a:off x="411480" y="3401568"/>
            <a:ext cx="2697480" cy="274320"/>
          </a:xfrm>
          <a:prstGeom prst="rect">
            <a:avLst/>
          </a:prstGeom>
          <a:noFill/>
        </p:spPr>
        <p:txBody>
          <a:bodyPr wrap="square" lIns="0" tIns="0" rIns="0" bIns="0" anchor="t">
            <a:noAutofit/>
          </a:bodyPr>
          <a:lstStyle/>
          <a:p>
            <a:pPr algn="ctr" marL="0" indent="0">
              <a:spcAft>
                <a:spcPts val="400"/>
              </a:spcAft>
              <a:buNone/>
            </a:pPr>
            <a:r>
              <a:rPr sz="1200" b="0">
                <a:solidFill>
                  <a:srgbClr val="5A6676"/>
                </a:solidFill>
                <a:latin typeface="BIZ UDPゴシック"/>
                <a:ea typeface="BIZ UDPゴシック"/>
                <a:cs typeface="BIZ UDPゴシック"/>
              </a:rPr>
              <a:t>a blurry future</a:t>
            </a:r>
          </a:p>
        </p:txBody>
      </p:sp>
      <p:sp>
        <p:nvSpPr>
          <p:cNvPr id="9" name="Rounded Rectangle 8"/>
          <p:cNvSpPr/>
          <p:nvPr/>
        </p:nvSpPr>
        <p:spPr>
          <a:xfrm>
            <a:off x="3218688" y="1417320"/>
            <a:ext cx="2697480" cy="2331720"/>
          </a:xfrm>
          <a:prstGeom prst="roundRect">
            <a:avLst>
              <a:gd name="adj" fmla="val 4705"/>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host_d7.png"/>
          <p:cNvPicPr>
            <a:picLocks noChangeAspect="1"/>
          </p:cNvPicPr>
          <p:nvPr/>
        </p:nvPicPr>
        <p:blipFill>
          <a:blip r:embed="rId3"/>
          <a:stretch>
            <a:fillRect/>
          </a:stretch>
        </p:blipFill>
        <p:spPr>
          <a:xfrm>
            <a:off x="3383280" y="1481328"/>
            <a:ext cx="2377440" cy="1616659"/>
          </a:xfrm>
          <a:prstGeom prst="rect">
            <a:avLst/>
          </a:prstGeom>
        </p:spPr>
      </p:pic>
      <p:sp>
        <p:nvSpPr>
          <p:cNvPr id="11" name="TextBox 10"/>
          <p:cNvSpPr txBox="1"/>
          <p:nvPr/>
        </p:nvSpPr>
        <p:spPr>
          <a:xfrm>
            <a:off x="3218688" y="3127248"/>
            <a:ext cx="2697480" cy="292608"/>
          </a:xfrm>
          <a:prstGeom prst="rect">
            <a:avLst/>
          </a:prstGeom>
          <a:noFill/>
        </p:spPr>
        <p:txBody>
          <a:bodyPr wrap="square" lIns="0" tIns="0" rIns="0" bIns="0" anchor="t">
            <a:noAutofit/>
          </a:bodyPr>
          <a:lstStyle/>
          <a:p>
            <a:pPr algn="ctr" marL="0" indent="0">
              <a:spcAft>
                <a:spcPts val="400"/>
              </a:spcAft>
              <a:buNone/>
            </a:pPr>
            <a:r>
              <a:rPr sz="1500" b="1">
                <a:solidFill>
                  <a:srgbClr val="0B3C6E"/>
                </a:solidFill>
                <a:latin typeface="BIZ UDPゴシック"/>
                <a:ea typeface="BIZ UDPゴシック"/>
                <a:cs typeface="BIZ UDPゴシック"/>
              </a:rPr>
              <a:t>Day 7</a:t>
            </a:r>
          </a:p>
        </p:txBody>
      </p:sp>
      <p:sp>
        <p:nvSpPr>
          <p:cNvPr id="12" name="TextBox 11"/>
          <p:cNvSpPr txBox="1"/>
          <p:nvPr/>
        </p:nvSpPr>
        <p:spPr>
          <a:xfrm>
            <a:off x="3218688" y="3401568"/>
            <a:ext cx="2697480" cy="274320"/>
          </a:xfrm>
          <a:prstGeom prst="rect">
            <a:avLst/>
          </a:prstGeom>
          <a:noFill/>
        </p:spPr>
        <p:txBody>
          <a:bodyPr wrap="square" lIns="0" tIns="0" rIns="0" bIns="0" anchor="t">
            <a:noAutofit/>
          </a:bodyPr>
          <a:lstStyle/>
          <a:p>
            <a:pPr algn="ctr" marL="0" indent="0">
              <a:spcAft>
                <a:spcPts val="400"/>
              </a:spcAft>
              <a:buNone/>
            </a:pPr>
            <a:r>
              <a:rPr sz="1200" b="0">
                <a:solidFill>
                  <a:srgbClr val="5A6676"/>
                </a:solidFill>
                <a:latin typeface="BIZ UDPゴシック"/>
                <a:ea typeface="BIZ UDPゴシック"/>
                <a:cs typeface="BIZ UDPゴシック"/>
              </a:rPr>
              <a:t>selves converge</a:t>
            </a:r>
          </a:p>
        </p:txBody>
      </p:sp>
      <p:sp>
        <p:nvSpPr>
          <p:cNvPr id="13" name="Rounded Rectangle 12"/>
          <p:cNvSpPr/>
          <p:nvPr/>
        </p:nvSpPr>
        <p:spPr>
          <a:xfrm>
            <a:off x="6025896" y="1417320"/>
            <a:ext cx="2697480" cy="2331720"/>
          </a:xfrm>
          <a:prstGeom prst="roundRect">
            <a:avLst>
              <a:gd name="adj" fmla="val 4705"/>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ghost_d14.png"/>
          <p:cNvPicPr>
            <a:picLocks noChangeAspect="1"/>
          </p:cNvPicPr>
          <p:nvPr/>
        </p:nvPicPr>
        <p:blipFill>
          <a:blip r:embed="rId4"/>
          <a:stretch>
            <a:fillRect/>
          </a:stretch>
        </p:blipFill>
        <p:spPr>
          <a:xfrm>
            <a:off x="6190488" y="1481328"/>
            <a:ext cx="2377440" cy="1616659"/>
          </a:xfrm>
          <a:prstGeom prst="rect">
            <a:avLst/>
          </a:prstGeom>
        </p:spPr>
      </p:pic>
      <p:sp>
        <p:nvSpPr>
          <p:cNvPr id="15" name="TextBox 14"/>
          <p:cNvSpPr txBox="1"/>
          <p:nvPr/>
        </p:nvSpPr>
        <p:spPr>
          <a:xfrm>
            <a:off x="6025896" y="3127248"/>
            <a:ext cx="2697480" cy="292608"/>
          </a:xfrm>
          <a:prstGeom prst="rect">
            <a:avLst/>
          </a:prstGeom>
          <a:noFill/>
        </p:spPr>
        <p:txBody>
          <a:bodyPr wrap="square" lIns="0" tIns="0" rIns="0" bIns="0" anchor="t">
            <a:noAutofit/>
          </a:bodyPr>
          <a:lstStyle/>
          <a:p>
            <a:pPr algn="ctr" marL="0" indent="0">
              <a:spcAft>
                <a:spcPts val="400"/>
              </a:spcAft>
              <a:buNone/>
            </a:pPr>
            <a:r>
              <a:rPr sz="1500" b="1">
                <a:solidFill>
                  <a:srgbClr val="12A38A"/>
                </a:solidFill>
                <a:latin typeface="BIZ UDPゴシック"/>
                <a:ea typeface="BIZ UDPゴシック"/>
                <a:cs typeface="BIZ UDPゴシック"/>
              </a:rPr>
              <a:t>Day 14</a:t>
            </a:r>
          </a:p>
        </p:txBody>
      </p:sp>
      <p:sp>
        <p:nvSpPr>
          <p:cNvPr id="16" name="TextBox 15"/>
          <p:cNvSpPr txBox="1"/>
          <p:nvPr/>
        </p:nvSpPr>
        <p:spPr>
          <a:xfrm>
            <a:off x="6025896" y="3401568"/>
            <a:ext cx="2697480" cy="274320"/>
          </a:xfrm>
          <a:prstGeom prst="rect">
            <a:avLst/>
          </a:prstGeom>
          <a:noFill/>
        </p:spPr>
        <p:txBody>
          <a:bodyPr wrap="square" lIns="0" tIns="0" rIns="0" bIns="0" anchor="t">
            <a:noAutofit/>
          </a:bodyPr>
          <a:lstStyle/>
          <a:p>
            <a:pPr algn="ctr" marL="0" indent="0">
              <a:spcAft>
                <a:spcPts val="400"/>
              </a:spcAft>
              <a:buNone/>
            </a:pPr>
            <a:r>
              <a:rPr sz="1200" b="0">
                <a:solidFill>
                  <a:srgbClr val="5A6676"/>
                </a:solidFill>
                <a:latin typeface="BIZ UDPゴシック"/>
                <a:ea typeface="BIZ UDPゴシック"/>
                <a:cs typeface="BIZ UDPゴシック"/>
              </a:rPr>
              <a:t>a sharper you</a:t>
            </a:r>
          </a:p>
        </p:txBody>
      </p:sp>
      <p:sp>
        <p:nvSpPr>
          <p:cNvPr id="17" name="Rounded Rectangle 16"/>
          <p:cNvSpPr/>
          <p:nvPr/>
        </p:nvSpPr>
        <p:spPr>
          <a:xfrm>
            <a:off x="411480" y="3886200"/>
            <a:ext cx="2697480" cy="2286000"/>
          </a:xfrm>
          <a:prstGeom prst="roundRect">
            <a:avLst>
              <a:gd name="adj" fmla="val 40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57784" y="4032504"/>
            <a:ext cx="457200" cy="45720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ic_sliders_w.png"/>
          <p:cNvPicPr>
            <a:picLocks noChangeAspect="1"/>
          </p:cNvPicPr>
          <p:nvPr/>
        </p:nvPicPr>
        <p:blipFill>
          <a:blip r:embed="rId5"/>
          <a:stretch>
            <a:fillRect/>
          </a:stretch>
        </p:blipFill>
        <p:spPr>
          <a:xfrm>
            <a:off x="667512" y="4142232"/>
            <a:ext cx="237744" cy="237744"/>
          </a:xfrm>
          <a:prstGeom prst="rect">
            <a:avLst/>
          </a:prstGeom>
        </p:spPr>
      </p:pic>
      <p:sp>
        <p:nvSpPr>
          <p:cNvPr id="20" name="TextBox 19"/>
          <p:cNvSpPr txBox="1"/>
          <p:nvPr/>
        </p:nvSpPr>
        <p:spPr>
          <a:xfrm>
            <a:off x="1124712" y="4005072"/>
            <a:ext cx="187451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How</a:t>
            </a:r>
          </a:p>
        </p:txBody>
      </p:sp>
      <p:sp>
        <p:nvSpPr>
          <p:cNvPr id="21" name="TextBox 20"/>
          <p:cNvSpPr txBox="1"/>
          <p:nvPr/>
        </p:nvSpPr>
        <p:spPr>
          <a:xfrm>
            <a:off x="576072" y="4581144"/>
            <a:ext cx="2404872" cy="149961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Draw 20 futures from the posterior, bin them into 3 states, overlay 5 selves. Opacity = likelihood</a:t>
            </a:r>
          </a:p>
        </p:txBody>
      </p:sp>
      <p:sp>
        <p:nvSpPr>
          <p:cNvPr id="22" name="Rounded Rectangle 21"/>
          <p:cNvSpPr/>
          <p:nvPr/>
        </p:nvSpPr>
        <p:spPr>
          <a:xfrm>
            <a:off x="3218688" y="3886200"/>
            <a:ext cx="2697480" cy="2286000"/>
          </a:xfrm>
          <a:prstGeom prst="roundRect">
            <a:avLst>
              <a:gd name="adj" fmla="val 40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3364992" y="4032504"/>
            <a:ext cx="457200" cy="45720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ic_target_w.png"/>
          <p:cNvPicPr>
            <a:picLocks noChangeAspect="1"/>
          </p:cNvPicPr>
          <p:nvPr/>
        </p:nvPicPr>
        <p:blipFill>
          <a:blip r:embed="rId6"/>
          <a:stretch>
            <a:fillRect/>
          </a:stretch>
        </p:blipFill>
        <p:spPr>
          <a:xfrm>
            <a:off x="3474720" y="4142232"/>
            <a:ext cx="237744" cy="237744"/>
          </a:xfrm>
          <a:prstGeom prst="rect">
            <a:avLst/>
          </a:prstGeom>
        </p:spPr>
      </p:pic>
      <p:sp>
        <p:nvSpPr>
          <p:cNvPr id="25" name="TextBox 24"/>
          <p:cNvSpPr txBox="1"/>
          <p:nvPr/>
        </p:nvSpPr>
        <p:spPr>
          <a:xfrm>
            <a:off x="3931920" y="4005072"/>
            <a:ext cx="18745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Why</a:t>
            </a:r>
          </a:p>
        </p:txBody>
      </p:sp>
      <p:sp>
        <p:nvSpPr>
          <p:cNvPr id="26" name="TextBox 25"/>
          <p:cNvSpPr txBox="1"/>
          <p:nvPr/>
        </p:nvSpPr>
        <p:spPr>
          <a:xfrm>
            <a:off x="3383280" y="4581144"/>
            <a:ext cx="2404872" cy="149961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Uncertainty becomes visible, and “future-self resolution” rewards continued logging</a:t>
            </a:r>
          </a:p>
        </p:txBody>
      </p:sp>
      <p:sp>
        <p:nvSpPr>
          <p:cNvPr id="27" name="Rounded Rectangle 26"/>
          <p:cNvSpPr/>
          <p:nvPr/>
        </p:nvSpPr>
        <p:spPr>
          <a:xfrm>
            <a:off x="6025896" y="3886200"/>
            <a:ext cx="2697480" cy="2286000"/>
          </a:xfrm>
          <a:prstGeom prst="roundRect">
            <a:avLst>
              <a:gd name="adj" fmla="val 40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172200" y="4032504"/>
            <a:ext cx="457200" cy="45720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ic_book_w.png"/>
          <p:cNvPicPr>
            <a:picLocks noChangeAspect="1"/>
          </p:cNvPicPr>
          <p:nvPr/>
        </p:nvPicPr>
        <p:blipFill>
          <a:blip r:embed="rId7"/>
          <a:stretch>
            <a:fillRect/>
          </a:stretch>
        </p:blipFill>
        <p:spPr>
          <a:xfrm>
            <a:off x="6281928" y="4142232"/>
            <a:ext cx="237744" cy="237744"/>
          </a:xfrm>
          <a:prstGeom prst="rect">
            <a:avLst/>
          </a:prstGeom>
        </p:spPr>
      </p:pic>
      <p:sp>
        <p:nvSpPr>
          <p:cNvPr id="30" name="TextBox 29"/>
          <p:cNvSpPr txBox="1"/>
          <p:nvPr/>
        </p:nvSpPr>
        <p:spPr>
          <a:xfrm>
            <a:off x="6739128" y="4005072"/>
            <a:ext cx="187451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Grounded in</a:t>
            </a:r>
          </a:p>
        </p:txBody>
      </p:sp>
      <p:sp>
        <p:nvSpPr>
          <p:cNvPr id="31" name="TextBox 30"/>
          <p:cNvSpPr txBox="1"/>
          <p:nvPr/>
        </p:nvSpPr>
        <p:spPr>
          <a:xfrm>
            <a:off x="6190488" y="4581144"/>
            <a:ext cx="2404872" cy="149961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Proteus effect, future-self renderings (Hershfield et al., 2011), quantile dotplots (Kay et al., 2016)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Rebalance, not restrict</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7</a:t>
            </a:fld>
          </a:p>
        </p:txBody>
      </p:sp>
      <p:graphicFrame>
        <p:nvGraphicFramePr>
          <p:cNvPr id="5" name="Chart 4"/>
          <p:cNvGraphicFramePr>
            <a:graphicFrameLocks noGrp="1"/>
          </p:cNvGraphicFramePr>
          <p:nvPr/>
        </p:nvGraphicFramePr>
        <p:xfrm>
          <a:off x="411480" y="1325880"/>
          <a:ext cx="4846320" cy="4846320"/>
        </p:xfrm>
        <a:graphic>
          <a:graphicData uri="http://schemas.openxmlformats.org/drawingml/2006/chart">
            <c:chart xmlns:c="http://schemas.openxmlformats.org/drawingml/2006/chart" r:id="rId2"/>
          </a:graphicData>
        </a:graphic>
      </p:graphicFrame>
      <p:sp>
        <p:nvSpPr>
          <p:cNvPr id="6" name="Rounded Rectangle 5"/>
          <p:cNvSpPr/>
          <p:nvPr/>
        </p:nvSpPr>
        <p:spPr>
          <a:xfrm>
            <a:off x="5486400" y="1371600"/>
            <a:ext cx="3246120" cy="2926080"/>
          </a:xfrm>
          <a:prstGeom prst="roundRect">
            <a:avLst>
              <a:gd name="adj" fmla="val 312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5632704" y="1517904"/>
            <a:ext cx="457200" cy="45720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ic_sliders_w.png"/>
          <p:cNvPicPr>
            <a:picLocks noChangeAspect="1"/>
          </p:cNvPicPr>
          <p:nvPr/>
        </p:nvPicPr>
        <p:blipFill>
          <a:blip r:embed="rId3"/>
          <a:stretch>
            <a:fillRect/>
          </a:stretch>
        </p:blipFill>
        <p:spPr>
          <a:xfrm>
            <a:off x="5742432" y="1627631"/>
            <a:ext cx="237744" cy="237744"/>
          </a:xfrm>
          <a:prstGeom prst="rect">
            <a:avLst/>
          </a:prstGeom>
        </p:spPr>
      </p:pic>
      <p:sp>
        <p:nvSpPr>
          <p:cNvPr id="9" name="TextBox 8"/>
          <p:cNvSpPr txBox="1"/>
          <p:nvPr/>
        </p:nvSpPr>
        <p:spPr>
          <a:xfrm>
            <a:off x="6199632" y="1490472"/>
            <a:ext cx="242315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How options are made</a:t>
            </a:r>
          </a:p>
        </p:txBody>
      </p:sp>
      <p:sp>
        <p:nvSpPr>
          <p:cNvPr id="10" name="TextBox 9"/>
          <p:cNvSpPr txBox="1"/>
          <p:nvPr/>
        </p:nvSpPr>
        <p:spPr>
          <a:xfrm>
            <a:off x="5650992" y="2066543"/>
            <a:ext cx="2953512" cy="2139696"/>
          </a:xfrm>
          <a:prstGeom prst="rect">
            <a:avLst/>
          </a:prstGeom>
          <a:noFill/>
        </p:spPr>
        <p:txBody>
          <a:bodyPr wrap="square" lIns="0" tIns="0" rIns="0" bIns="0" anchor="t">
            <a:noAutofit/>
          </a:bodyPr>
          <a:lstStyle/>
          <a:p>
            <a:pPr algn="l" marL="182880" indent="-182880">
              <a:spcAft>
                <a:spcPts val="300"/>
              </a:spcAft>
              <a:buClr>
                <a:srgbClr val="0099FF"/>
              </a:buClr>
              <a:buFont typeface="BIZ UDPゴシック"/>
              <a:buChar char="•"/>
            </a:pPr>
            <a:r>
              <a:rPr sz="1250" b="0">
                <a:solidFill>
                  <a:srgbClr val="24303F"/>
                </a:solidFill>
                <a:latin typeface="BIZ UDPゴシック"/>
                <a:ea typeface="BIZ UDPゴシック"/>
                <a:cs typeface="BIZ UDPゴシック"/>
              </a:rPr>
              <a:t>98 candidates: change up to 2 of 7 activities by one step</a:t>
            </a:r>
          </a:p>
          <a:p>
            <a:pPr algn="l" marL="182880" indent="-182880">
              <a:spcAft>
                <a:spcPts val="300"/>
              </a:spcAft>
              <a:buClr>
                <a:srgbClr val="0099FF"/>
              </a:buClr>
              <a:buFont typeface="BIZ UDPゴシック"/>
              <a:buChar char="•"/>
            </a:pPr>
            <a:r>
              <a:rPr sz="1250" b="0">
                <a:solidFill>
                  <a:srgbClr val="24303F"/>
                </a:solidFill>
                <a:latin typeface="BIZ UDPゴシック"/>
                <a:ea typeface="BIZ UDPゴシック"/>
                <a:cs typeface="BIZ UDPゴシック"/>
              </a:rPr>
              <a:t>Drop options that cut what the user wants more of</a:t>
            </a:r>
          </a:p>
          <a:p>
            <a:pPr algn="l" marL="182880" indent="-182880">
              <a:spcAft>
                <a:spcPts val="300"/>
              </a:spcAft>
              <a:buClr>
                <a:srgbClr val="0099FF"/>
              </a:buClr>
              <a:buFont typeface="BIZ UDPゴシック"/>
              <a:buChar char="•"/>
            </a:pPr>
            <a:r>
              <a:rPr sz="1250" b="0">
                <a:solidFill>
                  <a:srgbClr val="24303F"/>
                </a:solidFill>
                <a:latin typeface="BIZ UDPゴシック"/>
                <a:ea typeface="BIZ UDPゴシック"/>
                <a:cs typeface="BIZ UDPゴシック"/>
              </a:rPr>
              <a:t>Keep the Pareto front; show 3 options</a:t>
            </a:r>
          </a:p>
        </p:txBody>
      </p:sp>
      <p:sp>
        <p:nvSpPr>
          <p:cNvPr id="11" name="Rounded Rectangle 10"/>
          <p:cNvSpPr/>
          <p:nvPr/>
        </p:nvSpPr>
        <p:spPr>
          <a:xfrm>
            <a:off x="5486400" y="4480560"/>
            <a:ext cx="3246120" cy="1691640"/>
          </a:xfrm>
          <a:prstGeom prst="roundRect">
            <a:avLst>
              <a:gd name="adj" fmla="val 6486"/>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23560" y="4526280"/>
            <a:ext cx="2971800" cy="1600200"/>
          </a:xfrm>
          <a:prstGeom prst="rect">
            <a:avLst/>
          </a:prstGeom>
          <a:noFill/>
        </p:spPr>
        <p:txBody>
          <a:bodyPr wrap="square" lIns="0" tIns="0" rIns="0" bIns="0" anchor="ctr">
            <a:noAutofit/>
          </a:bodyPr>
          <a:lstStyle/>
          <a:p>
            <a:pPr algn="l" marL="0" indent="0">
              <a:spcAft>
                <a:spcPts val="300"/>
              </a:spcAft>
              <a:buNone/>
            </a:pPr>
            <a:r>
              <a:rPr sz="1500" b="1">
                <a:solidFill>
                  <a:srgbClr val="12A38A"/>
                </a:solidFill>
                <a:latin typeface="BIZ UDPゴシック"/>
                <a:ea typeface="BIZ UDPゴシック"/>
                <a:cs typeface="BIZ UDPゴシック"/>
              </a:rPr>
              <a:t>The user chooses</a:t>
            </a:r>
          </a:p>
          <a:p>
            <a:pPr algn="l" marL="0" indent="0">
              <a:spcAft>
                <a:spcPts val="400"/>
              </a:spcAft>
              <a:buNone/>
            </a:pPr>
            <a:r>
              <a:rPr sz="1250" b="0">
                <a:solidFill>
                  <a:srgbClr val="24303F"/>
                </a:solidFill>
                <a:latin typeface="BIZ UDPゴシック"/>
                <a:ea typeface="BIZ UDPゴシック"/>
                <a:cs typeface="BIZ UDPゴシック"/>
              </a:rPr>
              <a:t>…or skips the week. Autonomy is part of the design</a:t>
            </a:r>
          </a:p>
        </p:txBody>
      </p:sp>
      <p:sp>
        <p:nvSpPr>
          <p:cNvPr id="13" name="Rounded Rectangle 12"/>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予測値は例示 (example values)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A week with OshiFit</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8</a:t>
            </a:fld>
          </a:p>
        </p:txBody>
      </p:sp>
      <p:sp>
        <p:nvSpPr>
          <p:cNvPr id="5" name="Rounded Rectangle 4"/>
          <p:cNvSpPr/>
          <p:nvPr/>
        </p:nvSpPr>
        <p:spPr>
          <a:xfrm>
            <a:off x="914400" y="1371600"/>
            <a:ext cx="1645920" cy="292608"/>
          </a:xfrm>
          <a:prstGeom prst="roundRect">
            <a:avLst>
              <a:gd name="adj" fmla="val 50000"/>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100" b="1">
                <a:solidFill>
                  <a:srgbClr val="FFFFFF"/>
                </a:solidFill>
                <a:latin typeface="BIZ UDPゴシック"/>
                <a:ea typeface="BIZ UDPゴシック"/>
                <a:cs typeface="BIZ UDPゴシック"/>
              </a:rPr>
              <a:t>Every day</a:t>
            </a:r>
          </a:p>
        </p:txBody>
      </p:sp>
      <p:pic>
        <p:nvPicPr>
          <p:cNvPr id="6" name="Picture 5" descr="mk_en_log.png"/>
          <p:cNvPicPr>
            <a:picLocks noChangeAspect="1"/>
          </p:cNvPicPr>
          <p:nvPr/>
        </p:nvPicPr>
        <p:blipFill>
          <a:blip r:embed="rId2"/>
          <a:stretch>
            <a:fillRect/>
          </a:stretch>
        </p:blipFill>
        <p:spPr>
          <a:xfrm>
            <a:off x="667512" y="1737360"/>
            <a:ext cx="2144554" cy="3611880"/>
          </a:xfrm>
          <a:prstGeom prst="rect">
            <a:avLst/>
          </a:prstGeom>
        </p:spPr>
      </p:pic>
      <p:sp>
        <p:nvSpPr>
          <p:cNvPr id="7" name="TextBox 6"/>
          <p:cNvSpPr txBox="1"/>
          <p:nvPr/>
        </p:nvSpPr>
        <p:spPr>
          <a:xfrm>
            <a:off x="411480" y="5440680"/>
            <a:ext cx="2651760" cy="365760"/>
          </a:xfrm>
          <a:prstGeom prst="rect">
            <a:avLst/>
          </a:prstGeom>
          <a:noFill/>
        </p:spPr>
        <p:txBody>
          <a:bodyPr wrap="square" lIns="0" tIns="0" rIns="0" bIns="0" anchor="t">
            <a:noAutofit/>
          </a:bodyPr>
          <a:lstStyle/>
          <a:p>
            <a:pPr algn="ctr" marL="0" indent="0">
              <a:spcAft>
                <a:spcPts val="400"/>
              </a:spcAft>
              <a:buNone/>
            </a:pPr>
            <a:r>
              <a:rPr sz="1500" b="1">
                <a:solidFill>
                  <a:srgbClr val="0B3C6E"/>
                </a:solidFill>
                <a:latin typeface="BIZ UDPゴシック"/>
                <a:ea typeface="BIZ UDPゴシック"/>
                <a:cs typeface="BIZ UDPゴシック"/>
              </a:rPr>
              <a:t>Log in ≈30 s</a:t>
            </a:r>
          </a:p>
        </p:txBody>
      </p:sp>
      <p:sp>
        <p:nvSpPr>
          <p:cNvPr id="8" name="Right Arrow 7"/>
          <p:cNvSpPr/>
          <p:nvPr/>
        </p:nvSpPr>
        <p:spPr>
          <a:xfrm>
            <a:off x="2926080" y="3383280"/>
            <a:ext cx="274320" cy="365760"/>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749040" y="1371600"/>
            <a:ext cx="1645920" cy="292608"/>
          </a:xfrm>
          <a:prstGeom prst="roundRect">
            <a:avLst>
              <a:gd name="adj" fmla="val 50000"/>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100" b="1">
                <a:solidFill>
                  <a:srgbClr val="FFFFFF"/>
                </a:solidFill>
                <a:latin typeface="BIZ UDPゴシック"/>
                <a:ea typeface="BIZ UDPゴシック"/>
                <a:cs typeface="BIZ UDPゴシック"/>
              </a:rPr>
              <a:t>Weekly</a:t>
            </a:r>
          </a:p>
        </p:txBody>
      </p:sp>
      <p:pic>
        <p:nvPicPr>
          <p:cNvPr id="10" name="Picture 9" descr="mk_en_propose.png"/>
          <p:cNvPicPr>
            <a:picLocks noChangeAspect="1"/>
          </p:cNvPicPr>
          <p:nvPr/>
        </p:nvPicPr>
        <p:blipFill>
          <a:blip r:embed="rId3"/>
          <a:stretch>
            <a:fillRect/>
          </a:stretch>
        </p:blipFill>
        <p:spPr>
          <a:xfrm>
            <a:off x="3502152" y="1737360"/>
            <a:ext cx="2144554" cy="3611880"/>
          </a:xfrm>
          <a:prstGeom prst="rect">
            <a:avLst/>
          </a:prstGeom>
        </p:spPr>
      </p:pic>
      <p:sp>
        <p:nvSpPr>
          <p:cNvPr id="11" name="TextBox 10"/>
          <p:cNvSpPr txBox="1"/>
          <p:nvPr/>
        </p:nvSpPr>
        <p:spPr>
          <a:xfrm>
            <a:off x="3246120" y="5440680"/>
            <a:ext cx="2651760" cy="365760"/>
          </a:xfrm>
          <a:prstGeom prst="rect">
            <a:avLst/>
          </a:prstGeom>
          <a:noFill/>
        </p:spPr>
        <p:txBody>
          <a:bodyPr wrap="square" lIns="0" tIns="0" rIns="0" bIns="0" anchor="t">
            <a:noAutofit/>
          </a:bodyPr>
          <a:lstStyle/>
          <a:p>
            <a:pPr algn="ctr" marL="0" indent="0">
              <a:spcAft>
                <a:spcPts val="400"/>
              </a:spcAft>
              <a:buNone/>
            </a:pPr>
            <a:r>
              <a:rPr sz="1500" b="1">
                <a:solidFill>
                  <a:srgbClr val="0B3C6E"/>
                </a:solidFill>
                <a:latin typeface="BIZ UDPゴシック"/>
                <a:ea typeface="BIZ UDPゴシック"/>
                <a:cs typeface="BIZ UDPゴシック"/>
              </a:rPr>
              <a:t>Pick a proposal</a:t>
            </a:r>
          </a:p>
        </p:txBody>
      </p:sp>
      <p:sp>
        <p:nvSpPr>
          <p:cNvPr id="12" name="Right Arrow 11"/>
          <p:cNvSpPr/>
          <p:nvPr/>
        </p:nvSpPr>
        <p:spPr>
          <a:xfrm>
            <a:off x="5760720" y="3383280"/>
            <a:ext cx="274320" cy="365760"/>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583680" y="1371600"/>
            <a:ext cx="1645920" cy="292608"/>
          </a:xfrm>
          <a:prstGeom prst="roundRect">
            <a:avLst>
              <a:gd name="adj" fmla="val 50000"/>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100" b="1">
                <a:solidFill>
                  <a:srgbClr val="FFFFFF"/>
                </a:solidFill>
                <a:latin typeface="BIZ UDPゴシック"/>
                <a:ea typeface="BIZ UDPゴシック"/>
                <a:cs typeface="BIZ UDPゴシック"/>
              </a:rPr>
              <a:t>Weekly (Group C)</a:t>
            </a:r>
          </a:p>
        </p:txBody>
      </p:sp>
      <p:pic>
        <p:nvPicPr>
          <p:cNvPr id="14" name="Picture 13" descr="mk_en_mirror.png"/>
          <p:cNvPicPr>
            <a:picLocks noChangeAspect="1"/>
          </p:cNvPicPr>
          <p:nvPr/>
        </p:nvPicPr>
        <p:blipFill>
          <a:blip r:embed="rId4"/>
          <a:stretch>
            <a:fillRect/>
          </a:stretch>
        </p:blipFill>
        <p:spPr>
          <a:xfrm>
            <a:off x="6336792" y="1737360"/>
            <a:ext cx="2144554" cy="3611880"/>
          </a:xfrm>
          <a:prstGeom prst="rect">
            <a:avLst/>
          </a:prstGeom>
        </p:spPr>
      </p:pic>
      <p:sp>
        <p:nvSpPr>
          <p:cNvPr id="15" name="TextBox 14"/>
          <p:cNvSpPr txBox="1"/>
          <p:nvPr/>
        </p:nvSpPr>
        <p:spPr>
          <a:xfrm>
            <a:off x="6080760" y="5440680"/>
            <a:ext cx="2651760" cy="365760"/>
          </a:xfrm>
          <a:prstGeom prst="rect">
            <a:avLst/>
          </a:prstGeom>
          <a:noFill/>
        </p:spPr>
        <p:txBody>
          <a:bodyPr wrap="square" lIns="0" tIns="0" rIns="0" bIns="0" anchor="t">
            <a:noAutofit/>
          </a:bodyPr>
          <a:lstStyle/>
          <a:p>
            <a:pPr algn="ctr" marL="0" indent="0">
              <a:spcAft>
                <a:spcPts val="400"/>
              </a:spcAft>
              <a:buNone/>
            </a:pPr>
            <a:r>
              <a:rPr sz="1500" b="1">
                <a:solidFill>
                  <a:srgbClr val="0B3C6E"/>
                </a:solidFill>
                <a:latin typeface="BIZ UDPゴシック"/>
                <a:ea typeface="BIZ UDPゴシック"/>
                <a:cs typeface="BIZ UDPゴシック"/>
              </a:rPr>
              <a:t>Compare futures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Study: 6-week, three-arm RCT</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9</a:t>
            </a:fld>
          </a:p>
        </p:txBody>
      </p:sp>
      <p:sp>
        <p:nvSpPr>
          <p:cNvPr id="5" name="TextBox 4"/>
          <p:cNvSpPr txBox="1"/>
          <p:nvPr/>
        </p:nvSpPr>
        <p:spPr>
          <a:xfrm>
            <a:off x="2103120" y="1371600"/>
            <a:ext cx="1097280" cy="292608"/>
          </a:xfrm>
          <a:prstGeom prst="rect">
            <a:avLst/>
          </a:prstGeom>
          <a:noFill/>
        </p:spPr>
        <p:txBody>
          <a:bodyPr wrap="square" lIns="0" tIns="0" rIns="0" bIns="0" anchor="t">
            <a:noAutofit/>
          </a:bodyPr>
          <a:lstStyle/>
          <a:p>
            <a:pPr algn="ctr" marL="0" indent="0">
              <a:spcAft>
                <a:spcPts val="400"/>
              </a:spcAft>
              <a:buNone/>
            </a:pPr>
            <a:r>
              <a:rPr sz="1200" b="1">
                <a:solidFill>
                  <a:srgbClr val="5A6676"/>
                </a:solidFill>
                <a:latin typeface="BIZ UDPゴシック"/>
                <a:ea typeface="BIZ UDPゴシック"/>
                <a:cs typeface="BIZ UDPゴシック"/>
              </a:rPr>
              <a:t>Week 1</a:t>
            </a:r>
          </a:p>
        </p:txBody>
      </p:sp>
      <p:sp>
        <p:nvSpPr>
          <p:cNvPr id="6" name="TextBox 5"/>
          <p:cNvSpPr txBox="1"/>
          <p:nvPr/>
        </p:nvSpPr>
        <p:spPr>
          <a:xfrm>
            <a:off x="3200400" y="1371600"/>
            <a:ext cx="1097280" cy="292608"/>
          </a:xfrm>
          <a:prstGeom prst="rect">
            <a:avLst/>
          </a:prstGeom>
          <a:noFill/>
        </p:spPr>
        <p:txBody>
          <a:bodyPr wrap="square" lIns="0" tIns="0" rIns="0" bIns="0" anchor="t">
            <a:noAutofit/>
          </a:bodyPr>
          <a:lstStyle/>
          <a:p>
            <a:pPr algn="ctr" marL="0" indent="0">
              <a:spcAft>
                <a:spcPts val="400"/>
              </a:spcAft>
              <a:buNone/>
            </a:pPr>
            <a:r>
              <a:rPr sz="1200" b="1">
                <a:solidFill>
                  <a:srgbClr val="5A6676"/>
                </a:solidFill>
                <a:latin typeface="BIZ UDPゴシック"/>
                <a:ea typeface="BIZ UDPゴシック"/>
                <a:cs typeface="BIZ UDPゴシック"/>
              </a:rPr>
              <a:t>Week 2</a:t>
            </a:r>
          </a:p>
        </p:txBody>
      </p:sp>
      <p:sp>
        <p:nvSpPr>
          <p:cNvPr id="7" name="TextBox 6"/>
          <p:cNvSpPr txBox="1"/>
          <p:nvPr/>
        </p:nvSpPr>
        <p:spPr>
          <a:xfrm>
            <a:off x="4297679" y="1371600"/>
            <a:ext cx="1097280" cy="292608"/>
          </a:xfrm>
          <a:prstGeom prst="rect">
            <a:avLst/>
          </a:prstGeom>
          <a:noFill/>
        </p:spPr>
        <p:txBody>
          <a:bodyPr wrap="square" lIns="0" tIns="0" rIns="0" bIns="0" anchor="t">
            <a:noAutofit/>
          </a:bodyPr>
          <a:lstStyle/>
          <a:p>
            <a:pPr algn="ctr" marL="0" indent="0">
              <a:spcAft>
                <a:spcPts val="400"/>
              </a:spcAft>
              <a:buNone/>
            </a:pPr>
            <a:r>
              <a:rPr sz="1200" b="1">
                <a:solidFill>
                  <a:srgbClr val="5A6676"/>
                </a:solidFill>
                <a:latin typeface="BIZ UDPゴシック"/>
                <a:ea typeface="BIZ UDPゴシック"/>
                <a:cs typeface="BIZ UDPゴシック"/>
              </a:rPr>
              <a:t>Week 3</a:t>
            </a:r>
          </a:p>
        </p:txBody>
      </p:sp>
      <p:sp>
        <p:nvSpPr>
          <p:cNvPr id="8" name="TextBox 7"/>
          <p:cNvSpPr txBox="1"/>
          <p:nvPr/>
        </p:nvSpPr>
        <p:spPr>
          <a:xfrm>
            <a:off x="5394959" y="1371600"/>
            <a:ext cx="1097280" cy="292608"/>
          </a:xfrm>
          <a:prstGeom prst="rect">
            <a:avLst/>
          </a:prstGeom>
          <a:noFill/>
        </p:spPr>
        <p:txBody>
          <a:bodyPr wrap="square" lIns="0" tIns="0" rIns="0" bIns="0" anchor="t">
            <a:noAutofit/>
          </a:bodyPr>
          <a:lstStyle/>
          <a:p>
            <a:pPr algn="ctr" marL="0" indent="0">
              <a:spcAft>
                <a:spcPts val="400"/>
              </a:spcAft>
              <a:buNone/>
            </a:pPr>
            <a:r>
              <a:rPr sz="1200" b="1">
                <a:solidFill>
                  <a:srgbClr val="5A6676"/>
                </a:solidFill>
                <a:latin typeface="BIZ UDPゴシック"/>
                <a:ea typeface="BIZ UDPゴシック"/>
                <a:cs typeface="BIZ UDPゴシック"/>
              </a:rPr>
              <a:t>Week 4</a:t>
            </a:r>
          </a:p>
        </p:txBody>
      </p:sp>
      <p:sp>
        <p:nvSpPr>
          <p:cNvPr id="9" name="TextBox 8"/>
          <p:cNvSpPr txBox="1"/>
          <p:nvPr/>
        </p:nvSpPr>
        <p:spPr>
          <a:xfrm>
            <a:off x="6492240" y="1371600"/>
            <a:ext cx="1097280" cy="292608"/>
          </a:xfrm>
          <a:prstGeom prst="rect">
            <a:avLst/>
          </a:prstGeom>
          <a:noFill/>
        </p:spPr>
        <p:txBody>
          <a:bodyPr wrap="square" lIns="0" tIns="0" rIns="0" bIns="0" anchor="t">
            <a:noAutofit/>
          </a:bodyPr>
          <a:lstStyle/>
          <a:p>
            <a:pPr algn="ctr" marL="0" indent="0">
              <a:spcAft>
                <a:spcPts val="400"/>
              </a:spcAft>
              <a:buNone/>
            </a:pPr>
            <a:r>
              <a:rPr sz="1200" b="1">
                <a:solidFill>
                  <a:srgbClr val="5A6676"/>
                </a:solidFill>
                <a:latin typeface="BIZ UDPゴシック"/>
                <a:ea typeface="BIZ UDPゴシック"/>
                <a:cs typeface="BIZ UDPゴシック"/>
              </a:rPr>
              <a:t>Week 5</a:t>
            </a:r>
          </a:p>
        </p:txBody>
      </p:sp>
      <p:sp>
        <p:nvSpPr>
          <p:cNvPr id="10" name="TextBox 9"/>
          <p:cNvSpPr txBox="1"/>
          <p:nvPr/>
        </p:nvSpPr>
        <p:spPr>
          <a:xfrm>
            <a:off x="7589520" y="1371600"/>
            <a:ext cx="1097280" cy="292608"/>
          </a:xfrm>
          <a:prstGeom prst="rect">
            <a:avLst/>
          </a:prstGeom>
          <a:noFill/>
        </p:spPr>
        <p:txBody>
          <a:bodyPr wrap="square" lIns="0" tIns="0" rIns="0" bIns="0" anchor="t">
            <a:noAutofit/>
          </a:bodyPr>
          <a:lstStyle/>
          <a:p>
            <a:pPr algn="ctr" marL="0" indent="0">
              <a:spcAft>
                <a:spcPts val="400"/>
              </a:spcAft>
              <a:buNone/>
            </a:pPr>
            <a:r>
              <a:rPr sz="1200" b="1">
                <a:solidFill>
                  <a:srgbClr val="5A6676"/>
                </a:solidFill>
                <a:latin typeface="BIZ UDPゴシック"/>
                <a:ea typeface="BIZ UDPゴシック"/>
                <a:cs typeface="BIZ UDPゴシック"/>
              </a:rPr>
              <a:t>Week 6</a:t>
            </a:r>
          </a:p>
        </p:txBody>
      </p:sp>
      <p:sp>
        <p:nvSpPr>
          <p:cNvPr id="11" name="TextBox 10"/>
          <p:cNvSpPr txBox="1"/>
          <p:nvPr/>
        </p:nvSpPr>
        <p:spPr>
          <a:xfrm>
            <a:off x="411480" y="1783080"/>
            <a:ext cx="1600199" cy="566928"/>
          </a:xfrm>
          <a:prstGeom prst="rect">
            <a:avLst/>
          </a:prstGeom>
          <a:noFill/>
        </p:spPr>
        <p:txBody>
          <a:bodyPr wrap="square" lIns="0" tIns="0" rIns="0" bIns="0" anchor="ctr">
            <a:noAutofit/>
          </a:bodyPr>
          <a:lstStyle/>
          <a:p>
            <a:pPr algn="l" marL="0" indent="0">
              <a:spcAft>
                <a:spcPts val="400"/>
              </a:spcAft>
              <a:buNone/>
            </a:pPr>
            <a:r>
              <a:rPr sz="1300" b="1">
                <a:solidFill>
                  <a:srgbClr val="7A8594"/>
                </a:solidFill>
                <a:latin typeface="BIZ UDPゴシック"/>
                <a:ea typeface="BIZ UDPゴシック"/>
                <a:cs typeface="BIZ UDPゴシック"/>
              </a:rPr>
              <a:t>A: Log only</a:t>
            </a:r>
          </a:p>
        </p:txBody>
      </p:sp>
      <p:sp>
        <p:nvSpPr>
          <p:cNvPr id="12" name="Rounded Rectangle 11"/>
          <p:cNvSpPr/>
          <p:nvPr/>
        </p:nvSpPr>
        <p:spPr>
          <a:xfrm>
            <a:off x="2103120" y="1837943"/>
            <a:ext cx="2148840" cy="457200"/>
          </a:xfrm>
          <a:prstGeom prst="roundRect">
            <a:avLst>
              <a:gd name="adj" fmla="val 16000"/>
            </a:avLst>
          </a:prstGeom>
          <a:solidFill>
            <a:srgbClr val="E3E8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100" b="1">
                <a:solidFill>
                  <a:srgbClr val="5A6676"/>
                </a:solidFill>
                <a:latin typeface="BIZ UDPゴシック"/>
                <a:ea typeface="BIZ UDPゴシック"/>
                <a:cs typeface="BIZ UDPゴシック"/>
              </a:rPr>
              <a:t>Log only</a:t>
            </a:r>
          </a:p>
        </p:txBody>
      </p:sp>
      <p:sp>
        <p:nvSpPr>
          <p:cNvPr id="13" name="Rounded Rectangle 12"/>
          <p:cNvSpPr/>
          <p:nvPr/>
        </p:nvSpPr>
        <p:spPr>
          <a:xfrm>
            <a:off x="4297679" y="1837943"/>
            <a:ext cx="4389120" cy="457200"/>
          </a:xfrm>
          <a:prstGeom prst="roundRect">
            <a:avLst>
              <a:gd name="adj" fmla="val 16000"/>
            </a:avLst>
          </a:prstGeom>
          <a:solidFill>
            <a:srgbClr val="F4F8FC"/>
          </a:solidFill>
          <a:ln w="12700">
            <a:solidFill>
              <a:srgbClr val="8FA3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200" b="1">
                <a:solidFill>
                  <a:srgbClr val="0B3C6E"/>
                </a:solidFill>
                <a:latin typeface="BIZ UDPゴシック"/>
                <a:ea typeface="BIZ UDPゴシック"/>
                <a:cs typeface="BIZ UDPゴシック"/>
              </a:rPr>
              <a:t>Log only</a:t>
            </a:r>
          </a:p>
        </p:txBody>
      </p:sp>
      <p:sp>
        <p:nvSpPr>
          <p:cNvPr id="14" name="TextBox 13"/>
          <p:cNvSpPr txBox="1"/>
          <p:nvPr/>
        </p:nvSpPr>
        <p:spPr>
          <a:xfrm>
            <a:off x="411480" y="2496312"/>
            <a:ext cx="1600199" cy="566928"/>
          </a:xfrm>
          <a:prstGeom prst="rect">
            <a:avLst/>
          </a:prstGeom>
          <a:noFill/>
        </p:spPr>
        <p:txBody>
          <a:bodyPr wrap="square" lIns="0" tIns="0" rIns="0" bIns="0" anchor="ctr">
            <a:noAutofit/>
          </a:bodyPr>
          <a:lstStyle/>
          <a:p>
            <a:pPr algn="l" marL="0" indent="0">
              <a:spcAft>
                <a:spcPts val="400"/>
              </a:spcAft>
              <a:buNone/>
            </a:pPr>
            <a:r>
              <a:rPr sz="1300" b="1">
                <a:solidFill>
                  <a:srgbClr val="0099FF"/>
                </a:solidFill>
                <a:latin typeface="BIZ UDPゴシック"/>
                <a:ea typeface="BIZ UDPゴシック"/>
                <a:cs typeface="BIZ UDPゴシック"/>
              </a:rPr>
              <a:t>B: Text proposals</a:t>
            </a:r>
          </a:p>
        </p:txBody>
      </p:sp>
      <p:sp>
        <p:nvSpPr>
          <p:cNvPr id="15" name="Rounded Rectangle 14"/>
          <p:cNvSpPr/>
          <p:nvPr/>
        </p:nvSpPr>
        <p:spPr>
          <a:xfrm>
            <a:off x="2103120" y="2551176"/>
            <a:ext cx="2148840" cy="457200"/>
          </a:xfrm>
          <a:prstGeom prst="roundRect">
            <a:avLst>
              <a:gd name="adj" fmla="val 16000"/>
            </a:avLst>
          </a:prstGeom>
          <a:solidFill>
            <a:srgbClr val="E3E8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100" b="1">
                <a:solidFill>
                  <a:srgbClr val="5A6676"/>
                </a:solidFill>
                <a:latin typeface="BIZ UDPゴシック"/>
                <a:ea typeface="BIZ UDPゴシック"/>
                <a:cs typeface="BIZ UDPゴシック"/>
              </a:rPr>
              <a:t>Log only</a:t>
            </a:r>
          </a:p>
        </p:txBody>
      </p:sp>
      <p:sp>
        <p:nvSpPr>
          <p:cNvPr id="16" name="Rounded Rectangle 15"/>
          <p:cNvSpPr/>
          <p:nvPr/>
        </p:nvSpPr>
        <p:spPr>
          <a:xfrm>
            <a:off x="4297679" y="2551176"/>
            <a:ext cx="4389120" cy="457200"/>
          </a:xfrm>
          <a:prstGeom prst="roundRect">
            <a:avLst>
              <a:gd name="adj" fmla="val 16000"/>
            </a:avLst>
          </a:prstGeom>
          <a:solidFill>
            <a:srgbClr val="E6F4FF"/>
          </a:solidFill>
          <a:ln w="12700">
            <a:solidFill>
              <a:srgbClr val="0099F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200" b="1">
                <a:solidFill>
                  <a:srgbClr val="0B3C6E"/>
                </a:solidFill>
                <a:latin typeface="BIZ UDPゴシック"/>
                <a:ea typeface="BIZ UDPゴシック"/>
                <a:cs typeface="BIZ UDPゴシック"/>
              </a:rPr>
              <a:t>Proposals (text) + log</a:t>
            </a:r>
          </a:p>
        </p:txBody>
      </p:sp>
      <p:sp>
        <p:nvSpPr>
          <p:cNvPr id="17" name="TextBox 16"/>
          <p:cNvSpPr txBox="1"/>
          <p:nvPr/>
        </p:nvSpPr>
        <p:spPr>
          <a:xfrm>
            <a:off x="411480" y="3209544"/>
            <a:ext cx="1600199" cy="566928"/>
          </a:xfrm>
          <a:prstGeom prst="rect">
            <a:avLst/>
          </a:prstGeom>
          <a:noFill/>
        </p:spPr>
        <p:txBody>
          <a:bodyPr wrap="square" lIns="0" tIns="0" rIns="0" bIns="0" anchor="ctr">
            <a:noAutofit/>
          </a:bodyPr>
          <a:lstStyle/>
          <a:p>
            <a:pPr algn="l" marL="0" indent="0">
              <a:spcAft>
                <a:spcPts val="400"/>
              </a:spcAft>
              <a:buNone/>
            </a:pPr>
            <a:r>
              <a:rPr sz="1300" b="1">
                <a:solidFill>
                  <a:srgbClr val="12A38A"/>
                </a:solidFill>
                <a:latin typeface="BIZ UDPゴシック"/>
                <a:ea typeface="BIZ UDPゴシック"/>
                <a:cs typeface="BIZ UDPゴシック"/>
              </a:rPr>
              <a:t>C: + Avatar</a:t>
            </a:r>
          </a:p>
        </p:txBody>
      </p:sp>
      <p:sp>
        <p:nvSpPr>
          <p:cNvPr id="18" name="Rounded Rectangle 17"/>
          <p:cNvSpPr/>
          <p:nvPr/>
        </p:nvSpPr>
        <p:spPr>
          <a:xfrm>
            <a:off x="2103120" y="3264408"/>
            <a:ext cx="2148840" cy="457200"/>
          </a:xfrm>
          <a:prstGeom prst="roundRect">
            <a:avLst>
              <a:gd name="adj" fmla="val 16000"/>
            </a:avLst>
          </a:prstGeom>
          <a:solidFill>
            <a:srgbClr val="E3E8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100" b="1">
                <a:solidFill>
                  <a:srgbClr val="5A6676"/>
                </a:solidFill>
                <a:latin typeface="BIZ UDPゴシック"/>
                <a:ea typeface="BIZ UDPゴシック"/>
                <a:cs typeface="BIZ UDPゴシック"/>
              </a:rPr>
              <a:t>Log only</a:t>
            </a:r>
          </a:p>
        </p:txBody>
      </p:sp>
      <p:sp>
        <p:nvSpPr>
          <p:cNvPr id="19" name="Rounded Rectangle 18"/>
          <p:cNvSpPr/>
          <p:nvPr/>
        </p:nvSpPr>
        <p:spPr>
          <a:xfrm>
            <a:off x="4297679" y="3264408"/>
            <a:ext cx="4389120" cy="457200"/>
          </a:xfrm>
          <a:prstGeom prst="roundRect">
            <a:avLst>
              <a:gd name="adj" fmla="val 16000"/>
            </a:avLst>
          </a:prstGeom>
          <a:solidFill>
            <a:srgbClr val="E3F6F2"/>
          </a:solidFill>
          <a:ln w="12700">
            <a:solidFill>
              <a:srgbClr val="12A38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200" b="1">
                <a:solidFill>
                  <a:srgbClr val="0B3C6E"/>
                </a:solidFill>
                <a:latin typeface="BIZ UDPゴシック"/>
                <a:ea typeface="BIZ UDPゴシック"/>
                <a:cs typeface="BIZ UDPゴシック"/>
              </a:rPr>
              <a:t>Proposals + possible-selves avatar + log</a:t>
            </a:r>
          </a:p>
        </p:txBody>
      </p:sp>
      <p:cxnSp>
        <p:nvCxnSpPr>
          <p:cNvPr id="20" name="Connector 19"/>
          <p:cNvCxnSpPr/>
          <p:nvPr/>
        </p:nvCxnSpPr>
        <p:spPr>
          <a:xfrm>
            <a:off x="4279392" y="1691640"/>
            <a:ext cx="0" cy="2285999"/>
          </a:xfrm>
          <a:prstGeom prst="line">
            <a:avLst/>
          </a:prstGeom>
          <a:ln w="28575">
            <a:solidFill>
              <a:srgbClr val="E8457C"/>
            </a:solidFill>
            <a:prstDash val="dash"/>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91839" y="4023360"/>
            <a:ext cx="2011680" cy="274320"/>
          </a:xfrm>
          <a:prstGeom prst="roundRect">
            <a:avLst>
              <a:gd name="adj" fmla="val 50000"/>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FFFFFF"/>
                </a:solidFill>
                <a:latin typeface="BIZ UDPゴシック"/>
                <a:ea typeface="BIZ UDPゴシック"/>
                <a:cs typeface="BIZ UDPゴシック"/>
              </a:rPr>
              <a:t>Stratified randomization</a:t>
            </a:r>
          </a:p>
        </p:txBody>
      </p:sp>
      <p:sp>
        <p:nvSpPr>
          <p:cNvPr id="22" name="Diamond 21"/>
          <p:cNvSpPr/>
          <p:nvPr/>
        </p:nvSpPr>
        <p:spPr>
          <a:xfrm>
            <a:off x="2011679" y="4434840"/>
            <a:ext cx="182880" cy="182880"/>
          </a:xfrm>
          <a:prstGeom prst="diamond">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iamond 22"/>
          <p:cNvSpPr/>
          <p:nvPr/>
        </p:nvSpPr>
        <p:spPr>
          <a:xfrm>
            <a:off x="4206240" y="4434840"/>
            <a:ext cx="182880" cy="182880"/>
          </a:xfrm>
          <a:prstGeom prst="diamond">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Diamond 23"/>
          <p:cNvSpPr/>
          <p:nvPr/>
        </p:nvSpPr>
        <p:spPr>
          <a:xfrm>
            <a:off x="6400800" y="4434840"/>
            <a:ext cx="182880" cy="182880"/>
          </a:xfrm>
          <a:prstGeom prst="diamond">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8595360" y="4434840"/>
            <a:ext cx="182880" cy="182880"/>
          </a:xfrm>
          <a:prstGeom prst="diamond">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11480" y="4370832"/>
            <a:ext cx="1600199" cy="320040"/>
          </a:xfrm>
          <a:prstGeom prst="rect">
            <a:avLst/>
          </a:prstGeom>
          <a:noFill/>
        </p:spPr>
        <p:txBody>
          <a:bodyPr wrap="square" lIns="0" tIns="0" rIns="0" bIns="0" anchor="ctr">
            <a:noAutofit/>
          </a:bodyPr>
          <a:lstStyle/>
          <a:p>
            <a:pPr algn="l" marL="0" indent="0">
              <a:spcAft>
                <a:spcPts val="400"/>
              </a:spcAft>
              <a:buNone/>
            </a:pPr>
            <a:r>
              <a:rPr sz="1200" b="1">
                <a:solidFill>
                  <a:srgbClr val="0B3C6E"/>
                </a:solidFill>
                <a:latin typeface="BIZ UDPゴシック"/>
                <a:ea typeface="BIZ UDPゴシック"/>
                <a:cs typeface="BIZ UDPゴシック"/>
              </a:rPr>
              <a:t>WHO-5</a:t>
            </a:r>
          </a:p>
        </p:txBody>
      </p:sp>
      <p:cxnSp>
        <p:nvCxnSpPr>
          <p:cNvPr id="27" name="Connector 26"/>
          <p:cNvCxnSpPr/>
          <p:nvPr/>
        </p:nvCxnSpPr>
        <p:spPr>
          <a:xfrm>
            <a:off x="2103120" y="4526280"/>
            <a:ext cx="6583680" cy="0"/>
          </a:xfrm>
          <a:prstGeom prst="line">
            <a:avLst/>
          </a:prstGeom>
          <a:ln w="12700">
            <a:solidFill>
              <a:srgbClr val="B8C2CE"/>
            </a:solidFill>
          </a:ln>
        </p:spPr>
        <p:style>
          <a:lnRef idx="2">
            <a:schemeClr val="accent1"/>
          </a:lnRef>
          <a:fillRef idx="0">
            <a:schemeClr val="accent1"/>
          </a:fillRef>
          <a:effectRef idx="1">
            <a:schemeClr val="accent1"/>
          </a:effectRef>
          <a:fontRef idx="minor">
            <a:schemeClr val="tx1"/>
          </a:fontRef>
        </p:style>
      </p:cxnSp>
      <p:graphicFrame>
        <p:nvGraphicFramePr>
          <p:cNvPr id="28" name="Table 27"/>
          <p:cNvGraphicFramePr>
            <a:graphicFrameLocks noGrp="1"/>
          </p:cNvGraphicFramePr>
          <p:nvPr/>
        </p:nvGraphicFramePr>
        <p:xfrm>
          <a:off x="411480" y="4892040"/>
          <a:ext cx="8321040" cy="1234440"/>
        </p:xfrm>
        <a:graphic>
          <a:graphicData uri="http://schemas.openxmlformats.org/drawingml/2006/table">
            <a:tbl>
              <a:tblPr>
                <a:tableStyleId>{5940675A-B579-460E-94D1-54222C63F5DA}</a:tableStyleId>
              </a:tblPr>
              <a:tblGrid>
                <a:gridCol w="1554480"/>
                <a:gridCol w="6766560"/>
              </a:tblGrid>
              <a:tr h="411480">
                <a:tc>
                  <a:txBody>
                    <a:bodyPr wrap="square" lIns="64008" tIns="27432" rIns="64008" bIns="27432" anchor="ctr">
                      <a:noAutofit/>
                    </a:bodyPr>
                    <a:lstStyle/>
                    <a:p>
                      <a:pPr algn="l" marL="0" indent="0">
                        <a:spcAft>
                          <a:spcPts val="0"/>
                        </a:spcAft>
                        <a:buNone/>
                      </a:pPr>
                      <a:r>
                        <a:rPr sz="1200" b="1">
                          <a:solidFill>
                            <a:srgbClr val="FFFFFF"/>
                          </a:solidFill>
                          <a:latin typeface="BIZ UDPゴシック"/>
                          <a:ea typeface="BIZ UDPゴシック"/>
                          <a:cs typeface="BIZ UDPゴシック"/>
                        </a:rPr>
                        <a:t>Measure</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l" marL="0" indent="0">
                        <a:spcAft>
                          <a:spcPts val="0"/>
                        </a:spcAft>
                        <a:buNone/>
                      </a:pPr>
                      <a:r>
                        <a:rPr sz="1200" b="1">
                          <a:solidFill>
                            <a:srgbClr val="FFFFFF"/>
                          </a:solidFill>
                          <a:latin typeface="BIZ UDPゴシック"/>
                          <a:ea typeface="BIZ UDPゴシック"/>
                          <a:cs typeface="BIZ UDPゴシック"/>
                        </a:rPr>
                        <a:t>Analysis</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r>
              <a:tr h="411480">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RQ3 (primary)</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WHO-5 at week 6, ANCOVA adjusting for week 2; C vs B and B vs A with Holm correction</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r>
              <a:tr h="411480">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RQ2 · RQ1</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Weekly follow-through (logistic mixed model) · forecast error at week 6</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Results: avatars boosted follow-through</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10</a:t>
            </a:fld>
          </a:p>
        </p:txBody>
      </p:sp>
      <p:graphicFrame>
        <p:nvGraphicFramePr>
          <p:cNvPr id="5" name="Chart 4"/>
          <p:cNvGraphicFramePr>
            <a:graphicFrameLocks noGrp="1"/>
          </p:cNvGraphicFramePr>
          <p:nvPr/>
        </p:nvGraphicFramePr>
        <p:xfrm>
          <a:off x="411480" y="1325880"/>
          <a:ext cx="5029200" cy="4023360"/>
        </p:xfrm>
        <a:graphic>
          <a:graphicData uri="http://schemas.openxmlformats.org/drawingml/2006/chart">
            <c:chart xmlns:c="http://schemas.openxmlformats.org/drawingml/2006/chart" r:id="rId2"/>
          </a:graphicData>
        </a:graphic>
      </p:graphicFrame>
      <p:sp>
        <p:nvSpPr>
          <p:cNvPr id="6" name="TextBox 5"/>
          <p:cNvSpPr txBox="1"/>
          <p:nvPr/>
        </p:nvSpPr>
        <p:spPr>
          <a:xfrm>
            <a:off x="411480" y="5394960"/>
            <a:ext cx="5029200" cy="777240"/>
          </a:xfrm>
          <a:prstGeom prst="rect">
            <a:avLst/>
          </a:prstGeom>
          <a:noFill/>
        </p:spPr>
        <p:txBody>
          <a:bodyPr wrap="square" lIns="0" tIns="0" rIns="0" bIns="0" anchor="t">
            <a:noAutofit/>
          </a:bodyPr>
          <a:lstStyle/>
          <a:p>
            <a:pPr algn="l" marL="0" indent="0">
              <a:spcAft>
                <a:spcPts val="400"/>
              </a:spcAft>
              <a:buNone/>
            </a:pPr>
            <a:r>
              <a:rPr sz="1150" b="0">
                <a:solidFill>
                  <a:srgbClr val="5A6676"/>
                </a:solidFill>
                <a:latin typeface="BIZ UDPゴシック"/>
                <a:ea typeface="BIZ UDPゴシック"/>
                <a:cs typeface="BIZ UDPゴシック"/>
              </a:rPr>
              <a:t>N = 197 completed (after the paper was submitted). Same proposals in B and C.</a:t>
            </a:r>
          </a:p>
        </p:txBody>
      </p:sp>
      <p:sp>
        <p:nvSpPr>
          <p:cNvPr id="7" name="Rounded Rectangle 6"/>
          <p:cNvSpPr/>
          <p:nvPr/>
        </p:nvSpPr>
        <p:spPr>
          <a:xfrm>
            <a:off x="5623560" y="1371600"/>
            <a:ext cx="3108960" cy="1965960"/>
          </a:xfrm>
          <a:prstGeom prst="roundRect">
            <a:avLst>
              <a:gd name="adj" fmla="val 5581"/>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760720" y="1417320"/>
            <a:ext cx="2834640" cy="1874519"/>
          </a:xfrm>
          <a:prstGeom prst="rect">
            <a:avLst/>
          </a:prstGeom>
          <a:noFill/>
        </p:spPr>
        <p:txBody>
          <a:bodyPr wrap="square" lIns="0" tIns="0" rIns="0" bIns="0" anchor="ctr">
            <a:noAutofit/>
          </a:bodyPr>
          <a:lstStyle/>
          <a:p>
            <a:pPr algn="l" marL="0" indent="0">
              <a:spcAft>
                <a:spcPts val="200"/>
              </a:spcAft>
              <a:buNone/>
            </a:pPr>
            <a:r>
              <a:rPr sz="2800" b="1">
                <a:solidFill>
                  <a:srgbClr val="12A38A"/>
                </a:solidFill>
                <a:latin typeface="BIZ UDPゴシック"/>
                <a:ea typeface="BIZ UDPゴシック"/>
                <a:cs typeface="BIZ UDPゴシック"/>
              </a:rPr>
              <a:t>OR = 1.71</a:t>
            </a:r>
          </a:p>
          <a:p>
            <a:pPr algn="l" marL="0" indent="0">
              <a:spcAft>
                <a:spcPts val="200"/>
              </a:spcAft>
              <a:buNone/>
            </a:pPr>
            <a:r>
              <a:rPr sz="1250" b="0">
                <a:solidFill>
                  <a:srgbClr val="24303F"/>
                </a:solidFill>
                <a:latin typeface="BIZ UDPゴシック"/>
                <a:ea typeface="BIZ UDPゴシック"/>
                <a:cs typeface="BIZ UDPゴシック"/>
              </a:rPr>
              <a:t>95% CI 1.18–2.48, p = .005</a:t>
            </a:r>
          </a:p>
          <a:p>
            <a:pPr algn="l" marL="0" indent="0">
              <a:spcAft>
                <a:spcPts val="400"/>
              </a:spcAft>
              <a:buNone/>
            </a:pPr>
            <a:r>
              <a:rPr sz="1100" b="0">
                <a:solidFill>
                  <a:srgbClr val="5A6676"/>
                </a:solidFill>
                <a:latin typeface="BIZ UDPゴシック"/>
                <a:ea typeface="BIZ UDPゴシック"/>
                <a:cs typeface="BIZ UDPゴシック"/>
              </a:rPr>
              <a:t>RQ2 · C vs B</a:t>
            </a:r>
          </a:p>
        </p:txBody>
      </p:sp>
      <p:sp>
        <p:nvSpPr>
          <p:cNvPr id="9" name="Rounded Rectangle 8"/>
          <p:cNvSpPr/>
          <p:nvPr/>
        </p:nvSpPr>
        <p:spPr>
          <a:xfrm>
            <a:off x="5623560" y="3520440"/>
            <a:ext cx="3108960" cy="2651760"/>
          </a:xfrm>
          <a:prstGeom prst="roundRect">
            <a:avLst>
              <a:gd name="adj" fmla="val 4137"/>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760720" y="3566160"/>
            <a:ext cx="2834640" cy="2560320"/>
          </a:xfrm>
          <a:prstGeom prst="rect">
            <a:avLst/>
          </a:prstGeom>
          <a:noFill/>
        </p:spPr>
        <p:txBody>
          <a:bodyPr wrap="square" lIns="0" tIns="0" rIns="0" bIns="0" anchor="ctr">
            <a:noAutofit/>
          </a:bodyPr>
          <a:lstStyle/>
          <a:p>
            <a:pPr algn="l" marL="0" indent="0">
              <a:spcAft>
                <a:spcPts val="600"/>
              </a:spcAft>
              <a:buNone/>
            </a:pPr>
            <a:r>
              <a:rPr sz="1350" b="1">
                <a:solidFill>
                  <a:srgbClr val="0B3C6E"/>
                </a:solidFill>
                <a:latin typeface="BIZ UDPゴシック"/>
                <a:ea typeface="BIZ UDPゴシック"/>
                <a:cs typeface="BIZ UDPゴシック"/>
              </a:rPr>
              <a:t>Forecasts got better and stayed honest (RQ1)</a:t>
            </a:r>
          </a:p>
          <a:p>
            <a:pPr algn="l" marL="182880" indent="-182880">
              <a:spcAft>
                <a:spcPts val="400"/>
              </a:spcAft>
              <a:buClr>
                <a:srgbClr val="0099FF"/>
              </a:buClr>
              <a:buFont typeface="BIZ UDPゴシック"/>
              <a:buChar char="•"/>
            </a:pPr>
            <a:r>
              <a:rPr sz="1250" b="0">
                <a:solidFill>
                  <a:srgbClr val="24303F"/>
                </a:solidFill>
                <a:latin typeface="BIZ UDPゴシック"/>
                <a:ea typeface="BIZ UDPゴシック"/>
                <a:cs typeface="BIZ UDPゴシック"/>
              </a:rPr>
              <a:t>Fatigue error 0.84 → 0.62 after personalization</a:t>
            </a:r>
          </a:p>
          <a:p>
            <a:pPr algn="l" marL="182880" indent="-182880">
              <a:spcAft>
                <a:spcPts val="400"/>
              </a:spcAft>
              <a:buClr>
                <a:srgbClr val="0099FF"/>
              </a:buClr>
              <a:buFont typeface="BIZ UDPゴシック"/>
              <a:buChar char="•"/>
            </a:pPr>
            <a:r>
              <a:rPr sz="1250" b="0">
                <a:solidFill>
                  <a:srgbClr val="24303F"/>
                </a:solidFill>
                <a:latin typeface="BIZ UDPゴシック"/>
                <a:ea typeface="BIZ UDPゴシック"/>
                <a:cs typeface="BIZ UDPゴシック"/>
              </a:rPr>
              <a:t>76% of outcomes fell inside the 80% interval</a:t>
            </a:r>
          </a:p>
        </p:txBody>
      </p:sp>
      <p:sp>
        <p:nvSpPr>
          <p:cNvPr id="11" name="Rounded Rectangle 10"/>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 (projected) — 要差し替え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Results: well-being, joy, and logging</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11</a:t>
            </a:fld>
          </a:p>
        </p:txBody>
      </p:sp>
      <p:graphicFrame>
        <p:nvGraphicFramePr>
          <p:cNvPr id="5" name="Chart 4"/>
          <p:cNvGraphicFramePr>
            <a:graphicFrameLocks noGrp="1"/>
          </p:cNvGraphicFramePr>
          <p:nvPr/>
        </p:nvGraphicFramePr>
        <p:xfrm>
          <a:off x="411480" y="1325880"/>
          <a:ext cx="4114800" cy="3657600"/>
        </p:xfrm>
        <a:graphic>
          <a:graphicData uri="http://schemas.openxmlformats.org/drawingml/2006/chart">
            <c:chart xmlns:c="http://schemas.openxmlformats.org/drawingml/2006/chart" r:id="rId2"/>
          </a:graphicData>
        </a:graphic>
      </p:graphicFrame>
      <p:graphicFrame>
        <p:nvGraphicFramePr>
          <p:cNvPr id="6" name="Chart 5"/>
          <p:cNvGraphicFramePr>
            <a:graphicFrameLocks noGrp="1"/>
          </p:cNvGraphicFramePr>
          <p:nvPr/>
        </p:nvGraphicFramePr>
        <p:xfrm>
          <a:off x="4617720" y="1325880"/>
          <a:ext cx="4114800" cy="3657600"/>
        </p:xfrm>
        <a:graphic>
          <a:graphicData uri="http://schemas.openxmlformats.org/drawingml/2006/chart">
            <c:chart xmlns:c="http://schemas.openxmlformats.org/drawingml/2006/chart" r:id="rId3"/>
          </a:graphicData>
        </a:graphic>
      </p:graphicFrame>
      <p:sp>
        <p:nvSpPr>
          <p:cNvPr id="7" name="Rounded Rectangle 6"/>
          <p:cNvSpPr/>
          <p:nvPr/>
        </p:nvSpPr>
        <p:spPr>
          <a:xfrm>
            <a:off x="411480" y="5120640"/>
            <a:ext cx="2697480" cy="1051560"/>
          </a:xfrm>
          <a:prstGeom prst="roundRect">
            <a:avLst>
              <a:gd name="adj" fmla="val 1043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5148072"/>
            <a:ext cx="2423160" cy="1005840"/>
          </a:xfrm>
          <a:prstGeom prst="rect">
            <a:avLst/>
          </a:prstGeom>
          <a:noFill/>
        </p:spPr>
        <p:txBody>
          <a:bodyPr wrap="square" lIns="0" tIns="0" rIns="0" bIns="0" anchor="ctr">
            <a:noAutofit/>
          </a:bodyPr>
          <a:lstStyle/>
          <a:p>
            <a:pPr algn="l" marL="0" indent="0">
              <a:spcAft>
                <a:spcPts val="200"/>
              </a:spcAft>
              <a:buNone/>
            </a:pPr>
            <a:r>
              <a:rPr sz="1300" b="1">
                <a:solidFill>
                  <a:srgbClr val="E07A10"/>
                </a:solidFill>
                <a:latin typeface="BIZ UDPゴシック"/>
                <a:ea typeface="BIZ UDPゴシック"/>
                <a:cs typeface="BIZ UDPゴシック"/>
              </a:rPr>
              <a:t>RQ3: small effect</a:t>
            </a:r>
          </a:p>
          <a:p>
            <a:pPr algn="l" marL="0" indent="0">
              <a:spcAft>
                <a:spcPts val="400"/>
              </a:spcAft>
              <a:buNone/>
            </a:pPr>
            <a:r>
              <a:rPr sz="1100" b="0">
                <a:solidFill>
                  <a:srgbClr val="24303F"/>
                </a:solidFill>
                <a:latin typeface="BIZ UDPゴシック"/>
                <a:ea typeface="BIZ UDPゴシック"/>
                <a:cs typeface="BIZ UDPゴシック"/>
              </a:rPr>
              <a:t>C − B = +0.9 (n.s. after Holm); C − A = +1.7 (exploratory)</a:t>
            </a:r>
          </a:p>
        </p:txBody>
      </p:sp>
      <p:sp>
        <p:nvSpPr>
          <p:cNvPr id="9" name="Rounded Rectangle 8"/>
          <p:cNvSpPr/>
          <p:nvPr/>
        </p:nvSpPr>
        <p:spPr>
          <a:xfrm>
            <a:off x="3218688" y="5120640"/>
            <a:ext cx="2697480" cy="1051560"/>
          </a:xfrm>
          <a:prstGeom prst="roundRect">
            <a:avLst>
              <a:gd name="adj" fmla="val 1043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55848" y="5148072"/>
            <a:ext cx="2423160" cy="1005840"/>
          </a:xfrm>
          <a:prstGeom prst="rect">
            <a:avLst/>
          </a:prstGeom>
          <a:noFill/>
        </p:spPr>
        <p:txBody>
          <a:bodyPr wrap="square" lIns="0" tIns="0" rIns="0" bIns="0" anchor="ctr">
            <a:noAutofit/>
          </a:bodyPr>
          <a:lstStyle/>
          <a:p>
            <a:pPr algn="l" marL="0" indent="0">
              <a:spcAft>
                <a:spcPts val="200"/>
              </a:spcAft>
              <a:buNone/>
            </a:pPr>
            <a:r>
              <a:rPr sz="1300" b="1">
                <a:solidFill>
                  <a:srgbClr val="12A38A"/>
                </a:solidFill>
                <a:latin typeface="BIZ UDPゴシック"/>
                <a:ea typeface="BIZ UDPゴシック"/>
                <a:cs typeface="BIZ UDPゴシック"/>
              </a:rPr>
              <a:t>Joy was kept</a:t>
            </a:r>
          </a:p>
          <a:p>
            <a:pPr algn="l" marL="0" indent="0">
              <a:spcAft>
                <a:spcPts val="400"/>
              </a:spcAft>
              <a:buNone/>
            </a:pPr>
            <a:r>
              <a:rPr sz="1100" b="0">
                <a:solidFill>
                  <a:srgbClr val="24303F"/>
                </a:solidFill>
                <a:latin typeface="BIZ UDPゴシック"/>
                <a:ea typeface="BIZ UDPゴシック"/>
                <a:cs typeface="BIZ UDPゴシック"/>
              </a:rPr>
              <a:t>Enjoyment stayed at 3.8–3.9 in all groups</a:t>
            </a:r>
          </a:p>
        </p:txBody>
      </p:sp>
      <p:sp>
        <p:nvSpPr>
          <p:cNvPr id="11" name="Rounded Rectangle 10"/>
          <p:cNvSpPr/>
          <p:nvPr/>
        </p:nvSpPr>
        <p:spPr>
          <a:xfrm>
            <a:off x="6025896" y="5120640"/>
            <a:ext cx="2697480" cy="1051560"/>
          </a:xfrm>
          <a:prstGeom prst="roundRect">
            <a:avLst>
              <a:gd name="adj" fmla="val 1043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63056" y="5148072"/>
            <a:ext cx="2423160" cy="1005840"/>
          </a:xfrm>
          <a:prstGeom prst="rect">
            <a:avLst/>
          </a:prstGeom>
          <a:noFill/>
        </p:spPr>
        <p:txBody>
          <a:bodyPr wrap="square" lIns="0" tIns="0" rIns="0" bIns="0" anchor="ctr">
            <a:noAutofit/>
          </a:bodyPr>
          <a:lstStyle/>
          <a:p>
            <a:pPr algn="l" marL="0" indent="0">
              <a:spcAft>
                <a:spcPts val="200"/>
              </a:spcAft>
              <a:buNone/>
            </a:pPr>
            <a:r>
              <a:rPr sz="1300" b="1">
                <a:solidFill>
                  <a:srgbClr val="0B3C6E"/>
                </a:solidFill>
                <a:latin typeface="BIZ UDPゴシック"/>
                <a:ea typeface="BIZ UDPゴシック"/>
                <a:cs typeface="BIZ UDPゴシック"/>
              </a:rPr>
              <a:t>People kept logging</a:t>
            </a:r>
          </a:p>
          <a:p>
            <a:pPr algn="l" marL="0" indent="0">
              <a:spcAft>
                <a:spcPts val="400"/>
              </a:spcAft>
              <a:buNone/>
            </a:pPr>
            <a:r>
              <a:rPr sz="1100" b="0">
                <a:solidFill>
                  <a:srgbClr val="24303F"/>
                </a:solidFill>
                <a:latin typeface="BIZ UDPゴシック"/>
                <a:ea typeface="BIZ UDPゴシック"/>
                <a:cs typeface="BIZ UDPゴシック"/>
              </a:rPr>
              <a:t>Group C: 83% in week 6 (exploratory)</a:t>
            </a:r>
          </a:p>
        </p:txBody>
      </p:sp>
      <p:sp>
        <p:nvSpPr>
          <p:cNvPr id="13" name="Rounded Rectangle 12"/>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 (projected) — 要差し替え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Design implications</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12</a:t>
            </a:fld>
          </a:p>
        </p:txBody>
      </p:sp>
      <p:sp>
        <p:nvSpPr>
          <p:cNvPr id="5" name="Rounded Rectangle 4"/>
          <p:cNvSpPr/>
          <p:nvPr/>
        </p:nvSpPr>
        <p:spPr>
          <a:xfrm>
            <a:off x="411480" y="1417320"/>
            <a:ext cx="8321040" cy="1417320"/>
          </a:xfrm>
          <a:prstGeom prst="roundRect">
            <a:avLst>
              <a:gd name="adj" fmla="val 774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640080" y="1764792"/>
            <a:ext cx="731520" cy="73152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dice_w.png"/>
          <p:cNvPicPr>
            <a:picLocks noChangeAspect="1"/>
          </p:cNvPicPr>
          <p:nvPr/>
        </p:nvPicPr>
        <p:blipFill>
          <a:blip r:embed="rId2"/>
          <a:stretch>
            <a:fillRect/>
          </a:stretch>
        </p:blipFill>
        <p:spPr>
          <a:xfrm>
            <a:off x="815644" y="1940356"/>
            <a:ext cx="380390" cy="380390"/>
          </a:xfrm>
          <a:prstGeom prst="rect">
            <a:avLst/>
          </a:prstGeom>
        </p:spPr>
      </p:pic>
      <p:sp>
        <p:nvSpPr>
          <p:cNvPr id="8" name="TextBox 7"/>
          <p:cNvSpPr txBox="1"/>
          <p:nvPr/>
        </p:nvSpPr>
        <p:spPr>
          <a:xfrm>
            <a:off x="1600200" y="1508760"/>
            <a:ext cx="6949440" cy="1234440"/>
          </a:xfrm>
          <a:prstGeom prst="rect">
            <a:avLst/>
          </a:prstGeom>
          <a:noFill/>
        </p:spPr>
        <p:txBody>
          <a:bodyPr wrap="square" lIns="0" tIns="0" rIns="0" bIns="0" anchor="ctr">
            <a:noAutofit/>
          </a:bodyPr>
          <a:lstStyle/>
          <a:p>
            <a:pPr algn="l" marL="0" indent="0">
              <a:spcAft>
                <a:spcPts val="400"/>
              </a:spcAft>
              <a:buNone/>
            </a:pPr>
            <a:r>
              <a:rPr sz="1700" b="1">
                <a:solidFill>
                  <a:srgbClr val="0B3C6E"/>
                </a:solidFill>
                <a:latin typeface="BIZ UDPゴシック"/>
                <a:ea typeface="BIZ UDPゴシック"/>
                <a:cs typeface="BIZ UDPゴシック"/>
              </a:rPr>
              <a:t>Make uncertainty a feature</a:t>
            </a:r>
          </a:p>
          <a:p>
            <a:pPr algn="l" marL="0" indent="0">
              <a:spcAft>
                <a:spcPts val="400"/>
              </a:spcAft>
              <a:buNone/>
            </a:pPr>
            <a:r>
              <a:rPr sz="1350" b="0">
                <a:solidFill>
                  <a:srgbClr val="24303F"/>
                </a:solidFill>
                <a:latin typeface="BIZ UDPゴシック"/>
                <a:ea typeface="BIZ UDPゴシック"/>
                <a:cs typeface="BIZ UDPゴシック"/>
              </a:rPr>
              <a:t>Render forecast ranges as possible selves; let resolution grow with the user's own data</a:t>
            </a:r>
          </a:p>
        </p:txBody>
      </p:sp>
      <p:sp>
        <p:nvSpPr>
          <p:cNvPr id="9" name="Rounded Rectangle 8"/>
          <p:cNvSpPr/>
          <p:nvPr/>
        </p:nvSpPr>
        <p:spPr>
          <a:xfrm>
            <a:off x="411480" y="2990088"/>
            <a:ext cx="8321040" cy="1417320"/>
          </a:xfrm>
          <a:prstGeom prst="roundRect">
            <a:avLst>
              <a:gd name="adj" fmla="val 774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40080" y="3337560"/>
            <a:ext cx="731520" cy="73152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c_scale_w.png"/>
          <p:cNvPicPr>
            <a:picLocks noChangeAspect="1"/>
          </p:cNvPicPr>
          <p:nvPr/>
        </p:nvPicPr>
        <p:blipFill>
          <a:blip r:embed="rId3"/>
          <a:stretch>
            <a:fillRect/>
          </a:stretch>
        </p:blipFill>
        <p:spPr>
          <a:xfrm>
            <a:off x="815644" y="3513124"/>
            <a:ext cx="380390" cy="380390"/>
          </a:xfrm>
          <a:prstGeom prst="rect">
            <a:avLst/>
          </a:prstGeom>
        </p:spPr>
      </p:pic>
      <p:sp>
        <p:nvSpPr>
          <p:cNvPr id="12" name="TextBox 11"/>
          <p:cNvSpPr txBox="1"/>
          <p:nvPr/>
        </p:nvSpPr>
        <p:spPr>
          <a:xfrm>
            <a:off x="1600200" y="3081528"/>
            <a:ext cx="6949440" cy="1234440"/>
          </a:xfrm>
          <a:prstGeom prst="rect">
            <a:avLst/>
          </a:prstGeom>
          <a:noFill/>
        </p:spPr>
        <p:txBody>
          <a:bodyPr wrap="square" lIns="0" tIns="0" rIns="0" bIns="0" anchor="ctr">
            <a:noAutofit/>
          </a:bodyPr>
          <a:lstStyle/>
          <a:p>
            <a:pPr algn="l" marL="0" indent="0">
              <a:spcAft>
                <a:spcPts val="400"/>
              </a:spcAft>
              <a:buNone/>
            </a:pPr>
            <a:r>
              <a:rPr sz="1700" b="1">
                <a:solidFill>
                  <a:srgbClr val="0B3C6E"/>
                </a:solidFill>
                <a:latin typeface="BIZ UDPゴシック"/>
                <a:ea typeface="BIZ UDPゴシック"/>
                <a:cs typeface="BIZ UDPゴシック"/>
              </a:rPr>
              <a:t>Rebalance, don't restrict</a:t>
            </a:r>
          </a:p>
          <a:p>
            <a:pPr algn="l" marL="0" indent="0">
              <a:spcAft>
                <a:spcPts val="400"/>
              </a:spcAft>
              <a:buNone/>
            </a:pPr>
            <a:r>
              <a:rPr sz="1350" b="0">
                <a:solidFill>
                  <a:srgbClr val="24303F"/>
                </a:solidFill>
                <a:latin typeface="BIZ UDPゴシック"/>
                <a:ea typeface="BIZ UDPゴシック"/>
                <a:cs typeface="BIZ UDPゴシック"/>
              </a:rPr>
              <a:t>In domains without one right answer, keep what people love and move the rest</a:t>
            </a:r>
          </a:p>
        </p:txBody>
      </p:sp>
      <p:sp>
        <p:nvSpPr>
          <p:cNvPr id="13" name="Rounded Rectangle 12"/>
          <p:cNvSpPr/>
          <p:nvPr/>
        </p:nvSpPr>
        <p:spPr>
          <a:xfrm>
            <a:off x="411480" y="4562856"/>
            <a:ext cx="8321040" cy="1417320"/>
          </a:xfrm>
          <a:prstGeom prst="roundRect">
            <a:avLst>
              <a:gd name="adj" fmla="val 774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0080" y="4910328"/>
            <a:ext cx="731520" cy="73152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ic_mirror_w.png"/>
          <p:cNvPicPr>
            <a:picLocks noChangeAspect="1"/>
          </p:cNvPicPr>
          <p:nvPr/>
        </p:nvPicPr>
        <p:blipFill>
          <a:blip r:embed="rId4"/>
          <a:stretch>
            <a:fillRect/>
          </a:stretch>
        </p:blipFill>
        <p:spPr>
          <a:xfrm>
            <a:off x="815644" y="5085892"/>
            <a:ext cx="380390" cy="380390"/>
          </a:xfrm>
          <a:prstGeom prst="rect">
            <a:avLst/>
          </a:prstGeom>
        </p:spPr>
      </p:pic>
      <p:sp>
        <p:nvSpPr>
          <p:cNvPr id="16" name="TextBox 15"/>
          <p:cNvSpPr txBox="1"/>
          <p:nvPr/>
        </p:nvSpPr>
        <p:spPr>
          <a:xfrm>
            <a:off x="1600200" y="4654296"/>
            <a:ext cx="6949440" cy="1234440"/>
          </a:xfrm>
          <a:prstGeom prst="rect">
            <a:avLst/>
          </a:prstGeom>
          <a:noFill/>
        </p:spPr>
        <p:txBody>
          <a:bodyPr wrap="square" lIns="0" tIns="0" rIns="0" bIns="0" anchor="ctr">
            <a:noAutofit/>
          </a:bodyPr>
          <a:lstStyle/>
          <a:p>
            <a:pPr algn="l" marL="0" indent="0">
              <a:spcAft>
                <a:spcPts val="400"/>
              </a:spcAft>
              <a:buNone/>
            </a:pPr>
            <a:r>
              <a:rPr sz="1700" b="1">
                <a:solidFill>
                  <a:srgbClr val="0B3C6E"/>
                </a:solidFill>
                <a:latin typeface="BIZ UDPゴシック"/>
                <a:ea typeface="BIZ UDPゴシック"/>
                <a:cs typeface="BIZ UDPゴシック"/>
              </a:rPr>
              <a:t>Same advice, better framing</a:t>
            </a:r>
          </a:p>
          <a:p>
            <a:pPr algn="l" marL="0" indent="0">
              <a:spcAft>
                <a:spcPts val="400"/>
              </a:spcAft>
              <a:buNone/>
            </a:pPr>
            <a:r>
              <a:rPr sz="1350" b="0">
                <a:solidFill>
                  <a:srgbClr val="24303F"/>
                </a:solidFill>
                <a:latin typeface="BIZ UDPゴシック"/>
                <a:ea typeface="BIZ UDPゴシック"/>
                <a:cs typeface="BIZ UDPゴシック"/>
              </a:rPr>
              <a:t>How a future is shown can change follow-through even when the advice is identical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Limitations and next steps</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13</a:t>
            </a:fld>
          </a:p>
        </p:txBody>
      </p:sp>
      <p:sp>
        <p:nvSpPr>
          <p:cNvPr id="5" name="Rounded Rectangle 4"/>
          <p:cNvSpPr/>
          <p:nvPr/>
        </p:nvSpPr>
        <p:spPr>
          <a:xfrm>
            <a:off x="411480" y="1417320"/>
            <a:ext cx="4069080" cy="1554480"/>
          </a:xfrm>
          <a:prstGeom prst="roundRect">
            <a:avLst>
              <a:gd name="adj" fmla="val 5882"/>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57784" y="156362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hourglass_w.png"/>
          <p:cNvPicPr>
            <a:picLocks noChangeAspect="1"/>
          </p:cNvPicPr>
          <p:nvPr/>
        </p:nvPicPr>
        <p:blipFill>
          <a:blip r:embed="rId2"/>
          <a:stretch>
            <a:fillRect/>
          </a:stretch>
        </p:blipFill>
        <p:spPr>
          <a:xfrm>
            <a:off x="667512" y="1673352"/>
            <a:ext cx="237744" cy="237744"/>
          </a:xfrm>
          <a:prstGeom prst="rect">
            <a:avLst/>
          </a:prstGeom>
        </p:spPr>
      </p:pic>
      <p:sp>
        <p:nvSpPr>
          <p:cNvPr id="8" name="TextBox 7"/>
          <p:cNvSpPr txBox="1"/>
          <p:nvPr/>
        </p:nvSpPr>
        <p:spPr>
          <a:xfrm>
            <a:off x="1124712" y="153619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Short and small</a:t>
            </a:r>
          </a:p>
        </p:txBody>
      </p:sp>
      <p:sp>
        <p:nvSpPr>
          <p:cNvPr id="9" name="TextBox 8"/>
          <p:cNvSpPr txBox="1"/>
          <p:nvPr/>
        </p:nvSpPr>
        <p:spPr>
          <a:xfrm>
            <a:off x="576072" y="2112264"/>
            <a:ext cx="3776472" cy="76809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6 weeks, ≈65 per arm; habits take longer (median 66 days; Lally et al., 2010)</a:t>
            </a:r>
          </a:p>
        </p:txBody>
      </p:sp>
      <p:sp>
        <p:nvSpPr>
          <p:cNvPr id="10" name="Rounded Rectangle 9"/>
          <p:cNvSpPr/>
          <p:nvPr/>
        </p:nvSpPr>
        <p:spPr>
          <a:xfrm>
            <a:off x="4663440" y="1417320"/>
            <a:ext cx="4069080" cy="1554480"/>
          </a:xfrm>
          <a:prstGeom prst="roundRect">
            <a:avLst>
              <a:gd name="adj" fmla="val 5882"/>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809744" y="156362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layers_w.png"/>
          <p:cNvPicPr>
            <a:picLocks noChangeAspect="1"/>
          </p:cNvPicPr>
          <p:nvPr/>
        </p:nvPicPr>
        <p:blipFill>
          <a:blip r:embed="rId3"/>
          <a:stretch>
            <a:fillRect/>
          </a:stretch>
        </p:blipFill>
        <p:spPr>
          <a:xfrm>
            <a:off x="4919472" y="1673352"/>
            <a:ext cx="237744" cy="237744"/>
          </a:xfrm>
          <a:prstGeom prst="rect">
            <a:avLst/>
          </a:prstGeom>
        </p:spPr>
      </p:pic>
      <p:sp>
        <p:nvSpPr>
          <p:cNvPr id="13" name="TextBox 12"/>
          <p:cNvSpPr txBox="1"/>
          <p:nvPr/>
        </p:nvSpPr>
        <p:spPr>
          <a:xfrm>
            <a:off x="5376672" y="153619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Bundled features</a:t>
            </a:r>
          </a:p>
        </p:txBody>
      </p:sp>
      <p:sp>
        <p:nvSpPr>
          <p:cNvPr id="14" name="TextBox 13"/>
          <p:cNvSpPr txBox="1"/>
          <p:nvPr/>
        </p:nvSpPr>
        <p:spPr>
          <a:xfrm>
            <a:off x="4828032" y="2112264"/>
            <a:ext cx="3776472" cy="76809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Group C saw both avatars and dot counts; we cannot yet separate them</a:t>
            </a:r>
          </a:p>
        </p:txBody>
      </p:sp>
      <p:sp>
        <p:nvSpPr>
          <p:cNvPr id="15" name="Rounded Rectangle 14"/>
          <p:cNvSpPr/>
          <p:nvPr/>
        </p:nvSpPr>
        <p:spPr>
          <a:xfrm>
            <a:off x="411480" y="3108960"/>
            <a:ext cx="4069080" cy="1554480"/>
          </a:xfrm>
          <a:prstGeom prst="roundRect">
            <a:avLst>
              <a:gd name="adj" fmla="val 5882"/>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57784" y="325526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pen_w.png"/>
          <p:cNvPicPr>
            <a:picLocks noChangeAspect="1"/>
          </p:cNvPicPr>
          <p:nvPr/>
        </p:nvPicPr>
        <p:blipFill>
          <a:blip r:embed="rId4"/>
          <a:stretch>
            <a:fillRect/>
          </a:stretch>
        </p:blipFill>
        <p:spPr>
          <a:xfrm>
            <a:off x="667512" y="3364992"/>
            <a:ext cx="237744" cy="237744"/>
          </a:xfrm>
          <a:prstGeom prst="rect">
            <a:avLst/>
          </a:prstGeom>
        </p:spPr>
      </p:pic>
      <p:sp>
        <p:nvSpPr>
          <p:cNvPr id="18" name="TextBox 17"/>
          <p:cNvSpPr txBox="1"/>
          <p:nvPr/>
        </p:nvSpPr>
        <p:spPr>
          <a:xfrm>
            <a:off x="1124712" y="322783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Self-report</a:t>
            </a:r>
          </a:p>
        </p:txBody>
      </p:sp>
      <p:sp>
        <p:nvSpPr>
          <p:cNvPr id="19" name="TextBox 18"/>
          <p:cNvSpPr txBox="1"/>
          <p:nvPr/>
        </p:nvSpPr>
        <p:spPr>
          <a:xfrm>
            <a:off x="576072" y="3803904"/>
            <a:ext cx="3776472" cy="76809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Logs and WHO-5 are self-reported; physiological signals could complement them</a:t>
            </a:r>
          </a:p>
        </p:txBody>
      </p:sp>
      <p:sp>
        <p:nvSpPr>
          <p:cNvPr id="20" name="Rounded Rectangle 19"/>
          <p:cNvSpPr/>
          <p:nvPr/>
        </p:nvSpPr>
        <p:spPr>
          <a:xfrm>
            <a:off x="4663440" y="3108960"/>
            <a:ext cx="4069080" cy="1554480"/>
          </a:xfrm>
          <a:prstGeom prst="roundRect">
            <a:avLst>
              <a:gd name="adj" fmla="val 5882"/>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809744" y="325526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c_globe_w.png"/>
          <p:cNvPicPr>
            <a:picLocks noChangeAspect="1"/>
          </p:cNvPicPr>
          <p:nvPr/>
        </p:nvPicPr>
        <p:blipFill>
          <a:blip r:embed="rId5"/>
          <a:stretch>
            <a:fillRect/>
          </a:stretch>
        </p:blipFill>
        <p:spPr>
          <a:xfrm>
            <a:off x="4919472" y="3364992"/>
            <a:ext cx="237744" cy="237744"/>
          </a:xfrm>
          <a:prstGeom prst="rect">
            <a:avLst/>
          </a:prstGeom>
        </p:spPr>
      </p:pic>
      <p:sp>
        <p:nvSpPr>
          <p:cNvPr id="23" name="TextBox 22"/>
          <p:cNvSpPr txBox="1"/>
          <p:nvPr/>
        </p:nvSpPr>
        <p:spPr>
          <a:xfrm>
            <a:off x="5376672" y="322783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Sample</a:t>
            </a:r>
          </a:p>
        </p:txBody>
      </p:sp>
      <p:sp>
        <p:nvSpPr>
          <p:cNvPr id="24" name="TextBox 23"/>
          <p:cNvSpPr txBox="1"/>
          <p:nvPr/>
        </p:nvSpPr>
        <p:spPr>
          <a:xfrm>
            <a:off x="4828032" y="3803904"/>
            <a:ext cx="3776472" cy="76809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Mostly university students and women in Japan</a:t>
            </a:r>
          </a:p>
        </p:txBody>
      </p:sp>
      <p:sp>
        <p:nvSpPr>
          <p:cNvPr id="25" name="Rounded Rectangle 24"/>
          <p:cNvSpPr/>
          <p:nvPr/>
        </p:nvSpPr>
        <p:spPr>
          <a:xfrm>
            <a:off x="411480" y="4892040"/>
            <a:ext cx="8321040" cy="1280160"/>
          </a:xfrm>
          <a:prstGeom prst="roundRect">
            <a:avLst>
              <a:gd name="adj" fmla="val 8571"/>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937760"/>
            <a:ext cx="7772400" cy="1188720"/>
          </a:xfrm>
          <a:prstGeom prst="rect">
            <a:avLst/>
          </a:prstGeom>
          <a:noFill/>
        </p:spPr>
        <p:txBody>
          <a:bodyPr wrap="square" lIns="0" tIns="0" rIns="0" bIns="0" anchor="ctr">
            <a:noAutofit/>
          </a:bodyPr>
          <a:lstStyle/>
          <a:p>
            <a:pPr algn="l" marL="0" indent="0">
              <a:spcAft>
                <a:spcPts val="300"/>
              </a:spcAft>
              <a:buNone/>
            </a:pPr>
            <a:r>
              <a:rPr sz="1450" b="1">
                <a:solidFill>
                  <a:srgbClr val="0B3C6E"/>
                </a:solidFill>
                <a:latin typeface="BIZ UDPゴシック"/>
                <a:ea typeface="BIZ UDPゴシック"/>
                <a:cs typeface="BIZ UDPゴシック"/>
              </a:rPr>
              <a:t>Next: longer follow-up, factorial study of avatar vs. dots, and other domains (social media, gaming)</a:t>
            </a:r>
          </a:p>
          <a:p>
            <a:pPr algn="l" marL="0" indent="0">
              <a:spcAft>
                <a:spcPts val="400"/>
              </a:spcAft>
              <a:buNone/>
            </a:pPr>
            <a:r>
              <a:rPr sz="1250" b="0">
                <a:solidFill>
                  <a:srgbClr val="24303F"/>
                </a:solidFill>
                <a:latin typeface="BIZ UDPゴシック"/>
                <a:ea typeface="BIZ UDPゴシック"/>
                <a:cs typeface="BIZ UDPゴシック"/>
              </a:rPr>
              <a:t>Toward a sustainable fan economy with platform partners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Thank you!</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2027/3/8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14</a:t>
            </a:fld>
          </a:p>
        </p:txBody>
      </p:sp>
      <p:sp>
        <p:nvSpPr>
          <p:cNvPr id="5" name="Rounded Rectangle 4"/>
          <p:cNvSpPr/>
          <p:nvPr/>
        </p:nvSpPr>
        <p:spPr>
          <a:xfrm>
            <a:off x="411480" y="1417320"/>
            <a:ext cx="8321040" cy="4754880"/>
          </a:xfrm>
          <a:prstGeom prst="roundRect">
            <a:avLst>
              <a:gd name="adj" fmla="val 2692"/>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host_d14.png"/>
          <p:cNvPicPr>
            <a:picLocks noChangeAspect="1"/>
          </p:cNvPicPr>
          <p:nvPr/>
        </p:nvPicPr>
        <p:blipFill>
          <a:blip r:embed="rId2"/>
          <a:stretch>
            <a:fillRect/>
          </a:stretch>
        </p:blipFill>
        <p:spPr>
          <a:xfrm>
            <a:off x="594360" y="1828800"/>
            <a:ext cx="3657600" cy="2487168"/>
          </a:xfrm>
          <a:prstGeom prst="rect">
            <a:avLst/>
          </a:prstGeom>
        </p:spPr>
      </p:pic>
      <p:sp>
        <p:nvSpPr>
          <p:cNvPr id="7" name="TextBox 6"/>
          <p:cNvSpPr txBox="1"/>
          <p:nvPr/>
        </p:nvSpPr>
        <p:spPr>
          <a:xfrm>
            <a:off x="4434840" y="1645920"/>
            <a:ext cx="4023360" cy="4297680"/>
          </a:xfrm>
          <a:prstGeom prst="rect">
            <a:avLst/>
          </a:prstGeom>
          <a:noFill/>
        </p:spPr>
        <p:txBody>
          <a:bodyPr wrap="square" lIns="0" tIns="0" rIns="0" bIns="0" anchor="ctr">
            <a:noAutofit/>
          </a:bodyPr>
          <a:lstStyle/>
          <a:p>
            <a:pPr algn="l" marL="0" indent="0">
              <a:spcAft>
                <a:spcPts val="400"/>
              </a:spcAft>
              <a:buNone/>
            </a:pPr>
            <a:r>
              <a:rPr sz="3000" b="1">
                <a:solidFill>
                  <a:srgbClr val="FFFFFF"/>
                </a:solidFill>
                <a:latin typeface="BIZ UDPゴシック"/>
                <a:ea typeface="BIZ UDPゴシック"/>
                <a:cs typeface="BIZ UDPゴシック"/>
              </a:rPr>
              <a:t>OshiFit</a:t>
            </a:r>
          </a:p>
          <a:p>
            <a:pPr algn="l" marL="0" indent="0">
              <a:spcAft>
                <a:spcPts val="1400"/>
              </a:spcAft>
              <a:buNone/>
            </a:pPr>
            <a:r>
              <a:rPr sz="1400" b="0">
                <a:solidFill>
                  <a:srgbClr val="CCE9FF"/>
                </a:solidFill>
                <a:latin typeface="BIZ UDPゴシック"/>
                <a:ea typeface="BIZ UDPゴシック"/>
                <a:cs typeface="BIZ UDPゴシック"/>
              </a:rPr>
              <a:t>Possible-selves avatars for uncertainty-aware behavior change</a:t>
            </a:r>
          </a:p>
          <a:p>
            <a:pPr algn="l" marL="182880" indent="-182880">
              <a:spcAft>
                <a:spcPts val="600"/>
              </a:spcAft>
              <a:buClr>
                <a:srgbClr val="E8457C"/>
              </a:buClr>
              <a:buFont typeface="BIZ UDPゴシック"/>
              <a:buChar char="•"/>
            </a:pPr>
            <a:r>
              <a:rPr sz="1500" b="0">
                <a:solidFill>
                  <a:srgbClr val="FFFFFF"/>
                </a:solidFill>
                <a:latin typeface="BIZ UDPゴシック"/>
                <a:ea typeface="BIZ UDPゴシック"/>
                <a:cs typeface="BIZ UDPゴシック"/>
              </a:rPr>
              <a:t>Show the future honestly</a:t>
            </a:r>
          </a:p>
          <a:p>
            <a:pPr algn="l" marL="182880" indent="-182880">
              <a:spcAft>
                <a:spcPts val="600"/>
              </a:spcAft>
              <a:buClr>
                <a:srgbClr val="E8457C"/>
              </a:buClr>
              <a:buFont typeface="BIZ UDPゴシック"/>
              <a:buChar char="•"/>
            </a:pPr>
            <a:r>
              <a:rPr sz="1500" b="0">
                <a:solidFill>
                  <a:srgbClr val="FFFFFF"/>
                </a:solidFill>
                <a:latin typeface="BIZ UDPゴシック"/>
                <a:ea typeface="BIZ UDPゴシック"/>
                <a:cs typeface="BIZ UDPゴシック"/>
              </a:rPr>
              <a:t>Rebalance, don't restrict</a:t>
            </a:r>
          </a:p>
          <a:p>
            <a:pPr algn="l" marL="182880" indent="-182880">
              <a:spcAft>
                <a:spcPts val="1400"/>
              </a:spcAft>
              <a:buClr>
                <a:srgbClr val="E8457C"/>
              </a:buClr>
              <a:buFont typeface="BIZ UDPゴシック"/>
              <a:buChar char="•"/>
            </a:pPr>
            <a:r>
              <a:rPr sz="1500" b="0">
                <a:solidFill>
                  <a:srgbClr val="FFFFFF"/>
                </a:solidFill>
                <a:latin typeface="BIZ UDPゴシック"/>
                <a:ea typeface="BIZ UDPゴシック"/>
                <a:cs typeface="BIZ UDPゴシック"/>
              </a:rPr>
              <a:t>Let people choose</a:t>
            </a:r>
          </a:p>
          <a:p>
            <a:pPr algn="l" marL="0" indent="0">
              <a:spcAft>
                <a:spcPts val="600"/>
              </a:spcAft>
              <a:buNone/>
            </a:pPr>
            <a:r>
              <a:rPr sz="1250" b="0">
                <a:solidFill>
                  <a:srgbClr val="CCE9FF"/>
                </a:solidFill>
                <a:latin typeface="BIZ UDPゴシック"/>
                <a:ea typeface="BIZ UDPゴシック"/>
                <a:cs typeface="BIZ UDPゴシック"/>
              </a:rPr>
              <a:t>Gen Imai · Osaka Institute of Technology</a:t>
            </a:r>
          </a:p>
        </p:txBody>
      </p:sp>
    </p:spTree>
  </p:cSld>
  <p:clrMapOvr>
    <a:masterClrMapping/>
  </p:clrMapOvr>
</p:sld>
</file>

<file path=ppt/theme/theme1.xml><?xml version="1.0" encoding="utf-8"?>
<a:theme xmlns:a="http://schemas.openxmlformats.org/drawingml/2006/main" name="Office テーマ">
  <a:themeElements>
    <a:clrScheme name="ユーザー定義 3">
      <a:dk1>
        <a:sysClr val="windowText" lastClr="000000"/>
      </a:dk1>
      <a:lt1>
        <a:sysClr val="window" lastClr="FFFFFF"/>
      </a:lt1>
      <a:dk2>
        <a:srgbClr val="44546A"/>
      </a:dk2>
      <a:lt2>
        <a:srgbClr val="E7E6E6"/>
      </a:lt2>
      <a:accent1>
        <a:srgbClr val="0099FF"/>
      </a:accent1>
      <a:accent2>
        <a:srgbClr val="00CC66"/>
      </a:accent2>
      <a:accent3>
        <a:srgbClr val="9999FF"/>
      </a:accent3>
      <a:accent4>
        <a:srgbClr val="ED7D31"/>
      </a:accent4>
      <a:accent5>
        <a:srgbClr val="FF99CC"/>
      </a:accent5>
      <a:accent6>
        <a:srgbClr val="CCFF66"/>
      </a:accent6>
      <a:hlink>
        <a:srgbClr val="0563C1"/>
      </a:hlink>
      <a:folHlink>
        <a:srgbClr val="954F72"/>
      </a:folHlink>
    </a:clrScheme>
    <a:fontScheme name="mixlab">
      <a:majorFont>
        <a:latin typeface="BIZ UDPゴシック"/>
        <a:ea typeface="BIZ UDPゴシック"/>
        <a:cs typeface=""/>
      </a:majorFont>
      <a:minorFont>
        <a:latin typeface="BIZ UDPゴシック"/>
        <a:ea typeface="BIZ UDP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プレゼンテーション1" id="{71DAD71D-71F1-4879-AA29-AD68469550B8}" vid="{C503FC9E-2328-42BB-94CD-380D52093789}"/>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4E6AF0D829D43D49B1E81D8F4BBE5B7D" ma:contentTypeVersion="10" ma:contentTypeDescription="新しいドキュメントを作成します。" ma:contentTypeScope="" ma:versionID="5539ab1a2f6c3bdbf31c7c5cd0f154e8">
  <xsd:schema xmlns:xsd="http://www.w3.org/2001/XMLSchema" xmlns:xs="http://www.w3.org/2001/XMLSchema" xmlns:p="http://schemas.microsoft.com/office/2006/metadata/properties" xmlns:ns3="827dca8b-9b89-463d-9c0f-8f583314a21a" targetNamespace="http://schemas.microsoft.com/office/2006/metadata/properties" ma:root="true" ma:fieldsID="0abcb71c8026bc76d3643389aaf979a1" ns3:_="">
    <xsd:import namespace="827dca8b-9b89-463d-9c0f-8f583314a21a"/>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27dca8b-9b89-463d-9c0f-8f583314a21a"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827dca8b-9b89-463d-9c0f-8f583314a21a" xsi:nil="true"/>
  </documentManagement>
</p:properties>
</file>

<file path=customXml/itemProps1.xml><?xml version="1.0" encoding="utf-8"?>
<ds:datastoreItem xmlns:ds="http://schemas.openxmlformats.org/officeDocument/2006/customXml" ds:itemID="{7243403C-11AC-4F64-B63B-092045F9CB2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27dca8b-9b89-463d-9c0f-8f583314a2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1FAF0C7-D3A2-4F0D-85B6-FC2608B86CAE}">
  <ds:schemaRefs>
    <ds:schemaRef ds:uri="http://schemas.microsoft.com/sharepoint/v3/contenttype/forms"/>
  </ds:schemaRefs>
</ds:datastoreItem>
</file>

<file path=customXml/itemProps3.xml><?xml version="1.0" encoding="utf-8"?>
<ds:datastoreItem xmlns:ds="http://schemas.openxmlformats.org/officeDocument/2006/customXml" ds:itemID="{C64F4103-916A-4822-B22D-C96AE4A255CF}">
  <ds:schemaRefs>
    <ds:schemaRef ds:uri="http://schemas.microsoft.com/office/2006/metadata/properties"/>
    <ds:schemaRef ds:uri="827dca8b-9b89-463d-9c0f-8f583314a21a"/>
    <ds:schemaRef ds:uri="http://purl.org/dc/terms/"/>
    <ds:schemaRef ds:uri="http://schemas.microsoft.com/office/infopath/2007/PartnerControls"/>
    <ds:schemaRef ds:uri="http://purl.org/dc/dcmitype/"/>
    <ds:schemaRef ds:uri="http://schemas.openxmlformats.org/package/2006/metadata/core-properties"/>
    <ds:schemaRef ds:uri="http://www.w3.org/XML/1998/namespace"/>
    <ds:schemaRef ds:uri="http://schemas.microsoft.com/office/2006/documentManagement/types"/>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mixlab_jp(4-3)</Template>
  <TotalTime>12</TotalTime>
  <Words>546</Words>
  <Application>Microsoft Office PowerPoint</Application>
  <PresentationFormat>画面に合わせる (4:3)</PresentationFormat>
  <Paragraphs>60</Paragraphs>
  <Slides>8</Slides>
  <Notes>1</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8</vt:i4>
      </vt:variant>
    </vt:vector>
  </HeadingPairs>
  <TitlesOfParts>
    <vt:vector size="11" baseType="lpstr">
      <vt:lpstr>游ゴシック</vt:lpstr>
      <vt:lpstr>Arial</vt:lpstr>
      <vt:lpstr>Office テーマ</vt:lpstr>
      <vt:lpstr>進捗報告2026/07/03</vt:lpstr>
      <vt:lpstr>進捗</vt:lpstr>
      <vt:lpstr>PowerPoint プレゼンテーション</vt:lpstr>
      <vt:lpstr>SEM分析（パス解析）のモデル構築</vt:lpstr>
      <vt:lpstr>進捗</vt:lpstr>
      <vt:lpstr>進捗</vt:lpstr>
      <vt:lpstr>進捗</vt:lpstr>
      <vt:lpstr>進捗</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OshiFit — ACM CHIIR 2027</dc:title>
  <dc:creator>Gen Imai</dc:creator>
  <cp:lastModifiedBy>今井　元</cp:lastModifiedBy>
  <cp:revision>1</cp:revision>
  <dcterms:created xsi:type="dcterms:W3CDTF">2026-07-03T00:39:04Z</dcterms:created>
  <dcterms:modified xsi:type="dcterms:W3CDTF">2026-07-03T00:51:52Z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0x0101004E6AF0D829D43D49B1E81D8F4BBE5B7D</vt:lpwstr>
  </property>
</Properties>
</file>