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 id="269"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Path coefficients (personality |β| ≤ .21)</a:t>
            </a:r>
          </a:p>
        </c:rich>
      </c:tx>
      <c:layout/>
      <c:overlay val="0"/>
    </c:title>
    <c:autoTitleDeleted val="0"/>
    <c:plotArea>
      <c:barChart>
        <c:barDir val="col"/>
        <c:grouping val="clustered"/>
        <c:ser>
          <c:idx val="0"/>
          <c:order val="0"/>
          <c:tx>
            <c:strRef>
              <c:f>Sheet1!$B$1</c:f>
              <c:strCache>
                <c:ptCount val="1"/>
                <c:pt idx="0">
                  <c:v>β</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E07A10"/>
              </a:solidFill>
            </c:spPr>
          </c:dPt>
          <c:dPt>
            <c:idx val="3"/>
            <c:spPr>
              <a:solidFill>
                <a:srgbClr val="E07A10"/>
              </a:solidFill>
            </c:spPr>
          </c:dPt>
          <c:cat>
            <c:strRef>
              <c:f>Sheet1!$A$2:$A$5</c:f>
              <c:strCache>
                <c:ptCount val="4"/>
                <c:pt idx="0">
                  <c:v>Frequency
→ Fulfil</c:v>
                </c:pt>
                <c:pt idx="1">
                  <c:v>Immersion
→ Fulfil</c:v>
                </c:pt>
                <c:pt idx="2">
                  <c:v>Frequency
→ Fatigue</c:v>
                </c:pt>
                <c:pt idx="3">
                  <c:v>Immersion
→ Fatigue</c:v>
                </c:pt>
              </c:strCache>
            </c:strRef>
          </c:cat>
          <c:val>
            <c:numRef>
              <c:f>Sheet1!$B$2:$B$5</c:f>
              <c:numCache>
                <c:formatCode>General</c:formatCode>
                <c:ptCount val="4"/>
                <c:pt idx="0">
                  <c:v>0.43</c:v>
                </c:pt>
                <c:pt idx="1">
                  <c:v>0.2</c:v>
                </c:pt>
                <c:pt idx="2">
                  <c:v>0.29</c:v>
                </c:pt>
                <c:pt idx="3">
                  <c:v>0.23</c:v>
                </c:pt>
              </c:numCache>
            </c:numRef>
          </c:val>
        </c:ser>
        <c:dLbls>
          <c:numFmt formatCode="0.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0.5"/>
          <c:min val="0.0"/>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1"/>
      </c:valAx>
    </c:plotArea>
    <c:dispBlanksAs val="gap"/>
  </c:chart>
  <c:txPr>
    <a:bodyPr/>
    <a:lstStyle/>
    <a:p>
      <a:pPr>
        <a:defRPr sz="1100">
          <a:solidFill>
            <a:srgbClr val="5A66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More people want MORE than less</a:t>
            </a:r>
          </a:p>
        </c:rich>
      </c:tx>
      <c:layout/>
      <c:overlay val="0"/>
    </c:title>
    <c:autoTitleDeleted val="0"/>
    <c:plotArea>
      <c:barChart>
        <c:barDir val="bar"/>
        <c:grouping val="clustered"/>
        <c:ser>
          <c:idx val="0"/>
          <c:order val="0"/>
          <c:tx>
            <c:strRef>
              <c:f>Sheet1!$B$1</c:f>
              <c:strCache>
                <c:ptCount val="1"/>
                <c:pt idx="0">
                  <c:v>share</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E07A10"/>
              </a:solidFill>
            </c:spPr>
          </c:dPt>
          <c:cat>
            <c:strRef>
              <c:f>Sheet1!$A$2:$A$4</c:f>
              <c:strCache>
                <c:ptCount val="3"/>
                <c:pt idx="0">
                  <c:v>Want more live events</c:v>
                </c:pt>
                <c:pt idx="1">
                  <c:v>Want more goods</c:v>
                </c:pt>
                <c:pt idx="2">
                  <c:v>Want less social media</c:v>
                </c:pt>
              </c:strCache>
            </c:strRef>
          </c:cat>
          <c:val>
            <c:numRef>
              <c:f>Sheet1!$B$2:$B$4</c:f>
              <c:numCache>
                <c:formatCode>General</c:formatCode>
                <c:ptCount val="3"/>
                <c:pt idx="0">
                  <c:v>39</c:v>
                </c:pt>
                <c:pt idx="1">
                  <c:v>36</c:v>
                </c:pt>
                <c:pt idx="2">
                  <c:v>22</c:v>
                </c:pt>
              </c:numCache>
            </c:numRef>
          </c:val>
        </c:ser>
        <c:dLbls>
          <c:numFmt formatCode="0&quot;%&quot;"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50.0"/>
          <c:min val="0.0"/>
        </c:scaling>
        <c:delete val="0"/>
        <c:axPos val="b"/>
        <c:majorGridlines>
          <c:spPr>
            <a:ln w="9525">
              <a:solidFill>
                <a:srgbClr val="E3E8EF"/>
              </a:solidFill>
            </a:ln>
          </c:spPr>
        </c:majorGridlines>
        <c:numFmt formatCode="0&quot;%&quot;" sourceLinked="0"/>
        <c:majorTickMark val="out"/>
        <c:minorTickMark val="none"/>
        <c:tickLblPos val="none"/>
        <c:spPr>
          <a:ln>
            <a:noFill/>
          </a:ln>
        </c:spPr>
        <c:txPr>
          <a:bodyPr/>
          <a:lstStyle/>
          <a:p>
            <a:pPr>
              <a:defRPr sz="1050">
                <a:solidFill>
                  <a:srgbClr val="5A6676"/>
                </a:solidFill>
              </a:defRPr>
            </a:pPr>
          </a:p>
        </c:txPr>
        <c:crossAx val="-2068027336"/>
        <c:crosses val="autoZero"/>
      </c:valAx>
    </c:plotArea>
    <c:dispBlanksAs val="gap"/>
  </c:chart>
  <c:txPr>
    <a:bodyPr/>
    <a:lstStyle/>
    <a:p>
      <a:pPr>
        <a:defRPr sz="1100">
          <a:solidFill>
            <a:srgbClr val="5A66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0B3C6E"/>
                </a:solidFill>
              </a:rPr>
              <a:t>Three Pareto-optimal options (example)</a:t>
            </a:r>
          </a:p>
        </c:rich>
      </c:tx>
      <c:layout/>
      <c:overlay val="0"/>
    </c:title>
    <c:plotArea>
      <c:scatterChart>
        <c:scatterStyle val="lineMarker"/>
        <c:varyColors val="0"/>
        <c:ser>
          <c:idx val="0"/>
          <c:order val="0"/>
          <c:tx>
            <c:strRef>
              <c:f>Sheet1!$B$1</c:f>
              <c:strCache>
                <c:ptCount val="1"/>
                <c:pt idx="0">
                  <c:v>As is</c:v>
                </c:pt>
              </c:strCache>
            </c:strRef>
          </c:tx>
          <c:spPr>
            <a:ln w="47625">
              <a:noFill/>
            </a:ln>
          </c:spPr>
          <c:marker>
            <c:symbol val="circle"/>
            <c:size val="15"/>
            <c:spPr>
              <a:solidFill>
                <a:srgbClr val="E07A10"/>
              </a:solidFill>
              <a:ln>
                <a:solidFill>
                  <a:srgbClr val="FFFFFF"/>
                </a:solidFill>
              </a:ln>
            </c:spPr>
          </c:marker>
          <c:dLbls>
            <c:dLbl>
              <c:idx val="0"/>
              <c:tx>
                <c:rich>
                  <a:bodyPr/>
                  <a:lstStyle/>
                  <a:p>
                    <a:r>
                      <a:rPr sz="1100" b="1">
                        <a:solidFill>
                          <a:srgbClr val="E07A10"/>
                        </a:solidFill>
                      </a:rPr>
                      <a:t>As is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c:f>
              <c:numCache>
                <c:formatCode>General</c:formatCode>
                <c:ptCount val="1"/>
                <c:pt idx="0">
                  <c:v>3.5</c:v>
                </c:pt>
              </c:numCache>
            </c:numRef>
          </c:xVal>
          <c:yVal>
            <c:numRef>
              <c:f>Sheet1!$B$2:$B$2</c:f>
              <c:numCache>
                <c:formatCode>General</c:formatCode>
                <c:ptCount val="1"/>
                <c:pt idx="0">
                  <c:v>3.6</c:v>
                </c:pt>
              </c:numCache>
            </c:numRef>
          </c:yVal>
          <c:smooth val="0"/>
        </c:ser>
        <c:ser>
          <c:idx val="1"/>
          <c:order val="1"/>
          <c:tx>
            <c:strRef>
              <c:f>Sheet1!$B$4</c:f>
              <c:strCache>
                <c:ptCount val="1"/>
                <c:pt idx="0">
                  <c:v>① Keep-the-joy</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① Keep-the-joy</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Sheet1!$A$5:$A$5</c:f>
              <c:numCache>
                <c:formatCode>General</c:formatCode>
                <c:ptCount val="1"/>
                <c:pt idx="0">
                  <c:v>3.1</c:v>
                </c:pt>
              </c:numCache>
            </c:numRef>
          </c:xVal>
          <c:yVal>
            <c:numRef>
              <c:f>Sheet1!$B$5:$B$5</c:f>
              <c:numCache>
                <c:formatCode>General</c:formatCode>
                <c:ptCount val="1"/>
                <c:pt idx="0">
                  <c:v>3.6</c:v>
                </c:pt>
              </c:numCache>
            </c:numRef>
          </c:yVal>
          <c:smooth val="0"/>
        </c:ser>
        <c:ser>
          <c:idx val="2"/>
          <c:order val="2"/>
          <c:tx>
            <c:strRef>
              <c:f>Sheet1!$B$7</c:f>
              <c:strCache>
                <c:ptCount val="1"/>
                <c:pt idx="0">
                  <c:v>② Balanced</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② Balanced</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Sheet1!$A$8:$A$8</c:f>
              <c:numCache>
                <c:formatCode>General</c:formatCode>
                <c:ptCount val="1"/>
                <c:pt idx="0">
                  <c:v>3.3</c:v>
                </c:pt>
              </c:numCache>
            </c:numRef>
          </c:xVal>
          <c:yVal>
            <c:numRef>
              <c:f>Sheet1!$B$8:$B$8</c:f>
              <c:numCache>
                <c:formatCode>General</c:formatCode>
                <c:ptCount val="1"/>
                <c:pt idx="0">
                  <c:v>3.8</c:v>
                </c:pt>
              </c:numCache>
            </c:numRef>
          </c:yVal>
          <c:smooth val="0"/>
        </c:ser>
        <c:ser>
          <c:idx val="3"/>
          <c:order val="3"/>
          <c:tx>
            <c:strRef>
              <c:f>Sheet1!$B$10</c:f>
              <c:strCache>
                <c:ptCount val="1"/>
                <c:pt idx="0">
                  <c:v>③ Recovery-first</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③ Recovery-first</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Sheet1!$A$11:$A$11</c:f>
              <c:numCache>
                <c:formatCode>General</c:formatCode>
                <c:ptCount val="1"/>
                <c:pt idx="0">
                  <c:v>2.8</c:v>
                </c:pt>
              </c:numCache>
            </c:numRef>
          </c:xVal>
          <c:yVal>
            <c:numRef>
              <c:f>Sheet1!$B$11:$B$11</c:f>
              <c:numCache>
                <c:formatCode>General</c:formatCode>
                <c:ptCount val="1"/>
                <c:pt idx="0">
                  <c:v>3.4</c:v>
                </c:pt>
              </c:numCache>
            </c:numRef>
          </c:yVal>
          <c:smooth val="0"/>
        </c:ser>
        <c:axId val="-2128940872"/>
        <c:axId val="-2129643912"/>
      </c:scatterChart>
      <c:valAx>
        <c:axId val="-2128940872"/>
        <c:scaling>
          <c:orientation val="minMax"/>
          <c:max val="3.8"/>
          <c:min val="2.6"/>
        </c:scaling>
        <c:delete val="0"/>
        <c:axPos val="b"/>
        <c:majorGridlines>
          <c:spPr>
            <a:ln>
              <a:solidFill>
                <a:srgbClr val="E3E8EF"/>
              </a:solidFill>
            </a:ln>
          </c:spPr>
        </c:majorGridlines>
        <c:title>
          <c:tx>
            <c:rich>
              <a:bodyPr/>
              <a:lstStyle/>
              <a:p>
                <a:r>
                  <a:rPr sz="1100" b="1">
                    <a:solidFill>
                      <a:srgbClr val="0B3C6E"/>
                    </a:solidFill>
                  </a:rPr>
                  <a:t>Predicted fatigue (lower is better)</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9643912"/>
        <c:crosses val="autoZero"/>
        <c:crossBetween val="midCat"/>
        <c:majorUnit val="0.2"/>
      </c:valAx>
      <c:valAx>
        <c:axId val="-2129643912"/>
        <c:scaling>
          <c:orientation val="minMax"/>
          <c:max val="4.0"/>
          <c:min val="3.2"/>
        </c:scaling>
        <c:delete val="0"/>
        <c:axPos val="l"/>
        <c:majorGridlines>
          <c:spPr>
            <a:ln>
              <a:solidFill>
                <a:srgbClr val="E3E8EF"/>
              </a:solidFill>
            </a:ln>
          </c:spPr>
        </c:majorGridlines>
        <c:title>
          <c:tx>
            <c:rich>
              <a:bodyPr/>
              <a:lstStyle/>
              <a:p>
                <a:r>
                  <a:rPr sz="1100" b="1">
                    <a:solidFill>
                      <a:srgbClr val="0B3C6E"/>
                    </a:solidFill>
                  </a:rPr>
                  <a:t>Predicted fulfilment</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8940872"/>
        <c:crosses val="autoZero"/>
        <c:crossBetween val="midCat"/>
        <c:majorUnit val="0.2"/>
      </c:valAx>
    </c:plotArea>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Followed through on the chosen proposal (%)</a:t>
            </a:r>
          </a:p>
        </c:rich>
      </c:tx>
      <c:layout/>
      <c:overlay val="0"/>
    </c:title>
    <c:autoTitleDeleted val="0"/>
    <c:plotArea>
      <c:lineChart>
        <c:grouping val="standard"/>
        <c:varyColors val="0"/>
        <c:ser>
          <c:idx val="0"/>
          <c:order val="0"/>
          <c:tx>
            <c:strRef>
              <c:f>Sheet1!$B$1</c:f>
              <c:strCache>
                <c:ptCount val="1"/>
                <c:pt idx="0">
                  <c:v>B: Text</c:v>
                </c:pt>
              </c:strCache>
            </c:strRef>
          </c:tx>
          <c:spPr>
            <a:ln w="31750">
              <a:solidFill>
                <a:srgbClr val="0099FF"/>
              </a:solidFill>
            </a:ln>
          </c:spPr>
          <c:marker>
            <c:symbol val="circle"/>
            <c:size val="7"/>
            <c:spPr>
              <a:solidFill>
                <a:srgbClr val="0099FF"/>
              </a:solidFill>
              <a:ln>
                <a:solidFill>
                  <a:srgbClr val="0099FF"/>
                </a:solidFill>
              </a:ln>
            </c:spPr>
          </c:marker>
          <c:dLbls>
            <c:numFmt formatCode="0" sourceLinked="0"/>
            <c:txPr>
              <a:bodyPr/>
              <a:lstStyle/>
              <a:p>
                <a:pPr>
                  <a:defRPr sz="1000" b="1">
                    <a:solidFill>
                      <a:srgbClr val="0099FF"/>
                    </a:solidFill>
                  </a:defRPr>
                </a:pPr>
              </a:p>
            </c:txPr>
            <c:dLblPos val="t"/>
            <c:showLegendKey val="0"/>
            <c:showVal val="1"/>
            <c:showCatName val="0"/>
            <c:showSerName val="0"/>
            <c:showPercent val="0"/>
            <c:showBubbleSize val="0"/>
            <c:showLeaderLines val="1"/>
          </c:dLbls>
          <c:cat>
            <c:strRef>
              <c:f>Sheet1!$A$2:$A$5</c:f>
              <c:strCache>
                <c:ptCount val="4"/>
                <c:pt idx="0">
                  <c:v>Wk 3</c:v>
                </c:pt>
                <c:pt idx="1">
                  <c:v>Wk 4</c:v>
                </c:pt>
                <c:pt idx="2">
                  <c:v>Wk 5</c:v>
                </c:pt>
                <c:pt idx="3">
                  <c:v>Wk 6</c:v>
                </c:pt>
              </c:strCache>
            </c:strRef>
          </c:cat>
          <c:val>
            <c:numRef>
              <c:f>Sheet1!$B$2:$B$5</c:f>
              <c:numCache>
                <c:formatCode>General</c:formatCode>
                <c:ptCount val="4"/>
                <c:pt idx="0">
                  <c:v>54</c:v>
                </c:pt>
                <c:pt idx="1">
                  <c:v>49</c:v>
                </c:pt>
                <c:pt idx="2">
                  <c:v>46</c:v>
                </c:pt>
                <c:pt idx="3">
                  <c:v>44</c:v>
                </c:pt>
              </c:numCache>
            </c:numRef>
          </c:val>
          <c:smooth val="0"/>
        </c:ser>
        <c:ser>
          <c:idx val="1"/>
          <c:order val="1"/>
          <c:tx>
            <c:strRef>
              <c:f>Sheet1!$C$1</c:f>
              <c:strCache>
                <c:ptCount val="1"/>
                <c:pt idx="0">
                  <c:v>C: + Avatar</c:v>
                </c:pt>
              </c:strCache>
            </c:strRef>
          </c:tx>
          <c:spPr>
            <a:ln w="31750">
              <a:solidFill>
                <a:srgbClr val="12A38A"/>
              </a:solidFill>
            </a:ln>
          </c:spPr>
          <c:marker>
            <c:symbol val="circle"/>
            <c:size val="7"/>
            <c:spPr>
              <a:solidFill>
                <a:srgbClr val="12A38A"/>
              </a:solidFill>
              <a:ln>
                <a:solidFill>
                  <a:srgbClr val="12A38A"/>
                </a:solidFill>
              </a:ln>
            </c:spPr>
          </c:marker>
          <c:dLbls>
            <c:numFmt formatCode="0" sourceLinked="0"/>
            <c:txPr>
              <a:bodyPr/>
              <a:lstStyle/>
              <a:p>
                <a:pPr>
                  <a:defRPr sz="1000" b="1">
                    <a:solidFill>
                      <a:srgbClr val="12A38A"/>
                    </a:solidFill>
                  </a:defRPr>
                </a:pPr>
              </a:p>
            </c:txPr>
            <c:dLblPos val="t"/>
            <c:showLegendKey val="0"/>
            <c:showVal val="1"/>
            <c:showCatName val="0"/>
            <c:showSerName val="0"/>
            <c:showPercent val="0"/>
            <c:showBubbleSize val="0"/>
            <c:showLeaderLines val="1"/>
          </c:dLbls>
          <c:cat>
            <c:strRef>
              <c:f>Sheet1!$A$2:$A$5</c:f>
              <c:strCache>
                <c:ptCount val="4"/>
                <c:pt idx="0">
                  <c:v>Wk 3</c:v>
                </c:pt>
                <c:pt idx="1">
                  <c:v>Wk 4</c:v>
                </c:pt>
                <c:pt idx="2">
                  <c:v>Wk 5</c:v>
                </c:pt>
                <c:pt idx="3">
                  <c:v>Wk 6</c:v>
                </c:pt>
              </c:strCache>
            </c:strRef>
          </c:cat>
          <c:val>
            <c:numRef>
              <c:f>Sheet1!$C$2:$C$5</c:f>
              <c:numCache>
                <c:formatCode>General</c:formatCode>
                <c:ptCount val="4"/>
                <c:pt idx="0">
                  <c:v>63</c:v>
                </c:pt>
                <c:pt idx="1">
                  <c:v>61</c:v>
                </c:pt>
                <c:pt idx="2">
                  <c:v>58</c:v>
                </c:pt>
                <c:pt idx="3">
                  <c:v>57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70.0"/>
          <c:min val="3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WHO-5 (raw 0–25)</a:t>
            </a:r>
          </a:p>
        </c:rich>
      </c:tx>
      <c:layout/>
      <c:overlay val="0"/>
    </c:title>
    <c:autoTitleDeleted val="0"/>
    <c:plotArea>
      <c:lineChart>
        <c:grouping val="standard"/>
        <c:varyColors val="0"/>
        <c:ser>
          <c:idx val="0"/>
          <c:order val="0"/>
          <c:tx>
            <c:strRef>
              <c:f>Sheet1!$B$1</c:f>
              <c:strCache>
                <c:ptCount val="1"/>
                <c:pt idx="0">
                  <c:v>A</c:v>
                </c:pt>
              </c:strCache>
            </c:strRef>
          </c:tx>
          <c:spPr>
            <a:ln w="31750">
              <a:solidFill>
                <a:srgbClr val="8FA3B8"/>
              </a:solidFill>
            </a:ln>
          </c:spPr>
          <c:marker>
            <c:symbol val="circle"/>
            <c:size val="7"/>
            <c:spPr>
              <a:solidFill>
                <a:srgbClr val="8FA3B8"/>
              </a:solidFill>
              <a:ln>
                <a:solidFill>
                  <a:srgbClr val="8FA3B8"/>
                </a:solidFill>
              </a:ln>
            </c:spPr>
          </c:marker>
          <c:dLbls>
            <c:dLbl>
              <c:idx val="3"/>
              <c:numFmt formatCode="0.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Wk 0</c:v>
                </c:pt>
                <c:pt idx="1">
                  <c:v>Wk 2</c:v>
                </c:pt>
                <c:pt idx="2">
                  <c:v>Wk 4</c:v>
                </c:pt>
                <c:pt idx="3">
                  <c:v>Wk 6</c:v>
                </c:pt>
              </c:strCache>
            </c:strRef>
          </c:cat>
          <c:val>
            <c:numRef>
              <c:f>Sheet1!$B$2:$B$5</c:f>
              <c:numCache>
                <c:formatCode>General</c:formatCode>
                <c:ptCount val="4"/>
                <c:pt idx="0">
                  <c:v>13.0</c:v>
                </c:pt>
                <c:pt idx="1">
                  <c:v>13.2</c:v>
                </c:pt>
                <c:pt idx="2">
                  <c:v>13.1</c:v>
                </c:pt>
                <c:pt idx="3">
                  <c:v>13.0</c:v>
                </c:pt>
              </c:numCache>
            </c:numRef>
          </c:val>
          <c:smooth val="0"/>
        </c:ser>
        <c:ser>
          <c:idx val="1"/>
          <c:order val="1"/>
          <c:tx>
            <c:strRef>
              <c:f>Sheet1!$C$1</c:f>
              <c:strCache>
                <c:ptCount val="1"/>
                <c:pt idx="0">
                  <c:v>B</c:v>
                </c:pt>
              </c:strCache>
            </c:strRef>
          </c:tx>
          <c:spPr>
            <a:ln w="31750">
              <a:solidFill>
                <a:srgbClr val="0099FF"/>
              </a:solidFill>
            </a:ln>
          </c:spPr>
          <c:marker>
            <c:symbol val="circle"/>
            <c:size val="7"/>
            <c:spPr>
              <a:solidFill>
                <a:srgbClr val="0099FF"/>
              </a:solidFill>
              <a:ln>
                <a:solidFill>
                  <a:srgbClr val="0099FF"/>
                </a:solidFill>
              </a:ln>
            </c:spPr>
          </c:marker>
          <c:dLbls>
            <c:dLbl>
              <c:idx val="3"/>
              <c:numFmt formatCode="0.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Wk 0</c:v>
                </c:pt>
                <c:pt idx="1">
                  <c:v>Wk 2</c:v>
                </c:pt>
                <c:pt idx="2">
                  <c:v>Wk 4</c:v>
                </c:pt>
                <c:pt idx="3">
                  <c:v>Wk 6</c:v>
                </c:pt>
              </c:strCache>
            </c:strRef>
          </c:cat>
          <c:val>
            <c:numRef>
              <c:f>Sheet1!$C$2:$C$5</c:f>
              <c:numCache>
                <c:formatCode>General</c:formatCode>
                <c:ptCount val="4"/>
                <c:pt idx="0">
                  <c:v>13.2</c:v>
                </c:pt>
                <c:pt idx="1">
                  <c:v>13.1</c:v>
                </c:pt>
                <c:pt idx="2">
                  <c:v>13.6</c:v>
                </c:pt>
                <c:pt idx="3">
                  <c:v>13.8</c:v>
                </c:pt>
              </c:numCache>
            </c:numRef>
          </c:val>
          <c:smooth val="0"/>
        </c:ser>
        <c:ser>
          <c:idx val="2"/>
          <c:order val="2"/>
          <c:tx>
            <c:strRef>
              <c:f>Sheet1!$D$1</c:f>
              <c:strCache>
                <c:ptCount val="1"/>
                <c:pt idx="0">
                  <c:v>C</c:v>
                </c:pt>
              </c:strCache>
            </c:strRef>
          </c:tx>
          <c:spPr>
            <a:ln w="31750">
              <a:solidFill>
                <a:srgbClr val="12A38A"/>
              </a:solidFill>
            </a:ln>
          </c:spPr>
          <c:marker>
            <c:symbol val="circle"/>
            <c:size val="7"/>
            <c:spPr>
              <a:solidFill>
                <a:srgbClr val="12A38A"/>
              </a:solidFill>
              <a:ln>
                <a:solidFill>
                  <a:srgbClr val="12A38A"/>
                </a:solidFill>
              </a:ln>
            </c:spPr>
          </c:marker>
          <c:dLbls>
            <c:dLbl>
              <c:idx val="3"/>
              <c:numFmt formatCode="0.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Wk 0</c:v>
                </c:pt>
                <c:pt idx="1">
                  <c:v>Wk 2</c:v>
                </c:pt>
                <c:pt idx="2">
                  <c:v>Wk 4</c:v>
                </c:pt>
                <c:pt idx="3">
                  <c:v>Wk 6</c:v>
                </c:pt>
              </c:strCache>
            </c:strRef>
          </c:cat>
          <c:val>
            <c:numRef>
              <c:f>Sheet1!$D$2:$D$5</c:f>
              <c:numCache>
                <c:formatCode>General</c:formatCode>
                <c:ptCount val="4"/>
                <c:pt idx="0">
                  <c:v>13.1</c:v>
                </c:pt>
                <c:pt idx="1">
                  <c:v>13.3</c:v>
                </c:pt>
                <c:pt idx="2">
                  <c:v>14.2</c:v>
                </c:pt>
                <c:pt idx="3">
                  <c:v>14.7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5.5"/>
          <c:min val="12.0"/>
        </c:scaling>
        <c:delete val="0"/>
        <c:axPos val="l"/>
        <c:majorGridlines>
          <c:spPr>
            <a:ln w="9525">
              <a:solidFill>
                <a:srgbClr val="E3E8EF"/>
              </a:solidFill>
            </a:ln>
          </c:spPr>
        </c:majorGridlines>
        <c:numFmt formatCode="0.0" sourceLinked="0"/>
        <c:majorTickMark val="out"/>
        <c:minorTickMark val="none"/>
        <c:tickLblPos val="nextTo"/>
        <c:spPr>
          <a:ln>
            <a:noFill/>
          </a:ln>
        </c:spPr>
        <c:txPr>
          <a:bodyPr/>
          <a:lstStyle/>
          <a:p>
            <a:pPr>
              <a:defRPr sz="1050">
                <a:solidFill>
                  <a:srgbClr val="5A6676"/>
                </a:solidFill>
              </a:defRPr>
            </a:pPr>
          </a:p>
        </c:txPr>
        <c:crossAx val="2118791784"/>
        <c:crosses val="autoZero"/>
        <c:majorUnit val="0.5"/>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Weekly logging rate (%)</a:t>
            </a:r>
          </a:p>
        </c:rich>
      </c:tx>
      <c:layout/>
      <c:overlay val="0"/>
    </c:title>
    <c:autoTitleDeleted val="0"/>
    <c:plotArea>
      <c:lineChart>
        <c:grouping val="standard"/>
        <c:varyColors val="0"/>
        <c:ser>
          <c:idx val="0"/>
          <c:order val="0"/>
          <c:tx>
            <c:strRef>
              <c:f>Sheet1!$B$1</c:f>
              <c:strCache>
                <c:ptCount val="1"/>
                <c:pt idx="0">
                  <c:v>A</c:v>
                </c:pt>
              </c:strCache>
            </c:strRef>
          </c:tx>
          <c:spPr>
            <a:ln w="31750">
              <a:solidFill>
                <a:srgbClr val="8FA3B8"/>
              </a:solidFill>
            </a:ln>
          </c:spPr>
          <c:marker>
            <c:symbol val="circle"/>
            <c:size val="7"/>
            <c:spPr>
              <a:solidFill>
                <a:srgbClr val="8FA3B8"/>
              </a:solidFill>
              <a:ln>
                <a:solidFill>
                  <a:srgbClr val="8FA3B8"/>
                </a:solidFill>
              </a:ln>
            </c:spPr>
          </c:marker>
          <c:dLbls>
            <c:dLbl>
              <c:idx val="5"/>
              <c:numFmt formatCode="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91</c:v>
                </c:pt>
                <c:pt idx="1">
                  <c:v>87</c:v>
                </c:pt>
                <c:pt idx="2">
                  <c:v>82</c:v>
                </c:pt>
                <c:pt idx="3">
                  <c:v>78</c:v>
                </c:pt>
                <c:pt idx="4">
                  <c:v>74</c:v>
                </c:pt>
                <c:pt idx="5">
                  <c:v>71</c:v>
                </c:pt>
              </c:numCache>
            </c:numRef>
          </c:val>
          <c:smooth val="0"/>
        </c:ser>
        <c:ser>
          <c:idx val="1"/>
          <c:order val="1"/>
          <c:tx>
            <c:strRef>
              <c:f>Sheet1!$C$1</c:f>
              <c:strCache>
                <c:ptCount val="1"/>
                <c:pt idx="0">
                  <c:v>B</c:v>
                </c:pt>
              </c:strCache>
            </c:strRef>
          </c:tx>
          <c:spPr>
            <a:ln w="31750">
              <a:solidFill>
                <a:srgbClr val="0099FF"/>
              </a:solidFill>
            </a:ln>
          </c:spPr>
          <c:marker>
            <c:symbol val="circle"/>
            <c:size val="7"/>
            <c:spPr>
              <a:solidFill>
                <a:srgbClr val="0099FF"/>
              </a:solidFill>
              <a:ln>
                <a:solidFill>
                  <a:srgbClr val="0099FF"/>
                </a:solidFill>
              </a:ln>
            </c:spPr>
          </c:marker>
          <c:dLbls>
            <c:dLbl>
              <c:idx val="5"/>
              <c:numFmt formatCode="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90</c:v>
                </c:pt>
                <c:pt idx="1">
                  <c:v>88</c:v>
                </c:pt>
                <c:pt idx="2">
                  <c:v>84</c:v>
                </c:pt>
                <c:pt idx="3">
                  <c:v>81</c:v>
                </c:pt>
                <c:pt idx="4">
                  <c:v>78</c:v>
                </c:pt>
                <c:pt idx="5">
                  <c:v>75</c:v>
                </c:pt>
              </c:numCache>
            </c:numRef>
          </c:val>
          <c:smooth val="0"/>
        </c:ser>
        <c:ser>
          <c:idx val="2"/>
          <c:order val="2"/>
          <c:tx>
            <c:strRef>
              <c:f>Sheet1!$D$1</c:f>
              <c:strCache>
                <c:ptCount val="1"/>
                <c:pt idx="0">
                  <c:v>C</c:v>
                </c:pt>
              </c:strCache>
            </c:strRef>
          </c:tx>
          <c:spPr>
            <a:ln w="31750">
              <a:solidFill>
                <a:srgbClr val="12A38A"/>
              </a:solidFill>
            </a:ln>
          </c:spPr>
          <c:marker>
            <c:symbol val="circle"/>
            <c:size val="7"/>
            <c:spPr>
              <a:solidFill>
                <a:srgbClr val="12A38A"/>
              </a:solidFill>
              <a:ln>
                <a:solidFill>
                  <a:srgbClr val="12A38A"/>
                </a:solidFill>
              </a:ln>
            </c:spPr>
          </c:marker>
          <c:dLbls>
            <c:dLbl>
              <c:idx val="5"/>
              <c:numFmt formatCode="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5</c:v>
                </c:pt>
                <c:pt idx="5">
                  <c:v>6</c:v>
                </c:pt>
              </c:strCache>
            </c:strRef>
          </c:cat>
          <c:val>
            <c:numRef>
              <c:f>Sheet1!$D$2:$D$7</c:f>
              <c:numCache>
                <c:formatCode>General</c:formatCode>
                <c:ptCount val="6"/>
                <c:pt idx="0">
                  <c:v>91</c:v>
                </c:pt>
                <c:pt idx="1">
                  <c:v>88</c:v>
                </c:pt>
                <c:pt idx="2">
                  <c:v>87</c:v>
                </c:pt>
                <c:pt idx="3">
                  <c:v>86</c:v>
                </c:pt>
                <c:pt idx="4">
                  <c:v>84</c:v>
                </c:pt>
                <c:pt idx="5">
                  <c:v>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00.0"/>
          <c:min val="6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Hi, I'm Gen Imai from Osaka Institute of Technology. Today I'll present OshiFit, a system that shows people possible futures of their fan activities, honestly including uncertainty, to support behavior change without taking the joy away.</a:t>
            </a:r>
          </a:p>
          <a:p/>
          <a:p>
            <a:r>
              <a:t>[訳]</a:t>
            </a:r>
          </a:p>
          <a:p>
            <a:r>
              <a:t>大阪工業大学の今井元です。推し活の将来の見込みを、不確かさも含めて正直に見せることで、楽しさを奪わずに行動変容を支えるシステムOshiFitについて発表します。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Oshi-katsu means passionately supporting your favorite idol or character. It is now a huge culture in Japan: a market estimated at 3.8 trillion yen, with about one in three people involved. It can bring purpose and better mental health. But there is a dark side called fandom fatigue: overspending, comparing yourself with other fans, and burnout from obligation.</a:t>
            </a:r>
          </a:p>
          <a:p/>
          <a:p>
            <a:r>
              <a:t>[訳]</a:t>
            </a:r>
          </a:p>
          <a:p>
            <a:r>
              <a:t>推し活は、推しのアイドルやキャラクターを熱心に応援することです。市場規模は約3.8兆円、国民の約3人に1人が行う文化になり、生きがいや精神的健康にもつながります。一方で、使いすぎ、他のファンとの比較、義務感による燃え尽きといった「推し疲れ」が問題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We first surveyed 215 fans. About 80 percent said their oshi is their reason to live, yet 40 percent worried about money and 30 percent lost sleep. Activity frequency and immersion predicted both fulfilment and fatigue, and 27 percent were high in both. Also, more people wanted to do more, not less. So simply telling fans to cut back would take away the joy.</a:t>
            </a:r>
          </a:p>
          <a:p/>
          <a:p>
            <a:r>
              <a:t>[訳]</a:t>
            </a:r>
          </a:p>
          <a:p>
            <a:r>
              <a:t>215名の予備調査では、約8割が推しを生きがいと答える一方、約4割が出費に不安、約3割が睡眠に支障を感じていました。頻度と没入は充実と疲れの両方を予測し、両方高い人が27%いました。また、減らしたい人より増やしたい人が多く、「減らせ」という支援では楽しさを奪ってしま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creates a design challenge. Our forecasts are noisy: R-squared is .27 for fulfilment and only .11 for fatigue. Showing a single confident future self would overclaim. We made three design moves: personalize the forecast, show the uncertainty, and rebalance rather than restrict.</a:t>
            </a:r>
          </a:p>
          <a:p/>
          <a:p>
            <a:r>
              <a:t>[訳]</a:t>
            </a:r>
          </a:p>
          <a:p>
            <a:r>
              <a:t>ここに設計上の課題があります。予測の説明率は充実で.27、疲れでは.11にとどまります。1つの確定した未来の自分を見せるのは言い過ぎです。そこで、予測の個人化、不確かさの提示、そして減らすのではなく組み替える提案、という3つの設計を行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the system. Inputs are a 1-minute personality test, a 30-second daily log, and the user's own wishes. The Bayesian twin updates every night, the rebalance engine proposes three options, and the Future Mirror shows 'as is' next to 'with the proposal'. Strong distress signals pause the forecasts and show help resources.</a:t>
            </a:r>
          </a:p>
          <a:p/>
          <a:p>
            <a:r>
              <a:t>[訳]</a:t>
            </a:r>
          </a:p>
          <a:p>
            <a:r>
              <a:t>システムの全体像です。入力は1分の性格検査、毎日30秒の記録、本人の希望です。ベイズ個人ツインが毎晩更新され、リバランス提案エンジンが3案を出し、みらいミラーで「今のまま」と「提案どおり」を並べます。強いつらさが見られる場合は予測を止め、相談先を表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Our key idea is the possible-selves avatar. Instead of one face, we draw 20 futures from the forecast distribution and overlay five versions of your look-alike avatar. With few logs, your future self is blurry; as you log, the selves converge and your future becomes sharper. The blur is honest about uncertainty, and the growing resolution gives a reason to keep logging.</a:t>
            </a:r>
          </a:p>
          <a:p/>
          <a:p>
            <a:r>
              <a:t>[訳]</a:t>
            </a:r>
          </a:p>
          <a:p>
            <a:r>
              <a:t>中心となるアイデアがゆらぎアバターです。1つの顔ではなく、予測分布から20通りの未来を引き、自分に似たアバターを5体重ねて描きます。記録が少ないうちは未来の自分がぼやけ、記録が増えると重なりが収束してくっきりします。ぼやけは不確かさに正直であり、解像度が上がることは記録を続ける理由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Proposals rebalance rather than restrict. We generate 98 candidates by nudging up to two of seven activities, drop any that cut what the user wants more of, and keep the Pareto front. The user picks one of three options, or skips the week.</a:t>
            </a:r>
          </a:p>
          <a:p/>
          <a:p>
            <a:r>
              <a:t>[訳]</a:t>
            </a:r>
          </a:p>
          <a:p>
            <a:r>
              <a:t>提案は「減らす」ではなく「組み替える」ものです。7つの活動のうち最大2つを1段階動かした98案を作り、本人が増やしたい活動を減らす案を除いて、パレート最適な案を残します。本人は3案から1つを選ぶか、その週は見送ること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a week with OshiFit. Every day you log your fan activities in about 30 seconds. Once a week you pick a proposal. In the avatar condition, you also see the Future Mirror, comparing 'as is' with 'with the proposal', including how many of 20 possible futures end up highly fatigued.</a:t>
            </a:r>
          </a:p>
          <a:p/>
          <a:p>
            <a:r>
              <a:t>[訳]</a:t>
            </a:r>
          </a:p>
          <a:p>
            <a:r>
              <a:t>OshiFitの1週間です。毎日約30秒で推し活を記録し、週に1回提案を選びます。アバター群では、みらいミラーで「今のまま」と「提案どおり」を比べ、20通りの未来のうち何通りが疲れ高めになるかも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We ran a six-week randomized controlled trial with three arms. Everyone logged for two weeks, then we randomized, stratified by WHO-5. Groups B and C received identical proposals; only group C saw the forecasts and the possible-selves avatar. The primary outcome was WHO-5 well-being at week six.</a:t>
            </a:r>
          </a:p>
          <a:p/>
          <a:p>
            <a:r>
              <a:t>[訳]</a:t>
            </a:r>
          </a:p>
          <a:p>
            <a:r>
              <a:t>6週間・3群の無作為化比較実験を行いました。全員が2週間記録したあと、WHO-5で層別して割り付けました。群Bと群Cの提案は同じで、群Cだけが予測とゆらぎアバターを見ます。主要評価は6週時点のWHO-5です。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Since submitting the paper, we completed the study with 197 participants. Group C followed through on proposals more often than group B in every week, with an odds ratio of 1.71. The proposals were identical, so the difference comes from how the future was shown. Personalization also reduced forecast error, and the 80 percent intervals were roughly honest.</a:t>
            </a:r>
          </a:p>
          <a:p/>
          <a:p>
            <a:r>
              <a:t>[訳]</a:t>
            </a:r>
          </a:p>
          <a:p>
            <a:r>
              <a:t>論文投稿後、197名で実験を完了しました。群Cはすべての週で群Bより提案を多く実行し、オッズ比は1.71でした。提案は同じなので、差は未来の見せ方によるものです。個人補正で予測誤差も減り、80%区間もおおむね正直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well-being, the effect was small. WHO-5 rose most in group C, but the primary comparisons were not significant after Holm correction. Importantly, enjoyment did not drop in any group, and group C kept logging at higher rates, which suggests that future-self resolution works as a motivator, although this is exploratory.</a:t>
            </a:r>
          </a:p>
          <a:p/>
          <a:p>
            <a:r>
              <a:t>[訳]</a:t>
            </a:r>
          </a:p>
          <a:p>
            <a:r>
              <a:t>ウェルビーイングへの効果は小さいものでした。WHO-5は群Cで最も上がりましたが、主要な比較はHolm補正後に有意ではありませんでした。重要なのは、どの群でも楽しさが下がらなかったこと、そして群Cの記録率が高く保たれたことです。未来の解像度が動機になった可能性がありますが、探索的な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Three implications for designers. First, make uncertainty a feature, not a footnote. Second, in domains without one right answer, rebalance rather than restrict. Third, the same advice framed through a possible future self can change what people actually do.</a:t>
            </a:r>
          </a:p>
          <a:p/>
          <a:p>
            <a:r>
              <a:t>[訳]</a:t>
            </a:r>
          </a:p>
          <a:p>
            <a:r>
              <a:t>設計者への示唆は3つです。1つ目は、不確かさを注釈ではなく機能にすること。2つ目は、正解が1つではない領域では、制限ではなく組み替えること。3つ目は、同じ助言でも未来の自分を通して見せると実際の行動が変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There are limitations: the study was short and modest in size, the avatar and dot displays were bundled, outcomes were self-reported, and the sample was mostly students. Next, we plan a longer follow-up and a factorial study that separates avatars from dot counts.</a:t>
            </a:r>
          </a:p>
          <a:p/>
          <a:p>
            <a:r>
              <a:t>[訳]</a:t>
            </a:r>
          </a:p>
          <a:p>
            <a:r>
              <a:t>限界として、期間と規模が小さいこと、アバターと点の表示を同時に見せたこと、自己報告であること、参加者が学生中心であることが挙げられます。今後は長期の追跡と、アバターと点の表示を切り分ける実験を計画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 summarize: show the future honestly, rebalance rather than restrict, and let people choose. Thank you, and I'm happy to take questions.</a:t>
            </a:r>
          </a:p>
          <a:p/>
          <a:p>
            <a:r>
              <a:t>[訳]</a:t>
            </a:r>
          </a:p>
          <a:p>
            <a:r>
              <a:t>まとめると、未来を正直に見せること、制限ではなく組み替えること、そして本人に選んでもらうことです。ご清聴ありがとうございました。質問をお受けします。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5115503"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1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12.png"/><Relationship Id="rId5" Type="http://schemas.openxmlformats.org/officeDocument/2006/relationships/image" Target="../media/image28.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2100" b="0">
                <a:solidFill>
                  <a:srgbClr val="24303F"/>
                </a:solidFill>
              </a:rPr>
              <a:t>OshiFit: Possible-Selves Avatars for</a:t>
            </a:r>
          </a:p>
          <a:p>
            <a:pPr algn="ctr" marL="0" indent="0">
              <a:spcAft>
                <a:spcPts val="0"/>
              </a:spcAft>
              <a:buNone/>
            </a:pPr>
            <a:r>
              <a:rPr sz="2100" b="0">
                <a:solidFill>
                  <a:srgbClr val="24303F"/>
                </a:solidFill>
              </a:rPr>
              <a:t>Uncertainty-Aware Behavior Change in Fan Activities</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rPr>
              <a:t>Gen Imai, Sho Ooi</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rPr>
              <a:t>ACM CHIIR 2027 · Short Paper</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rPr>
              <a:t>Osaka Institute of Technology</a:t>
            </a:r>
          </a:p>
          <a:p>
            <a:pPr algn="l" marL="0" indent="0">
              <a:spcAft>
                <a:spcPts val="200"/>
              </a:spcAft>
              <a:buNone/>
            </a:pPr>
            <a:r>
              <a:rPr sz="1400" b="0">
                <a:solidFill>
                  <a:srgbClr val="24303F"/>
                </a:solidFill>
              </a:rPr>
              <a:t>Media Interaction Laboratory</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1800" b="1">
                <a:solidFill>
                  <a:srgbClr val="FFFFFF"/>
                </a:solidFill>
              </a:rPr>
              <a:t>Show the future honestly —</a:t>
            </a:r>
          </a:p>
          <a:p>
            <a:pPr algn="l" marL="0" indent="0">
              <a:lnSpc>
                <a:spcPct val="105000"/>
              </a:lnSpc>
              <a:spcAft>
                <a:spcPts val="600"/>
              </a:spcAft>
              <a:buNone/>
            </a:pPr>
            <a:r>
              <a:rPr sz="1500" b="0">
                <a:solidFill>
                  <a:srgbClr val="FFFFFF"/>
                </a:solidFill>
              </a:rPr>
              <a:t>and let people choose how to love what they love</a:t>
            </a:r>
          </a:p>
        </p:txBody>
      </p:sp>
      <p:pic>
        <p:nvPicPr>
          <p:cNvPr id="7" name="Picture 6" descr="ghost_d14.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Oshi-katsu: a booming fan culture</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2</a:t>
            </a:fld>
          </a:p>
        </p:txBody>
      </p:sp>
      <p:sp>
        <p:nvSpPr>
          <p:cNvPr id="5" name="Rounded Rectangle 4"/>
          <p:cNvSpPr/>
          <p:nvPr/>
        </p:nvSpPr>
        <p:spPr>
          <a:xfrm>
            <a:off x="411480" y="1417320"/>
            <a:ext cx="2697480" cy="2148840"/>
          </a:xfrm>
          <a:prstGeom prst="roundRect">
            <a:avLst>
              <a:gd name="adj" fmla="val 510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536192"/>
            <a:ext cx="2514600" cy="914400"/>
          </a:xfrm>
          <a:prstGeom prst="rect">
            <a:avLst/>
          </a:prstGeom>
          <a:noFill/>
        </p:spPr>
        <p:txBody>
          <a:bodyPr wrap="square" lIns="0" tIns="0" rIns="0" bIns="0" anchor="ctr">
            <a:noAutofit/>
          </a:bodyPr>
          <a:lstStyle/>
          <a:p>
            <a:pPr algn="ctr" marL="0" indent="0">
              <a:spcAft>
                <a:spcPts val="400"/>
              </a:spcAft>
              <a:buNone/>
            </a:pPr>
            <a:r>
              <a:rPr sz="3200" b="1">
                <a:solidFill>
                  <a:srgbClr val="E8457C"/>
                </a:solidFill>
              </a:rPr>
              <a:t>¥3.8T</a:t>
            </a:r>
          </a:p>
        </p:txBody>
      </p:sp>
      <p:sp>
        <p:nvSpPr>
          <p:cNvPr id="7" name="TextBox 6"/>
          <p:cNvSpPr txBox="1"/>
          <p:nvPr/>
        </p:nvSpPr>
        <p:spPr>
          <a:xfrm>
            <a:off x="594360" y="2514600"/>
            <a:ext cx="2331720" cy="960120"/>
          </a:xfrm>
          <a:prstGeom prst="rect">
            <a:avLst/>
          </a:prstGeom>
          <a:noFill/>
        </p:spPr>
        <p:txBody>
          <a:bodyPr wrap="square" lIns="0" tIns="0" rIns="0" bIns="0" anchor="t">
            <a:noAutofit/>
          </a:bodyPr>
          <a:lstStyle/>
          <a:p>
            <a:pPr algn="ctr" marL="0" indent="0">
              <a:spcAft>
                <a:spcPts val="400"/>
              </a:spcAft>
              <a:buNone/>
            </a:pPr>
            <a:r>
              <a:rPr sz="1300" b="0">
                <a:solidFill>
                  <a:srgbClr val="24303F"/>
                </a:solidFill>
              </a:rPr>
              <a:t>estimated market for fan activities in Japan (NRI, 2025)</a:t>
            </a:r>
          </a:p>
        </p:txBody>
      </p:sp>
      <p:sp>
        <p:nvSpPr>
          <p:cNvPr id="8" name="Rounded Rectangle 7"/>
          <p:cNvSpPr/>
          <p:nvPr/>
        </p:nvSpPr>
        <p:spPr>
          <a:xfrm>
            <a:off x="3218688" y="1417320"/>
            <a:ext cx="2697480" cy="2148840"/>
          </a:xfrm>
          <a:prstGeom prst="roundRect">
            <a:avLst>
              <a:gd name="adj" fmla="val 510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10128" y="1536192"/>
            <a:ext cx="2514600" cy="914400"/>
          </a:xfrm>
          <a:prstGeom prst="rect">
            <a:avLst/>
          </a:prstGeom>
          <a:noFill/>
        </p:spPr>
        <p:txBody>
          <a:bodyPr wrap="square" lIns="0" tIns="0" rIns="0" bIns="0" anchor="ctr">
            <a:noAutofit/>
          </a:bodyPr>
          <a:lstStyle/>
          <a:p>
            <a:pPr algn="ctr" marL="0" indent="0">
              <a:spcAft>
                <a:spcPts val="400"/>
              </a:spcAft>
              <a:buNone/>
            </a:pPr>
            <a:r>
              <a:rPr sz="3200" b="1">
                <a:solidFill>
                  <a:srgbClr val="0099FF"/>
                </a:solidFill>
              </a:rPr>
              <a:t>1 in 3</a:t>
            </a:r>
          </a:p>
        </p:txBody>
      </p:sp>
      <p:sp>
        <p:nvSpPr>
          <p:cNvPr id="10" name="TextBox 9"/>
          <p:cNvSpPr txBox="1"/>
          <p:nvPr/>
        </p:nvSpPr>
        <p:spPr>
          <a:xfrm>
            <a:off x="3401568" y="2514600"/>
            <a:ext cx="2331720" cy="960120"/>
          </a:xfrm>
          <a:prstGeom prst="rect">
            <a:avLst/>
          </a:prstGeom>
          <a:noFill/>
        </p:spPr>
        <p:txBody>
          <a:bodyPr wrap="square" lIns="0" tIns="0" rIns="0" bIns="0" anchor="t">
            <a:noAutofit/>
          </a:bodyPr>
          <a:lstStyle/>
          <a:p>
            <a:pPr algn="ctr" marL="0" indent="0">
              <a:spcAft>
                <a:spcPts val="400"/>
              </a:spcAft>
              <a:buNone/>
            </a:pPr>
            <a:r>
              <a:rPr sz="1300" b="0">
                <a:solidFill>
                  <a:srgbClr val="24303F"/>
                </a:solidFill>
              </a:rPr>
              <a:t>people in Japan engage in oshi-katsu</a:t>
            </a:r>
          </a:p>
        </p:txBody>
      </p:sp>
      <p:sp>
        <p:nvSpPr>
          <p:cNvPr id="11" name="Rounded Rectangle 10"/>
          <p:cNvSpPr/>
          <p:nvPr/>
        </p:nvSpPr>
        <p:spPr>
          <a:xfrm>
            <a:off x="6025896" y="1417320"/>
            <a:ext cx="2697480" cy="2148840"/>
          </a:xfrm>
          <a:prstGeom prst="roundRect">
            <a:avLst>
              <a:gd name="adj" fmla="val 510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17336" y="1536192"/>
            <a:ext cx="2514600" cy="914400"/>
          </a:xfrm>
          <a:prstGeom prst="rect">
            <a:avLst/>
          </a:prstGeom>
          <a:noFill/>
        </p:spPr>
        <p:txBody>
          <a:bodyPr wrap="square" lIns="0" tIns="0" rIns="0" bIns="0" anchor="ctr">
            <a:noAutofit/>
          </a:bodyPr>
          <a:lstStyle/>
          <a:p>
            <a:pPr algn="ctr" marL="0" indent="0">
              <a:spcAft>
                <a:spcPts val="400"/>
              </a:spcAft>
              <a:buNone/>
            </a:pPr>
            <a:r>
              <a:rPr sz="2600" b="1">
                <a:solidFill>
                  <a:srgbClr val="12A38A"/>
                </a:solidFill>
              </a:rPr>
              <a:t>Well-being</a:t>
            </a:r>
          </a:p>
        </p:txBody>
      </p:sp>
      <p:sp>
        <p:nvSpPr>
          <p:cNvPr id="13" name="TextBox 12"/>
          <p:cNvSpPr txBox="1"/>
          <p:nvPr/>
        </p:nvSpPr>
        <p:spPr>
          <a:xfrm>
            <a:off x="6208776" y="2514600"/>
            <a:ext cx="2331720" cy="960120"/>
          </a:xfrm>
          <a:prstGeom prst="rect">
            <a:avLst/>
          </a:prstGeom>
          <a:noFill/>
        </p:spPr>
        <p:txBody>
          <a:bodyPr wrap="square" lIns="0" tIns="0" rIns="0" bIns="0" anchor="t">
            <a:noAutofit/>
          </a:bodyPr>
          <a:lstStyle/>
          <a:p>
            <a:pPr algn="ctr" marL="0" indent="0">
              <a:spcAft>
                <a:spcPts val="400"/>
              </a:spcAft>
              <a:buNone/>
            </a:pPr>
            <a:r>
              <a:rPr sz="1300" b="0">
                <a:solidFill>
                  <a:srgbClr val="24303F"/>
                </a:solidFill>
              </a:rPr>
              <a:t>fan activities can foster purpose and mental health</a:t>
            </a:r>
          </a:p>
        </p:txBody>
      </p:sp>
      <p:sp>
        <p:nvSpPr>
          <p:cNvPr id="14" name="Rounded Rectangle 13"/>
          <p:cNvSpPr/>
          <p:nvPr/>
        </p:nvSpPr>
        <p:spPr>
          <a:xfrm>
            <a:off x="411480" y="3749039"/>
            <a:ext cx="8321040" cy="2423160"/>
          </a:xfrm>
          <a:prstGeom prst="roundRect">
            <a:avLst>
              <a:gd name="adj" fmla="val 4528"/>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5800" y="3840480"/>
            <a:ext cx="4206240" cy="2240280"/>
          </a:xfrm>
          <a:prstGeom prst="rect">
            <a:avLst/>
          </a:prstGeom>
          <a:noFill/>
        </p:spPr>
        <p:txBody>
          <a:bodyPr wrap="square" lIns="0" tIns="0" rIns="0" bIns="0" anchor="ctr">
            <a:noAutofit/>
          </a:bodyPr>
          <a:lstStyle/>
          <a:p>
            <a:pPr algn="l" marL="0" indent="0">
              <a:spcAft>
                <a:spcPts val="800"/>
              </a:spcAft>
              <a:buNone/>
            </a:pPr>
            <a:r>
              <a:rPr sz="1800" b="1">
                <a:solidFill>
                  <a:srgbClr val="FFFFFF"/>
                </a:solidFill>
              </a:rPr>
              <a:t>…but also “fandom fatigue”</a:t>
            </a:r>
          </a:p>
          <a:p>
            <a:pPr algn="l" marL="182880" indent="-182880">
              <a:spcAft>
                <a:spcPts val="400"/>
              </a:spcAft>
              <a:buClr>
                <a:srgbClr val="E8457C"/>
              </a:buClr>
              <a:buFont typeface="Arial"/>
              <a:buChar char="•"/>
            </a:pPr>
            <a:r>
              <a:rPr sz="1400" b="0">
                <a:solidFill>
                  <a:srgbClr val="FFFFFF"/>
                </a:solidFill>
              </a:rPr>
              <a:t>Overspending money and time</a:t>
            </a:r>
          </a:p>
          <a:p>
            <a:pPr algn="l" marL="182880" indent="-182880">
              <a:spcAft>
                <a:spcPts val="400"/>
              </a:spcAft>
              <a:buClr>
                <a:srgbClr val="E8457C"/>
              </a:buClr>
              <a:buFont typeface="Arial"/>
              <a:buChar char="•"/>
            </a:pPr>
            <a:r>
              <a:rPr sz="1400" b="0">
                <a:solidFill>
                  <a:srgbClr val="FFFFFF"/>
                </a:solidFill>
              </a:rPr>
              <a:t>Comparing yourself with other fans on social media</a:t>
            </a:r>
          </a:p>
          <a:p>
            <a:pPr algn="l" marL="182880" indent="-182880">
              <a:spcAft>
                <a:spcPts val="400"/>
              </a:spcAft>
              <a:buClr>
                <a:srgbClr val="E8457C"/>
              </a:buClr>
              <a:buFont typeface="Arial"/>
              <a:buChar char="•"/>
            </a:pPr>
            <a:r>
              <a:rPr sz="1400" b="0">
                <a:solidFill>
                  <a:srgbClr val="FFFFFF"/>
                </a:solidFill>
              </a:rPr>
              <a:t>Burnout from a sense of obligation</a:t>
            </a:r>
          </a:p>
        </p:txBody>
      </p:sp>
      <p:pic>
        <p:nvPicPr>
          <p:cNvPr id="16" name="Picture 15" descr="av_money.png"/>
          <p:cNvPicPr>
            <a:picLocks noChangeAspect="1"/>
          </p:cNvPicPr>
          <p:nvPr/>
        </p:nvPicPr>
        <p:blipFill>
          <a:blip r:embed="rId2"/>
          <a:stretch>
            <a:fillRect/>
          </a:stretch>
        </p:blipFill>
        <p:spPr>
          <a:xfrm>
            <a:off x="4754880" y="4069080"/>
            <a:ext cx="1573306" cy="1783080"/>
          </a:xfrm>
          <a:prstGeom prst="rect">
            <a:avLst/>
          </a:prstGeom>
        </p:spPr>
      </p:pic>
      <p:pic>
        <p:nvPicPr>
          <p:cNvPr id="17" name="Picture 16" descr="av_compare.png"/>
          <p:cNvPicPr>
            <a:picLocks noChangeAspect="1"/>
          </p:cNvPicPr>
          <p:nvPr/>
        </p:nvPicPr>
        <p:blipFill>
          <a:blip r:embed="rId3"/>
          <a:stretch>
            <a:fillRect/>
          </a:stretch>
        </p:blipFill>
        <p:spPr>
          <a:xfrm>
            <a:off x="6080760" y="4069080"/>
            <a:ext cx="1573306" cy="1783080"/>
          </a:xfrm>
          <a:prstGeom prst="rect">
            <a:avLst/>
          </a:prstGeom>
        </p:spPr>
      </p:pic>
      <p:pic>
        <p:nvPicPr>
          <p:cNvPr id="18" name="Picture 17" descr="av_duty.png"/>
          <p:cNvPicPr>
            <a:picLocks noChangeAspect="1"/>
          </p:cNvPicPr>
          <p:nvPr/>
        </p:nvPicPr>
        <p:blipFill>
          <a:blip r:embed="rId4"/>
          <a:stretch>
            <a:fillRect/>
          </a:stretch>
        </p:blipFill>
        <p:spPr>
          <a:xfrm>
            <a:off x="7406640" y="4069080"/>
            <a:ext cx="1573306" cy="17830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Preliminary survey (N = 215)</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3</a:t>
            </a:fld>
          </a:p>
        </p:txBody>
      </p:sp>
      <p:sp>
        <p:nvSpPr>
          <p:cNvPr id="5" name="Rounded Rectangle 4"/>
          <p:cNvSpPr/>
          <p:nvPr/>
        </p:nvSpPr>
        <p:spPr>
          <a:xfrm>
            <a:off x="411480"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12A38A"/>
                </a:solidFill>
              </a:rPr>
              <a:t>~80%</a:t>
            </a:r>
          </a:p>
        </p:txBody>
      </p:sp>
      <p:sp>
        <p:nvSpPr>
          <p:cNvPr id="7" name="TextBox 6"/>
          <p:cNvSpPr txBox="1"/>
          <p:nvPr/>
        </p:nvSpPr>
        <p:spPr>
          <a:xfrm>
            <a:off x="457200" y="2212848"/>
            <a:ext cx="1207008" cy="502920"/>
          </a:xfrm>
          <a:prstGeom prst="rect">
            <a:avLst/>
          </a:prstGeom>
          <a:noFill/>
        </p:spPr>
        <p:txBody>
          <a:bodyPr wrap="square" lIns="0" tIns="0" rIns="0" bIns="0" anchor="t">
            <a:noAutofit/>
          </a:bodyPr>
          <a:lstStyle/>
          <a:p>
            <a:pPr algn="ctr" marL="0" indent="0">
              <a:spcAft>
                <a:spcPts val="400"/>
              </a:spcAft>
              <a:buNone/>
            </a:pPr>
            <a:r>
              <a:rPr sz="1100" b="0">
                <a:solidFill>
                  <a:srgbClr val="24303F"/>
                </a:solidFill>
              </a:rPr>
              <a:t>oshi = reason to live</a:t>
            </a:r>
          </a:p>
        </p:txBody>
      </p:sp>
      <p:sp>
        <p:nvSpPr>
          <p:cNvPr id="8" name="Rounded Rectangle 7"/>
          <p:cNvSpPr/>
          <p:nvPr/>
        </p:nvSpPr>
        <p:spPr>
          <a:xfrm>
            <a:off x="1801368"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01368"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E07A10"/>
                </a:solidFill>
              </a:rPr>
              <a:t>~40%</a:t>
            </a:r>
          </a:p>
        </p:txBody>
      </p:sp>
      <p:sp>
        <p:nvSpPr>
          <p:cNvPr id="10" name="TextBox 9"/>
          <p:cNvSpPr txBox="1"/>
          <p:nvPr/>
        </p:nvSpPr>
        <p:spPr>
          <a:xfrm>
            <a:off x="1847088" y="2212848"/>
            <a:ext cx="1207008" cy="502920"/>
          </a:xfrm>
          <a:prstGeom prst="rect">
            <a:avLst/>
          </a:prstGeom>
          <a:noFill/>
        </p:spPr>
        <p:txBody>
          <a:bodyPr wrap="square" lIns="0" tIns="0" rIns="0" bIns="0" anchor="t">
            <a:noAutofit/>
          </a:bodyPr>
          <a:lstStyle/>
          <a:p>
            <a:pPr algn="ctr" marL="0" indent="0">
              <a:spcAft>
                <a:spcPts val="400"/>
              </a:spcAft>
              <a:buNone/>
            </a:pPr>
            <a:r>
              <a:rPr sz="1100" b="0">
                <a:solidFill>
                  <a:srgbClr val="24303F"/>
                </a:solidFill>
              </a:rPr>
              <a:t>worry about money</a:t>
            </a:r>
          </a:p>
        </p:txBody>
      </p:sp>
      <p:sp>
        <p:nvSpPr>
          <p:cNvPr id="11" name="Rounded Rectangle 10"/>
          <p:cNvSpPr/>
          <p:nvPr/>
        </p:nvSpPr>
        <p:spPr>
          <a:xfrm>
            <a:off x="3191256"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91256"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7C6BC4"/>
                </a:solidFill>
              </a:rPr>
              <a:t>~30%</a:t>
            </a:r>
          </a:p>
        </p:txBody>
      </p:sp>
      <p:sp>
        <p:nvSpPr>
          <p:cNvPr id="13" name="TextBox 12"/>
          <p:cNvSpPr txBox="1"/>
          <p:nvPr/>
        </p:nvSpPr>
        <p:spPr>
          <a:xfrm>
            <a:off x="3236976" y="2212848"/>
            <a:ext cx="1207008" cy="502920"/>
          </a:xfrm>
          <a:prstGeom prst="rect">
            <a:avLst/>
          </a:prstGeom>
          <a:noFill/>
        </p:spPr>
        <p:txBody>
          <a:bodyPr wrap="square" lIns="0" tIns="0" rIns="0" bIns="0" anchor="t">
            <a:noAutofit/>
          </a:bodyPr>
          <a:lstStyle/>
          <a:p>
            <a:pPr algn="ctr" marL="0" indent="0">
              <a:spcAft>
                <a:spcPts val="400"/>
              </a:spcAft>
              <a:buNone/>
            </a:pPr>
            <a:r>
              <a:rPr sz="1100" b="0">
                <a:solidFill>
                  <a:srgbClr val="24303F"/>
                </a:solidFill>
              </a:rPr>
              <a:t>lose sleep</a:t>
            </a:r>
          </a:p>
        </p:txBody>
      </p:sp>
      <p:graphicFrame>
        <p:nvGraphicFramePr>
          <p:cNvPr id="14" name="Chart 13"/>
          <p:cNvGraphicFramePr>
            <a:graphicFrameLocks noGrp="1"/>
          </p:cNvGraphicFramePr>
          <p:nvPr/>
        </p:nvGraphicFramePr>
        <p:xfrm>
          <a:off x="411480" y="2926080"/>
          <a:ext cx="4069080" cy="3246120"/>
        </p:xfrm>
        <a:graphic>
          <a:graphicData uri="http://schemas.openxmlformats.org/drawingml/2006/chart">
            <c:chart xmlns:c="http://schemas.openxmlformats.org/drawingml/2006/chart" r:id="rId2"/>
          </a:graphicData>
        </a:graphic>
      </p:graphicFrame>
      <p:sp>
        <p:nvSpPr>
          <p:cNvPr id="15" name="Rounded Rectangle 14"/>
          <p:cNvSpPr/>
          <p:nvPr/>
        </p:nvSpPr>
        <p:spPr>
          <a:xfrm>
            <a:off x="4709160" y="1417320"/>
            <a:ext cx="4023360" cy="2148840"/>
          </a:xfrm>
          <a:prstGeom prst="roundRect">
            <a:avLst>
              <a:gd name="adj" fmla="val 5106"/>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892040" y="1463040"/>
            <a:ext cx="3657600" cy="2057400"/>
          </a:xfrm>
          <a:prstGeom prst="rect">
            <a:avLst/>
          </a:prstGeom>
          <a:noFill/>
        </p:spPr>
        <p:txBody>
          <a:bodyPr wrap="square" lIns="0" tIns="0" rIns="0" bIns="0" anchor="ctr">
            <a:noAutofit/>
          </a:bodyPr>
          <a:lstStyle/>
          <a:p>
            <a:pPr algn="l" marL="0" indent="0">
              <a:spcAft>
                <a:spcPts val="0"/>
              </a:spcAft>
              <a:buNone/>
            </a:pPr>
            <a:r>
              <a:rPr sz="3400" b="1">
                <a:solidFill>
                  <a:srgbClr val="E07A10"/>
                </a:solidFill>
              </a:rPr>
              <a:t>27%</a:t>
            </a:r>
          </a:p>
          <a:p>
            <a:pPr algn="l" marL="0" indent="0">
              <a:spcAft>
                <a:spcPts val="300"/>
              </a:spcAft>
              <a:buNone/>
            </a:pPr>
            <a:r>
              <a:rPr sz="1400" b="1">
                <a:solidFill>
                  <a:srgbClr val="0B3C6E"/>
                </a:solidFill>
              </a:rPr>
              <a:t>are high in BOTH fulfilment and fatigue</a:t>
            </a:r>
          </a:p>
          <a:p>
            <a:pPr algn="l" marL="0" indent="0">
              <a:spcAft>
                <a:spcPts val="400"/>
              </a:spcAft>
              <a:buNone/>
            </a:pPr>
            <a:r>
              <a:rPr sz="1250" b="0">
                <a:solidFill>
                  <a:srgbClr val="24303F"/>
                </a:solidFill>
              </a:rPr>
              <a:t>The same activities drive joy and exhaustion</a:t>
            </a:r>
          </a:p>
        </p:txBody>
      </p:sp>
      <p:graphicFrame>
        <p:nvGraphicFramePr>
          <p:cNvPr id="17" name="Chart 16"/>
          <p:cNvGraphicFramePr>
            <a:graphicFrameLocks noGrp="1"/>
          </p:cNvGraphicFramePr>
          <p:nvPr/>
        </p:nvGraphicFramePr>
        <p:xfrm>
          <a:off x="4709160" y="3703320"/>
          <a:ext cx="4023360" cy="246888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The challenge: noisy forecasts</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4</a:t>
            </a:fld>
          </a:p>
        </p:txBody>
      </p:sp>
      <p:sp>
        <p:nvSpPr>
          <p:cNvPr id="5" name="Rounded Rectangle 4"/>
          <p:cNvSpPr/>
          <p:nvPr/>
        </p:nvSpPr>
        <p:spPr>
          <a:xfrm>
            <a:off x="411480" y="1417320"/>
            <a:ext cx="832104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7772400" cy="109728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rPr>
              <a:t>Our forecast model explains R² = .27 of fulfilment and only R² = .11 of fatigue (±0.92 on a 5-point scale)</a:t>
            </a:r>
          </a:p>
          <a:p>
            <a:pPr algn="l" marL="0" indent="0">
              <a:spcAft>
                <a:spcPts val="400"/>
              </a:spcAft>
              <a:buNone/>
            </a:pPr>
            <a:r>
              <a:rPr sz="1300" b="0">
                <a:solidFill>
                  <a:srgbClr val="24303F"/>
                </a:solidFill>
              </a:rPr>
              <a:t>Showing one confident “future you” would overclaim — and could cause needless anxiety</a:t>
            </a:r>
          </a:p>
        </p:txBody>
      </p:sp>
      <p:sp>
        <p:nvSpPr>
          <p:cNvPr id="7" name="Rounded Rectangle 6"/>
          <p:cNvSpPr/>
          <p:nvPr/>
        </p:nvSpPr>
        <p:spPr>
          <a:xfrm>
            <a:off x="411480" y="2834640"/>
            <a:ext cx="2697480" cy="2331720"/>
          </a:xfrm>
          <a:prstGeom prst="roundRect">
            <a:avLst>
              <a:gd name="adj" fmla="val 392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57784" y="298094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c_user_w.png"/>
          <p:cNvPicPr>
            <a:picLocks noChangeAspect="1"/>
          </p:cNvPicPr>
          <p:nvPr/>
        </p:nvPicPr>
        <p:blipFill>
          <a:blip r:embed="rId2"/>
          <a:stretch>
            <a:fillRect/>
          </a:stretch>
        </p:blipFill>
        <p:spPr>
          <a:xfrm>
            <a:off x="667512" y="3090672"/>
            <a:ext cx="237744" cy="237744"/>
          </a:xfrm>
          <a:prstGeom prst="rect">
            <a:avLst/>
          </a:prstGeom>
        </p:spPr>
      </p:pic>
      <p:sp>
        <p:nvSpPr>
          <p:cNvPr id="10" name="TextBox 9"/>
          <p:cNvSpPr txBox="1"/>
          <p:nvPr/>
        </p:nvSpPr>
        <p:spPr>
          <a:xfrm>
            <a:off x="1124712" y="295351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Personalize</a:t>
            </a:r>
          </a:p>
        </p:txBody>
      </p:sp>
      <p:sp>
        <p:nvSpPr>
          <p:cNvPr id="11" name="TextBox 10"/>
          <p:cNvSpPr txBox="1"/>
          <p:nvPr/>
        </p:nvSpPr>
        <p:spPr>
          <a:xfrm>
            <a:off x="576072" y="3529584"/>
            <a:ext cx="2404872" cy="1545335"/>
          </a:xfrm>
          <a:prstGeom prst="rect">
            <a:avLst/>
          </a:prstGeom>
          <a:noFill/>
        </p:spPr>
        <p:txBody>
          <a:bodyPr wrap="square" lIns="0" tIns="0" rIns="0" bIns="0" anchor="t">
            <a:noAutofit/>
          </a:bodyPr>
          <a:lstStyle/>
          <a:p>
            <a:pPr algn="l" marL="0" indent="0">
              <a:spcAft>
                <a:spcPts val="300"/>
              </a:spcAft>
              <a:buNone/>
            </a:pPr>
            <a:r>
              <a:rPr sz="1350" b="0">
                <a:solidFill>
                  <a:srgbClr val="24303F"/>
                </a:solidFill>
              </a:rPr>
              <a:t>A Bayesian twin starts from the survey and learns from each person's daily logs</a:t>
            </a:r>
          </a:p>
        </p:txBody>
      </p:sp>
      <p:sp>
        <p:nvSpPr>
          <p:cNvPr id="12" name="Rounded Rectangle 11"/>
          <p:cNvSpPr/>
          <p:nvPr/>
        </p:nvSpPr>
        <p:spPr>
          <a:xfrm>
            <a:off x="3218688" y="2834640"/>
            <a:ext cx="2697480" cy="2331720"/>
          </a:xfrm>
          <a:prstGeom prst="roundRect">
            <a:avLst>
              <a:gd name="adj" fmla="val 392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64992" y="298094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ic_dice_w.png"/>
          <p:cNvPicPr>
            <a:picLocks noChangeAspect="1"/>
          </p:cNvPicPr>
          <p:nvPr/>
        </p:nvPicPr>
        <p:blipFill>
          <a:blip r:embed="rId3"/>
          <a:stretch>
            <a:fillRect/>
          </a:stretch>
        </p:blipFill>
        <p:spPr>
          <a:xfrm>
            <a:off x="3474720" y="3090672"/>
            <a:ext cx="237744" cy="237744"/>
          </a:xfrm>
          <a:prstGeom prst="rect">
            <a:avLst/>
          </a:prstGeom>
        </p:spPr>
      </p:pic>
      <p:sp>
        <p:nvSpPr>
          <p:cNvPr id="15" name="TextBox 14"/>
          <p:cNvSpPr txBox="1"/>
          <p:nvPr/>
        </p:nvSpPr>
        <p:spPr>
          <a:xfrm>
            <a:off x="3931920" y="2953512"/>
            <a:ext cx="18745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Show uncertainty</a:t>
            </a:r>
          </a:p>
        </p:txBody>
      </p:sp>
      <p:sp>
        <p:nvSpPr>
          <p:cNvPr id="16" name="TextBox 15"/>
          <p:cNvSpPr txBox="1"/>
          <p:nvPr/>
        </p:nvSpPr>
        <p:spPr>
          <a:xfrm>
            <a:off x="3383280" y="3529584"/>
            <a:ext cx="2404872" cy="1545335"/>
          </a:xfrm>
          <a:prstGeom prst="rect">
            <a:avLst/>
          </a:prstGeom>
          <a:noFill/>
        </p:spPr>
        <p:txBody>
          <a:bodyPr wrap="square" lIns="0" tIns="0" rIns="0" bIns="0" anchor="t">
            <a:noAutofit/>
          </a:bodyPr>
          <a:lstStyle/>
          <a:p>
            <a:pPr algn="l" marL="0" indent="0">
              <a:spcAft>
                <a:spcPts val="300"/>
              </a:spcAft>
              <a:buNone/>
            </a:pPr>
            <a:r>
              <a:rPr sz="1350" b="0">
                <a:solidFill>
                  <a:srgbClr val="24303F"/>
                </a:solidFill>
              </a:rPr>
              <a:t>A possible-selves avatar renders the forecast range as overlapping selves</a:t>
            </a:r>
          </a:p>
        </p:txBody>
      </p:sp>
      <p:sp>
        <p:nvSpPr>
          <p:cNvPr id="17" name="Rounded Rectangle 16"/>
          <p:cNvSpPr/>
          <p:nvPr/>
        </p:nvSpPr>
        <p:spPr>
          <a:xfrm>
            <a:off x="6025896" y="2834640"/>
            <a:ext cx="2697480" cy="2331720"/>
          </a:xfrm>
          <a:prstGeom prst="roundRect">
            <a:avLst>
              <a:gd name="adj" fmla="val 392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172200" y="298094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scale_w.png"/>
          <p:cNvPicPr>
            <a:picLocks noChangeAspect="1"/>
          </p:cNvPicPr>
          <p:nvPr/>
        </p:nvPicPr>
        <p:blipFill>
          <a:blip r:embed="rId4"/>
          <a:stretch>
            <a:fillRect/>
          </a:stretch>
        </p:blipFill>
        <p:spPr>
          <a:xfrm>
            <a:off x="6281928" y="3090672"/>
            <a:ext cx="237744" cy="237744"/>
          </a:xfrm>
          <a:prstGeom prst="rect">
            <a:avLst/>
          </a:prstGeom>
        </p:spPr>
      </p:pic>
      <p:sp>
        <p:nvSpPr>
          <p:cNvPr id="20" name="TextBox 19"/>
          <p:cNvSpPr txBox="1"/>
          <p:nvPr/>
        </p:nvSpPr>
        <p:spPr>
          <a:xfrm>
            <a:off x="6739128" y="295351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Rebalance, not restrict</a:t>
            </a:r>
          </a:p>
        </p:txBody>
      </p:sp>
      <p:sp>
        <p:nvSpPr>
          <p:cNvPr id="21" name="TextBox 20"/>
          <p:cNvSpPr txBox="1"/>
          <p:nvPr/>
        </p:nvSpPr>
        <p:spPr>
          <a:xfrm>
            <a:off x="6190488" y="3529584"/>
            <a:ext cx="2404872" cy="1545335"/>
          </a:xfrm>
          <a:prstGeom prst="rect">
            <a:avLst/>
          </a:prstGeom>
          <a:noFill/>
        </p:spPr>
        <p:txBody>
          <a:bodyPr wrap="square" lIns="0" tIns="0" rIns="0" bIns="0" anchor="t">
            <a:noAutofit/>
          </a:bodyPr>
          <a:lstStyle/>
          <a:p>
            <a:pPr algn="l" marL="0" indent="0">
              <a:spcAft>
                <a:spcPts val="300"/>
              </a:spcAft>
              <a:buNone/>
            </a:pPr>
            <a:r>
              <a:rPr sz="1350" b="0">
                <a:solidFill>
                  <a:srgbClr val="24303F"/>
                </a:solidFill>
              </a:rPr>
              <a:t>Proposals re-allocate activities and never cut what people want more of</a:t>
            </a:r>
          </a:p>
        </p:txBody>
      </p:sp>
      <p:sp>
        <p:nvSpPr>
          <p:cNvPr id="22" name="Rounded Rectangle 21"/>
          <p:cNvSpPr/>
          <p:nvPr/>
        </p:nvSpPr>
        <p:spPr>
          <a:xfrm>
            <a:off x="411480" y="5394960"/>
            <a:ext cx="8321040" cy="777240"/>
          </a:xfrm>
          <a:prstGeom prst="roundRect">
            <a:avLst>
              <a:gd name="adj" fmla="val 14117"/>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400" b="1">
                <a:solidFill>
                  <a:srgbClr val="FFFFFF"/>
                </a:solidFill>
              </a:rPr>
              <a:t>Goal: support behavior change without overclaiming — and without taking the joy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OshiFit at a glance</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5</a:t>
            </a:fld>
          </a:p>
        </p:txBody>
      </p:sp>
      <p:sp>
        <p:nvSpPr>
          <p:cNvPr id="5" name="Rounded Rectangle 4"/>
          <p:cNvSpPr/>
          <p:nvPr/>
        </p:nvSpPr>
        <p:spPr>
          <a:xfrm>
            <a:off x="411480" y="146304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02920" y="160934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rain_w.png"/>
          <p:cNvPicPr>
            <a:picLocks noChangeAspect="1"/>
          </p:cNvPicPr>
          <p:nvPr/>
        </p:nvPicPr>
        <p:blipFill>
          <a:blip r:embed="rId2"/>
          <a:stretch>
            <a:fillRect/>
          </a:stretch>
        </p:blipFill>
        <p:spPr>
          <a:xfrm>
            <a:off x="603869" y="1710293"/>
            <a:ext cx="218724" cy="218724"/>
          </a:xfrm>
          <a:prstGeom prst="rect">
            <a:avLst/>
          </a:prstGeom>
        </p:spPr>
      </p:pic>
      <p:sp>
        <p:nvSpPr>
          <p:cNvPr id="8" name="TextBox 7"/>
          <p:cNvSpPr txBox="1"/>
          <p:nvPr/>
        </p:nvSpPr>
        <p:spPr>
          <a:xfrm>
            <a:off x="1014984" y="146304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TIPI-J</a:t>
            </a:r>
          </a:p>
          <a:p>
            <a:pPr algn="l" marL="0" indent="0">
              <a:spcAft>
                <a:spcPts val="400"/>
              </a:spcAft>
              <a:buNone/>
            </a:pPr>
            <a:r>
              <a:rPr sz="1050" b="0">
                <a:solidFill>
                  <a:srgbClr val="5A6676"/>
                </a:solidFill>
              </a:rPr>
              <a:t>once, 1 min</a:t>
            </a:r>
          </a:p>
        </p:txBody>
      </p:sp>
      <p:sp>
        <p:nvSpPr>
          <p:cNvPr id="9" name="Rounded Rectangle 8"/>
          <p:cNvSpPr/>
          <p:nvPr/>
        </p:nvSpPr>
        <p:spPr>
          <a:xfrm>
            <a:off x="411480" y="233172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02920" y="247802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pen_w.png"/>
          <p:cNvPicPr>
            <a:picLocks noChangeAspect="1"/>
          </p:cNvPicPr>
          <p:nvPr/>
        </p:nvPicPr>
        <p:blipFill>
          <a:blip r:embed="rId3"/>
          <a:stretch>
            <a:fillRect/>
          </a:stretch>
        </p:blipFill>
        <p:spPr>
          <a:xfrm>
            <a:off x="603869" y="2578973"/>
            <a:ext cx="218724" cy="218724"/>
          </a:xfrm>
          <a:prstGeom prst="rect">
            <a:avLst/>
          </a:prstGeom>
        </p:spPr>
      </p:pic>
      <p:sp>
        <p:nvSpPr>
          <p:cNvPr id="12" name="TextBox 11"/>
          <p:cNvSpPr txBox="1"/>
          <p:nvPr/>
        </p:nvSpPr>
        <p:spPr>
          <a:xfrm>
            <a:off x="1014984" y="233172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Daily log</a:t>
            </a:r>
          </a:p>
          <a:p>
            <a:pPr algn="l" marL="0" indent="0">
              <a:spcAft>
                <a:spcPts val="400"/>
              </a:spcAft>
              <a:buNone/>
            </a:pPr>
            <a:r>
              <a:rPr sz="1050" b="0">
                <a:solidFill>
                  <a:srgbClr val="5A6676"/>
                </a:solidFill>
              </a:rPr>
              <a:t>~30 s a day</a:t>
            </a:r>
          </a:p>
        </p:txBody>
      </p:sp>
      <p:sp>
        <p:nvSpPr>
          <p:cNvPr id="13" name="Rounded Rectangle 12"/>
          <p:cNvSpPr/>
          <p:nvPr/>
        </p:nvSpPr>
        <p:spPr>
          <a:xfrm>
            <a:off x="411480" y="320040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02920" y="334670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heart_w.png"/>
          <p:cNvPicPr>
            <a:picLocks noChangeAspect="1"/>
          </p:cNvPicPr>
          <p:nvPr/>
        </p:nvPicPr>
        <p:blipFill>
          <a:blip r:embed="rId4"/>
          <a:stretch>
            <a:fillRect/>
          </a:stretch>
        </p:blipFill>
        <p:spPr>
          <a:xfrm>
            <a:off x="603869" y="3447653"/>
            <a:ext cx="218724" cy="218724"/>
          </a:xfrm>
          <a:prstGeom prst="rect">
            <a:avLst/>
          </a:prstGeom>
        </p:spPr>
      </p:pic>
      <p:sp>
        <p:nvSpPr>
          <p:cNvPr id="16" name="TextBox 15"/>
          <p:cNvSpPr txBox="1"/>
          <p:nvPr/>
        </p:nvSpPr>
        <p:spPr>
          <a:xfrm>
            <a:off x="1014984" y="320040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Wishes</a:t>
            </a:r>
          </a:p>
          <a:p>
            <a:pPr algn="l" marL="0" indent="0">
              <a:spcAft>
                <a:spcPts val="400"/>
              </a:spcAft>
              <a:buNone/>
            </a:pPr>
            <a:r>
              <a:rPr sz="1050" b="0">
                <a:solidFill>
                  <a:srgbClr val="5A6676"/>
                </a:solidFill>
              </a:rPr>
              <a:t>more / less of what</a:t>
            </a:r>
          </a:p>
        </p:txBody>
      </p:sp>
      <p:sp>
        <p:nvSpPr>
          <p:cNvPr id="17" name="Rounded Rectangle 16"/>
          <p:cNvSpPr/>
          <p:nvPr/>
        </p:nvSpPr>
        <p:spPr>
          <a:xfrm>
            <a:off x="2880360" y="1874519"/>
            <a:ext cx="1691640" cy="1783080"/>
          </a:xfrm>
          <a:prstGeom prst="roundRect">
            <a:avLst>
              <a:gd name="adj" fmla="val 6486"/>
            </a:avLst>
          </a:prstGeom>
          <a:solidFill>
            <a:srgbClr val="0B3C6E"/>
          </a:solidFill>
          <a:ln>
            <a:no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880360" y="1965960"/>
            <a:ext cx="1691640" cy="411480"/>
          </a:xfrm>
          <a:prstGeom prst="rect">
            <a:avLst/>
          </a:prstGeom>
          <a:noFill/>
        </p:spPr>
        <p:txBody>
          <a:bodyPr wrap="square" lIns="0" tIns="0" rIns="0" bIns="0" anchor="t">
            <a:noAutofit/>
          </a:bodyPr>
          <a:lstStyle/>
          <a:p>
            <a:pPr algn="ctr" marL="0" indent="0">
              <a:spcAft>
                <a:spcPts val="400"/>
              </a:spcAft>
              <a:buNone/>
            </a:pPr>
            <a:r>
              <a:rPr sz="2000" b="1">
                <a:solidFill>
                  <a:srgbClr val="FFFFFF"/>
                </a:solidFill>
              </a:rPr>
              <a:t>①</a:t>
            </a:r>
          </a:p>
        </p:txBody>
      </p:sp>
      <p:sp>
        <p:nvSpPr>
          <p:cNvPr id="19" name="TextBox 18"/>
          <p:cNvSpPr txBox="1"/>
          <p:nvPr/>
        </p:nvSpPr>
        <p:spPr>
          <a:xfrm>
            <a:off x="2953512" y="2359152"/>
            <a:ext cx="1545336" cy="457200"/>
          </a:xfrm>
          <a:prstGeom prst="rect">
            <a:avLst/>
          </a:prstGeom>
          <a:noFill/>
        </p:spPr>
        <p:txBody>
          <a:bodyPr wrap="square" lIns="0" tIns="0" rIns="0" bIns="0" anchor="ctr">
            <a:noAutofit/>
          </a:bodyPr>
          <a:lstStyle/>
          <a:p>
            <a:pPr algn="ctr" marL="0" indent="0">
              <a:spcAft>
                <a:spcPts val="400"/>
              </a:spcAft>
              <a:buNone/>
            </a:pPr>
            <a:r>
              <a:rPr sz="1400" b="1">
                <a:solidFill>
                  <a:srgbClr val="FFFFFF"/>
                </a:solidFill>
              </a:rPr>
              <a:t>Bayesian Twin</a:t>
            </a:r>
          </a:p>
        </p:txBody>
      </p:sp>
      <p:sp>
        <p:nvSpPr>
          <p:cNvPr id="20" name="TextBox 19"/>
          <p:cNvSpPr txBox="1"/>
          <p:nvPr/>
        </p:nvSpPr>
        <p:spPr>
          <a:xfrm>
            <a:off x="2953512" y="2834640"/>
            <a:ext cx="1545336" cy="731520"/>
          </a:xfrm>
          <a:prstGeom prst="rect">
            <a:avLst/>
          </a:prstGeom>
          <a:noFill/>
        </p:spPr>
        <p:txBody>
          <a:bodyPr wrap="square" lIns="0" tIns="0" rIns="0" bIns="0" anchor="t">
            <a:noAutofit/>
          </a:bodyPr>
          <a:lstStyle/>
          <a:p>
            <a:pPr algn="ctr" marL="0" indent="0">
              <a:spcAft>
                <a:spcPts val="0"/>
              </a:spcAft>
              <a:buNone/>
            </a:pPr>
            <a:r>
              <a:rPr sz="1100" b="0">
                <a:solidFill>
                  <a:srgbClr val="FFFFFF"/>
                </a:solidFill>
              </a:rPr>
              <a:t>Personal model,</a:t>
            </a:r>
          </a:p>
          <a:p>
            <a:pPr algn="ctr" marL="0" indent="0">
              <a:spcAft>
                <a:spcPts val="0"/>
              </a:spcAft>
              <a:buNone/>
            </a:pPr>
            <a:r>
              <a:rPr sz="1100" b="0">
                <a:solidFill>
                  <a:srgbClr val="FFFFFF"/>
                </a:solidFill>
              </a:rPr>
              <a:t>updated nightly</a:t>
            </a:r>
          </a:p>
        </p:txBody>
      </p:sp>
      <p:sp>
        <p:nvSpPr>
          <p:cNvPr id="21" name="Rounded Rectangle 20"/>
          <p:cNvSpPr/>
          <p:nvPr/>
        </p:nvSpPr>
        <p:spPr>
          <a:xfrm>
            <a:off x="4800600" y="1874519"/>
            <a:ext cx="1691640" cy="1783080"/>
          </a:xfrm>
          <a:prstGeom prst="roundRect">
            <a:avLst>
              <a:gd name="adj" fmla="val 6486"/>
            </a:avLst>
          </a:prstGeom>
          <a:solidFill>
            <a:srgbClr val="0B3C6E"/>
          </a:solidFill>
          <a:ln>
            <a:no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00600" y="1965960"/>
            <a:ext cx="1691640" cy="411480"/>
          </a:xfrm>
          <a:prstGeom prst="rect">
            <a:avLst/>
          </a:prstGeom>
          <a:noFill/>
        </p:spPr>
        <p:txBody>
          <a:bodyPr wrap="square" lIns="0" tIns="0" rIns="0" bIns="0" anchor="t">
            <a:noAutofit/>
          </a:bodyPr>
          <a:lstStyle/>
          <a:p>
            <a:pPr algn="ctr" marL="0" indent="0">
              <a:spcAft>
                <a:spcPts val="400"/>
              </a:spcAft>
              <a:buNone/>
            </a:pPr>
            <a:r>
              <a:rPr sz="2000" b="1">
                <a:solidFill>
                  <a:srgbClr val="FFFFFF"/>
                </a:solidFill>
              </a:rPr>
              <a:t>②</a:t>
            </a:r>
          </a:p>
        </p:txBody>
      </p:sp>
      <p:sp>
        <p:nvSpPr>
          <p:cNvPr id="23" name="TextBox 22"/>
          <p:cNvSpPr txBox="1"/>
          <p:nvPr/>
        </p:nvSpPr>
        <p:spPr>
          <a:xfrm>
            <a:off x="4873752" y="2359152"/>
            <a:ext cx="1545336" cy="457200"/>
          </a:xfrm>
          <a:prstGeom prst="rect">
            <a:avLst/>
          </a:prstGeom>
          <a:noFill/>
        </p:spPr>
        <p:txBody>
          <a:bodyPr wrap="square" lIns="0" tIns="0" rIns="0" bIns="0" anchor="ctr">
            <a:noAutofit/>
          </a:bodyPr>
          <a:lstStyle/>
          <a:p>
            <a:pPr algn="ctr" marL="0" indent="0">
              <a:spcAft>
                <a:spcPts val="400"/>
              </a:spcAft>
              <a:buNone/>
            </a:pPr>
            <a:r>
              <a:rPr sz="1400" b="1">
                <a:solidFill>
                  <a:srgbClr val="FFFFFF"/>
                </a:solidFill>
              </a:rPr>
              <a:t>Rebalance Engine</a:t>
            </a:r>
          </a:p>
        </p:txBody>
      </p:sp>
      <p:sp>
        <p:nvSpPr>
          <p:cNvPr id="24" name="TextBox 23"/>
          <p:cNvSpPr txBox="1"/>
          <p:nvPr/>
        </p:nvSpPr>
        <p:spPr>
          <a:xfrm>
            <a:off x="4873752" y="2834640"/>
            <a:ext cx="1545336" cy="731520"/>
          </a:xfrm>
          <a:prstGeom prst="rect">
            <a:avLst/>
          </a:prstGeom>
          <a:noFill/>
        </p:spPr>
        <p:txBody>
          <a:bodyPr wrap="square" lIns="0" tIns="0" rIns="0" bIns="0" anchor="t">
            <a:noAutofit/>
          </a:bodyPr>
          <a:lstStyle/>
          <a:p>
            <a:pPr algn="ctr" marL="0" indent="0">
              <a:spcAft>
                <a:spcPts val="0"/>
              </a:spcAft>
              <a:buNone/>
            </a:pPr>
            <a:r>
              <a:rPr sz="1100" b="0">
                <a:solidFill>
                  <a:srgbClr val="FFFFFF"/>
                </a:solidFill>
              </a:rPr>
              <a:t>Re-allocate, not restrict:</a:t>
            </a:r>
          </a:p>
          <a:p>
            <a:pPr algn="ctr" marL="0" indent="0">
              <a:spcAft>
                <a:spcPts val="0"/>
              </a:spcAft>
              <a:buNone/>
            </a:pPr>
            <a:r>
              <a:rPr sz="1100" b="0">
                <a:solidFill>
                  <a:srgbClr val="FFFFFF"/>
                </a:solidFill>
              </a:rPr>
              <a:t>3 Pareto options</a:t>
            </a:r>
          </a:p>
        </p:txBody>
      </p:sp>
      <p:sp>
        <p:nvSpPr>
          <p:cNvPr id="25" name="Right Arrow 24"/>
          <p:cNvSpPr/>
          <p:nvPr/>
        </p:nvSpPr>
        <p:spPr>
          <a:xfrm>
            <a:off x="2633472" y="2560320"/>
            <a:ext cx="219456"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ight Arrow 25"/>
          <p:cNvSpPr/>
          <p:nvPr/>
        </p:nvSpPr>
        <p:spPr>
          <a:xfrm>
            <a:off x="4599432" y="2560320"/>
            <a:ext cx="182880"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ight Arrow 26"/>
          <p:cNvSpPr/>
          <p:nvPr/>
        </p:nvSpPr>
        <p:spPr>
          <a:xfrm>
            <a:off x="6519672" y="2560320"/>
            <a:ext cx="182880"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748272" y="1417320"/>
            <a:ext cx="1984248" cy="2697480"/>
          </a:xfrm>
          <a:prstGeom prst="roundRect">
            <a:avLst>
              <a:gd name="adj" fmla="val 5529"/>
            </a:avLst>
          </a:prstGeom>
          <a:solidFill>
            <a:srgbClr val="E3F6F2"/>
          </a:solidFill>
          <a:ln w="19050">
            <a:solidFill>
              <a:srgbClr val="12A3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48272" y="1463040"/>
            <a:ext cx="1984248" cy="329184"/>
          </a:xfrm>
          <a:prstGeom prst="rect">
            <a:avLst/>
          </a:prstGeom>
          <a:noFill/>
        </p:spPr>
        <p:txBody>
          <a:bodyPr wrap="square" lIns="0" tIns="0" rIns="0" bIns="0" anchor="t">
            <a:noAutofit/>
          </a:bodyPr>
          <a:lstStyle/>
          <a:p>
            <a:pPr algn="ctr" marL="0" indent="0">
              <a:spcAft>
                <a:spcPts val="400"/>
              </a:spcAft>
              <a:buNone/>
            </a:pPr>
            <a:r>
              <a:rPr sz="1300" b="1">
                <a:solidFill>
                  <a:srgbClr val="12A38A"/>
                </a:solidFill>
              </a:rPr>
              <a:t>③④ Future Mirror</a:t>
            </a:r>
          </a:p>
        </p:txBody>
      </p:sp>
      <p:pic>
        <p:nvPicPr>
          <p:cNvPr id="30" name="Picture 29" descr="ghostA.png"/>
          <p:cNvPicPr>
            <a:picLocks noChangeAspect="1"/>
          </p:cNvPicPr>
          <p:nvPr/>
        </p:nvPicPr>
        <p:blipFill>
          <a:blip r:embed="rId5"/>
          <a:stretch>
            <a:fillRect/>
          </a:stretch>
        </p:blipFill>
        <p:spPr>
          <a:xfrm>
            <a:off x="6766559" y="1828800"/>
            <a:ext cx="960120" cy="652882"/>
          </a:xfrm>
          <a:prstGeom prst="rect">
            <a:avLst/>
          </a:prstGeom>
        </p:spPr>
      </p:pic>
      <p:pic>
        <p:nvPicPr>
          <p:cNvPr id="31" name="Picture 30" descr="ghostB.png"/>
          <p:cNvPicPr>
            <a:picLocks noChangeAspect="1"/>
          </p:cNvPicPr>
          <p:nvPr/>
        </p:nvPicPr>
        <p:blipFill>
          <a:blip r:embed="rId6"/>
          <a:stretch>
            <a:fillRect/>
          </a:stretch>
        </p:blipFill>
        <p:spPr>
          <a:xfrm>
            <a:off x="7754112" y="1828800"/>
            <a:ext cx="960120" cy="652882"/>
          </a:xfrm>
          <a:prstGeom prst="rect">
            <a:avLst/>
          </a:prstGeom>
        </p:spPr>
      </p:pic>
      <p:sp>
        <p:nvSpPr>
          <p:cNvPr id="32" name="TextBox 31"/>
          <p:cNvSpPr txBox="1"/>
          <p:nvPr/>
        </p:nvSpPr>
        <p:spPr>
          <a:xfrm>
            <a:off x="6766559" y="2514600"/>
            <a:ext cx="960120" cy="274320"/>
          </a:xfrm>
          <a:prstGeom prst="rect">
            <a:avLst/>
          </a:prstGeom>
          <a:noFill/>
        </p:spPr>
        <p:txBody>
          <a:bodyPr wrap="square" lIns="0" tIns="0" rIns="0" bIns="0" anchor="t">
            <a:noAutofit/>
          </a:bodyPr>
          <a:lstStyle/>
          <a:p>
            <a:pPr algn="ctr" marL="0" indent="0">
              <a:spcAft>
                <a:spcPts val="400"/>
              </a:spcAft>
              <a:buNone/>
            </a:pPr>
            <a:r>
              <a:rPr sz="1050" b="1">
                <a:solidFill>
                  <a:srgbClr val="E07A10"/>
                </a:solidFill>
              </a:rPr>
              <a:t>As is</a:t>
            </a:r>
          </a:p>
        </p:txBody>
      </p:sp>
      <p:sp>
        <p:nvSpPr>
          <p:cNvPr id="33" name="TextBox 32"/>
          <p:cNvSpPr txBox="1"/>
          <p:nvPr/>
        </p:nvSpPr>
        <p:spPr>
          <a:xfrm>
            <a:off x="7754112" y="2514600"/>
            <a:ext cx="960120" cy="274320"/>
          </a:xfrm>
          <a:prstGeom prst="rect">
            <a:avLst/>
          </a:prstGeom>
          <a:noFill/>
        </p:spPr>
        <p:txBody>
          <a:bodyPr wrap="square" lIns="0" tIns="0" rIns="0" bIns="0" anchor="t">
            <a:noAutofit/>
          </a:bodyPr>
          <a:lstStyle/>
          <a:p>
            <a:pPr algn="ctr" marL="0" indent="0">
              <a:spcAft>
                <a:spcPts val="400"/>
              </a:spcAft>
              <a:buNone/>
            </a:pPr>
            <a:r>
              <a:rPr sz="1050" b="1">
                <a:solidFill>
                  <a:srgbClr val="12A38A"/>
                </a:solidFill>
              </a:rPr>
              <a:t>Proposal</a:t>
            </a:r>
          </a:p>
        </p:txBody>
      </p:sp>
      <p:sp>
        <p:nvSpPr>
          <p:cNvPr id="34" name="TextBox 33"/>
          <p:cNvSpPr txBox="1"/>
          <p:nvPr/>
        </p:nvSpPr>
        <p:spPr>
          <a:xfrm>
            <a:off x="6858000" y="2852928"/>
            <a:ext cx="1783080" cy="1188720"/>
          </a:xfrm>
          <a:prstGeom prst="rect">
            <a:avLst/>
          </a:prstGeom>
          <a:noFill/>
        </p:spPr>
        <p:txBody>
          <a:bodyPr wrap="square" lIns="0" tIns="0" rIns="0" bIns="0" anchor="t">
            <a:noAutofit/>
          </a:bodyPr>
          <a:lstStyle/>
          <a:p>
            <a:pPr algn="l" marL="0" indent="0">
              <a:spcAft>
                <a:spcPts val="0"/>
              </a:spcAft>
              <a:buNone/>
            </a:pPr>
            <a:r>
              <a:rPr sz="1100" b="1">
                <a:solidFill>
                  <a:srgbClr val="0B3C6E"/>
                </a:solidFill>
              </a:rPr>
              <a:t>Possible-selves avatar</a:t>
            </a:r>
          </a:p>
          <a:p>
            <a:pPr algn="l" marL="0" indent="0">
              <a:spcAft>
                <a:spcPts val="500"/>
              </a:spcAft>
              <a:buNone/>
            </a:pPr>
            <a:r>
              <a:rPr sz="1050" b="0">
                <a:solidFill>
                  <a:srgbClr val="24303F"/>
                </a:solidFill>
              </a:rPr>
              <a:t>range shown as overlap</a:t>
            </a:r>
          </a:p>
          <a:p>
            <a:pPr algn="l" marL="0" indent="0">
              <a:spcAft>
                <a:spcPts val="0"/>
              </a:spcAft>
              <a:buNone/>
            </a:pPr>
            <a:r>
              <a:rPr sz="1100" b="1">
                <a:solidFill>
                  <a:srgbClr val="0B3C6E"/>
                </a:solidFill>
              </a:rPr>
              <a:t>Fatigue-facet cues</a:t>
            </a:r>
          </a:p>
          <a:p>
            <a:pPr algn="l" marL="0" indent="0">
              <a:spcAft>
                <a:spcPts val="400"/>
              </a:spcAft>
              <a:buNone/>
            </a:pPr>
            <a:r>
              <a:rPr sz="1050" b="0">
                <a:solidFill>
                  <a:srgbClr val="24303F"/>
                </a:solidFill>
              </a:rPr>
              <a:t>sleep, money, duty, compare</a:t>
            </a:r>
          </a:p>
        </p:txBody>
      </p:sp>
      <p:sp>
        <p:nvSpPr>
          <p:cNvPr id="35" name="Rounded Rectangle 34"/>
          <p:cNvSpPr/>
          <p:nvPr/>
        </p:nvSpPr>
        <p:spPr>
          <a:xfrm>
            <a:off x="2697480" y="4297680"/>
            <a:ext cx="6035040" cy="457200"/>
          </a:xfrm>
          <a:prstGeom prst="roundRect">
            <a:avLst>
              <a:gd name="adj" fmla="val 50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Choose → try a week → check-in → log → nightly update → forecast check</a:t>
            </a:r>
          </a:p>
        </p:txBody>
      </p:sp>
      <p:cxnSp>
        <p:nvCxnSpPr>
          <p:cNvPr id="36" name="Connector 35"/>
          <p:cNvCxnSpPr/>
          <p:nvPr/>
        </p:nvCxnSpPr>
        <p:spPr>
          <a:xfrm>
            <a:off x="7726679" y="4114800"/>
            <a:ext cx="0" cy="182880"/>
          </a:xfrm>
          <a:prstGeom prst="line">
            <a:avLst/>
          </a:prstGeom>
          <a:ln w="25400">
            <a:solidFill>
              <a:srgbClr val="0099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91840" y="3657600"/>
            <a:ext cx="0" cy="640080"/>
          </a:xfrm>
          <a:prstGeom prst="line">
            <a:avLst/>
          </a:prstGeom>
          <a:ln w="25400">
            <a:solidFill>
              <a:srgbClr val="0099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11480" y="4956048"/>
            <a:ext cx="8321040" cy="438912"/>
          </a:xfrm>
          <a:prstGeom prst="roundRect">
            <a:avLst>
              <a:gd name="adj" fmla="val 20833"/>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E8457C"/>
                </a:solidFill>
              </a:rPr>
              <a:t>Safety layer: when logs signal strong distress, forecasts pause and help resources are shown</a:t>
            </a:r>
          </a:p>
        </p:txBody>
      </p:sp>
      <p:sp>
        <p:nvSpPr>
          <p:cNvPr id="39" name="Oval 38"/>
          <p:cNvSpPr/>
          <p:nvPr/>
        </p:nvSpPr>
        <p:spPr>
          <a:xfrm>
            <a:off x="521208" y="5001768"/>
            <a:ext cx="347472" cy="347472"/>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ic_shield_w.png"/>
          <p:cNvPicPr>
            <a:picLocks noChangeAspect="1"/>
          </p:cNvPicPr>
          <p:nvPr/>
        </p:nvPicPr>
        <p:blipFill>
          <a:blip r:embed="rId7"/>
          <a:stretch>
            <a:fillRect/>
          </a:stretch>
        </p:blipFill>
        <p:spPr>
          <a:xfrm>
            <a:off x="604601" y="5085161"/>
            <a:ext cx="180685" cy="18068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Possible-selves avatar</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6</a:t>
            </a:fld>
          </a:p>
        </p:txBody>
      </p:sp>
      <p:sp>
        <p:nvSpPr>
          <p:cNvPr id="5" name="Rounded Rectangle 4"/>
          <p:cNvSpPr/>
          <p:nvPr/>
        </p:nvSpPr>
        <p:spPr>
          <a:xfrm>
            <a:off x="411480" y="1417320"/>
            <a:ext cx="2697480" cy="2331720"/>
          </a:xfrm>
          <a:prstGeom prst="roundRect">
            <a:avLst>
              <a:gd name="adj" fmla="val 4705"/>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host_d0.png"/>
          <p:cNvPicPr>
            <a:picLocks noChangeAspect="1"/>
          </p:cNvPicPr>
          <p:nvPr/>
        </p:nvPicPr>
        <p:blipFill>
          <a:blip r:embed="rId2"/>
          <a:stretch>
            <a:fillRect/>
          </a:stretch>
        </p:blipFill>
        <p:spPr>
          <a:xfrm>
            <a:off x="576072" y="1481328"/>
            <a:ext cx="2377440" cy="1616659"/>
          </a:xfrm>
          <a:prstGeom prst="rect">
            <a:avLst/>
          </a:prstGeom>
        </p:spPr>
      </p:pic>
      <p:sp>
        <p:nvSpPr>
          <p:cNvPr id="7" name="TextBox 6"/>
          <p:cNvSpPr txBox="1"/>
          <p:nvPr/>
        </p:nvSpPr>
        <p:spPr>
          <a:xfrm>
            <a:off x="411480" y="3127248"/>
            <a:ext cx="2697480" cy="292608"/>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Day 0</a:t>
            </a:r>
          </a:p>
        </p:txBody>
      </p:sp>
      <p:sp>
        <p:nvSpPr>
          <p:cNvPr id="8" name="TextBox 7"/>
          <p:cNvSpPr txBox="1"/>
          <p:nvPr/>
        </p:nvSpPr>
        <p:spPr>
          <a:xfrm>
            <a:off x="411480" y="3401568"/>
            <a:ext cx="2697480" cy="27432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a blurry future</a:t>
            </a:r>
          </a:p>
        </p:txBody>
      </p:sp>
      <p:sp>
        <p:nvSpPr>
          <p:cNvPr id="9" name="Rounded Rectangle 8"/>
          <p:cNvSpPr/>
          <p:nvPr/>
        </p:nvSpPr>
        <p:spPr>
          <a:xfrm>
            <a:off x="3218688" y="1417320"/>
            <a:ext cx="2697480" cy="2331720"/>
          </a:xfrm>
          <a:prstGeom prst="roundRect">
            <a:avLst>
              <a:gd name="adj" fmla="val 4705"/>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host_d7.png"/>
          <p:cNvPicPr>
            <a:picLocks noChangeAspect="1"/>
          </p:cNvPicPr>
          <p:nvPr/>
        </p:nvPicPr>
        <p:blipFill>
          <a:blip r:embed="rId3"/>
          <a:stretch>
            <a:fillRect/>
          </a:stretch>
        </p:blipFill>
        <p:spPr>
          <a:xfrm>
            <a:off x="3383280" y="1481328"/>
            <a:ext cx="2377440" cy="1616659"/>
          </a:xfrm>
          <a:prstGeom prst="rect">
            <a:avLst/>
          </a:prstGeom>
        </p:spPr>
      </p:pic>
      <p:sp>
        <p:nvSpPr>
          <p:cNvPr id="11" name="TextBox 10"/>
          <p:cNvSpPr txBox="1"/>
          <p:nvPr/>
        </p:nvSpPr>
        <p:spPr>
          <a:xfrm>
            <a:off x="3218688" y="3127248"/>
            <a:ext cx="2697480" cy="292608"/>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Day 7</a:t>
            </a:r>
          </a:p>
        </p:txBody>
      </p:sp>
      <p:sp>
        <p:nvSpPr>
          <p:cNvPr id="12" name="TextBox 11"/>
          <p:cNvSpPr txBox="1"/>
          <p:nvPr/>
        </p:nvSpPr>
        <p:spPr>
          <a:xfrm>
            <a:off x="3218688" y="3401568"/>
            <a:ext cx="2697480" cy="27432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selves converge</a:t>
            </a:r>
          </a:p>
        </p:txBody>
      </p:sp>
      <p:sp>
        <p:nvSpPr>
          <p:cNvPr id="13" name="Rounded Rectangle 12"/>
          <p:cNvSpPr/>
          <p:nvPr/>
        </p:nvSpPr>
        <p:spPr>
          <a:xfrm>
            <a:off x="6025896" y="1417320"/>
            <a:ext cx="2697480" cy="2331720"/>
          </a:xfrm>
          <a:prstGeom prst="roundRect">
            <a:avLst>
              <a:gd name="adj" fmla="val 4705"/>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host_d14.png"/>
          <p:cNvPicPr>
            <a:picLocks noChangeAspect="1"/>
          </p:cNvPicPr>
          <p:nvPr/>
        </p:nvPicPr>
        <p:blipFill>
          <a:blip r:embed="rId4"/>
          <a:stretch>
            <a:fillRect/>
          </a:stretch>
        </p:blipFill>
        <p:spPr>
          <a:xfrm>
            <a:off x="6190488" y="1481328"/>
            <a:ext cx="2377440" cy="1616659"/>
          </a:xfrm>
          <a:prstGeom prst="rect">
            <a:avLst/>
          </a:prstGeom>
        </p:spPr>
      </p:pic>
      <p:sp>
        <p:nvSpPr>
          <p:cNvPr id="15" name="TextBox 14"/>
          <p:cNvSpPr txBox="1"/>
          <p:nvPr/>
        </p:nvSpPr>
        <p:spPr>
          <a:xfrm>
            <a:off x="6025896" y="3127248"/>
            <a:ext cx="2697480" cy="292608"/>
          </a:xfrm>
          <a:prstGeom prst="rect">
            <a:avLst/>
          </a:prstGeom>
          <a:noFill/>
        </p:spPr>
        <p:txBody>
          <a:bodyPr wrap="square" lIns="0" tIns="0" rIns="0" bIns="0" anchor="t">
            <a:noAutofit/>
          </a:bodyPr>
          <a:lstStyle/>
          <a:p>
            <a:pPr algn="ctr" marL="0" indent="0">
              <a:spcAft>
                <a:spcPts val="400"/>
              </a:spcAft>
              <a:buNone/>
            </a:pPr>
            <a:r>
              <a:rPr sz="1500" b="1">
                <a:solidFill>
                  <a:srgbClr val="12A38A"/>
                </a:solidFill>
              </a:rPr>
              <a:t>Day 14</a:t>
            </a:r>
          </a:p>
        </p:txBody>
      </p:sp>
      <p:sp>
        <p:nvSpPr>
          <p:cNvPr id="16" name="TextBox 15"/>
          <p:cNvSpPr txBox="1"/>
          <p:nvPr/>
        </p:nvSpPr>
        <p:spPr>
          <a:xfrm>
            <a:off x="6025896" y="3401568"/>
            <a:ext cx="2697480" cy="27432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a sharper you</a:t>
            </a:r>
          </a:p>
        </p:txBody>
      </p:sp>
      <p:sp>
        <p:nvSpPr>
          <p:cNvPr id="17" name="Rounded Rectangle 16"/>
          <p:cNvSpPr/>
          <p:nvPr/>
        </p:nvSpPr>
        <p:spPr>
          <a:xfrm>
            <a:off x="411480" y="3886200"/>
            <a:ext cx="2697480" cy="2286000"/>
          </a:xfrm>
          <a:prstGeom prst="roundRect">
            <a:avLst>
              <a:gd name="adj" fmla="val 4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57784" y="40325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sliders_w.png"/>
          <p:cNvPicPr>
            <a:picLocks noChangeAspect="1"/>
          </p:cNvPicPr>
          <p:nvPr/>
        </p:nvPicPr>
        <p:blipFill>
          <a:blip r:embed="rId5"/>
          <a:stretch>
            <a:fillRect/>
          </a:stretch>
        </p:blipFill>
        <p:spPr>
          <a:xfrm>
            <a:off x="667512" y="4142232"/>
            <a:ext cx="237744" cy="237744"/>
          </a:xfrm>
          <a:prstGeom prst="rect">
            <a:avLst/>
          </a:prstGeom>
        </p:spPr>
      </p:pic>
      <p:sp>
        <p:nvSpPr>
          <p:cNvPr id="20" name="TextBox 19"/>
          <p:cNvSpPr txBox="1"/>
          <p:nvPr/>
        </p:nvSpPr>
        <p:spPr>
          <a:xfrm>
            <a:off x="1124712" y="400507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How</a:t>
            </a:r>
          </a:p>
        </p:txBody>
      </p:sp>
      <p:sp>
        <p:nvSpPr>
          <p:cNvPr id="21" name="TextBox 20"/>
          <p:cNvSpPr txBox="1"/>
          <p:nvPr/>
        </p:nvSpPr>
        <p:spPr>
          <a:xfrm>
            <a:off x="576072" y="4581144"/>
            <a:ext cx="2404872" cy="149961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Draw 20 futures from the posterior, bin them into 3 states, overlay 5 selves. Opacity = likelihood</a:t>
            </a:r>
          </a:p>
        </p:txBody>
      </p:sp>
      <p:sp>
        <p:nvSpPr>
          <p:cNvPr id="22" name="Rounded Rectangle 21"/>
          <p:cNvSpPr/>
          <p:nvPr/>
        </p:nvSpPr>
        <p:spPr>
          <a:xfrm>
            <a:off x="3218688" y="3886200"/>
            <a:ext cx="2697480" cy="2286000"/>
          </a:xfrm>
          <a:prstGeom prst="roundRect">
            <a:avLst>
              <a:gd name="adj" fmla="val 4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364992" y="403250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c_target_w.png"/>
          <p:cNvPicPr>
            <a:picLocks noChangeAspect="1"/>
          </p:cNvPicPr>
          <p:nvPr/>
        </p:nvPicPr>
        <p:blipFill>
          <a:blip r:embed="rId6"/>
          <a:stretch>
            <a:fillRect/>
          </a:stretch>
        </p:blipFill>
        <p:spPr>
          <a:xfrm>
            <a:off x="3474720" y="4142232"/>
            <a:ext cx="237744" cy="237744"/>
          </a:xfrm>
          <a:prstGeom prst="rect">
            <a:avLst/>
          </a:prstGeom>
        </p:spPr>
      </p:pic>
      <p:sp>
        <p:nvSpPr>
          <p:cNvPr id="25" name="TextBox 24"/>
          <p:cNvSpPr txBox="1"/>
          <p:nvPr/>
        </p:nvSpPr>
        <p:spPr>
          <a:xfrm>
            <a:off x="3931920" y="4005072"/>
            <a:ext cx="18745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Why</a:t>
            </a:r>
          </a:p>
        </p:txBody>
      </p:sp>
      <p:sp>
        <p:nvSpPr>
          <p:cNvPr id="26" name="TextBox 25"/>
          <p:cNvSpPr txBox="1"/>
          <p:nvPr/>
        </p:nvSpPr>
        <p:spPr>
          <a:xfrm>
            <a:off x="3383280" y="4581144"/>
            <a:ext cx="2404872" cy="149961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Uncertainty becomes visible, and “future-self resolution” rewards continued logging</a:t>
            </a:r>
          </a:p>
        </p:txBody>
      </p:sp>
      <p:sp>
        <p:nvSpPr>
          <p:cNvPr id="27" name="Rounded Rectangle 26"/>
          <p:cNvSpPr/>
          <p:nvPr/>
        </p:nvSpPr>
        <p:spPr>
          <a:xfrm>
            <a:off x="6025896" y="3886200"/>
            <a:ext cx="2697480" cy="2286000"/>
          </a:xfrm>
          <a:prstGeom prst="roundRect">
            <a:avLst>
              <a:gd name="adj" fmla="val 4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172200" y="403250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ic_book_w.png"/>
          <p:cNvPicPr>
            <a:picLocks noChangeAspect="1"/>
          </p:cNvPicPr>
          <p:nvPr/>
        </p:nvPicPr>
        <p:blipFill>
          <a:blip r:embed="rId7"/>
          <a:stretch>
            <a:fillRect/>
          </a:stretch>
        </p:blipFill>
        <p:spPr>
          <a:xfrm>
            <a:off x="6281928" y="4142232"/>
            <a:ext cx="237744" cy="237744"/>
          </a:xfrm>
          <a:prstGeom prst="rect">
            <a:avLst/>
          </a:prstGeom>
        </p:spPr>
      </p:pic>
      <p:sp>
        <p:nvSpPr>
          <p:cNvPr id="30" name="TextBox 29"/>
          <p:cNvSpPr txBox="1"/>
          <p:nvPr/>
        </p:nvSpPr>
        <p:spPr>
          <a:xfrm>
            <a:off x="6739128" y="400507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Grounded in</a:t>
            </a:r>
          </a:p>
        </p:txBody>
      </p:sp>
      <p:sp>
        <p:nvSpPr>
          <p:cNvPr id="31" name="TextBox 30"/>
          <p:cNvSpPr txBox="1"/>
          <p:nvPr/>
        </p:nvSpPr>
        <p:spPr>
          <a:xfrm>
            <a:off x="6190488" y="4581144"/>
            <a:ext cx="2404872" cy="149961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Proteus effect, future-self renderings (Hershfield et al., 2011), quantile dotplots (Kay et al., 2016)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Rebalance, not restrict</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7</a:t>
            </a:fld>
          </a:p>
        </p:txBody>
      </p:sp>
      <p:graphicFrame>
        <p:nvGraphicFramePr>
          <p:cNvPr id="5" name="Chart 4"/>
          <p:cNvGraphicFramePr>
            <a:graphicFrameLocks noGrp="1"/>
          </p:cNvGraphicFramePr>
          <p:nvPr/>
        </p:nvGraphicFramePr>
        <p:xfrm>
          <a:off x="411480" y="1325880"/>
          <a:ext cx="484632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5486400" y="1371600"/>
            <a:ext cx="3246120" cy="2926080"/>
          </a:xfrm>
          <a:prstGeom prst="roundRect">
            <a:avLst>
              <a:gd name="adj" fmla="val 312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632704" y="15179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sliders_w.png"/>
          <p:cNvPicPr>
            <a:picLocks noChangeAspect="1"/>
          </p:cNvPicPr>
          <p:nvPr/>
        </p:nvPicPr>
        <p:blipFill>
          <a:blip r:embed="rId3"/>
          <a:stretch>
            <a:fillRect/>
          </a:stretch>
        </p:blipFill>
        <p:spPr>
          <a:xfrm>
            <a:off x="5742432" y="1627631"/>
            <a:ext cx="237744" cy="237744"/>
          </a:xfrm>
          <a:prstGeom prst="rect">
            <a:avLst/>
          </a:prstGeom>
        </p:spPr>
      </p:pic>
      <p:sp>
        <p:nvSpPr>
          <p:cNvPr id="9" name="TextBox 8"/>
          <p:cNvSpPr txBox="1"/>
          <p:nvPr/>
        </p:nvSpPr>
        <p:spPr>
          <a:xfrm>
            <a:off x="6199632" y="1490472"/>
            <a:ext cx="242315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How options are made</a:t>
            </a:r>
          </a:p>
        </p:txBody>
      </p:sp>
      <p:sp>
        <p:nvSpPr>
          <p:cNvPr id="10" name="TextBox 9"/>
          <p:cNvSpPr txBox="1"/>
          <p:nvPr/>
        </p:nvSpPr>
        <p:spPr>
          <a:xfrm>
            <a:off x="5650992" y="2066543"/>
            <a:ext cx="2953512" cy="2139696"/>
          </a:xfrm>
          <a:prstGeom prst="rect">
            <a:avLst/>
          </a:prstGeom>
          <a:noFill/>
        </p:spPr>
        <p:txBody>
          <a:bodyPr wrap="square" lIns="0" tIns="0" rIns="0" bIns="0" anchor="t">
            <a:noAutofit/>
          </a:bodyPr>
          <a:lstStyle/>
          <a:p>
            <a:pPr algn="l" marL="182880" indent="-182880">
              <a:spcAft>
                <a:spcPts val="300"/>
              </a:spcAft>
              <a:buClr>
                <a:srgbClr val="0099FF"/>
              </a:buClr>
              <a:buFont typeface="Arial"/>
              <a:buChar char="•"/>
            </a:pPr>
            <a:r>
              <a:rPr sz="1250" b="0">
                <a:solidFill>
                  <a:srgbClr val="24303F"/>
                </a:solidFill>
              </a:rPr>
              <a:t>98 candidates: change up to 2 of 7 activities by one step</a:t>
            </a:r>
          </a:p>
          <a:p>
            <a:pPr algn="l" marL="182880" indent="-182880">
              <a:spcAft>
                <a:spcPts val="300"/>
              </a:spcAft>
              <a:buClr>
                <a:srgbClr val="0099FF"/>
              </a:buClr>
              <a:buFont typeface="Arial"/>
              <a:buChar char="•"/>
            </a:pPr>
            <a:r>
              <a:rPr sz="1250" b="0">
                <a:solidFill>
                  <a:srgbClr val="24303F"/>
                </a:solidFill>
              </a:rPr>
              <a:t>Drop options that cut what the user wants more of</a:t>
            </a:r>
          </a:p>
          <a:p>
            <a:pPr algn="l" marL="182880" indent="-182880">
              <a:spcAft>
                <a:spcPts val="300"/>
              </a:spcAft>
              <a:buClr>
                <a:srgbClr val="0099FF"/>
              </a:buClr>
              <a:buFont typeface="Arial"/>
              <a:buChar char="•"/>
            </a:pPr>
            <a:r>
              <a:rPr sz="1250" b="0">
                <a:solidFill>
                  <a:srgbClr val="24303F"/>
                </a:solidFill>
              </a:rPr>
              <a:t>Keep the Pareto front; show 3 options</a:t>
            </a:r>
          </a:p>
        </p:txBody>
      </p:sp>
      <p:sp>
        <p:nvSpPr>
          <p:cNvPr id="11" name="Rounded Rectangle 10"/>
          <p:cNvSpPr/>
          <p:nvPr/>
        </p:nvSpPr>
        <p:spPr>
          <a:xfrm>
            <a:off x="5486400" y="4480560"/>
            <a:ext cx="3246120" cy="1691640"/>
          </a:xfrm>
          <a:prstGeom prst="roundRect">
            <a:avLst>
              <a:gd name="adj" fmla="val 6486"/>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23560" y="4526280"/>
            <a:ext cx="2971800" cy="1600200"/>
          </a:xfrm>
          <a:prstGeom prst="rect">
            <a:avLst/>
          </a:prstGeom>
          <a:noFill/>
        </p:spPr>
        <p:txBody>
          <a:bodyPr wrap="square" lIns="0" tIns="0" rIns="0" bIns="0" anchor="ctr">
            <a:noAutofit/>
          </a:bodyPr>
          <a:lstStyle/>
          <a:p>
            <a:pPr algn="l" marL="0" indent="0">
              <a:spcAft>
                <a:spcPts val="300"/>
              </a:spcAft>
              <a:buNone/>
            </a:pPr>
            <a:r>
              <a:rPr sz="1500" b="1">
                <a:solidFill>
                  <a:srgbClr val="12A38A"/>
                </a:solidFill>
              </a:rPr>
              <a:t>The user chooses</a:t>
            </a:r>
          </a:p>
          <a:p>
            <a:pPr algn="l" marL="0" indent="0">
              <a:spcAft>
                <a:spcPts val="400"/>
              </a:spcAft>
              <a:buNone/>
            </a:pPr>
            <a:r>
              <a:rPr sz="1250" b="0">
                <a:solidFill>
                  <a:srgbClr val="24303F"/>
                </a:solidFill>
              </a:rPr>
              <a:t>…or skips the week. Autonomy is part of the design</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予測値は例示 (example 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A week with OshiFit</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8</a:t>
            </a:fld>
          </a:p>
        </p:txBody>
      </p:sp>
      <p:sp>
        <p:nvSpPr>
          <p:cNvPr id="5" name="Rounded Rectangle 4"/>
          <p:cNvSpPr/>
          <p:nvPr/>
        </p:nvSpPr>
        <p:spPr>
          <a:xfrm>
            <a:off x="914400" y="1371600"/>
            <a:ext cx="1645920" cy="292608"/>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Every day</a:t>
            </a:r>
          </a:p>
        </p:txBody>
      </p:sp>
      <p:pic>
        <p:nvPicPr>
          <p:cNvPr id="6" name="Picture 5" descr="mk_en_log.png"/>
          <p:cNvPicPr>
            <a:picLocks noChangeAspect="1"/>
          </p:cNvPicPr>
          <p:nvPr/>
        </p:nvPicPr>
        <p:blipFill>
          <a:blip r:embed="rId2"/>
          <a:stretch>
            <a:fillRect/>
          </a:stretch>
        </p:blipFill>
        <p:spPr>
          <a:xfrm>
            <a:off x="667512" y="1737360"/>
            <a:ext cx="2144554" cy="3611880"/>
          </a:xfrm>
          <a:prstGeom prst="rect">
            <a:avLst/>
          </a:prstGeom>
        </p:spPr>
      </p:pic>
      <p:sp>
        <p:nvSpPr>
          <p:cNvPr id="7" name="TextBox 6"/>
          <p:cNvSpPr txBox="1"/>
          <p:nvPr/>
        </p:nvSpPr>
        <p:spPr>
          <a:xfrm>
            <a:off x="411480" y="5440680"/>
            <a:ext cx="265176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Log in ~30 s</a:t>
            </a:r>
          </a:p>
        </p:txBody>
      </p:sp>
      <p:sp>
        <p:nvSpPr>
          <p:cNvPr id="8" name="Right Arrow 7"/>
          <p:cNvSpPr/>
          <p:nvPr/>
        </p:nvSpPr>
        <p:spPr>
          <a:xfrm>
            <a:off x="2926080" y="338328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3749040" y="1371600"/>
            <a:ext cx="164592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Weekly</a:t>
            </a:r>
          </a:p>
        </p:txBody>
      </p:sp>
      <p:pic>
        <p:nvPicPr>
          <p:cNvPr id="10" name="Picture 9" descr="mk_en_propose.png"/>
          <p:cNvPicPr>
            <a:picLocks noChangeAspect="1"/>
          </p:cNvPicPr>
          <p:nvPr/>
        </p:nvPicPr>
        <p:blipFill>
          <a:blip r:embed="rId3"/>
          <a:stretch>
            <a:fillRect/>
          </a:stretch>
        </p:blipFill>
        <p:spPr>
          <a:xfrm>
            <a:off x="3502152" y="1737360"/>
            <a:ext cx="2144554" cy="3611880"/>
          </a:xfrm>
          <a:prstGeom prst="rect">
            <a:avLst/>
          </a:prstGeom>
        </p:spPr>
      </p:pic>
      <p:sp>
        <p:nvSpPr>
          <p:cNvPr id="11" name="TextBox 10"/>
          <p:cNvSpPr txBox="1"/>
          <p:nvPr/>
        </p:nvSpPr>
        <p:spPr>
          <a:xfrm>
            <a:off x="3246120" y="5440680"/>
            <a:ext cx="265176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Pick a proposal</a:t>
            </a:r>
          </a:p>
        </p:txBody>
      </p:sp>
      <p:sp>
        <p:nvSpPr>
          <p:cNvPr id="12" name="Right Arrow 11"/>
          <p:cNvSpPr/>
          <p:nvPr/>
        </p:nvSpPr>
        <p:spPr>
          <a:xfrm>
            <a:off x="5760720" y="338328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583680" y="1371600"/>
            <a:ext cx="164592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rPr>
              <a:t>Weekly (Group C)</a:t>
            </a:r>
          </a:p>
        </p:txBody>
      </p:sp>
      <p:pic>
        <p:nvPicPr>
          <p:cNvPr id="14" name="Picture 13" descr="mk_en_mirror.png"/>
          <p:cNvPicPr>
            <a:picLocks noChangeAspect="1"/>
          </p:cNvPicPr>
          <p:nvPr/>
        </p:nvPicPr>
        <p:blipFill>
          <a:blip r:embed="rId4"/>
          <a:stretch>
            <a:fillRect/>
          </a:stretch>
        </p:blipFill>
        <p:spPr>
          <a:xfrm>
            <a:off x="6336792" y="1737360"/>
            <a:ext cx="2144554" cy="3611880"/>
          </a:xfrm>
          <a:prstGeom prst="rect">
            <a:avLst/>
          </a:prstGeom>
        </p:spPr>
      </p:pic>
      <p:sp>
        <p:nvSpPr>
          <p:cNvPr id="15" name="TextBox 14"/>
          <p:cNvSpPr txBox="1"/>
          <p:nvPr/>
        </p:nvSpPr>
        <p:spPr>
          <a:xfrm>
            <a:off x="6080760" y="5440680"/>
            <a:ext cx="265176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Compare futures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Study: 6-week, three-arm RCT</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9</a:t>
            </a:fld>
          </a:p>
        </p:txBody>
      </p:sp>
      <p:sp>
        <p:nvSpPr>
          <p:cNvPr id="5" name="TextBox 4"/>
          <p:cNvSpPr txBox="1"/>
          <p:nvPr/>
        </p:nvSpPr>
        <p:spPr>
          <a:xfrm>
            <a:off x="210312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1</a:t>
            </a:r>
          </a:p>
        </p:txBody>
      </p:sp>
      <p:sp>
        <p:nvSpPr>
          <p:cNvPr id="6" name="TextBox 5"/>
          <p:cNvSpPr txBox="1"/>
          <p:nvPr/>
        </p:nvSpPr>
        <p:spPr>
          <a:xfrm>
            <a:off x="320040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2</a:t>
            </a:r>
          </a:p>
        </p:txBody>
      </p:sp>
      <p:sp>
        <p:nvSpPr>
          <p:cNvPr id="7" name="TextBox 6"/>
          <p:cNvSpPr txBox="1"/>
          <p:nvPr/>
        </p:nvSpPr>
        <p:spPr>
          <a:xfrm>
            <a:off x="4297679"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3</a:t>
            </a:r>
          </a:p>
        </p:txBody>
      </p:sp>
      <p:sp>
        <p:nvSpPr>
          <p:cNvPr id="8" name="TextBox 7"/>
          <p:cNvSpPr txBox="1"/>
          <p:nvPr/>
        </p:nvSpPr>
        <p:spPr>
          <a:xfrm>
            <a:off x="5394959"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4</a:t>
            </a:r>
          </a:p>
        </p:txBody>
      </p:sp>
      <p:sp>
        <p:nvSpPr>
          <p:cNvPr id="9" name="TextBox 8"/>
          <p:cNvSpPr txBox="1"/>
          <p:nvPr/>
        </p:nvSpPr>
        <p:spPr>
          <a:xfrm>
            <a:off x="649224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5</a:t>
            </a:r>
          </a:p>
        </p:txBody>
      </p:sp>
      <p:sp>
        <p:nvSpPr>
          <p:cNvPr id="10" name="TextBox 9"/>
          <p:cNvSpPr txBox="1"/>
          <p:nvPr/>
        </p:nvSpPr>
        <p:spPr>
          <a:xfrm>
            <a:off x="758952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Week 6</a:t>
            </a:r>
          </a:p>
        </p:txBody>
      </p:sp>
      <p:sp>
        <p:nvSpPr>
          <p:cNvPr id="11" name="TextBox 10"/>
          <p:cNvSpPr txBox="1"/>
          <p:nvPr/>
        </p:nvSpPr>
        <p:spPr>
          <a:xfrm>
            <a:off x="411480" y="1783080"/>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7A8594"/>
                </a:solidFill>
              </a:rPr>
              <a:t>A: Log only</a:t>
            </a:r>
          </a:p>
        </p:txBody>
      </p:sp>
      <p:sp>
        <p:nvSpPr>
          <p:cNvPr id="12" name="Rounded Rectangle 11"/>
          <p:cNvSpPr/>
          <p:nvPr/>
        </p:nvSpPr>
        <p:spPr>
          <a:xfrm>
            <a:off x="2103120" y="1837943"/>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Log only</a:t>
            </a:r>
          </a:p>
        </p:txBody>
      </p:sp>
      <p:sp>
        <p:nvSpPr>
          <p:cNvPr id="13" name="Rounded Rectangle 12"/>
          <p:cNvSpPr/>
          <p:nvPr/>
        </p:nvSpPr>
        <p:spPr>
          <a:xfrm>
            <a:off x="4297679" y="1837943"/>
            <a:ext cx="4389120" cy="457200"/>
          </a:xfrm>
          <a:prstGeom prst="roundRect">
            <a:avLst>
              <a:gd name="adj" fmla="val 16000"/>
            </a:avLst>
          </a:prstGeom>
          <a:solidFill>
            <a:srgbClr val="F4F8FC"/>
          </a:solidFill>
          <a:ln w="12700">
            <a:solidFill>
              <a:srgbClr val="8F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Log only</a:t>
            </a:r>
          </a:p>
        </p:txBody>
      </p:sp>
      <p:sp>
        <p:nvSpPr>
          <p:cNvPr id="14" name="TextBox 13"/>
          <p:cNvSpPr txBox="1"/>
          <p:nvPr/>
        </p:nvSpPr>
        <p:spPr>
          <a:xfrm>
            <a:off x="411480" y="2496312"/>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0099FF"/>
                </a:solidFill>
              </a:rPr>
              <a:t>B: Text proposals</a:t>
            </a:r>
          </a:p>
        </p:txBody>
      </p:sp>
      <p:sp>
        <p:nvSpPr>
          <p:cNvPr id="15" name="Rounded Rectangle 14"/>
          <p:cNvSpPr/>
          <p:nvPr/>
        </p:nvSpPr>
        <p:spPr>
          <a:xfrm>
            <a:off x="2103120" y="2551176"/>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Log only</a:t>
            </a:r>
          </a:p>
        </p:txBody>
      </p:sp>
      <p:sp>
        <p:nvSpPr>
          <p:cNvPr id="16" name="Rounded Rectangle 15"/>
          <p:cNvSpPr/>
          <p:nvPr/>
        </p:nvSpPr>
        <p:spPr>
          <a:xfrm>
            <a:off x="4297679" y="2551176"/>
            <a:ext cx="4389120" cy="457200"/>
          </a:xfrm>
          <a:prstGeom prst="roundRect">
            <a:avLst>
              <a:gd name="adj" fmla="val 16000"/>
            </a:avLst>
          </a:prstGeom>
          <a:solidFill>
            <a:srgbClr val="E6F4FF"/>
          </a:solidFill>
          <a:ln w="12700">
            <a:solidFill>
              <a:srgbClr val="0099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Proposals (text) + log</a:t>
            </a:r>
          </a:p>
        </p:txBody>
      </p:sp>
      <p:sp>
        <p:nvSpPr>
          <p:cNvPr id="17" name="TextBox 16"/>
          <p:cNvSpPr txBox="1"/>
          <p:nvPr/>
        </p:nvSpPr>
        <p:spPr>
          <a:xfrm>
            <a:off x="411480" y="3209544"/>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12A38A"/>
                </a:solidFill>
              </a:rPr>
              <a:t>C: + Avatar</a:t>
            </a:r>
          </a:p>
        </p:txBody>
      </p:sp>
      <p:sp>
        <p:nvSpPr>
          <p:cNvPr id="18" name="Rounded Rectangle 17"/>
          <p:cNvSpPr/>
          <p:nvPr/>
        </p:nvSpPr>
        <p:spPr>
          <a:xfrm>
            <a:off x="2103120" y="3264408"/>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Log only</a:t>
            </a:r>
          </a:p>
        </p:txBody>
      </p:sp>
      <p:sp>
        <p:nvSpPr>
          <p:cNvPr id="19" name="Rounded Rectangle 18"/>
          <p:cNvSpPr/>
          <p:nvPr/>
        </p:nvSpPr>
        <p:spPr>
          <a:xfrm>
            <a:off x="4297679" y="3264408"/>
            <a:ext cx="4389120" cy="457200"/>
          </a:xfrm>
          <a:prstGeom prst="roundRect">
            <a:avLst>
              <a:gd name="adj" fmla="val 16000"/>
            </a:avLst>
          </a:prstGeom>
          <a:solidFill>
            <a:srgbClr val="E3F6F2"/>
          </a:solidFill>
          <a:ln w="12700">
            <a:solidFill>
              <a:srgbClr val="12A38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Proposals + possible-selves avatar + log</a:t>
            </a:r>
          </a:p>
        </p:txBody>
      </p:sp>
      <p:cxnSp>
        <p:nvCxnSpPr>
          <p:cNvPr id="20" name="Connector 19"/>
          <p:cNvCxnSpPr/>
          <p:nvPr/>
        </p:nvCxnSpPr>
        <p:spPr>
          <a:xfrm>
            <a:off x="4279392" y="1691640"/>
            <a:ext cx="0" cy="2285999"/>
          </a:xfrm>
          <a:prstGeom prst="line">
            <a:avLst/>
          </a:prstGeom>
          <a:ln w="28575">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291839" y="4023360"/>
            <a:ext cx="2011680" cy="274320"/>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rPr>
              <a:t>Stratified randomization</a:t>
            </a:r>
          </a:p>
        </p:txBody>
      </p:sp>
      <p:sp>
        <p:nvSpPr>
          <p:cNvPr id="22" name="Diamond 21"/>
          <p:cNvSpPr/>
          <p:nvPr/>
        </p:nvSpPr>
        <p:spPr>
          <a:xfrm>
            <a:off x="2011679"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iamond 22"/>
          <p:cNvSpPr/>
          <p:nvPr/>
        </p:nvSpPr>
        <p:spPr>
          <a:xfrm>
            <a:off x="420624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iamond 23"/>
          <p:cNvSpPr/>
          <p:nvPr/>
        </p:nvSpPr>
        <p:spPr>
          <a:xfrm>
            <a:off x="640080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859536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11480" y="4370832"/>
            <a:ext cx="1600199" cy="320040"/>
          </a:xfrm>
          <a:prstGeom prst="rect">
            <a:avLst/>
          </a:prstGeom>
          <a:noFill/>
        </p:spPr>
        <p:txBody>
          <a:bodyPr wrap="square" lIns="0" tIns="0" rIns="0" bIns="0" anchor="ctr">
            <a:noAutofit/>
          </a:bodyPr>
          <a:lstStyle/>
          <a:p>
            <a:pPr algn="l" marL="0" indent="0">
              <a:spcAft>
                <a:spcPts val="400"/>
              </a:spcAft>
              <a:buNone/>
            </a:pPr>
            <a:r>
              <a:rPr sz="1200" b="1">
                <a:solidFill>
                  <a:srgbClr val="0B3C6E"/>
                </a:solidFill>
              </a:rPr>
              <a:t>WHO-5</a:t>
            </a:r>
          </a:p>
        </p:txBody>
      </p:sp>
      <p:cxnSp>
        <p:nvCxnSpPr>
          <p:cNvPr id="27" name="Connector 26"/>
          <p:cNvCxnSpPr/>
          <p:nvPr/>
        </p:nvCxnSpPr>
        <p:spPr>
          <a:xfrm>
            <a:off x="2103120" y="4526280"/>
            <a:ext cx="6583680" cy="0"/>
          </a:xfrm>
          <a:prstGeom prst="line">
            <a:avLst/>
          </a:prstGeom>
          <a:ln w="12700">
            <a:solidFill>
              <a:srgbClr val="B8C2CE"/>
            </a:solidFill>
          </a:ln>
        </p:spPr>
        <p:style>
          <a:lnRef idx="2">
            <a:schemeClr val="accent1"/>
          </a:lnRef>
          <a:fillRef idx="0">
            <a:schemeClr val="accent1"/>
          </a:fillRef>
          <a:effectRef idx="1">
            <a:schemeClr val="accent1"/>
          </a:effectRef>
          <a:fontRef idx="minor">
            <a:schemeClr val="tx1"/>
          </a:fontRef>
        </p:style>
      </p:cxnSp>
      <p:graphicFrame>
        <p:nvGraphicFramePr>
          <p:cNvPr id="28" name="Table 27"/>
          <p:cNvGraphicFramePr>
            <a:graphicFrameLocks noGrp="1"/>
          </p:cNvGraphicFramePr>
          <p:nvPr/>
        </p:nvGraphicFramePr>
        <p:xfrm>
          <a:off x="411480" y="4892040"/>
          <a:ext cx="8321040" cy="1234440"/>
        </p:xfrm>
        <a:graphic>
          <a:graphicData uri="http://schemas.openxmlformats.org/drawingml/2006/table">
            <a:tbl>
              <a:tblPr>
                <a:tableStyleId>{5940675A-B579-460E-94D1-54222C63F5DA}</a:tableStyleId>
              </a:tblPr>
              <a:tblGrid>
                <a:gridCol w="1554480"/>
                <a:gridCol w="6766560"/>
              </a:tblGrid>
              <a:tr h="411480">
                <a:tc>
                  <a:txBody>
                    <a:bodyPr wrap="square" lIns="64008" tIns="27432" rIns="64008" bIns="27432" anchor="ctr">
                      <a:noAutofit/>
                    </a:bodyPr>
                    <a:lstStyle/>
                    <a:p>
                      <a:pPr algn="l" marL="0" indent="0">
                        <a:spcAft>
                          <a:spcPts val="0"/>
                        </a:spcAft>
                        <a:buNone/>
                      </a:pPr>
                      <a:r>
                        <a:rPr sz="1200" b="1">
                          <a:solidFill>
                            <a:srgbClr val="FFFFFF"/>
                          </a:solidFill>
                        </a:rPr>
                        <a:t>Measure</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200" b="1">
                          <a:solidFill>
                            <a:srgbClr val="FFFFFF"/>
                          </a:solidFill>
                        </a:rPr>
                        <a:t>Analysis</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411480">
                <a:tc>
                  <a:txBody>
                    <a:bodyPr wrap="square" lIns="64008" tIns="27432" rIns="64008" bIns="27432" anchor="ctr">
                      <a:noAutofit/>
                    </a:bodyPr>
                    <a:lstStyle/>
                    <a:p>
                      <a:pPr algn="l" marL="0" indent="0">
                        <a:spcAft>
                          <a:spcPts val="0"/>
                        </a:spcAft>
                        <a:buNone/>
                      </a:pPr>
                      <a:r>
                        <a:rPr sz="1200" b="1">
                          <a:solidFill>
                            <a:srgbClr val="24303F"/>
                          </a:solidFill>
                        </a:rPr>
                        <a:t>RQ3 (primary)</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WHO-5 at week 6, ANCOVA adjusting for week 2; C vs B and B vs A with Holm correction</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411480">
                <a:tc>
                  <a:txBody>
                    <a:bodyPr wrap="square" lIns="64008" tIns="27432" rIns="64008" bIns="27432" anchor="ctr">
                      <a:noAutofit/>
                    </a:bodyPr>
                    <a:lstStyle/>
                    <a:p>
                      <a:pPr algn="l" marL="0" indent="0">
                        <a:spcAft>
                          <a:spcPts val="0"/>
                        </a:spcAft>
                        <a:buNone/>
                      </a:pPr>
                      <a:r>
                        <a:rPr sz="1200" b="1">
                          <a:solidFill>
                            <a:srgbClr val="24303F"/>
                          </a:solidFill>
                        </a:rPr>
                        <a:t>RQ2 · RQ1</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Weekly follow-through (logistic mixed model) · forecast error at week 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Results: avatars boosted follow-through</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10</a:t>
            </a:fld>
          </a:p>
        </p:txBody>
      </p:sp>
      <p:graphicFrame>
        <p:nvGraphicFramePr>
          <p:cNvPr id="5" name="Chart 4"/>
          <p:cNvGraphicFramePr>
            <a:graphicFrameLocks noGrp="1"/>
          </p:cNvGraphicFramePr>
          <p:nvPr/>
        </p:nvGraphicFramePr>
        <p:xfrm>
          <a:off x="411480" y="1325880"/>
          <a:ext cx="5029200" cy="4023360"/>
        </p:xfrm>
        <a:graphic>
          <a:graphicData uri="http://schemas.openxmlformats.org/drawingml/2006/chart">
            <c:chart xmlns:c="http://schemas.openxmlformats.org/drawingml/2006/chart" r:id="rId2"/>
          </a:graphicData>
        </a:graphic>
      </p:graphicFrame>
      <p:sp>
        <p:nvSpPr>
          <p:cNvPr id="6" name="TextBox 5"/>
          <p:cNvSpPr txBox="1"/>
          <p:nvPr/>
        </p:nvSpPr>
        <p:spPr>
          <a:xfrm>
            <a:off x="411480" y="5394960"/>
            <a:ext cx="5029200" cy="777240"/>
          </a:xfrm>
          <a:prstGeom prst="rect">
            <a:avLst/>
          </a:prstGeom>
          <a:noFill/>
        </p:spPr>
        <p:txBody>
          <a:bodyPr wrap="square" lIns="0" tIns="0" rIns="0" bIns="0" anchor="t">
            <a:noAutofit/>
          </a:bodyPr>
          <a:lstStyle/>
          <a:p>
            <a:pPr algn="l" marL="0" indent="0">
              <a:spcAft>
                <a:spcPts val="400"/>
              </a:spcAft>
              <a:buNone/>
            </a:pPr>
            <a:r>
              <a:rPr sz="1150" b="0">
                <a:solidFill>
                  <a:srgbClr val="5A6676"/>
                </a:solidFill>
              </a:rPr>
              <a:t>N = 197 completed (after the paper was submitted). Same proposals in B and C.</a:t>
            </a:r>
          </a:p>
        </p:txBody>
      </p:sp>
      <p:sp>
        <p:nvSpPr>
          <p:cNvPr id="7" name="Rounded Rectangle 6"/>
          <p:cNvSpPr/>
          <p:nvPr/>
        </p:nvSpPr>
        <p:spPr>
          <a:xfrm>
            <a:off x="5623560" y="1371600"/>
            <a:ext cx="3108960" cy="1965960"/>
          </a:xfrm>
          <a:prstGeom prst="roundRect">
            <a:avLst>
              <a:gd name="adj" fmla="val 5581"/>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60720" y="1417320"/>
            <a:ext cx="2834640" cy="1874519"/>
          </a:xfrm>
          <a:prstGeom prst="rect">
            <a:avLst/>
          </a:prstGeom>
          <a:noFill/>
        </p:spPr>
        <p:txBody>
          <a:bodyPr wrap="square" lIns="0" tIns="0" rIns="0" bIns="0" anchor="ctr">
            <a:noAutofit/>
          </a:bodyPr>
          <a:lstStyle/>
          <a:p>
            <a:pPr algn="l" marL="0" indent="0">
              <a:spcAft>
                <a:spcPts val="200"/>
              </a:spcAft>
              <a:buNone/>
            </a:pPr>
            <a:r>
              <a:rPr sz="2800" b="1">
                <a:solidFill>
                  <a:srgbClr val="12A38A"/>
                </a:solidFill>
              </a:rPr>
              <a:t>OR = 1.71</a:t>
            </a:r>
          </a:p>
          <a:p>
            <a:pPr algn="l" marL="0" indent="0">
              <a:spcAft>
                <a:spcPts val="200"/>
              </a:spcAft>
              <a:buNone/>
            </a:pPr>
            <a:r>
              <a:rPr sz="1250" b="0">
                <a:solidFill>
                  <a:srgbClr val="24303F"/>
                </a:solidFill>
              </a:rPr>
              <a:t>95% CI 1.18–2.48, p = .005</a:t>
            </a:r>
          </a:p>
          <a:p>
            <a:pPr algn="l" marL="0" indent="0">
              <a:spcAft>
                <a:spcPts val="400"/>
              </a:spcAft>
              <a:buNone/>
            </a:pPr>
            <a:r>
              <a:rPr sz="1100" b="0">
                <a:solidFill>
                  <a:srgbClr val="5A6676"/>
                </a:solidFill>
              </a:rPr>
              <a:t>RQ2 · C vs B</a:t>
            </a:r>
          </a:p>
        </p:txBody>
      </p:sp>
      <p:sp>
        <p:nvSpPr>
          <p:cNvPr id="9" name="Rounded Rectangle 8"/>
          <p:cNvSpPr/>
          <p:nvPr/>
        </p:nvSpPr>
        <p:spPr>
          <a:xfrm>
            <a:off x="5623560" y="3520440"/>
            <a:ext cx="3108960" cy="2651760"/>
          </a:xfrm>
          <a:prstGeom prst="roundRect">
            <a:avLst>
              <a:gd name="adj" fmla="val 413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60720" y="3566160"/>
            <a:ext cx="2834640" cy="2560320"/>
          </a:xfrm>
          <a:prstGeom prst="rect">
            <a:avLst/>
          </a:prstGeom>
          <a:noFill/>
        </p:spPr>
        <p:txBody>
          <a:bodyPr wrap="square" lIns="0" tIns="0" rIns="0" bIns="0" anchor="ctr">
            <a:noAutofit/>
          </a:bodyPr>
          <a:lstStyle/>
          <a:p>
            <a:pPr algn="l" marL="0" indent="0">
              <a:spcAft>
                <a:spcPts val="600"/>
              </a:spcAft>
              <a:buNone/>
            </a:pPr>
            <a:r>
              <a:rPr sz="1350" b="1">
                <a:solidFill>
                  <a:srgbClr val="0B3C6E"/>
                </a:solidFill>
              </a:rPr>
              <a:t>Forecasts got better and stayed honest (RQ1)</a:t>
            </a:r>
          </a:p>
          <a:p>
            <a:pPr algn="l" marL="182880" indent="-182880">
              <a:spcAft>
                <a:spcPts val="400"/>
              </a:spcAft>
              <a:buClr>
                <a:srgbClr val="0099FF"/>
              </a:buClr>
              <a:buFont typeface="Arial"/>
              <a:buChar char="•"/>
            </a:pPr>
            <a:r>
              <a:rPr sz="1250" b="0">
                <a:solidFill>
                  <a:srgbClr val="24303F"/>
                </a:solidFill>
              </a:rPr>
              <a:t>Fatigue error 0.84 → 0.62 after personalization</a:t>
            </a:r>
          </a:p>
          <a:p>
            <a:pPr algn="l" marL="182880" indent="-182880">
              <a:spcAft>
                <a:spcPts val="400"/>
              </a:spcAft>
              <a:buClr>
                <a:srgbClr val="0099FF"/>
              </a:buClr>
              <a:buFont typeface="Arial"/>
              <a:buChar char="•"/>
            </a:pPr>
            <a:r>
              <a:rPr sz="1250" b="0">
                <a:solidFill>
                  <a:srgbClr val="24303F"/>
                </a:solidFill>
              </a:rPr>
              <a:t>76% of outcomes fell inside the 80% interval</a:t>
            </a:r>
          </a:p>
        </p:txBody>
      </p:sp>
      <p:sp>
        <p:nvSpPr>
          <p:cNvPr id="11" name="Rounded Rectangle 1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 (projected) — 要差し替え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Results: well-being, joy, and logging</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11</a:t>
            </a:fld>
          </a:p>
        </p:txBody>
      </p:sp>
      <p:graphicFrame>
        <p:nvGraphicFramePr>
          <p:cNvPr id="5" name="Chart 4"/>
          <p:cNvGraphicFramePr>
            <a:graphicFrameLocks noGrp="1"/>
          </p:cNvGraphicFramePr>
          <p:nvPr/>
        </p:nvGraphicFramePr>
        <p:xfrm>
          <a:off x="411480" y="1325880"/>
          <a:ext cx="4114800" cy="365760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4617720" y="1325880"/>
          <a:ext cx="4114800" cy="3657600"/>
        </p:xfrm>
        <a:graphic>
          <a:graphicData uri="http://schemas.openxmlformats.org/drawingml/2006/chart">
            <c:chart xmlns:c="http://schemas.openxmlformats.org/drawingml/2006/chart" r:id="rId3"/>
          </a:graphicData>
        </a:graphic>
      </p:graphicFrame>
      <p:sp>
        <p:nvSpPr>
          <p:cNvPr id="7" name="Rounded Rectangle 6"/>
          <p:cNvSpPr/>
          <p:nvPr/>
        </p:nvSpPr>
        <p:spPr>
          <a:xfrm>
            <a:off x="411480" y="5120640"/>
            <a:ext cx="2697480" cy="1051560"/>
          </a:xfrm>
          <a:prstGeom prst="roundRect">
            <a:avLst>
              <a:gd name="adj" fmla="val 104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148072"/>
            <a:ext cx="2423160" cy="1005840"/>
          </a:xfrm>
          <a:prstGeom prst="rect">
            <a:avLst/>
          </a:prstGeom>
          <a:noFill/>
        </p:spPr>
        <p:txBody>
          <a:bodyPr wrap="square" lIns="0" tIns="0" rIns="0" bIns="0" anchor="ctr">
            <a:noAutofit/>
          </a:bodyPr>
          <a:lstStyle/>
          <a:p>
            <a:pPr algn="l" marL="0" indent="0">
              <a:spcAft>
                <a:spcPts val="200"/>
              </a:spcAft>
              <a:buNone/>
            </a:pPr>
            <a:r>
              <a:rPr sz="1300" b="1">
                <a:solidFill>
                  <a:srgbClr val="E07A10"/>
                </a:solidFill>
              </a:rPr>
              <a:t>RQ3: small effect</a:t>
            </a:r>
          </a:p>
          <a:p>
            <a:pPr algn="l" marL="0" indent="0">
              <a:spcAft>
                <a:spcPts val="400"/>
              </a:spcAft>
              <a:buNone/>
            </a:pPr>
            <a:r>
              <a:rPr sz="1100" b="0">
                <a:solidFill>
                  <a:srgbClr val="24303F"/>
                </a:solidFill>
              </a:rPr>
              <a:t>C − B = +0.9 (n.s. after Holm); C − A = +1.7 (exploratory)</a:t>
            </a:r>
          </a:p>
        </p:txBody>
      </p:sp>
      <p:sp>
        <p:nvSpPr>
          <p:cNvPr id="9" name="Rounded Rectangle 8"/>
          <p:cNvSpPr/>
          <p:nvPr/>
        </p:nvSpPr>
        <p:spPr>
          <a:xfrm>
            <a:off x="3218688" y="5120640"/>
            <a:ext cx="2697480" cy="1051560"/>
          </a:xfrm>
          <a:prstGeom prst="roundRect">
            <a:avLst>
              <a:gd name="adj" fmla="val 104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55848" y="5148072"/>
            <a:ext cx="2423160" cy="1005840"/>
          </a:xfrm>
          <a:prstGeom prst="rect">
            <a:avLst/>
          </a:prstGeom>
          <a:noFill/>
        </p:spPr>
        <p:txBody>
          <a:bodyPr wrap="square" lIns="0" tIns="0" rIns="0" bIns="0" anchor="ctr">
            <a:noAutofit/>
          </a:bodyPr>
          <a:lstStyle/>
          <a:p>
            <a:pPr algn="l" marL="0" indent="0">
              <a:spcAft>
                <a:spcPts val="200"/>
              </a:spcAft>
              <a:buNone/>
            </a:pPr>
            <a:r>
              <a:rPr sz="1300" b="1">
                <a:solidFill>
                  <a:srgbClr val="12A38A"/>
                </a:solidFill>
              </a:rPr>
              <a:t>Joy was kept</a:t>
            </a:r>
          </a:p>
          <a:p>
            <a:pPr algn="l" marL="0" indent="0">
              <a:spcAft>
                <a:spcPts val="400"/>
              </a:spcAft>
              <a:buNone/>
            </a:pPr>
            <a:r>
              <a:rPr sz="1100" b="0">
                <a:solidFill>
                  <a:srgbClr val="24303F"/>
                </a:solidFill>
              </a:rPr>
              <a:t>Enjoyment stayed at 3.8–3.9 in all groups</a:t>
            </a:r>
          </a:p>
        </p:txBody>
      </p:sp>
      <p:sp>
        <p:nvSpPr>
          <p:cNvPr id="11" name="Rounded Rectangle 10"/>
          <p:cNvSpPr/>
          <p:nvPr/>
        </p:nvSpPr>
        <p:spPr>
          <a:xfrm>
            <a:off x="6025896" y="5120640"/>
            <a:ext cx="2697480" cy="1051560"/>
          </a:xfrm>
          <a:prstGeom prst="roundRect">
            <a:avLst>
              <a:gd name="adj" fmla="val 104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63056" y="5148072"/>
            <a:ext cx="2423160" cy="1005840"/>
          </a:xfrm>
          <a:prstGeom prst="rect">
            <a:avLst/>
          </a:prstGeom>
          <a:noFill/>
        </p:spPr>
        <p:txBody>
          <a:bodyPr wrap="square" lIns="0" tIns="0" rIns="0" bIns="0" anchor="ctr">
            <a:noAutofit/>
          </a:bodyPr>
          <a:lstStyle/>
          <a:p>
            <a:pPr algn="l" marL="0" indent="0">
              <a:spcAft>
                <a:spcPts val="200"/>
              </a:spcAft>
              <a:buNone/>
            </a:pPr>
            <a:r>
              <a:rPr sz="1300" b="1">
                <a:solidFill>
                  <a:srgbClr val="0B3C6E"/>
                </a:solidFill>
              </a:rPr>
              <a:t>People kept logging</a:t>
            </a:r>
          </a:p>
          <a:p>
            <a:pPr algn="l" marL="0" indent="0">
              <a:spcAft>
                <a:spcPts val="400"/>
              </a:spcAft>
              <a:buNone/>
            </a:pPr>
            <a:r>
              <a:rPr sz="1100" b="0">
                <a:solidFill>
                  <a:srgbClr val="24303F"/>
                </a:solidFill>
              </a:rPr>
              <a:t>Group C: 83% in week 6 (exploratory)</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 (projected) — 要差し替え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Design implications</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12</a:t>
            </a:fld>
          </a:p>
        </p:txBody>
      </p:sp>
      <p:sp>
        <p:nvSpPr>
          <p:cNvPr id="5" name="Rounded Rectangle 4"/>
          <p:cNvSpPr/>
          <p:nvPr/>
        </p:nvSpPr>
        <p:spPr>
          <a:xfrm>
            <a:off x="411480" y="1417320"/>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764792"/>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dice_w.png"/>
          <p:cNvPicPr>
            <a:picLocks noChangeAspect="1"/>
          </p:cNvPicPr>
          <p:nvPr/>
        </p:nvPicPr>
        <p:blipFill>
          <a:blip r:embed="rId2"/>
          <a:stretch>
            <a:fillRect/>
          </a:stretch>
        </p:blipFill>
        <p:spPr>
          <a:xfrm>
            <a:off x="815644" y="1940356"/>
            <a:ext cx="380390" cy="380390"/>
          </a:xfrm>
          <a:prstGeom prst="rect">
            <a:avLst/>
          </a:prstGeom>
        </p:spPr>
      </p:pic>
      <p:sp>
        <p:nvSpPr>
          <p:cNvPr id="8" name="TextBox 7"/>
          <p:cNvSpPr txBox="1"/>
          <p:nvPr/>
        </p:nvSpPr>
        <p:spPr>
          <a:xfrm>
            <a:off x="1600200" y="1508760"/>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rPr>
              <a:t>Make uncertainty a feature</a:t>
            </a:r>
          </a:p>
          <a:p>
            <a:pPr algn="l" marL="0" indent="0">
              <a:spcAft>
                <a:spcPts val="400"/>
              </a:spcAft>
              <a:buNone/>
            </a:pPr>
            <a:r>
              <a:rPr sz="1350" b="0">
                <a:solidFill>
                  <a:srgbClr val="24303F"/>
                </a:solidFill>
              </a:rPr>
              <a:t>Render forecast ranges as possible selves; let resolution grow with the user's own data</a:t>
            </a:r>
          </a:p>
        </p:txBody>
      </p:sp>
      <p:sp>
        <p:nvSpPr>
          <p:cNvPr id="9" name="Rounded Rectangle 8"/>
          <p:cNvSpPr/>
          <p:nvPr/>
        </p:nvSpPr>
        <p:spPr>
          <a:xfrm>
            <a:off x="411480" y="2990088"/>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337560"/>
            <a:ext cx="731520" cy="73152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scale_w.png"/>
          <p:cNvPicPr>
            <a:picLocks noChangeAspect="1"/>
          </p:cNvPicPr>
          <p:nvPr/>
        </p:nvPicPr>
        <p:blipFill>
          <a:blip r:embed="rId3"/>
          <a:stretch>
            <a:fillRect/>
          </a:stretch>
        </p:blipFill>
        <p:spPr>
          <a:xfrm>
            <a:off x="815644" y="3513124"/>
            <a:ext cx="380390" cy="380390"/>
          </a:xfrm>
          <a:prstGeom prst="rect">
            <a:avLst/>
          </a:prstGeom>
        </p:spPr>
      </p:pic>
      <p:sp>
        <p:nvSpPr>
          <p:cNvPr id="12" name="TextBox 11"/>
          <p:cNvSpPr txBox="1"/>
          <p:nvPr/>
        </p:nvSpPr>
        <p:spPr>
          <a:xfrm>
            <a:off x="1600200" y="3081528"/>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rPr>
              <a:t>Rebalance, don't restrict</a:t>
            </a:r>
          </a:p>
          <a:p>
            <a:pPr algn="l" marL="0" indent="0">
              <a:spcAft>
                <a:spcPts val="400"/>
              </a:spcAft>
              <a:buNone/>
            </a:pPr>
            <a:r>
              <a:rPr sz="1350" b="0">
                <a:solidFill>
                  <a:srgbClr val="24303F"/>
                </a:solidFill>
              </a:rPr>
              <a:t>In domains without one right answer, keep what people love and move the rest</a:t>
            </a:r>
          </a:p>
        </p:txBody>
      </p:sp>
      <p:sp>
        <p:nvSpPr>
          <p:cNvPr id="13" name="Rounded Rectangle 12"/>
          <p:cNvSpPr/>
          <p:nvPr/>
        </p:nvSpPr>
        <p:spPr>
          <a:xfrm>
            <a:off x="411480" y="4562856"/>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910328"/>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mirror_w.png"/>
          <p:cNvPicPr>
            <a:picLocks noChangeAspect="1"/>
          </p:cNvPicPr>
          <p:nvPr/>
        </p:nvPicPr>
        <p:blipFill>
          <a:blip r:embed="rId4"/>
          <a:stretch>
            <a:fillRect/>
          </a:stretch>
        </p:blipFill>
        <p:spPr>
          <a:xfrm>
            <a:off x="815644" y="5085892"/>
            <a:ext cx="380390" cy="380390"/>
          </a:xfrm>
          <a:prstGeom prst="rect">
            <a:avLst/>
          </a:prstGeom>
        </p:spPr>
      </p:pic>
      <p:sp>
        <p:nvSpPr>
          <p:cNvPr id="16" name="TextBox 15"/>
          <p:cNvSpPr txBox="1"/>
          <p:nvPr/>
        </p:nvSpPr>
        <p:spPr>
          <a:xfrm>
            <a:off x="1600200" y="4654296"/>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rPr>
              <a:t>Same advice, better framing</a:t>
            </a:r>
          </a:p>
          <a:p>
            <a:pPr algn="l" marL="0" indent="0">
              <a:spcAft>
                <a:spcPts val="400"/>
              </a:spcAft>
              <a:buNone/>
            </a:pPr>
            <a:r>
              <a:rPr sz="1350" b="0">
                <a:solidFill>
                  <a:srgbClr val="24303F"/>
                </a:solidFill>
              </a:rPr>
              <a:t>How a future is shown can change follow-through even when the advice is identical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Limitations and next steps</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13</a:t>
            </a:fld>
          </a:p>
        </p:txBody>
      </p:sp>
      <p:sp>
        <p:nvSpPr>
          <p:cNvPr id="5" name="Rounded Rectangle 4"/>
          <p:cNvSpPr/>
          <p:nvPr/>
        </p:nvSpPr>
        <p:spPr>
          <a:xfrm>
            <a:off x="411480" y="141732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hourglass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Short and small</a:t>
            </a:r>
          </a:p>
        </p:txBody>
      </p:sp>
      <p:sp>
        <p:nvSpPr>
          <p:cNvPr id="9" name="TextBox 8"/>
          <p:cNvSpPr txBox="1"/>
          <p:nvPr/>
        </p:nvSpPr>
        <p:spPr>
          <a:xfrm>
            <a:off x="576072" y="211226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6 weeks, ~65 per arm; habits take longer (median 66 days; Lally et al., 2010)</a:t>
            </a:r>
          </a:p>
        </p:txBody>
      </p:sp>
      <p:sp>
        <p:nvSpPr>
          <p:cNvPr id="10" name="Rounded Rectangle 9"/>
          <p:cNvSpPr/>
          <p:nvPr/>
        </p:nvSpPr>
        <p:spPr>
          <a:xfrm>
            <a:off x="4663440" y="141732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0974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layers_w.png"/>
          <p:cNvPicPr>
            <a:picLocks noChangeAspect="1"/>
          </p:cNvPicPr>
          <p:nvPr/>
        </p:nvPicPr>
        <p:blipFill>
          <a:blip r:embed="rId3"/>
          <a:stretch>
            <a:fillRect/>
          </a:stretch>
        </p:blipFill>
        <p:spPr>
          <a:xfrm>
            <a:off x="4919472" y="1673352"/>
            <a:ext cx="237744" cy="237744"/>
          </a:xfrm>
          <a:prstGeom prst="rect">
            <a:avLst/>
          </a:prstGeom>
        </p:spPr>
      </p:pic>
      <p:sp>
        <p:nvSpPr>
          <p:cNvPr id="13" name="TextBox 12"/>
          <p:cNvSpPr txBox="1"/>
          <p:nvPr/>
        </p:nvSpPr>
        <p:spPr>
          <a:xfrm>
            <a:off x="537667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Bundled features</a:t>
            </a:r>
          </a:p>
        </p:txBody>
      </p:sp>
      <p:sp>
        <p:nvSpPr>
          <p:cNvPr id="14" name="TextBox 13"/>
          <p:cNvSpPr txBox="1"/>
          <p:nvPr/>
        </p:nvSpPr>
        <p:spPr>
          <a:xfrm>
            <a:off x="4828032" y="211226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Group C saw both avatars and dot counts; we cannot yet separate them</a:t>
            </a:r>
          </a:p>
        </p:txBody>
      </p:sp>
      <p:sp>
        <p:nvSpPr>
          <p:cNvPr id="15" name="Rounded Rectangle 14"/>
          <p:cNvSpPr/>
          <p:nvPr/>
        </p:nvSpPr>
        <p:spPr>
          <a:xfrm>
            <a:off x="411480" y="310896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325526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pen_w.png"/>
          <p:cNvPicPr>
            <a:picLocks noChangeAspect="1"/>
          </p:cNvPicPr>
          <p:nvPr/>
        </p:nvPicPr>
        <p:blipFill>
          <a:blip r:embed="rId4"/>
          <a:stretch>
            <a:fillRect/>
          </a:stretch>
        </p:blipFill>
        <p:spPr>
          <a:xfrm>
            <a:off x="667512" y="3364992"/>
            <a:ext cx="237744" cy="237744"/>
          </a:xfrm>
          <a:prstGeom prst="rect">
            <a:avLst/>
          </a:prstGeom>
        </p:spPr>
      </p:pic>
      <p:sp>
        <p:nvSpPr>
          <p:cNvPr id="18" name="TextBox 17"/>
          <p:cNvSpPr txBox="1"/>
          <p:nvPr/>
        </p:nvSpPr>
        <p:spPr>
          <a:xfrm>
            <a:off x="1124712" y="322783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Self-report</a:t>
            </a:r>
          </a:p>
        </p:txBody>
      </p:sp>
      <p:sp>
        <p:nvSpPr>
          <p:cNvPr id="19" name="TextBox 18"/>
          <p:cNvSpPr txBox="1"/>
          <p:nvPr/>
        </p:nvSpPr>
        <p:spPr>
          <a:xfrm>
            <a:off x="576072" y="380390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Logs and WHO-5 are self-reported; physiological signals could complement them</a:t>
            </a:r>
          </a:p>
        </p:txBody>
      </p:sp>
      <p:sp>
        <p:nvSpPr>
          <p:cNvPr id="20" name="Rounded Rectangle 19"/>
          <p:cNvSpPr/>
          <p:nvPr/>
        </p:nvSpPr>
        <p:spPr>
          <a:xfrm>
            <a:off x="4663440" y="310896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09744" y="325526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globe_w.png"/>
          <p:cNvPicPr>
            <a:picLocks noChangeAspect="1"/>
          </p:cNvPicPr>
          <p:nvPr/>
        </p:nvPicPr>
        <p:blipFill>
          <a:blip r:embed="rId5"/>
          <a:stretch>
            <a:fillRect/>
          </a:stretch>
        </p:blipFill>
        <p:spPr>
          <a:xfrm>
            <a:off x="4919472" y="3364992"/>
            <a:ext cx="237744" cy="237744"/>
          </a:xfrm>
          <a:prstGeom prst="rect">
            <a:avLst/>
          </a:prstGeom>
        </p:spPr>
      </p:pic>
      <p:sp>
        <p:nvSpPr>
          <p:cNvPr id="23" name="TextBox 22"/>
          <p:cNvSpPr txBox="1"/>
          <p:nvPr/>
        </p:nvSpPr>
        <p:spPr>
          <a:xfrm>
            <a:off x="5376672" y="322783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Sample</a:t>
            </a:r>
          </a:p>
        </p:txBody>
      </p:sp>
      <p:sp>
        <p:nvSpPr>
          <p:cNvPr id="24" name="TextBox 23"/>
          <p:cNvSpPr txBox="1"/>
          <p:nvPr/>
        </p:nvSpPr>
        <p:spPr>
          <a:xfrm>
            <a:off x="4828032" y="380390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Mostly university students and women in Japan</a:t>
            </a:r>
          </a:p>
        </p:txBody>
      </p:sp>
      <p:sp>
        <p:nvSpPr>
          <p:cNvPr id="25" name="Rounded Rectangle 24"/>
          <p:cNvSpPr/>
          <p:nvPr/>
        </p:nvSpPr>
        <p:spPr>
          <a:xfrm>
            <a:off x="411480" y="4892040"/>
            <a:ext cx="8321040" cy="1280160"/>
          </a:xfrm>
          <a:prstGeom prst="roundRect">
            <a:avLst>
              <a:gd name="adj" fmla="val 8571"/>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4937760"/>
            <a:ext cx="7772400" cy="1188720"/>
          </a:xfrm>
          <a:prstGeom prst="rect">
            <a:avLst/>
          </a:prstGeom>
          <a:noFill/>
        </p:spPr>
        <p:txBody>
          <a:bodyPr wrap="square" lIns="0" tIns="0" rIns="0" bIns="0" anchor="ctr">
            <a:noAutofit/>
          </a:bodyPr>
          <a:lstStyle/>
          <a:p>
            <a:pPr algn="l" marL="0" indent="0">
              <a:spcAft>
                <a:spcPts val="300"/>
              </a:spcAft>
              <a:buNone/>
            </a:pPr>
            <a:r>
              <a:rPr sz="1450" b="1">
                <a:solidFill>
                  <a:srgbClr val="0B3C6E"/>
                </a:solidFill>
              </a:rPr>
              <a:t>Next: longer follow-up, factorial study of avatar vs. dots, and other domains (social media, gaming)</a:t>
            </a:r>
          </a:p>
          <a:p>
            <a:pPr algn="l" marL="0" indent="0">
              <a:spcAft>
                <a:spcPts val="400"/>
              </a:spcAft>
              <a:buNone/>
            </a:pPr>
            <a:r>
              <a:rPr sz="1250" b="0">
                <a:solidFill>
                  <a:srgbClr val="24303F"/>
                </a:solidFill>
              </a:rPr>
              <a:t>Toward a sustainable fan economy with platform partners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Thank you!</a:t>
            </a:r>
          </a:p>
        </p:txBody>
      </p:sp>
      <p:sp>
        <p:nvSpPr>
          <p:cNvPr id="3" name="Date Placeholder 2"/>
          <p:cNvSpPr>
            <a:spLocks noGrp="1"/>
          </p:cNvSpPr>
          <p:nvPr>
            <p:ph type="dt" idx="10" sz="half"/>
          </p:nvPr>
        </p:nvSpPr>
        <p:spPr/>
        <p:txBody>
          <a:bodyPr/>
          <a:p>
            <a:r>
              <a:t>2027/3/8</a:t>
            </a:r>
          </a:p>
        </p:txBody>
      </p:sp>
      <p:sp>
        <p:nvSpPr>
          <p:cNvPr id="4" name="Slide Number Placeholder 3"/>
          <p:cNvSpPr>
            <a:spLocks noGrp="1"/>
          </p:cNvSpPr>
          <p:nvPr>
            <p:ph type="sldNum" idx="12" sz="quarter"/>
          </p:nvPr>
        </p:nvSpPr>
        <p:spPr/>
        <p:txBody>
          <a:bodyPr/>
          <a:p>
            <a:fld id="{B6F15528-21DE-4FAA-801E-634DDDAF4B2B}" type="slidenum">
              <a:rPr lang="en-US"/>
              <a:t>14</a:t>
            </a:fld>
          </a:p>
        </p:txBody>
      </p:sp>
      <p:sp>
        <p:nvSpPr>
          <p:cNvPr id="5" name="Rounded Rectangle 4"/>
          <p:cNvSpPr/>
          <p:nvPr/>
        </p:nvSpPr>
        <p:spPr>
          <a:xfrm>
            <a:off x="411480" y="1417320"/>
            <a:ext cx="8321040" cy="4754880"/>
          </a:xfrm>
          <a:prstGeom prst="roundRect">
            <a:avLst>
              <a:gd name="adj" fmla="val 2692"/>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host_d14.png"/>
          <p:cNvPicPr>
            <a:picLocks noChangeAspect="1"/>
          </p:cNvPicPr>
          <p:nvPr/>
        </p:nvPicPr>
        <p:blipFill>
          <a:blip r:embed="rId2"/>
          <a:stretch>
            <a:fillRect/>
          </a:stretch>
        </p:blipFill>
        <p:spPr>
          <a:xfrm>
            <a:off x="594360" y="1828800"/>
            <a:ext cx="3657600" cy="2487168"/>
          </a:xfrm>
          <a:prstGeom prst="rect">
            <a:avLst/>
          </a:prstGeom>
        </p:spPr>
      </p:pic>
      <p:sp>
        <p:nvSpPr>
          <p:cNvPr id="7" name="TextBox 6"/>
          <p:cNvSpPr txBox="1"/>
          <p:nvPr/>
        </p:nvSpPr>
        <p:spPr>
          <a:xfrm>
            <a:off x="4434840" y="1645920"/>
            <a:ext cx="4023360" cy="4297680"/>
          </a:xfrm>
          <a:prstGeom prst="rect">
            <a:avLst/>
          </a:prstGeom>
          <a:noFill/>
        </p:spPr>
        <p:txBody>
          <a:bodyPr wrap="square" lIns="0" tIns="0" rIns="0" bIns="0" anchor="ctr">
            <a:noAutofit/>
          </a:bodyPr>
          <a:lstStyle/>
          <a:p>
            <a:pPr algn="l" marL="0" indent="0">
              <a:spcAft>
                <a:spcPts val="400"/>
              </a:spcAft>
              <a:buNone/>
            </a:pPr>
            <a:r>
              <a:rPr sz="3000" b="1">
                <a:solidFill>
                  <a:srgbClr val="FFFFFF"/>
                </a:solidFill>
              </a:rPr>
              <a:t>OshiFit</a:t>
            </a:r>
          </a:p>
          <a:p>
            <a:pPr algn="l" marL="0" indent="0">
              <a:spcAft>
                <a:spcPts val="1400"/>
              </a:spcAft>
              <a:buNone/>
            </a:pPr>
            <a:r>
              <a:rPr sz="1400" b="0">
                <a:solidFill>
                  <a:srgbClr val="CCE9FF"/>
                </a:solidFill>
              </a:rPr>
              <a:t>Possible-selves avatars for uncertainty-aware behavior change</a:t>
            </a:r>
          </a:p>
          <a:p>
            <a:pPr algn="l" marL="182880" indent="-182880">
              <a:spcAft>
                <a:spcPts val="600"/>
              </a:spcAft>
              <a:buClr>
                <a:srgbClr val="E8457C"/>
              </a:buClr>
              <a:buFont typeface="Arial"/>
              <a:buChar char="•"/>
            </a:pPr>
            <a:r>
              <a:rPr sz="1500" b="0">
                <a:solidFill>
                  <a:srgbClr val="FFFFFF"/>
                </a:solidFill>
              </a:rPr>
              <a:t>Show the future honestly</a:t>
            </a:r>
          </a:p>
          <a:p>
            <a:pPr algn="l" marL="182880" indent="-182880">
              <a:spcAft>
                <a:spcPts val="600"/>
              </a:spcAft>
              <a:buClr>
                <a:srgbClr val="E8457C"/>
              </a:buClr>
              <a:buFont typeface="Arial"/>
              <a:buChar char="•"/>
            </a:pPr>
            <a:r>
              <a:rPr sz="1500" b="0">
                <a:solidFill>
                  <a:srgbClr val="FFFFFF"/>
                </a:solidFill>
              </a:rPr>
              <a:t>Rebalance, don't restrict</a:t>
            </a:r>
          </a:p>
          <a:p>
            <a:pPr algn="l" marL="182880" indent="-182880">
              <a:spcAft>
                <a:spcPts val="1400"/>
              </a:spcAft>
              <a:buClr>
                <a:srgbClr val="E8457C"/>
              </a:buClr>
              <a:buFont typeface="Arial"/>
              <a:buChar char="•"/>
            </a:pPr>
            <a:r>
              <a:rPr sz="1500" b="0">
                <a:solidFill>
                  <a:srgbClr val="FFFFFF"/>
                </a:solidFill>
              </a:rPr>
              <a:t>Let people choose</a:t>
            </a:r>
          </a:p>
          <a:p>
            <a:pPr algn="l" marL="0" indent="0">
              <a:spcAft>
                <a:spcPts val="600"/>
              </a:spcAft>
              <a:buNone/>
            </a:pPr>
            <a:r>
              <a:rPr sz="1250" b="0">
                <a:solidFill>
                  <a:srgbClr val="CCE9FF"/>
                </a:solidFill>
              </a:rPr>
              <a:t>Gen Imai · Osaka Institute of Technology</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Arial"/>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OshiFit — ACM CHIIR 2027</dc:title>
  <dc:creator>Gen Imai</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