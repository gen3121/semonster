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10"/>
    <p:sldId id="257" r:id="rId11"/>
    <p:sldId id="258" r:id="rId12"/>
    <p:sldId id="259" r:id="rId9"/>
    <p:sldId id="260" r:id="rId8"/>
    <p:sldId id="261" r:id="rId7"/>
    <p:sldId id="262" r:id="rId6"/>
    <p:sldId id="263" r:id="rId5"/>
    <p:sldId id="264" r:id="rId18"/>
    <p:sldId id="265" r:id="rId19"/>
    <p:sldId id="266" r:id="rId20"/>
    <p:sldId id="267" r:id="rId21"/>
    <p:sldId id="268" r:id="rId2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" y="6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パス係数（215名・7/3 の報告）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幸福度</c:v>
                </c:pt>
              </c:strCache>
            </c:strRef>
          </c:tx>
          <c:spPr>
            <a:solidFill>
              <a:srgbClr val="12A38A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行動量</c:v>
                </c:pt>
                <c:pt idx="1">
                  <c:v>アバター没入</c:v>
                </c:pt>
                <c:pt idx="2">
                  <c:v>動機（逃避・回復）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</c:v>
                </c:pt>
                <c:pt idx="1">
                  <c:v>0.19</c:v>
                </c:pt>
                <c:pt idx="2">
                  <c:v>0.15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推し疲れ</c:v>
                </c:pt>
              </c:strCache>
            </c:strRef>
          </c:tx>
          <c:spPr>
            <a:solidFill>
              <a:srgbClr val="E07A1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行動量</c:v>
                </c:pt>
                <c:pt idx="1">
                  <c:v>アバター没入</c:v>
                </c:pt>
                <c:pt idx="2">
                  <c:v>動機（逃避・回復）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0.22</c:v>
                </c:pt>
                <c:pt idx="1">
                  <c:v>0.18</c:v>
                </c:pt>
                <c:pt idx="2">
                  <c:v>0.19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>
                  <a:solidFill>
                    <a:srgbClr val="24303F"/>
                  </a:solidFill>
                  <a:latin typeface="BIZ UDPゴシック"/>
                  <a:ea typeface="BIZ UDPゴシック"/>
                  <a:cs typeface="BIZ UDPゴシック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txPr>
          <a:bodyPr/>
          <a:lstStyle/>
          <a:p>
            <a:pPr>
              <a:defRPr sz="110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"/>
          <c:min val="0.0"/>
        </c:scaling>
        <c:delete val="0"/>
        <c:axPos val="l"/>
        <c:majorGridlines>
          <c:spPr>
            <a:ln w="9525">
              <a:solidFill>
                <a:srgbClr val="E3E8EF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068027336"/>
        <c:crosses val="autoZero"/>
        <c:majorUnit val="0.1"/>
      </c:valAx>
    </c:plotArea>
    <c:legend>
      <c:legendPos val="b"/>
      <c:overlay val="0"/>
      <c:txPr>
        <a:bodyPr/>
        <a:lstStyle/>
        <a:p>
          <a:pPr>
            <a:defRPr sz="1100">
              <a:latin typeface="BIZ UDPゴシック"/>
              <a:ea typeface="BIZ UDPゴシック"/>
              <a:cs typeface="BIZ UDPゴシック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5A6676"/>
          </a:solidFill>
          <a:latin typeface="BIZ UDPゴシック"/>
          <a:ea typeface="BIZ UDPゴシック"/>
          <a:cs typeface="BIZ UDPゴシック"/>
        </a:defRPr>
      </a:pPr>
      <a:endParaRPr lang="en-US">
        <a:latin typeface="BIZ UDPゴシック"/>
        <a:ea typeface="BIZ UDPゴシック"/>
        <a:cs typeface="BIZ UDPゴシック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記録日数と、推し疲れの予測の幅の縮小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縮んだ割合（%）</c:v>
                </c:pt>
              </c:strCache>
            </c:strRef>
          </c:tx>
          <c:spPr>
            <a:solidFill>
              <a:srgbClr val="12A38A"/>
            </a:solidFill>
          </c:spPr>
          <c:invertIfNegative val="0"/>
          <c:dPt>
            <c:idx val="0"/>
            <c:spPr>
              <a:solidFill>
                <a:srgbClr val="8FA3B8"/>
              </a:solidFill>
            </c:spPr>
          </c:dPt>
          <c:dPt>
            <c:idx val="1"/>
            <c:spPr>
              <a:solidFill>
                <a:srgbClr val="12A38A"/>
              </a:solidFill>
            </c:spPr>
          </c:dPt>
          <c:dPt>
            <c:idx val="2"/>
            <c:spPr>
              <a:solidFill>
                <a:srgbClr val="12A38A"/>
              </a:solidFill>
            </c:spPr>
          </c:dPt>
          <c:dPt>
            <c:idx val="3"/>
            <c:spPr>
              <a:solidFill>
                <a:srgbClr val="12A38A"/>
              </a:solidFill>
            </c:spPr>
          </c:dPt>
          <c:dPt>
            <c:idx val="4"/>
            <c:spPr>
              <a:solidFill>
                <a:srgbClr val="12A38A"/>
              </a:solidFill>
            </c:spPr>
          </c:dPt>
          <c:cat>
            <c:strRef>
              <c:f>Sheet1!$A$2:$A$6</c:f>
              <c:strCache>
                <c:ptCount val="5"/>
                <c:pt idx="0">
                  <c:v>0日</c:v>
                </c:pt>
                <c:pt idx="1">
                  <c:v>3日</c:v>
                </c:pt>
                <c:pt idx="2">
                  <c:v>7日</c:v>
                </c:pt>
                <c:pt idx="3">
                  <c:v>14日</c:v>
                </c:pt>
                <c:pt idx="4">
                  <c:v>28日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13</c:v>
                </c:pt>
                <c:pt idx="2">
                  <c:v>18</c:v>
                </c:pt>
                <c:pt idx="3">
                  <c:v>21</c:v>
                </c:pt>
                <c:pt idx="4">
                  <c:v>22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24303F"/>
                  </a:solidFill>
                  <a:latin typeface="BIZ UDPゴシック"/>
                  <a:ea typeface="BIZ UDPゴシック"/>
                  <a:cs typeface="BIZ UDPゴシック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txPr>
          <a:bodyPr/>
          <a:lstStyle/>
          <a:p>
            <a:pPr>
              <a:defRPr sz="110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 w="9525">
              <a:solidFill>
                <a:srgbClr val="E3E8EF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100">
          <a:solidFill>
            <a:srgbClr val="5A6676"/>
          </a:solidFill>
          <a:latin typeface="BIZ UDPゴシック"/>
          <a:ea typeface="BIZ UDPゴシック"/>
          <a:cs typeface="BIZ UDPゴシック"/>
        </a:defRPr>
      </a:pPr>
      <a:endParaRPr lang="en-US">
        <a:latin typeface="BIZ UDPゴシック"/>
        <a:ea typeface="BIZ UDPゴシック"/>
        <a:cs typeface="BIZ UDPゴシック"/>
      </a:endParaR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139FF-5DF4-46B1-A730-4E68595A117A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D2F10-75EE-4518-AB94-CE9EAC6EA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639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進捗は、実際に動く試作アプリを作ったこと、ゆらぎアバターを見直したこと、いただいた意見を整理したことの3点です。数字はすべて、試作のコードとテストで確認した値です。予測の係数は仮の値なので、研究の結果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完了が3件、新規が1件、進行中が1件、未着手が1件です。試作アプリは動くところまで作りましたが、予測の係数は仮の値で、倫理審査の申請と人による操作確認はこれからです。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計画書のスケジュールに、現在地を重ねています。試作が先に動いたので、操作確認を前倒しにできます。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いただいた意見を7点に整理しました。試作に反映したのは、K-meansを使わないこと、使える金額と時間を入力にしたこと、幸福度を2週ごとに追うことの3点です。PCAとクラスタの扱いは、解析の方針として相談させてください。専門と因果推論は一緒ではない、という意見は、意図を確認したいと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備調査の結果を整理し直しました。2つ注意があります。1つ目は、勤勉性とアバター没入の関連は、アバターの提示に反応しやすいことを示すものではないこと。2つ目は、想定シナリオのクマや淀んだオーラの表現が、計画書の倫理的な方針と合わないことです。試作は計画書の方針に合わせ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ゆらぎアバターを見直した理由です。試作のモデルで計算すると、記録による予測の幅の縮小は、最初の2週間で約2割、その後はほとんど縮みません。以前の資料に書いた「記録が増えるとくっきりする」は、成り立ちにくい説明でした。20通りの未来は起きていない日なので、本人にとって意味がありません。根拠にした点の図も、境目のある決定の場面向けでした。意味を感じないというご指摘は、そのとおりだったと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つの案を、研究として成り立つか、本人にとっての意味、3週間で作れるかの3つの観点で比べました。点数はAIによる机上の審査です。群Bと群Cの差をアバターと予測値だけに保てる最小案を選びました。本人にとっての意味は実績カード案の方が高いのですが、群Cだけが自分の過去を見返せることになり、比較が濁るため見送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試作アプリの実際の画面です。ブラウザで動き、HTMLをダブルクリックするだけで使えます。データは端末の中にだけ保存し、どこにも送信しません。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毎日の記録を、会話で入力できるようにしました。ひとこと書くと、ルールで時間や金額を取り出し、足りない項目だけを最大3問で聞き返します。楽しさと疲れは、口調から推定せず、必ず1から5で答えてもらいます。確認カードで直すこともできます。つらさが強く見える言葉があれば相談先を表示し、記録は保存せず、予測の表示も止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いまの状態の画面です。ストレスは、睡眠・出費・時間・疲れ・気持ちの5つの軸をレーダーチャートで見せ、0から100の総合の数字を出します。幸福度はWHO-5の得点を0から100にしたものです。数字ごとに、この数字の根拠というボタンがあり、押すと計算式、あなたの入力値と計算の途中、注意と限界が開きます。ただし、ゆとりあり、ふつう、重めの区切りは、0から100を三等分した仮の目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作確認の結果です。単体テストが16件、ブラウザでの通し確認が7つの場面で、すべて通りました。画面に出す数字は、手計算と一致することを確認しています。一方で、予測の係数は仮の値、写真からのアバター、サーバー送信、倫理審査済みの文面、人による操作確認はこれか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談したいことは4つです。いまの状態の画面を群AとBにも出すか、ミラーの意味づけ、解析の方針、倫理審査に書くことです。特に1つ目は、群Aが記録のみでなくなると比較に影響するので、先生のご意見を伺いた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次回までに、予備調査のデータから予測モデルの係数を作り、試作アプリに差し替えます。倫理審査の申請書の下書きと、研究室内での試用の準備も進めます。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3340" y="3607869"/>
            <a:ext cx="8915400" cy="165576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00740" y="5356274"/>
            <a:ext cx="4925889" cy="1418957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19" name="サブタイトル 2"/>
          <p:cNvSpPr txBox="1">
            <a:spLocks/>
          </p:cNvSpPr>
          <p:nvPr userDrawn="1"/>
        </p:nvSpPr>
        <p:spPr>
          <a:xfrm>
            <a:off x="6068860" y="4277519"/>
            <a:ext cx="2949880" cy="165576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2400" dirty="0"/>
          </a:p>
        </p:txBody>
      </p:sp>
      <p:pic>
        <p:nvPicPr>
          <p:cNvPr id="9" name="図 8" descr="アイコン&#10;&#10;自動的に生成された説明">
            <a:extLst>
              <a:ext uri="{FF2B5EF4-FFF2-40B4-BE49-F238E27FC236}">
                <a16:creationId xmlns:a16="http://schemas.microsoft.com/office/drawing/2014/main" id="{27B4E2A7-DAEA-4D6D-82DB-9419AF5FAF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0" y="5346399"/>
            <a:ext cx="1182362" cy="1428837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CAFA43D-FE5B-48C3-863A-33F247D129D4}"/>
              </a:ext>
            </a:extLst>
          </p:cNvPr>
          <p:cNvCxnSpPr/>
          <p:nvPr userDrawn="1"/>
        </p:nvCxnSpPr>
        <p:spPr>
          <a:xfrm>
            <a:off x="103340" y="5252744"/>
            <a:ext cx="891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5F561B1-C9EC-4DC6-912D-C77D62F90B04}"/>
              </a:ext>
            </a:extLst>
          </p:cNvPr>
          <p:cNvSpPr/>
          <p:nvPr userDrawn="1"/>
        </p:nvSpPr>
        <p:spPr>
          <a:xfrm>
            <a:off x="0" y="-1"/>
            <a:ext cx="9144000" cy="3435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985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9C76-77F1-4215-9649-4092C94102D0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77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1" y="0"/>
            <a:ext cx="9114626" cy="6300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0625" y="1709739"/>
            <a:ext cx="8586592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00625" y="4589464"/>
            <a:ext cx="858659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CBC8-C13F-44F6-BCB3-948A96AAE3EF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85" y="25052"/>
            <a:ext cx="1155615" cy="134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4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22128" y="1716067"/>
            <a:ext cx="4392722" cy="446089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716067"/>
            <a:ext cx="4408379" cy="446089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910EA-EFB6-4ED7-B593-CE78B1973066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63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22129" y="1681163"/>
            <a:ext cx="437605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22129" y="2505075"/>
            <a:ext cx="4376053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485476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485476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46DE9-826E-4F2E-9FBE-79AF29EDC55F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6424B-FEB0-415C-8C57-9662DE1E2037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74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50C9-8340-4923-BDA6-FE9093DBE1F0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40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8FF-8035-4960-B29B-D2E38E699D23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7982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 userDrawn="1"/>
        </p:nvSpPr>
        <p:spPr>
          <a:xfrm>
            <a:off x="0" y="6394366"/>
            <a:ext cx="1155526" cy="463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155526" y="6394366"/>
            <a:ext cx="7158625" cy="4636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314151" y="6394366"/>
            <a:ext cx="829850" cy="463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1" y="0"/>
            <a:ext cx="7565720" cy="1083832"/>
          </a:xfrm>
          <a:prstGeom prst="rect">
            <a:avLst/>
          </a:prstGeom>
          <a:gradFill>
            <a:gsLst>
              <a:gs pos="68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0" y="-7407"/>
            <a:ext cx="8109606" cy="873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16237" y="1261733"/>
            <a:ext cx="8903777" cy="4915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6973" y="6455298"/>
            <a:ext cx="967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30C953D-9D36-4E45-98EB-F4573D85DE5F}" type="datetime1">
              <a:rPr lang="ja-JP" altLang="en-US" smtClean="0"/>
              <a:t>2026/7/3</a:t>
            </a:fld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202498" y="6435466"/>
            <a:ext cx="7082278" cy="3849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" y="880126"/>
            <a:ext cx="9143999" cy="320675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0"/>
                </a:schemeClr>
              </a:gs>
              <a:gs pos="88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0" name="テキスト ボックス 9"/>
          <p:cNvSpPr txBox="1"/>
          <p:nvPr userDrawn="1"/>
        </p:nvSpPr>
        <p:spPr>
          <a:xfrm>
            <a:off x="0" y="855796"/>
            <a:ext cx="620000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50" b="1" i="1" dirty="0">
                <a:solidFill>
                  <a:schemeClr val="bg1"/>
                </a:solidFill>
              </a:rPr>
              <a:t>Media</a:t>
            </a:r>
            <a:r>
              <a:rPr kumimoji="1" lang="en-US" altLang="ja-JP" sz="1350" b="1" i="1" baseline="0" dirty="0">
                <a:solidFill>
                  <a:schemeClr val="bg1"/>
                </a:solidFill>
              </a:rPr>
              <a:t> Interaction Laboratory, Osaka Institute of Technology</a:t>
            </a:r>
            <a:endParaRPr kumimoji="1" lang="ja-JP" altLang="en-US" sz="1350" b="1" i="1" dirty="0">
              <a:solidFill>
                <a:schemeClr val="bg1"/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389307" y="6455298"/>
            <a:ext cx="7253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8531E9D-61D6-4888-9999-68160698B78F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17" name="図 16" descr="アイコン&#10;&#10;自動的に生成された説明">
            <a:extLst>
              <a:ext uri="{FF2B5EF4-FFF2-40B4-BE49-F238E27FC236}">
                <a16:creationId xmlns:a16="http://schemas.microsoft.com/office/drawing/2014/main" id="{2CB505E5-1A9F-4F7A-B174-AC352F0CDE0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980" y="21772"/>
            <a:ext cx="975646" cy="117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5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b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3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進捗報告 2026/10/09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8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今井元</a:t>
            </a:r>
          </a:p>
        </p:txBody>
      </p:sp>
      <p:sp>
        <p:nvSpPr>
          <p:cNvPr id="4" name="会議名"/>
          <p:cNvSpPr txBox="1"/>
          <p:nvPr/>
        </p:nvSpPr>
        <p:spPr>
          <a:xfrm>
            <a:off x="64008" y="82296"/>
            <a:ext cx="4206240" cy="384048"/>
          </a:xfrm>
          <a:prstGeom prst="rect">
            <a:avLst/>
          </a:prstGeom>
          <a:solidFill>
            <a:srgbClr val="A9DCFF"/>
          </a:solidFill>
        </p:spPr>
        <p:txBody>
          <a:bodyPr wrap="square" tIns="18288" bIns="1828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4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メディアインタラクション研究室　進捗報告</a:t>
            </a:r>
          </a:p>
        </p:txBody>
      </p:sp>
      <p:sp>
        <p:nvSpPr>
          <p:cNvPr id="5" name="著者所属"/>
          <p:cNvSpPr txBox="1"/>
          <p:nvPr/>
        </p:nvSpPr>
        <p:spPr>
          <a:xfrm>
            <a:off x="3931920" y="5358384"/>
            <a:ext cx="493776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大阪工業大学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4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メディアインタラクション研究室</a:t>
            </a:r>
          </a:p>
        </p:txBody>
      </p:sp>
      <p:sp>
        <p:nvSpPr>
          <p:cNvPr id="6" name="サブタイトル"/>
          <p:cNvSpPr txBox="1"/>
          <p:nvPr/>
        </p:nvSpPr>
        <p:spPr>
          <a:xfrm>
            <a:off x="411480" y="914400"/>
            <a:ext cx="5669280" cy="2103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OshiFit 試作アプリを作った</a:t>
            </a:r>
          </a:p>
          <a:p>
            <a:pPr algn="l"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システム案の見直しと、いただいた意見の整理</a:t>
            </a:r>
          </a:p>
          <a:p>
            <a:pPr algn="l"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sz="14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ブラウザで動く版・会話での記録・いまの状態（レーダーと根拠）</a:t>
            </a:r>
          </a:p>
        </p:txBody>
      </p:sp>
      <p:pic>
        <p:nvPicPr>
          <p:cNvPr id="7" name="Picture 6" descr="ghost_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658368"/>
            <a:ext cx="403411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今回の進捗サマリー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2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11480" y="14813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完了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389888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試作アプリを実装（ブラウザで動く・約1,200行）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会話での記録・安全層・今週の提案・ミラー・いまの状態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9456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完了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03120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動作確認：単体テスト16件、ブラウザでの通し確認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実際の Chromium で、設定から提案・状態画面までを操作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90779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16352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システム案を見直し：ゆらぎアバターをやめる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4案を3つの観点で比べ、計画書に忠実な最小案を採用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62102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新規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529584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いただいた意見を整理（7点）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PCA・K-means・使える金額と時間 など。試作に入れたものと相談するものを分けた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3342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進行中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42816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予測の係数は仮の値のまま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予備調査215名から作る v1.0 の係数に差し替える作業が必要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04748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7A8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未着手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956048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倫理審査の申請・人による操作確認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10月中に申請、5〜8名で操作確認の予定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全体スケジュールと現在地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3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1874519" y="141732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10月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74720" y="141732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11月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4920" y="141732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12月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6520" y="1417320"/>
            <a:ext cx="914399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46520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60919" y="1417320"/>
            <a:ext cx="777239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2月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60919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38159" y="1417320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3月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38159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176479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システム開発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1874520"/>
            <a:ext cx="1496961" cy="329184"/>
          </a:xfrm>
          <a:prstGeom prst="roundRect">
            <a:avLst>
              <a:gd name="adj" fmla="val 22222"/>
            </a:avLst>
          </a:prstGeom>
          <a:solidFill>
            <a:srgbClr val="CC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874519" y="1874520"/>
            <a:ext cx="412954" cy="329184"/>
          </a:xfrm>
          <a:prstGeom prst="roundRect">
            <a:avLst>
              <a:gd name="adj" fmla="val 22222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74519" y="1874520"/>
            <a:ext cx="1496961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設計 → ベータ版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31343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倫理審査・募集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7474" y="2423160"/>
            <a:ext cx="722670" cy="329184"/>
          </a:xfrm>
          <a:prstGeom prst="roundRect">
            <a:avLst>
              <a:gd name="adj" fmla="val 22222"/>
            </a:avLst>
          </a:prstGeom>
          <a:solidFill>
            <a:srgbClr val="FD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287474" y="2423160"/>
            <a:ext cx="722670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審査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1765" y="2423160"/>
            <a:ext cx="412954" cy="329184"/>
          </a:xfrm>
          <a:prstGeom prst="roundRect">
            <a:avLst>
              <a:gd name="adj" fmla="val 22222"/>
            </a:avLst>
          </a:prstGeom>
          <a:solidFill>
            <a:srgbClr val="EF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061765" y="2423160"/>
            <a:ext cx="457200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募集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86207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本実験（6週間）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8059" y="2971800"/>
            <a:ext cx="693420" cy="329184"/>
          </a:xfrm>
          <a:prstGeom prst="roundRect">
            <a:avLst>
              <a:gd name="adj" fmla="val 22222"/>
            </a:avLst>
          </a:prstGeom>
          <a:solidFill>
            <a:srgbClr val="E3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528059" y="2971800"/>
            <a:ext cx="693420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記録のみ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4820" y="2971800"/>
            <a:ext cx="1331041" cy="329184"/>
          </a:xfrm>
          <a:prstGeom prst="roundRect">
            <a:avLst>
              <a:gd name="adj" fmla="val 22222"/>
            </a:avLst>
          </a:prstGeom>
          <a:solidFill>
            <a:srgbClr val="E3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274820" y="2971800"/>
            <a:ext cx="1331041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介入（3群）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41071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解析・修論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50107" y="3520440"/>
            <a:ext cx="1622322" cy="329184"/>
          </a:xfrm>
          <a:prstGeom prst="roundRect">
            <a:avLst>
              <a:gd name="adj" fmla="val 22222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50107" y="3520440"/>
            <a:ext cx="1622322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解析 → 執筆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95935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対外発表</a:t>
            </a:r>
          </a:p>
        </p:txBody>
      </p:sp>
      <p:sp>
        <p:nvSpPr>
          <p:cNvPr id="35" name="Diamond 34"/>
          <p:cNvSpPr/>
          <p:nvPr/>
        </p:nvSpPr>
        <p:spPr>
          <a:xfrm>
            <a:off x="3228421" y="4032504"/>
            <a:ext cx="182880" cy="1828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816941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CHIIR投稿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10/29</a:t>
            </a:r>
          </a:p>
        </p:txBody>
      </p:sp>
      <p:sp>
        <p:nvSpPr>
          <p:cNvPr id="37" name="Diamond 36"/>
          <p:cNvSpPr/>
          <p:nvPr/>
        </p:nvSpPr>
        <p:spPr>
          <a:xfrm>
            <a:off x="7180989" y="4032504"/>
            <a:ext cx="182880" cy="1828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69509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修論提出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1/29</a:t>
            </a:r>
          </a:p>
        </p:txBody>
      </p:sp>
      <p:sp>
        <p:nvSpPr>
          <p:cNvPr id="39" name="Diamond 38"/>
          <p:cNvSpPr/>
          <p:nvPr/>
        </p:nvSpPr>
        <p:spPr>
          <a:xfrm>
            <a:off x="7713617" y="4032504"/>
            <a:ext cx="182880" cy="1828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302137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公聴会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2/17</a:t>
            </a:r>
          </a:p>
        </p:txBody>
      </p:sp>
      <p:sp>
        <p:nvSpPr>
          <p:cNvPr id="41" name="Diamond 40"/>
          <p:cNvSpPr/>
          <p:nvPr/>
        </p:nvSpPr>
        <p:spPr>
          <a:xfrm>
            <a:off x="8298179" y="4032504"/>
            <a:ext cx="182880" cy="1828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86699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CHIIR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3/7–11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287474" y="1719072"/>
            <a:ext cx="0" cy="2286000"/>
          </a:xfrm>
          <a:prstGeom prst="line">
            <a:avLst/>
          </a:prstGeom>
          <a:ln w="28575">
            <a:solidFill>
              <a:srgbClr val="E8457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647394" y="4617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いまここ 10/9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5029200"/>
            <a:ext cx="8321040" cy="11430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594360" y="5321808"/>
            <a:ext cx="548640" cy="54864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ic_clo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" y="5453481"/>
            <a:ext cx="285292" cy="28529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25880" y="5074920"/>
            <a:ext cx="72237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11月初めに本実験を始めるために、10月中にやること：係数の差し替え・倫理審査の申請・操作確認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試作アプリが先に動いたので、操作確認を前倒しできる。審査が遅れた場合は群B・Cの2群に縮小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いただいた意見と、対応の状況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4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25880"/>
          <a:ext cx="8321040" cy="45354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17520"/>
                <a:gridCol w="4297680"/>
                <a:gridCol w="1005840"/>
              </a:tblGrid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いただいた意見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受け止め・対応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状況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</a:tr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K-means は要らない／離散化も要らない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提案の根拠には使わない（計画書どおり）。試作は連続量のまま予測し、クラスタは使っていない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反映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「kmeansの段階でクラスタに分けたい」（自分との乖離を生まないため）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本人の意図。今回は未実装。解析の方針として相談したい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相談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6F4FF"/>
                    </a:solidFill>
                  </a:tcPr>
                </a:tc>
              </a:tr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特徴量は量的データ。主成分分析の方がよいのでは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予備調査のデータで PCA を試し、予測の精度を比べる。データが手元に要る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未着手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1E3"/>
                    </a:solidFill>
                  </a:tcPr>
                </a:tc>
              </a:tr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K は先に決めているのか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決めていない（k=2・シルエット係数0.41は探索的）。この点は計画書に明記済み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回答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外向・内向以外には？　使える金額、生活で避ける時間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「推し活に使える範囲」を入力にし、出費と時間の負担の計算に使った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反映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自分に見合っていないと、幸福度が下がるのでは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使える範囲と比べる軸を追加。WHO-5 を2週ごとに会話で測り、下がっていないかを追う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反映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専門と因果推論は一緒ではない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意図を確認したい。画面には「見込みで、効果の保証ではない」と書いた。効果は群間比較で検証する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確認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6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予備調査の結果と、読み方の注意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5</a:t>
            </a:fld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325880"/>
          <a:ext cx="45720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30352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回答234名 → 推し活をしている217名 → 確認問題の誤答2名を除いた215名。同じ項目が、幸福度と推し疲れの両方を押し上げている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371600"/>
            <a:ext cx="3566160" cy="224028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312664" y="1517904"/>
            <a:ext cx="457200" cy="457200"/>
          </a:xfrm>
          <a:prstGeom prst="ellipse">
            <a:avLst/>
          </a:prstGeom>
          <a:solidFill>
            <a:srgbClr val="E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c_war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627631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79592" y="1490472"/>
            <a:ext cx="274319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読み方の注意①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0952" y="2066543"/>
            <a:ext cx="3273552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勤勉性 → アバター没入（係数 −0.15）は、キャラへの感情移入との関連。「アバターの提示に反応しやすい」という介入への効果ではない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37947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312664" y="3941064"/>
            <a:ext cx="457200" cy="45720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ic_shiel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4050792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79592" y="3913632"/>
            <a:ext cx="274319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読み方の注意②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4489704"/>
            <a:ext cx="3273552" cy="1591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想定シナリオ（ユウカさん）の「目の下のクマ・淀んだオーラ」は、計画書の「大げさな疲弊表現はしない」と合わない。試作では3段階の弱い表情だけにした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ゆらぎアバターを見直した理由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6</a:t>
            </a:fld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325880"/>
          <a:ext cx="42062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66344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試作のモデルで計算（係数は仮）。14日から28日では、さらに約2%しか縮まない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371600"/>
            <a:ext cx="3886200" cy="1371600"/>
          </a:xfrm>
          <a:prstGeom prst="roundRect">
            <a:avLst>
              <a:gd name="adj" fmla="val 8000"/>
            </a:avLst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983480" y="1417320"/>
            <a:ext cx="361188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400" b="1">
                <a:solidFill>
                  <a:srgbClr val="E07A10"/>
                </a:solidFill>
                <a:latin typeface="BIZ UDPゴシック"/>
                <a:ea typeface="BIZ UDPゴシック"/>
                <a:cs typeface="BIZ UDPゴシック"/>
              </a:rPr>
              <a:t>20通りは、起きていない日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重ね描きは合成した日で、本人の記憶や日付とつながらない。「何を決める画面か」を説明できなかった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880360"/>
            <a:ext cx="3886200" cy="1371600"/>
          </a:xfrm>
          <a:prstGeom prst="roundRect">
            <a:avLst>
              <a:gd name="adj" fmla="val 8000"/>
            </a:avLst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83480" y="2926079"/>
            <a:ext cx="361188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400" b="1">
                <a:solidFill>
                  <a:srgbClr val="E07A10"/>
                </a:solidFill>
                <a:latin typeface="BIZ UDPゴシック"/>
                <a:ea typeface="BIZ UDPゴシック"/>
                <a:cs typeface="BIZ UDPゴシック"/>
              </a:rPr>
              <a:t>「記録が増えるとくっきり」は弱い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縮むのは最初の約2週間だけ。その後は、日ごとの誤差が大きく残る（推し疲れの説明率は約11%）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4389120"/>
            <a:ext cx="3886200" cy="1371600"/>
          </a:xfrm>
          <a:prstGeom prst="roundRect">
            <a:avLst>
              <a:gd name="adj" fmla="val 8000"/>
            </a:avLst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83480" y="4434840"/>
            <a:ext cx="361188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400" b="1">
                <a:solidFill>
                  <a:srgbClr val="E07A10"/>
                </a:solidFill>
                <a:latin typeface="BIZ UDPゴシック"/>
                <a:ea typeface="BIZ UDPゴシック"/>
                <a:cs typeface="BIZ UDPゴシック"/>
              </a:rPr>
              <a:t>根拠にした図は、別の場面向け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点の図（Kay et al., 2016）は、バスに間に合うかのように境目のある決定で効く。アバターの重ね描きの根拠にはならない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44068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「意味を感じない」というご指摘は、そのとおりだった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4つの案を比べて、最小案を選んだ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7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25880"/>
          <a:ext cx="8321040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4800"/>
                <a:gridCol w="1463040"/>
                <a:gridCol w="1371600"/>
                <a:gridCol w="1371600"/>
              </a:tblGrid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研究として成り立つか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本人にとっての意味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3週間で作れるか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</a:tr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あの日のわたし（実績カード）＋ひとこと記録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5.5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5.5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作戦会議アバター（会話で記録・提案・答え合わせ）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4.5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最小案：Path A/B に各1体＋数字＋ひとこと記録（採用）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6.5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56692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えらぶ前の1週間（ウィークプレビュー）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4.5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25196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0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点数は10点満点。AI（別のエージェント）による机上の審査で、人による評価ではない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709160"/>
            <a:ext cx="4069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57784" y="4855464"/>
            <a:ext cx="457200" cy="457200"/>
          </a:xfrm>
          <a:prstGeom prst="ellipse">
            <a:avLst/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c_che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4965192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4712" y="4828032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最小案を選んだ理由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5404104"/>
            <a:ext cx="3776472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群Bと群Cの差を「アバターと予測値の有無」だけに保てる。作る量が少なく、倫理審査への影響も小さい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709160"/>
            <a:ext cx="4069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809744" y="4855464"/>
            <a:ext cx="457200" cy="457200"/>
          </a:xfrm>
          <a:prstGeom prst="ellipse">
            <a:avLst/>
          </a:prstGeom>
          <a:solidFill>
            <a:srgbClr val="E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ic_war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4965192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76672" y="4828032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残した課題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1" y="5404104"/>
            <a:ext cx="3776472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本人にとっての意味は「実績カード」案の方が高い。ただし群Cだけの自己確認が有効成分になり、比較を濁す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試作アプリの全体像（実際の画面）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8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48056" y="1316736"/>
            <a:ext cx="1824228" cy="3538728"/>
          </a:xfrm>
          <a:prstGeom prst="roundRect">
            <a:avLst>
              <a:gd name="adj" fmla="val 9022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hot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7145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937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記録（会話）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ひとこと→聞き返し→確認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8" y="1316736"/>
            <a:ext cx="1824228" cy="3538728"/>
          </a:xfrm>
          <a:prstGeom prst="roundRect">
            <a:avLst>
              <a:gd name="adj" fmla="val 9022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hot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" y="1371600"/>
            <a:ext cx="1714500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96312" y="4937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今週の提案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3案から選ぶ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316736"/>
            <a:ext cx="1824228" cy="3538728"/>
          </a:xfrm>
          <a:prstGeom prst="roundRect">
            <a:avLst>
              <a:gd name="adj" fmla="val 9022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shot_mi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3" y="1371600"/>
            <a:ext cx="1714500" cy="3429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81144" y="4937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ミラー（群C）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今のまま｜提案どおり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2552" y="1316736"/>
            <a:ext cx="1824228" cy="3538728"/>
          </a:xfrm>
          <a:prstGeom prst="roundRect">
            <a:avLst>
              <a:gd name="adj" fmla="val 9022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hot_st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1371600"/>
            <a:ext cx="1714500" cy="3429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65976" y="4937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いまの状態（群C）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レーダーと数値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669280"/>
            <a:ext cx="8321040" cy="502920"/>
          </a:xfrm>
          <a:prstGeom prst="roundRect">
            <a:avLst>
              <a:gd name="adj" fmla="val 18181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index.html をダブルクリックするだけで動く。データは端末の中にだけ保存し、送信しない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会話での記録：ボタンを何度も押さない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9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48056" y="1316736"/>
            <a:ext cx="2167128" cy="4224528"/>
          </a:xfrm>
          <a:prstGeom prst="roundRect">
            <a:avLst>
              <a:gd name="adj" fmla="val 7594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hot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2057400" cy="41148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3063240" y="1444752"/>
            <a:ext cx="457200" cy="45720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71600"/>
            <a:ext cx="5074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ひとこと書く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「夜に配信を2時間見て、Xを1時間。グッズは買ってない」</a:t>
            </a:r>
          </a:p>
        </p:txBody>
      </p:sp>
      <p:sp>
        <p:nvSpPr>
          <p:cNvPr id="9" name="Oval 8"/>
          <p:cNvSpPr/>
          <p:nvPr/>
        </p:nvSpPr>
        <p:spPr>
          <a:xfrm>
            <a:off x="3063240" y="2157984"/>
            <a:ext cx="457200" cy="45720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84832"/>
            <a:ext cx="5074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ルールで項目を取り出す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時間・金額・ライブ参加・睡眠。LLMは使わない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3063240" y="2871216"/>
            <a:ext cx="457200" cy="45720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98064"/>
            <a:ext cx="5074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足りない所だけ聞く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最大3問。ボタンか短い言葉で答える</a:t>
            </a:r>
          </a:p>
        </p:txBody>
      </p:sp>
      <p:sp>
        <p:nvSpPr>
          <p:cNvPr id="13" name="Oval 12"/>
          <p:cNvSpPr/>
          <p:nvPr/>
        </p:nvSpPr>
        <p:spPr>
          <a:xfrm>
            <a:off x="3063240" y="3584448"/>
            <a:ext cx="457200" cy="45720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11296"/>
            <a:ext cx="5074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楽しさと疲れは必ず聞く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口調からは推定しない。「4と2」で答えられる</a:t>
            </a:r>
          </a:p>
        </p:txBody>
      </p:sp>
      <p:sp>
        <p:nvSpPr>
          <p:cNvPr id="15" name="Oval 14"/>
          <p:cNvSpPr/>
          <p:nvPr/>
        </p:nvSpPr>
        <p:spPr>
          <a:xfrm>
            <a:off x="3063240" y="4297680"/>
            <a:ext cx="457200" cy="45720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24528"/>
            <a:ext cx="5074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確認カードで直せる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「睡眠は少し」と書けば直る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5029200"/>
            <a:ext cx="5669280" cy="1143000"/>
          </a:xfrm>
          <a:prstGeom prst="roundRect">
            <a:avLst>
              <a:gd name="adj" fmla="val 9600"/>
            </a:avLst>
          </a:prstGeom>
          <a:solidFill>
            <a:srgbClr val="FD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200400" y="5285232"/>
            <a:ext cx="548640" cy="54864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ic_shiel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073" y="5416905"/>
            <a:ext cx="285292" cy="285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86200" y="5047488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35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安全層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強い言葉・疲れ5が3日連続・WHO-5 素点13未満で相談先を表示。強い言葉のときは記録を保存せず、予測も止める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いまの状態：レーダーと数値、根拠はボタンで開く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10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48056" y="1316736"/>
            <a:ext cx="1664207" cy="3218688"/>
          </a:xfrm>
          <a:prstGeom prst="roundRect">
            <a:avLst>
              <a:gd name="adj" fmla="val 9890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hot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55448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139696" y="1316736"/>
            <a:ext cx="1664207" cy="3218688"/>
          </a:xfrm>
          <a:prstGeom prst="roundRect">
            <a:avLst>
              <a:gd name="adj" fmla="val 9890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hot_w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371600"/>
            <a:ext cx="1554480" cy="310896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60520" y="1325880"/>
          <a:ext cx="4571999" cy="320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2960"/>
                <a:gridCol w="3749039"/>
              </a:tblGrid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数字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計算式（直近14日）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睡眠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睡眠への影響の平均（0〜2）÷2×100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出費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週の支出 ÷ 使ってよい額（月×7/30）×100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時間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1日の配信・動画＋SNS ÷ 使える時間×100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疲れ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(疲れの平均−1)÷4×100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気持ち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いちばんの疲れが義務感・比較だった日の割合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幸福度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WHO-5 素点（0〜25）× 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160520" y="4663440"/>
            <a:ext cx="4572000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306824" y="4809744"/>
            <a:ext cx="457200" cy="45720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c_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491947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73752" y="4782312"/>
            <a:ext cx="374903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根拠ボタンの中身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5358383"/>
            <a:ext cx="4279392" cy="7223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1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計算式／あなたの入力値と計算の途中／注意・限界。総合の数字は、根拠の計算結果と一致する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動作確認の結果と、まだ仮のところ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11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269748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26974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300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16件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単体テスト（すべて通過）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18688" y="1371600"/>
            <a:ext cx="269748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218688" y="1417320"/>
            <a:ext cx="26974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300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7場面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19456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ブラウザでの通し確認（すべて通過）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25896" y="1371600"/>
            <a:ext cx="269748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25896" y="1417320"/>
            <a:ext cx="26974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6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手計算と一致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219456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5つの軸・総合・WHO-5 の数値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80360"/>
            <a:ext cx="4069080" cy="329184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7784" y="3026664"/>
            <a:ext cx="457200" cy="457200"/>
          </a:xfrm>
          <a:prstGeom prst="ellipse">
            <a:avLst/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ic_che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136392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4712" y="2999232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確認できたこと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575304"/>
            <a:ext cx="3776472" cy="2505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3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群Aの期間は「記録」と「設定」だけ</a:t>
            </a:r>
          </a:p>
          <a:p>
            <a:pPr algn="l" marL="182880" indent="-182880">
              <a:spcAft>
                <a:spcPts val="3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群Bは提案の文章だけ（予測値なし）</a:t>
            </a:r>
          </a:p>
          <a:p>
            <a:pPr algn="l" marL="182880" indent="-182880">
              <a:spcAft>
                <a:spcPts val="3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群Cだけミラーと状態画面が出る</a:t>
            </a:r>
          </a:p>
          <a:p>
            <a:pPr algn="l" marL="182880" indent="-182880">
              <a:spcAft>
                <a:spcPts val="3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強い言葉で相談先を出し、記録を保存しない</a:t>
            </a:r>
          </a:p>
          <a:p>
            <a:pPr algn="l" marL="182880" indent="-182880">
              <a:spcAft>
                <a:spcPts val="3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「増やしたい」を減らす提案は出ない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880360"/>
            <a:ext cx="4069080" cy="329184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809744" y="3026664"/>
            <a:ext cx="457200" cy="457200"/>
          </a:xfrm>
          <a:prstGeom prst="ellipse">
            <a:avLst/>
          </a:prstGeom>
          <a:solidFill>
            <a:srgbClr val="E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c_war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136392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76672" y="2999232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まだ仮・未実装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1" y="3575304"/>
            <a:ext cx="3776472" cy="2505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300"/>
              </a:spcAft>
              <a:buClr>
                <a:srgbClr val="E07A10"/>
              </a:buClr>
              <a:buFont typeface="BIZ UDPゴシック"/>
              <a:buChar char="•"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予測の係数（仮の値）</a:t>
            </a:r>
          </a:p>
          <a:p>
            <a:pPr algn="l" marL="182880" indent="-182880">
              <a:spcAft>
                <a:spcPts val="300"/>
              </a:spcAft>
              <a:buClr>
                <a:srgbClr val="E07A10"/>
              </a:buClr>
              <a:buFont typeface="BIZ UDPゴシック"/>
              <a:buChar char="•"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写真からのアバター（パーツ選択のみ）</a:t>
            </a:r>
          </a:p>
          <a:p>
            <a:pPr algn="l" marL="182880" indent="-182880">
              <a:spcAft>
                <a:spcPts val="300"/>
              </a:spcAft>
              <a:buClr>
                <a:srgbClr val="E07A10"/>
              </a:buClr>
              <a:buFont typeface="BIZ UDPゴシック"/>
              <a:buChar char="•"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サーバー送信・群の自動割り付け・通知</a:t>
            </a:r>
          </a:p>
          <a:p>
            <a:pPr algn="l" marL="182880" indent="-182880">
              <a:spcAft>
                <a:spcPts val="300"/>
              </a:spcAft>
              <a:buClr>
                <a:srgbClr val="E07A10"/>
              </a:buClr>
              <a:buFont typeface="BIZ UDPゴシック"/>
              <a:buChar char="•"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倫理審査済みの同意文・相談先の確認</a:t>
            </a:r>
          </a:p>
          <a:p>
            <a:pPr algn="l" marL="182880" indent="-182880">
              <a:spcAft>
                <a:spcPts val="300"/>
              </a:spcAft>
              <a:buClr>
                <a:srgbClr val="E07A10"/>
              </a:buClr>
              <a:buFont typeface="BIZ UDPゴシック"/>
              <a:buChar char="•"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人による操作確認・読み取りの精度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相談したいこと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12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8321040" cy="1051560"/>
          </a:xfrm>
          <a:prstGeom prst="roundRect">
            <a:avLst>
              <a:gd name="adj" fmla="val 10434"/>
            </a:avLst>
          </a:prstGeom>
          <a:solidFill>
            <a:srgbClr val="FD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640080" y="1627632"/>
            <a:ext cx="548640" cy="54864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questio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1759305"/>
            <a:ext cx="285292" cy="285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20" y="1417320"/>
            <a:ext cx="713232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「いまの状態」を、群A・Bにも出すか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群Aが「記録のみ」ではなくなり、自己確認の効果が混ざる。いまは群Cだけに出す設定（1行で変えられる）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560320"/>
            <a:ext cx="8321040" cy="1051560"/>
          </a:xfrm>
          <a:prstGeom prst="roundRect">
            <a:avLst>
              <a:gd name="adj" fmla="val 10434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ic_questio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2948025"/>
            <a:ext cx="285292" cy="2852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7320" y="2606039"/>
            <a:ext cx="713232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ミラーの意味づけ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アバター1体と数字だけで、本人に意味が伝わるか。実績カード案を群Cに足すと、比較が濁る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749039"/>
            <a:ext cx="8321040" cy="1051560"/>
          </a:xfrm>
          <a:prstGeom prst="roundRect">
            <a:avLst>
              <a:gd name="adj" fmla="val 10434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0080" y="4005072"/>
            <a:ext cx="548640" cy="54864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ic_questio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4136745"/>
            <a:ext cx="285292" cy="2852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17320" y="3794759"/>
            <a:ext cx="713232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解析の方針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PCA を試すか、個人補正（ベイズ）を主に使うか。K-means は提案の根拠に使わない、でよいか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937760"/>
            <a:ext cx="8321040" cy="1051560"/>
          </a:xfrm>
          <a:prstGeom prst="roundRect">
            <a:avLst>
              <a:gd name="adj" fmla="val 10434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0080" y="5193792"/>
            <a:ext cx="548640" cy="54864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ic_questio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5325465"/>
            <a:ext cx="285292" cy="285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17320" y="4983480"/>
            <a:ext cx="713232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倫理審査に書くこと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自由記述の本文を端末内にだけ置く／相談先の電話番号を載せる／会話の読み取りにLLMを使わない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次回（10/16）までの予定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13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6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やること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3852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10/10〜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10512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予備調査215名のデータから、予測モデル v1.0 の係数を作る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72491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10/11〜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96896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係数を試作アプリに差し替え、画面の数値を確認する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51129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83280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倫理審査の申請書の下書き（同意文・相談先・データの扱い）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2976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69664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研究室内で試用（5〜8名）の準備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08406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956048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次回の進捗報告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77840"/>
            <a:ext cx="8321040" cy="594360"/>
          </a:xfrm>
          <a:prstGeom prst="roundRect">
            <a:avLst>
              <a:gd name="adj" fmla="val 15384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次回に見せるもの：実際の係数での画面、倫理審査の下書き、いただいた意見への回答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99FF"/>
      </a:accent1>
      <a:accent2>
        <a:srgbClr val="00CC66"/>
      </a:accent2>
      <a:accent3>
        <a:srgbClr val="9999FF"/>
      </a:accent3>
      <a:accent4>
        <a:srgbClr val="ED7D31"/>
      </a:accent4>
      <a:accent5>
        <a:srgbClr val="FF99CC"/>
      </a:accent5>
      <a:accent6>
        <a:srgbClr val="CCFF66"/>
      </a:accent6>
      <a:hlink>
        <a:srgbClr val="0563C1"/>
      </a:hlink>
      <a:folHlink>
        <a:srgbClr val="954F72"/>
      </a:folHlink>
    </a:clrScheme>
    <a:fontScheme name="mixlab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71DAD71D-71F1-4879-AA29-AD68469550B8}" vid="{C503FC9E-2328-42BB-94CD-380D52093789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IZ UDP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E6AF0D829D43D49B1E81D8F4BBE5B7D" ma:contentTypeVersion="10" ma:contentTypeDescription="新しいドキュメントを作成します。" ma:contentTypeScope="" ma:versionID="5539ab1a2f6c3bdbf31c7c5cd0f154e8">
  <xsd:schema xmlns:xsd="http://www.w3.org/2001/XMLSchema" xmlns:xs="http://www.w3.org/2001/XMLSchema" xmlns:p="http://schemas.microsoft.com/office/2006/metadata/properties" xmlns:ns3="827dca8b-9b89-463d-9c0f-8f583314a21a" targetNamespace="http://schemas.microsoft.com/office/2006/metadata/properties" ma:root="true" ma:fieldsID="0abcb71c8026bc76d3643389aaf979a1" ns3:_="">
    <xsd:import namespace="827dca8b-9b89-463d-9c0f-8f583314a2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7dca8b-9b89-463d-9c0f-8f583314a2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27dca8b-9b89-463d-9c0f-8f583314a21a" xsi:nil="true"/>
  </documentManagement>
</p:properties>
</file>

<file path=customXml/itemProps1.xml><?xml version="1.0" encoding="utf-8"?>
<ds:datastoreItem xmlns:ds="http://schemas.openxmlformats.org/officeDocument/2006/customXml" ds:itemID="{7243403C-11AC-4F64-B63B-092045F9CB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7dca8b-9b89-463d-9c0f-8f583314a2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FAF0C7-D3A2-4F0D-85B6-FC2608B86C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4F4103-916A-4822-B22D-C96AE4A255CF}">
  <ds:schemaRefs>
    <ds:schemaRef ds:uri="http://schemas.microsoft.com/office/2006/metadata/properties"/>
    <ds:schemaRef ds:uri="827dca8b-9b89-463d-9c0f-8f583314a21a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mixlab_jp(4-3)</Template>
  <TotalTime>12</TotalTime>
  <Words>546</Words>
  <Application>Microsoft Office PowerPoint</Application>
  <PresentationFormat>画面に合わせる (4:3)</PresentationFormat>
  <Paragraphs>60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游ゴシック</vt:lpstr>
      <vt:lpstr>Arial</vt:lpstr>
      <vt:lpstr>Office テーマ</vt:lpstr>
      <vt:lpstr>進捗報告2026/07/03</vt:lpstr>
      <vt:lpstr>進捗</vt:lpstr>
      <vt:lpstr>PowerPoint プレゼンテーション</vt:lpstr>
      <vt:lpstr>SEM分析（パス解析）のモデル構築</vt:lpstr>
      <vt:lpstr>進捗</vt:lpstr>
      <vt:lpstr>進捗</vt:lpstr>
      <vt:lpstr>進捗</vt:lpstr>
      <vt:lpstr>進捗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進捗報告 2026/10/09</dc:title>
  <dc:creator>今井元</dc:creator>
  <cp:lastModifiedBy>今井　元</cp:lastModifiedBy>
  <cp:revision>1</cp:revision>
  <dcterms:created xsi:type="dcterms:W3CDTF">2026-07-03T00:39:04Z</dcterms:created>
  <dcterms:modified xsi:type="dcterms:W3CDTF">2026-07-03T00:51:52Z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0x0101004E6AF0D829D43D49B1E81D8F4BBE5B7D</vt:lpwstr>
  </property>
</Properties>
</file>