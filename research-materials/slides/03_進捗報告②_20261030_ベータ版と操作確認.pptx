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latin typeface="BIZ UDPゴシック"/>
                <a:ea typeface="BIZ UDPゴシック"/>
                <a:cs typeface="BIZ UDPゴシック"/>
              </a:rPr>
              <a:t>機能ごとの完成度</a:t>
            </a:r>
          </a:p>
        </c:rich>
      </c:tx>
      <c:layout/>
      <c:overlay val="0"/>
    </c:title>
    <c:autoTitleDeleted val="0"/>
    <c:plotArea>
      <c:barChart>
        <c:barDir val="bar"/>
        <c:grouping val="clustered"/>
        <c:ser>
          <c:idx val="0"/>
          <c:order val="0"/>
          <c:tx>
            <c:strRef>
              <c:f>Sheet1!$B$1</c:f>
              <c:strCache>
                <c:ptCount val="1"/>
                <c:pt idx="0">
                  <c:v>完成度（%）</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12A38A"/>
              </a:solidFill>
            </c:spPr>
          </c:dPt>
          <c:dPt>
            <c:idx val="3"/>
            <c:spPr>
              <a:solidFill>
                <a:srgbClr val="12A38A"/>
              </a:solidFill>
            </c:spPr>
          </c:dPt>
          <c:dPt>
            <c:idx val="4"/>
            <c:spPr>
              <a:solidFill>
                <a:srgbClr val="12A38A"/>
              </a:solidFill>
            </c:spPr>
          </c:dPt>
          <c:dPt>
            <c:idx val="5"/>
            <c:spPr>
              <a:solidFill>
                <a:srgbClr val="0099FF"/>
              </a:solidFill>
            </c:spPr>
          </c:dPt>
          <c:dPt>
            <c:idx val="6"/>
            <c:spPr>
              <a:solidFill>
                <a:srgbClr val="0099FF"/>
              </a:solidFill>
            </c:spPr>
          </c:dPt>
          <c:dPt>
            <c:idx val="7"/>
            <c:spPr>
              <a:solidFill>
                <a:srgbClr val="12A38A"/>
              </a:solidFill>
            </c:spPr>
          </c:dPt>
          <c:cat>
            <c:strRef>
              <c:f>Sheet1!$A$2:$A$9</c:f>
              <c:strCache>
                <c:ptCount val="8"/>
                <c:pt idx="0">
                  <c:v>毎日の記録・TIPI-J</c:v>
                </c:pt>
                <c:pt idx="1">
                  <c:v>データ送信（匿名ID）</c:v>
                </c:pt>
                <c:pt idx="2">
                  <c:v>アバター生成</c:v>
                </c:pt>
                <c:pt idx="3">
                  <c:v>ベイズ個人ツイン</c:v>
                </c:pt>
                <c:pt idx="4">
                  <c:v>リバランス提案</c:v>
                </c:pt>
                <c:pt idx="5">
                  <c:v>みらいミラー（ゆらぎ）</c:v>
                </c:pt>
                <c:pt idx="6">
                  <c:v>疲れの中身キュー</c:v>
                </c:pt>
                <c:pt idx="7">
                  <c:v>通知（1日1回）</c:v>
                </c:pt>
              </c:strCache>
            </c:strRef>
          </c:cat>
          <c:val>
            <c:numRef>
              <c:f>Sheet1!$B$2:$B$9</c:f>
              <c:numCache>
                <c:formatCode>General</c:formatCode>
                <c:ptCount val="8"/>
                <c:pt idx="0">
                  <c:v>100</c:v>
                </c:pt>
                <c:pt idx="1">
                  <c:v>100</c:v>
                </c:pt>
                <c:pt idx="2">
                  <c:v>100</c:v>
                </c:pt>
                <c:pt idx="3">
                  <c:v>100</c:v>
                </c:pt>
                <c:pt idx="4">
                  <c:v>100</c:v>
                </c:pt>
                <c:pt idx="5">
                  <c:v>95</c:v>
                </c:pt>
                <c:pt idx="6">
                  <c:v>90</c:v>
                </c:pt>
                <c:pt idx="7">
                  <c:v>100</c:v>
                </c:pt>
              </c:numCache>
            </c:numRef>
          </c:val>
        </c:ser>
        <c:dLbls>
          <c:numFmt formatCode="0&quot;%&quot;" sourceLinked="0"/>
          <c:txPr>
            <a:bodyPr/>
            <a:lstStyle/>
            <a:p>
              <a:pPr>
                <a:defRPr sz="1100" b="1">
                  <a:solidFill>
                    <a:srgbClr val="24303F"/>
                  </a:solidFill>
                  <a:latin typeface="BIZ UDPゴシック"/>
                  <a:ea typeface="BIZ UDPゴシック"/>
                  <a:cs typeface="BIZ UDPゴシック"/>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B8C2CE"/>
            </a:solidFill>
          </a:ln>
        </c:spPr>
        <c:txPr>
          <a:bodyPr/>
          <a:lstStyle/>
          <a:p>
            <a:pPr>
              <a:defRPr sz="1100">
                <a:solidFill>
                  <a:srgbClr val="24303F"/>
                </a:solidFill>
                <a:latin typeface="BIZ UDPゴシック"/>
                <a:ea typeface="BIZ UDPゴシック"/>
                <a:cs typeface="BIZ UDPゴシック"/>
              </a:defRPr>
            </a:pPr>
          </a:p>
        </c:txPr>
        <c:crossAx val="-2113994440"/>
        <c:crosses val="autoZero"/>
        <c:auto val="1"/>
        <c:lblAlgn val="ctr"/>
        <c:lblOffset val="100"/>
        <c:noMultiLvlLbl val="0"/>
      </c:catAx>
      <c:valAx>
        <c:axId val="-2113994440"/>
        <c:scaling>
          <c:max val="110.0"/>
          <c:min val="0.0"/>
        </c:scaling>
        <c:delete val="0"/>
        <c:axPos val="b"/>
        <c:majorGridlines>
          <c:spPr>
            <a:ln w="9525">
              <a:solidFill>
                <a:srgbClr val="E3E8EF"/>
              </a:solidFill>
            </a:ln>
          </c:spPr>
        </c:majorGridlines>
        <c:numFmt formatCode="0&quot;%&quot;" sourceLinked="0"/>
        <c:majorTickMark val="out"/>
        <c:minorTickMark val="none"/>
        <c:tickLblPos val="none"/>
        <c:spPr>
          <a:ln>
            <a:noFill/>
          </a:ln>
        </c:spPr>
        <c:txPr>
          <a:bodyPr/>
          <a:lstStyle/>
          <a:p>
            <a:pPr>
              <a:defRPr sz="1050">
                <a:solidFill>
                  <a:srgbClr val="5A6676"/>
                </a:solidFill>
                <a:latin typeface="BIZ UDPゴシック"/>
                <a:ea typeface="BIZ UDPゴシック"/>
                <a:cs typeface="BIZ UDPゴシック"/>
              </a:defRPr>
            </a:pPr>
          </a:p>
        </c:txPr>
        <c:crossAx val="-2068027336"/>
        <c:crosses val="autoZero"/>
      </c:valAx>
    </c:plotArea>
    <c:dispBlanksAs val="gap"/>
  </c:chart>
  <c:txPr>
    <a:bodyPr/>
    <a:lstStyle/>
    <a:p>
      <a:pPr>
        <a:defRPr sz="1100">
          <a:solidFill>
            <a:srgbClr val="5A6676"/>
          </a:solidFill>
          <a:latin typeface="BIZ UDPゴシック"/>
          <a:ea typeface="BIZ UDPゴシック"/>
          <a:cs typeface="BIZ UDPゴシック"/>
        </a:defRPr>
      </a:pPr>
      <a:endParaRPr lang="en-US">
        <a:latin typeface="BIZ UDPゴシック"/>
        <a:ea typeface="BIZ UDPゴシック"/>
        <a:cs typeface="BIZ UDPゴシック"/>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0B3C6E"/>
                </a:solidFill>
                <a:latin typeface="BIZ UDPゴシック"/>
                <a:ea typeface="BIZ UDPゴシック"/>
                <a:cs typeface="BIZ UDPゴシック"/>
              </a:rPr>
              <a:t>候補98案の予測（灰色）と選ばれた3案</a:t>
            </a:r>
          </a:p>
        </c:rich>
      </c:tx>
      <c:layout/>
      <c:overlay val="0"/>
    </c:title>
    <c:plotArea>
      <c:scatterChart>
        <c:scatterStyle val="lineMarker"/>
        <c:varyColors val="0"/>
        <c:ser>
          <c:idx val="0"/>
          <c:order val="0"/>
          <c:tx>
            <c:strRef>
              <c:f>Sheet1!$B$1</c:f>
              <c:strCache>
                <c:ptCount val="1"/>
                <c:pt idx="0">
                  <c:v>_</c:v>
                </c:pt>
              </c:strCache>
            </c:strRef>
          </c:tx>
          <c:spPr>
            <a:ln w="47625">
              <a:noFill/>
            </a:ln>
          </c:spPr>
          <c:marker>
            <c:symbol val="circle"/>
            <c:size val="7"/>
            <c:spPr>
              <a:solidFill>
                <a:srgbClr val="C9D3DE"/>
              </a:solidFill>
              <a:ln>
                <a:solidFill>
                  <a:srgbClr val="FFFFFF"/>
                </a:solidFill>
              </a:ln>
            </c:spPr>
          </c:marker>
          <c:xVal>
            <c:numRef>
              <c:f>Sheet1!$A$2:$A$2</c:f>
              <c:numCache>
                <c:formatCode>General</c:formatCode>
                <c:ptCount val="1"/>
                <c:pt idx="0">
                  <c:v>3.07</c:v>
                </c:pt>
              </c:numCache>
            </c:numRef>
          </c:xVal>
          <c:yVal>
            <c:numRef>
              <c:f>Sheet1!$B$2:$B$2</c:f>
              <c:numCache>
                <c:formatCode>General</c:formatCode>
                <c:ptCount val="1"/>
                <c:pt idx="0">
                  <c:v>3.3</c:v>
                </c:pt>
              </c:numCache>
            </c:numRef>
          </c:yVal>
          <c:smooth val="0"/>
        </c:ser>
        <c:ser>
          <c:idx val="1"/>
          <c:order val="1"/>
          <c:tx>
            <c:strRef>
              <c:f>Sheet1!$B$4</c:f>
              <c:strCache>
                <c:ptCount val="1"/>
                <c:pt idx="0">
                  <c:v>_</c:v>
                </c:pt>
              </c:strCache>
            </c:strRef>
          </c:tx>
          <c:spPr>
            <a:ln w="47625">
              <a:noFill/>
            </a:ln>
          </c:spPr>
          <c:marker>
            <c:symbol val="circle"/>
            <c:size val="7"/>
            <c:spPr>
              <a:solidFill>
                <a:srgbClr val="C9D3DE"/>
              </a:solidFill>
              <a:ln>
                <a:solidFill>
                  <a:srgbClr val="FFFFFF"/>
                </a:solidFill>
              </a:ln>
            </c:spPr>
          </c:marker>
          <c:xVal>
            <c:numRef>
              <c:f>Sheet1!$A$5:$A$5</c:f>
              <c:numCache>
                <c:formatCode>General</c:formatCode>
                <c:ptCount val="1"/>
                <c:pt idx="0">
                  <c:v>3.4</c:v>
                </c:pt>
              </c:numCache>
            </c:numRef>
          </c:xVal>
          <c:yVal>
            <c:numRef>
              <c:f>Sheet1!$B$5:$B$5</c:f>
              <c:numCache>
                <c:formatCode>General</c:formatCode>
                <c:ptCount val="1"/>
                <c:pt idx="0">
                  <c:v>3.25</c:v>
                </c:pt>
              </c:numCache>
            </c:numRef>
          </c:yVal>
          <c:smooth val="0"/>
        </c:ser>
        <c:ser>
          <c:idx val="2"/>
          <c:order val="2"/>
          <c:tx>
            <c:strRef>
              <c:f>Sheet1!$B$7</c:f>
              <c:strCache>
                <c:ptCount val="1"/>
                <c:pt idx="0">
                  <c:v>_</c:v>
                </c:pt>
              </c:strCache>
            </c:strRef>
          </c:tx>
          <c:spPr>
            <a:ln w="47625">
              <a:noFill/>
            </a:ln>
          </c:spPr>
          <c:marker>
            <c:symbol val="circle"/>
            <c:size val="7"/>
            <c:spPr>
              <a:solidFill>
                <a:srgbClr val="C9D3DE"/>
              </a:solidFill>
              <a:ln>
                <a:solidFill>
                  <a:srgbClr val="FFFFFF"/>
                </a:solidFill>
              </a:ln>
            </c:spPr>
          </c:marker>
          <c:xVal>
            <c:numRef>
              <c:f>Sheet1!$A$8:$A$8</c:f>
              <c:numCache>
                <c:formatCode>General</c:formatCode>
                <c:ptCount val="1"/>
                <c:pt idx="0">
                  <c:v>3.29</c:v>
                </c:pt>
              </c:numCache>
            </c:numRef>
          </c:xVal>
          <c:yVal>
            <c:numRef>
              <c:f>Sheet1!$B$8:$B$8</c:f>
              <c:numCache>
                <c:formatCode>General</c:formatCode>
                <c:ptCount val="1"/>
                <c:pt idx="0">
                  <c:v>3.44</c:v>
                </c:pt>
              </c:numCache>
            </c:numRef>
          </c:yVal>
          <c:smooth val="0"/>
        </c:ser>
        <c:ser>
          <c:idx val="3"/>
          <c:order val="3"/>
          <c:tx>
            <c:strRef>
              <c:f>Sheet1!$B$10</c:f>
              <c:strCache>
                <c:ptCount val="1"/>
                <c:pt idx="0">
                  <c:v>_</c:v>
                </c:pt>
              </c:strCache>
            </c:strRef>
          </c:tx>
          <c:spPr>
            <a:ln w="47625">
              <a:noFill/>
            </a:ln>
          </c:spPr>
          <c:marker>
            <c:symbol val="circle"/>
            <c:size val="7"/>
            <c:spPr>
              <a:solidFill>
                <a:srgbClr val="C9D3DE"/>
              </a:solidFill>
              <a:ln>
                <a:solidFill>
                  <a:srgbClr val="FFFFFF"/>
                </a:solidFill>
              </a:ln>
            </c:spPr>
          </c:marker>
          <c:xVal>
            <c:numRef>
              <c:f>Sheet1!$A$11:$A$11</c:f>
              <c:numCache>
                <c:formatCode>General</c:formatCode>
                <c:ptCount val="1"/>
                <c:pt idx="0">
                  <c:v>2.81</c:v>
                </c:pt>
              </c:numCache>
            </c:numRef>
          </c:xVal>
          <c:yVal>
            <c:numRef>
              <c:f>Sheet1!$B$11:$B$11</c:f>
              <c:numCache>
                <c:formatCode>General</c:formatCode>
                <c:ptCount val="1"/>
                <c:pt idx="0">
                  <c:v>3.53</c:v>
                </c:pt>
              </c:numCache>
            </c:numRef>
          </c:yVal>
          <c:smooth val="0"/>
        </c:ser>
        <c:ser>
          <c:idx val="4"/>
          <c:order val="4"/>
          <c:tx>
            <c:strRef>
              <c:f>Sheet1!$B$13</c:f>
              <c:strCache>
                <c:ptCount val="1"/>
                <c:pt idx="0">
                  <c:v>_</c:v>
                </c:pt>
              </c:strCache>
            </c:strRef>
          </c:tx>
          <c:spPr>
            <a:ln w="47625">
              <a:noFill/>
            </a:ln>
          </c:spPr>
          <c:marker>
            <c:symbol val="circle"/>
            <c:size val="7"/>
            <c:spPr>
              <a:solidFill>
                <a:srgbClr val="C9D3DE"/>
              </a:solidFill>
              <a:ln>
                <a:solidFill>
                  <a:srgbClr val="FFFFFF"/>
                </a:solidFill>
              </a:ln>
            </c:spPr>
          </c:marker>
          <c:xVal>
            <c:numRef>
              <c:f>Sheet1!$A$14:$A$14</c:f>
              <c:numCache>
                <c:formatCode>General</c:formatCode>
                <c:ptCount val="1"/>
                <c:pt idx="0">
                  <c:v>2.79</c:v>
                </c:pt>
              </c:numCache>
            </c:numRef>
          </c:xVal>
          <c:yVal>
            <c:numRef>
              <c:f>Sheet1!$B$14:$B$14</c:f>
              <c:numCache>
                <c:formatCode>General</c:formatCode>
                <c:ptCount val="1"/>
                <c:pt idx="0">
                  <c:v>3.48</c:v>
                </c:pt>
              </c:numCache>
            </c:numRef>
          </c:yVal>
          <c:smooth val="0"/>
        </c:ser>
        <c:ser>
          <c:idx val="5"/>
          <c:order val="5"/>
          <c:tx>
            <c:strRef>
              <c:f>Sheet1!$B$16</c:f>
              <c:strCache>
                <c:ptCount val="1"/>
                <c:pt idx="0">
                  <c:v>_</c:v>
                </c:pt>
              </c:strCache>
            </c:strRef>
          </c:tx>
          <c:spPr>
            <a:ln w="47625">
              <a:noFill/>
            </a:ln>
          </c:spPr>
          <c:marker>
            <c:symbol val="circle"/>
            <c:size val="7"/>
            <c:spPr>
              <a:solidFill>
                <a:srgbClr val="C9D3DE"/>
              </a:solidFill>
              <a:ln>
                <a:solidFill>
                  <a:srgbClr val="FFFFFF"/>
                </a:solidFill>
              </a:ln>
            </c:spPr>
          </c:marker>
          <c:xVal>
            <c:numRef>
              <c:f>Sheet1!$A$17:$A$17</c:f>
              <c:numCache>
                <c:formatCode>General</c:formatCode>
                <c:ptCount val="1"/>
                <c:pt idx="0">
                  <c:v>2.82</c:v>
                </c:pt>
              </c:numCache>
            </c:numRef>
          </c:xVal>
          <c:yVal>
            <c:numRef>
              <c:f>Sheet1!$B$17:$B$17</c:f>
              <c:numCache>
                <c:formatCode>General</c:formatCode>
                <c:ptCount val="1"/>
                <c:pt idx="0">
                  <c:v>3.26</c:v>
                </c:pt>
              </c:numCache>
            </c:numRef>
          </c:yVal>
          <c:smooth val="0"/>
        </c:ser>
        <c:ser>
          <c:idx val="6"/>
          <c:order val="6"/>
          <c:tx>
            <c:strRef>
              <c:f>Sheet1!$B$19</c:f>
              <c:strCache>
                <c:ptCount val="1"/>
                <c:pt idx="0">
                  <c:v>_</c:v>
                </c:pt>
              </c:strCache>
            </c:strRef>
          </c:tx>
          <c:spPr>
            <a:ln w="47625">
              <a:noFill/>
            </a:ln>
          </c:spPr>
          <c:marker>
            <c:symbol val="circle"/>
            <c:size val="7"/>
            <c:spPr>
              <a:solidFill>
                <a:srgbClr val="C9D3DE"/>
              </a:solidFill>
              <a:ln>
                <a:solidFill>
                  <a:srgbClr val="FFFFFF"/>
                </a:solidFill>
              </a:ln>
            </c:spPr>
          </c:marker>
          <c:xVal>
            <c:numRef>
              <c:f>Sheet1!$A$20:$A$20</c:f>
              <c:numCache>
                <c:formatCode>General</c:formatCode>
                <c:ptCount val="1"/>
                <c:pt idx="0">
                  <c:v>3.17</c:v>
                </c:pt>
              </c:numCache>
            </c:numRef>
          </c:xVal>
          <c:yVal>
            <c:numRef>
              <c:f>Sheet1!$B$20:$B$20</c:f>
              <c:numCache>
                <c:formatCode>General</c:formatCode>
                <c:ptCount val="1"/>
                <c:pt idx="0">
                  <c:v>3.74</c:v>
                </c:pt>
              </c:numCache>
            </c:numRef>
          </c:yVal>
          <c:smooth val="0"/>
        </c:ser>
        <c:ser>
          <c:idx val="7"/>
          <c:order val="7"/>
          <c:tx>
            <c:strRef>
              <c:f>Sheet1!$B$22</c:f>
              <c:strCache>
                <c:ptCount val="1"/>
                <c:pt idx="0">
                  <c:v>_</c:v>
                </c:pt>
              </c:strCache>
            </c:strRef>
          </c:tx>
          <c:spPr>
            <a:ln w="47625">
              <a:noFill/>
            </a:ln>
          </c:spPr>
          <c:marker>
            <c:symbol val="circle"/>
            <c:size val="7"/>
            <c:spPr>
              <a:solidFill>
                <a:srgbClr val="C9D3DE"/>
              </a:solidFill>
              <a:ln>
                <a:solidFill>
                  <a:srgbClr val="FFFFFF"/>
                </a:solidFill>
              </a:ln>
            </c:spPr>
          </c:marker>
          <c:xVal>
            <c:numRef>
              <c:f>Sheet1!$A$23:$A$23</c:f>
              <c:numCache>
                <c:formatCode>General</c:formatCode>
                <c:ptCount val="1"/>
                <c:pt idx="0">
                  <c:v>2.87</c:v>
                </c:pt>
              </c:numCache>
            </c:numRef>
          </c:xVal>
          <c:yVal>
            <c:numRef>
              <c:f>Sheet1!$B$23:$B$23</c:f>
              <c:numCache>
                <c:formatCode>General</c:formatCode>
                <c:ptCount val="1"/>
                <c:pt idx="0">
                  <c:v>3.35</c:v>
                </c:pt>
              </c:numCache>
            </c:numRef>
          </c:yVal>
          <c:smooth val="0"/>
        </c:ser>
        <c:ser>
          <c:idx val="8"/>
          <c:order val="8"/>
          <c:tx>
            <c:strRef>
              <c:f>Sheet1!$B$25</c:f>
              <c:strCache>
                <c:ptCount val="1"/>
                <c:pt idx="0">
                  <c:v>_</c:v>
                </c:pt>
              </c:strCache>
            </c:strRef>
          </c:tx>
          <c:spPr>
            <a:ln w="47625">
              <a:noFill/>
            </a:ln>
          </c:spPr>
          <c:marker>
            <c:symbol val="circle"/>
            <c:size val="7"/>
            <c:spPr>
              <a:solidFill>
                <a:srgbClr val="C9D3DE"/>
              </a:solidFill>
              <a:ln>
                <a:solidFill>
                  <a:srgbClr val="FFFFFF"/>
                </a:solidFill>
              </a:ln>
            </c:spPr>
          </c:marker>
          <c:xVal>
            <c:numRef>
              <c:f>Sheet1!$A$26:$A$26</c:f>
              <c:numCache>
                <c:formatCode>General</c:formatCode>
                <c:ptCount val="1"/>
                <c:pt idx="0">
                  <c:v>3.38</c:v>
                </c:pt>
              </c:numCache>
            </c:numRef>
          </c:xVal>
          <c:yVal>
            <c:numRef>
              <c:f>Sheet1!$B$26:$B$26</c:f>
              <c:numCache>
                <c:formatCode>General</c:formatCode>
                <c:ptCount val="1"/>
                <c:pt idx="0">
                  <c:v>3.82</c:v>
                </c:pt>
              </c:numCache>
            </c:numRef>
          </c:yVal>
          <c:smooth val="0"/>
        </c:ser>
        <c:ser>
          <c:idx val="9"/>
          <c:order val="9"/>
          <c:tx>
            <c:strRef>
              <c:f>Sheet1!$B$28</c:f>
              <c:strCache>
                <c:ptCount val="1"/>
                <c:pt idx="0">
                  <c:v>_</c:v>
                </c:pt>
              </c:strCache>
            </c:strRef>
          </c:tx>
          <c:spPr>
            <a:ln w="47625">
              <a:noFill/>
            </a:ln>
          </c:spPr>
          <c:marker>
            <c:symbol val="circle"/>
            <c:size val="7"/>
            <c:spPr>
              <a:solidFill>
                <a:srgbClr val="C9D3DE"/>
              </a:solidFill>
              <a:ln>
                <a:solidFill>
                  <a:srgbClr val="FFFFFF"/>
                </a:solidFill>
              </a:ln>
            </c:spPr>
          </c:marker>
          <c:xVal>
            <c:numRef>
              <c:f>Sheet1!$A$29:$A$29</c:f>
              <c:numCache>
                <c:formatCode>General</c:formatCode>
                <c:ptCount val="1"/>
                <c:pt idx="0">
                  <c:v>3.33</c:v>
                </c:pt>
              </c:numCache>
            </c:numRef>
          </c:xVal>
          <c:yVal>
            <c:numRef>
              <c:f>Sheet1!$B$29:$B$29</c:f>
              <c:numCache>
                <c:formatCode>General</c:formatCode>
                <c:ptCount val="1"/>
                <c:pt idx="0">
                  <c:v>3.46</c:v>
                </c:pt>
              </c:numCache>
            </c:numRef>
          </c:yVal>
          <c:smooth val="0"/>
        </c:ser>
        <c:ser>
          <c:idx val="10"/>
          <c:order val="10"/>
          <c:tx>
            <c:strRef>
              <c:f>Sheet1!$B$31</c:f>
              <c:strCache>
                <c:ptCount val="1"/>
                <c:pt idx="0">
                  <c:v>_</c:v>
                </c:pt>
              </c:strCache>
            </c:strRef>
          </c:tx>
          <c:spPr>
            <a:ln w="47625">
              <a:noFill/>
            </a:ln>
          </c:spPr>
          <c:marker>
            <c:symbol val="circle"/>
            <c:size val="7"/>
            <c:spPr>
              <a:solidFill>
                <a:srgbClr val="C9D3DE"/>
              </a:solidFill>
              <a:ln>
                <a:solidFill>
                  <a:srgbClr val="FFFFFF"/>
                </a:solidFill>
              </a:ln>
            </c:spPr>
          </c:marker>
          <c:xVal>
            <c:numRef>
              <c:f>Sheet1!$A$32:$A$32</c:f>
              <c:numCache>
                <c:formatCode>General</c:formatCode>
                <c:ptCount val="1"/>
                <c:pt idx="0">
                  <c:v>3.73</c:v>
                </c:pt>
              </c:numCache>
            </c:numRef>
          </c:xVal>
          <c:yVal>
            <c:numRef>
              <c:f>Sheet1!$B$32:$B$32</c:f>
              <c:numCache>
                <c:formatCode>General</c:formatCode>
                <c:ptCount val="1"/>
                <c:pt idx="0">
                  <c:v>3.23</c:v>
                </c:pt>
              </c:numCache>
            </c:numRef>
          </c:yVal>
          <c:smooth val="0"/>
        </c:ser>
        <c:ser>
          <c:idx val="11"/>
          <c:order val="11"/>
          <c:tx>
            <c:strRef>
              <c:f>Sheet1!$B$34</c:f>
              <c:strCache>
                <c:ptCount val="1"/>
                <c:pt idx="0">
                  <c:v>_</c:v>
                </c:pt>
              </c:strCache>
            </c:strRef>
          </c:tx>
          <c:spPr>
            <a:ln w="47625">
              <a:noFill/>
            </a:ln>
          </c:spPr>
          <c:marker>
            <c:symbol val="circle"/>
            <c:size val="7"/>
            <c:spPr>
              <a:solidFill>
                <a:srgbClr val="C9D3DE"/>
              </a:solidFill>
              <a:ln>
                <a:solidFill>
                  <a:srgbClr val="FFFFFF"/>
                </a:solidFill>
              </a:ln>
            </c:spPr>
          </c:marker>
          <c:xVal>
            <c:numRef>
              <c:f>Sheet1!$A$35:$A$35</c:f>
              <c:numCache>
                <c:formatCode>General</c:formatCode>
                <c:ptCount val="1"/>
                <c:pt idx="0">
                  <c:v>3.61</c:v>
                </c:pt>
              </c:numCache>
            </c:numRef>
          </c:xVal>
          <c:yVal>
            <c:numRef>
              <c:f>Sheet1!$B$35:$B$35</c:f>
              <c:numCache>
                <c:formatCode>General</c:formatCode>
                <c:ptCount val="1"/>
                <c:pt idx="0">
                  <c:v>3.39</c:v>
                </c:pt>
              </c:numCache>
            </c:numRef>
          </c:yVal>
          <c:smooth val="0"/>
        </c:ser>
        <c:ser>
          <c:idx val="12"/>
          <c:order val="12"/>
          <c:tx>
            <c:strRef>
              <c:f>Sheet1!$B$37</c:f>
              <c:strCache>
                <c:ptCount val="1"/>
                <c:pt idx="0">
                  <c:v>_</c:v>
                </c:pt>
              </c:strCache>
            </c:strRef>
          </c:tx>
          <c:spPr>
            <a:ln w="47625">
              <a:noFill/>
            </a:ln>
          </c:spPr>
          <c:marker>
            <c:symbol val="circle"/>
            <c:size val="7"/>
            <c:spPr>
              <a:solidFill>
                <a:srgbClr val="C9D3DE"/>
              </a:solidFill>
              <a:ln>
                <a:solidFill>
                  <a:srgbClr val="FFFFFF"/>
                </a:solidFill>
              </a:ln>
            </c:spPr>
          </c:marker>
          <c:xVal>
            <c:numRef>
              <c:f>Sheet1!$A$38:$A$38</c:f>
              <c:numCache>
                <c:formatCode>General</c:formatCode>
                <c:ptCount val="1"/>
                <c:pt idx="0">
                  <c:v>2.89</c:v>
                </c:pt>
              </c:numCache>
            </c:numRef>
          </c:xVal>
          <c:yVal>
            <c:numRef>
              <c:f>Sheet1!$B$38:$B$38</c:f>
              <c:numCache>
                <c:formatCode>General</c:formatCode>
                <c:ptCount val="1"/>
                <c:pt idx="0">
                  <c:v>3.28</c:v>
                </c:pt>
              </c:numCache>
            </c:numRef>
          </c:yVal>
          <c:smooth val="0"/>
        </c:ser>
        <c:ser>
          <c:idx val="13"/>
          <c:order val="13"/>
          <c:tx>
            <c:strRef>
              <c:f>Sheet1!$B$40</c:f>
              <c:strCache>
                <c:ptCount val="1"/>
                <c:pt idx="0">
                  <c:v>_</c:v>
                </c:pt>
              </c:strCache>
            </c:strRef>
          </c:tx>
          <c:spPr>
            <a:ln w="47625">
              <a:noFill/>
            </a:ln>
          </c:spPr>
          <c:marker>
            <c:symbol val="circle"/>
            <c:size val="7"/>
            <c:spPr>
              <a:solidFill>
                <a:srgbClr val="C9D3DE"/>
              </a:solidFill>
              <a:ln>
                <a:solidFill>
                  <a:srgbClr val="FFFFFF"/>
                </a:solidFill>
              </a:ln>
            </c:spPr>
          </c:marker>
          <c:xVal>
            <c:numRef>
              <c:f>Sheet1!$A$41:$A$41</c:f>
              <c:numCache>
                <c:formatCode>General</c:formatCode>
                <c:ptCount val="1"/>
                <c:pt idx="0">
                  <c:v>3.06</c:v>
                </c:pt>
              </c:numCache>
            </c:numRef>
          </c:xVal>
          <c:yVal>
            <c:numRef>
              <c:f>Sheet1!$B$41:$B$41</c:f>
              <c:numCache>
                <c:formatCode>General</c:formatCode>
                <c:ptCount val="1"/>
                <c:pt idx="0">
                  <c:v>3.73</c:v>
                </c:pt>
              </c:numCache>
            </c:numRef>
          </c:yVal>
          <c:smooth val="0"/>
        </c:ser>
        <c:ser>
          <c:idx val="14"/>
          <c:order val="14"/>
          <c:tx>
            <c:strRef>
              <c:f>Sheet1!$B$43</c:f>
              <c:strCache>
                <c:ptCount val="1"/>
                <c:pt idx="0">
                  <c:v>_</c:v>
                </c:pt>
              </c:strCache>
            </c:strRef>
          </c:tx>
          <c:spPr>
            <a:ln w="47625">
              <a:noFill/>
            </a:ln>
          </c:spPr>
          <c:marker>
            <c:symbol val="circle"/>
            <c:size val="7"/>
            <c:spPr>
              <a:solidFill>
                <a:srgbClr val="C9D3DE"/>
              </a:solidFill>
              <a:ln>
                <a:solidFill>
                  <a:srgbClr val="FFFFFF"/>
                </a:solidFill>
              </a:ln>
            </c:spPr>
          </c:marker>
          <c:xVal>
            <c:numRef>
              <c:f>Sheet1!$A$44:$A$44</c:f>
              <c:numCache>
                <c:formatCode>General</c:formatCode>
                <c:ptCount val="1"/>
                <c:pt idx="0">
                  <c:v>2.93</c:v>
                </c:pt>
              </c:numCache>
            </c:numRef>
          </c:xVal>
          <c:yVal>
            <c:numRef>
              <c:f>Sheet1!$B$44:$B$44</c:f>
              <c:numCache>
                <c:formatCode>General</c:formatCode>
                <c:ptCount val="1"/>
                <c:pt idx="0">
                  <c:v>3.58</c:v>
                </c:pt>
              </c:numCache>
            </c:numRef>
          </c:yVal>
          <c:smooth val="0"/>
        </c:ser>
        <c:ser>
          <c:idx val="15"/>
          <c:order val="15"/>
          <c:tx>
            <c:strRef>
              <c:f>Sheet1!$B$46</c:f>
              <c:strCache>
                <c:ptCount val="1"/>
                <c:pt idx="0">
                  <c:v>_</c:v>
                </c:pt>
              </c:strCache>
            </c:strRef>
          </c:tx>
          <c:spPr>
            <a:ln w="47625">
              <a:noFill/>
            </a:ln>
          </c:spPr>
          <c:marker>
            <c:symbol val="circle"/>
            <c:size val="7"/>
            <c:spPr>
              <a:solidFill>
                <a:srgbClr val="C9D3DE"/>
              </a:solidFill>
              <a:ln>
                <a:solidFill>
                  <a:srgbClr val="FFFFFF"/>
                </a:solidFill>
              </a:ln>
            </c:spPr>
          </c:marker>
          <c:xVal>
            <c:numRef>
              <c:f>Sheet1!$A$47:$A$47</c:f>
              <c:numCache>
                <c:formatCode>General</c:formatCode>
                <c:ptCount val="1"/>
                <c:pt idx="0">
                  <c:v>3.39</c:v>
                </c:pt>
              </c:numCache>
            </c:numRef>
          </c:xVal>
          <c:yVal>
            <c:numRef>
              <c:f>Sheet1!$B$47:$B$47</c:f>
              <c:numCache>
                <c:formatCode>General</c:formatCode>
                <c:ptCount val="1"/>
                <c:pt idx="0">
                  <c:v>3.44</c:v>
                </c:pt>
              </c:numCache>
            </c:numRef>
          </c:yVal>
          <c:smooth val="0"/>
        </c:ser>
        <c:ser>
          <c:idx val="16"/>
          <c:order val="16"/>
          <c:tx>
            <c:strRef>
              <c:f>Sheet1!$B$49</c:f>
              <c:strCache>
                <c:ptCount val="1"/>
                <c:pt idx="0">
                  <c:v>現状（今のまま）</c:v>
                </c:pt>
              </c:strCache>
            </c:strRef>
          </c:tx>
          <c:spPr>
            <a:ln w="47625">
              <a:noFill/>
            </a:ln>
          </c:spPr>
          <c:marker>
            <c:symbol val="circle"/>
            <c:size val="15"/>
            <c:spPr>
              <a:solidFill>
                <a:srgbClr val="E07A10"/>
              </a:solidFill>
              <a:ln>
                <a:solidFill>
                  <a:srgbClr val="FFFFFF"/>
                </a:solidFill>
              </a:ln>
            </c:spPr>
          </c:marker>
          <c:dLbls>
            <c:dLbl>
              <c:idx val="0"/>
              <c:tx>
                <c:rich>
                  <a:bodyPr/>
                  <a:lstStyle/>
                  <a:p>
                    <a:r>
                      <a:rPr sz="1100" b="1">
                        <a:solidFill>
                          <a:srgbClr val="E07A10"/>
                        </a:solidFill>
                        <a:latin typeface="BIZ UDPゴシック"/>
                        <a:ea typeface="BIZ UDPゴシック"/>
                        <a:cs typeface="BIZ UDPゴシック"/>
                      </a:rPr>
                      <a:t>現状（今のまま）</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Sheet1!$A$50:$A$50</c:f>
              <c:numCache>
                <c:formatCode>General</c:formatCode>
                <c:ptCount val="1"/>
                <c:pt idx="0">
                  <c:v>3.5</c:v>
                </c:pt>
              </c:numCache>
            </c:numRef>
          </c:xVal>
          <c:yVal>
            <c:numRef>
              <c:f>Sheet1!$B$50:$B$50</c:f>
              <c:numCache>
                <c:formatCode>General</c:formatCode>
                <c:ptCount val="1"/>
                <c:pt idx="0">
                  <c:v>3.6</c:v>
                </c:pt>
              </c:numCache>
            </c:numRef>
          </c:yVal>
          <c:smooth val="0"/>
        </c:ser>
        <c:ser>
          <c:idx val="17"/>
          <c:order val="17"/>
          <c:tx>
            <c:strRef>
              <c:f>Sheet1!$B$52</c:f>
              <c:strCache>
                <c:ptCount val="1"/>
                <c:pt idx="0">
                  <c:v>① 楽しさキープ</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latin typeface="BIZ UDPゴシック"/>
                        <a:ea typeface="BIZ UDPゴシック"/>
                        <a:cs typeface="BIZ UDPゴシック"/>
                      </a:rPr>
                      <a:t>① 楽しさキープ</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Sheet1!$A$53:$A$53</c:f>
              <c:numCache>
                <c:formatCode>General</c:formatCode>
                <c:ptCount val="1"/>
                <c:pt idx="0">
                  <c:v>3.1</c:v>
                </c:pt>
              </c:numCache>
            </c:numRef>
          </c:xVal>
          <c:yVal>
            <c:numRef>
              <c:f>Sheet1!$B$53:$B$53</c:f>
              <c:numCache>
                <c:formatCode>General</c:formatCode>
                <c:ptCount val="1"/>
                <c:pt idx="0">
                  <c:v>3.6</c:v>
                </c:pt>
              </c:numCache>
            </c:numRef>
          </c:yVal>
          <c:smooth val="0"/>
        </c:ser>
        <c:ser>
          <c:idx val="18"/>
          <c:order val="18"/>
          <c:tx>
            <c:strRef>
              <c:f>Sheet1!$B$55</c:f>
              <c:strCache>
                <c:ptCount val="1"/>
                <c:pt idx="0">
                  <c:v>② バランス</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latin typeface="BIZ UDPゴシック"/>
                        <a:ea typeface="BIZ UDPゴシック"/>
                        <a:cs typeface="BIZ UDPゴシック"/>
                      </a:rPr>
                      <a:t>② バランス</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Sheet1!$A$56:$A$56</c:f>
              <c:numCache>
                <c:formatCode>General</c:formatCode>
                <c:ptCount val="1"/>
                <c:pt idx="0">
                  <c:v>3.3</c:v>
                </c:pt>
              </c:numCache>
            </c:numRef>
          </c:xVal>
          <c:yVal>
            <c:numRef>
              <c:f>Sheet1!$B$56:$B$56</c:f>
              <c:numCache>
                <c:formatCode>General</c:formatCode>
                <c:ptCount val="1"/>
                <c:pt idx="0">
                  <c:v>3.8</c:v>
                </c:pt>
              </c:numCache>
            </c:numRef>
          </c:yVal>
          <c:smooth val="0"/>
        </c:ser>
        <c:ser>
          <c:idx val="19"/>
          <c:order val="19"/>
          <c:tx>
            <c:strRef>
              <c:f>Sheet1!$B$58</c:f>
              <c:strCache>
                <c:ptCount val="1"/>
                <c:pt idx="0">
                  <c:v>③ 回復重視</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latin typeface="BIZ UDPゴシック"/>
                        <a:ea typeface="BIZ UDPゴシック"/>
                        <a:cs typeface="BIZ UDPゴシック"/>
                      </a:rPr>
                      <a:t>③ 回復重視</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Sheet1!$A$59:$A$59</c:f>
              <c:numCache>
                <c:formatCode>General</c:formatCode>
                <c:ptCount val="1"/>
                <c:pt idx="0">
                  <c:v>2.8</c:v>
                </c:pt>
              </c:numCache>
            </c:numRef>
          </c:xVal>
          <c:yVal>
            <c:numRef>
              <c:f>Sheet1!$B$59:$B$59</c:f>
              <c:numCache>
                <c:formatCode>General</c:formatCode>
                <c:ptCount val="1"/>
                <c:pt idx="0">
                  <c:v>3.4</c:v>
                </c:pt>
              </c:numCache>
            </c:numRef>
          </c:yVal>
          <c:smooth val="0"/>
        </c:ser>
        <c:axId val="-2128940872"/>
        <c:axId val="-2129643912"/>
      </c:scatterChart>
      <c:valAx>
        <c:axId val="-2128940872"/>
        <c:scaling>
          <c:orientation val="minMax"/>
          <c:max val="4.0"/>
          <c:min val="2.6"/>
        </c:scaling>
        <c:delete val="0"/>
        <c:axPos val="b"/>
        <c:majorGridlines>
          <c:spPr>
            <a:ln>
              <a:solidFill>
                <a:srgbClr val="E3E8EF"/>
              </a:solidFill>
            </a:ln>
          </c:spPr>
        </c:majorGridlines>
        <c:title>
          <c:tx>
            <c:rich>
              <a:bodyPr/>
              <a:lstStyle/>
              <a:p>
                <a:r>
                  <a:rPr sz="1100" b="1">
                    <a:solidFill>
                      <a:srgbClr val="0B3C6E"/>
                    </a:solidFill>
                    <a:latin typeface="BIZ UDPゴシック"/>
                    <a:ea typeface="BIZ UDPゴシック"/>
                    <a:cs typeface="BIZ UDPゴシック"/>
                  </a:rPr>
                  <a:t>推し疲れの予測（低いほど良い）</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latin typeface="BIZ UDPゴシック"/>
                <a:ea typeface="BIZ UDPゴシック"/>
                <a:cs typeface="BIZ UDPゴシック"/>
              </a:defRPr>
            </a:pPr>
          </a:p>
        </c:txPr>
        <c:crossAx val="-2129643912"/>
        <c:crosses val="autoZero"/>
        <c:crossBetween val="midCat"/>
        <c:majorUnit val="0.2"/>
      </c:valAx>
      <c:valAx>
        <c:axId val="-2129643912"/>
        <c:scaling>
          <c:orientation val="minMax"/>
          <c:max val="4.0"/>
          <c:min val="3.1"/>
        </c:scaling>
        <c:delete val="0"/>
        <c:axPos val="l"/>
        <c:majorGridlines>
          <c:spPr>
            <a:ln>
              <a:solidFill>
                <a:srgbClr val="E3E8EF"/>
              </a:solidFill>
            </a:ln>
          </c:spPr>
        </c:majorGridlines>
        <c:title>
          <c:tx>
            <c:rich>
              <a:bodyPr/>
              <a:lstStyle/>
              <a:p>
                <a:r>
                  <a:rPr sz="1100" b="1">
                    <a:solidFill>
                      <a:srgbClr val="0B3C6E"/>
                    </a:solidFill>
                    <a:latin typeface="BIZ UDPゴシック"/>
                    <a:ea typeface="BIZ UDPゴシック"/>
                    <a:cs typeface="BIZ UDPゴシック"/>
                  </a:rPr>
                  <a:t>充実の予測（高いほど良い）</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latin typeface="BIZ UDPゴシック"/>
                <a:ea typeface="BIZ UDPゴシック"/>
                <a:cs typeface="BIZ UDPゴシック"/>
              </a:defRPr>
            </a:pPr>
          </a:p>
        </c:txPr>
        <c:crossAx val="-2128940872"/>
        <c:crosses val="autoZero"/>
        <c:crossBetween val="midCat"/>
        <c:majorUnit val="0.1"/>
      </c:valAx>
    </c:plotArea>
    <c:plotVisOnly val="1"/>
    <c:dispBlanksAs val="gap"/>
    <c:showDLblsOverMax val="0"/>
  </c:chart>
  <c:txPr>
    <a:bodyPr/>
    <a:lstStyle/>
    <a:p>
      <a:pPr>
        <a:defRPr sz="1100">
          <a:solidFill>
            <a:srgbClr val="5A6676"/>
          </a:solidFill>
          <a:latin typeface="BIZ UDPゴシック"/>
          <a:ea typeface="BIZ UDPゴシック"/>
          <a:cs typeface="BIZ UDPゴシック"/>
        </a:defRPr>
      </a:pPr>
      <a:endParaRPr lang="en-US">
        <a:latin typeface="BIZ UDPゴシック"/>
        <a:ea typeface="BIZ UDPゴシック"/>
        <a:cs typeface="BIZ UDPゴシック"/>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latin typeface="BIZ UDPゴシック"/>
                <a:ea typeface="BIZ UDPゴシック"/>
                <a:cs typeface="BIZ UDPゴシック"/>
              </a:rPr>
              <a:t>参加者ごとの SUS（68 が平均的な目安）</a:t>
            </a:r>
          </a:p>
        </c:rich>
      </c:tx>
      <c:layout/>
      <c:overlay val="0"/>
    </c:title>
    <c:autoTitleDeleted val="0"/>
    <c:plotArea>
      <c:barChart>
        <c:barDir val="col"/>
        <c:grouping val="clustered"/>
        <c:ser>
          <c:idx val="0"/>
          <c:order val="0"/>
          <c:tx>
            <c:strRef>
              <c:f>Sheet1!$B$1</c:f>
              <c:strCache>
                <c:ptCount val="1"/>
                <c:pt idx="0">
                  <c:v>SUS</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12A38A"/>
              </a:solidFill>
            </c:spPr>
          </c:dPt>
          <c:dPt>
            <c:idx val="3"/>
            <c:spPr>
              <a:solidFill>
                <a:srgbClr val="E07A10"/>
              </a:solidFill>
            </c:spPr>
          </c:dPt>
          <c:dPt>
            <c:idx val="4"/>
            <c:spPr>
              <a:solidFill>
                <a:srgbClr val="12A38A"/>
              </a:solidFill>
            </c:spPr>
          </c:dPt>
          <c:dPt>
            <c:idx val="5"/>
            <c:spPr>
              <a:solidFill>
                <a:srgbClr val="12A38A"/>
              </a:solidFill>
            </c:spPr>
          </c:dPt>
          <c:cat>
            <c:strRef>
              <c:f>Sheet1!$A$2:$A$7</c:f>
              <c:strCache>
                <c:ptCount val="6"/>
                <c:pt idx="0">
                  <c:v>P1</c:v>
                </c:pt>
                <c:pt idx="1">
                  <c:v>P2</c:v>
                </c:pt>
                <c:pt idx="2">
                  <c:v>P3</c:v>
                </c:pt>
                <c:pt idx="3">
                  <c:v>P4</c:v>
                </c:pt>
                <c:pt idx="4">
                  <c:v>P5</c:v>
                </c:pt>
                <c:pt idx="5">
                  <c:v>P6</c:v>
                </c:pt>
              </c:strCache>
            </c:strRef>
          </c:cat>
          <c:val>
            <c:numRef>
              <c:f>Sheet1!$B$2:$B$7</c:f>
              <c:numCache>
                <c:formatCode>General</c:formatCode>
                <c:ptCount val="6"/>
                <c:pt idx="0">
                  <c:v>82.5</c:v>
                </c:pt>
                <c:pt idx="1">
                  <c:v>75.0</c:v>
                </c:pt>
                <c:pt idx="2">
                  <c:v>90.0</c:v>
                </c:pt>
                <c:pt idx="3">
                  <c:v>65.0</c:v>
                </c:pt>
                <c:pt idx="4">
                  <c:v>77.5</c:v>
                </c:pt>
                <c:pt idx="5">
                  <c:v>77.5</c:v>
                </c:pt>
              </c:numCache>
            </c:numRef>
          </c:val>
        </c:ser>
        <c:dLbls>
          <c:numFmt formatCode="0.0" sourceLinked="0"/>
          <c:txPr>
            <a:bodyPr/>
            <a:lstStyle/>
            <a:p>
              <a:pPr>
                <a:defRPr sz="1100" b="1">
                  <a:solidFill>
                    <a:srgbClr val="24303F"/>
                  </a:solidFill>
                  <a:latin typeface="BIZ UDPゴシック"/>
                  <a:ea typeface="BIZ UDPゴシック"/>
                  <a:cs typeface="BIZ UDPゴシック"/>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latin typeface="BIZ UDPゴシック"/>
                <a:ea typeface="BIZ UDPゴシック"/>
                <a:cs typeface="BIZ UDPゴシック"/>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3E8EF"/>
              </a:solidFill>
            </a:ln>
          </c:spPr>
        </c:majorGridlines>
        <c:numFmt formatCode="0.0" sourceLinked="0"/>
        <c:majorTickMark val="out"/>
        <c:minorTickMark val="none"/>
        <c:tickLblPos val="nextTo"/>
        <c:spPr>
          <a:ln>
            <a:noFill/>
          </a:ln>
        </c:spPr>
        <c:txPr>
          <a:bodyPr/>
          <a:lstStyle/>
          <a:p>
            <a:pPr>
              <a:defRPr sz="1050">
                <a:solidFill>
                  <a:srgbClr val="5A6676"/>
                </a:solidFill>
                <a:latin typeface="BIZ UDPゴシック"/>
                <a:ea typeface="BIZ UDPゴシック"/>
                <a:cs typeface="BIZ UDPゴシック"/>
              </a:defRPr>
            </a:pPr>
          </a:p>
        </c:txPr>
        <c:crossAx val="-2068027336"/>
        <c:crosses val="autoZero"/>
        <c:majorUnit val="25.0"/>
      </c:valAx>
    </c:plotArea>
    <c:dispBlanksAs val="gap"/>
  </c:chart>
  <c:txPr>
    <a:bodyPr/>
    <a:lstStyle/>
    <a:p>
      <a:pPr>
        <a:defRPr sz="1100">
          <a:solidFill>
            <a:srgbClr val="5A6676"/>
          </a:solidFill>
          <a:latin typeface="BIZ UDPゴシック"/>
          <a:ea typeface="BIZ UDPゴシック"/>
          <a:cs typeface="BIZ UDPゴシック"/>
        </a:defRPr>
      </a:pPr>
      <a:endParaRPr lang="en-US">
        <a:latin typeface="BIZ UDPゴシック"/>
        <a:ea typeface="BIZ UDPゴシック"/>
        <a:cs typeface="BIZ UDPゴシック"/>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latin typeface="BIZ UDPゴシック"/>
                <a:ea typeface="BIZ UDPゴシック"/>
                <a:cs typeface="BIZ UDPゴシック"/>
              </a:rPr>
              <a:t>募集経路ごとの応募数</a:t>
            </a:r>
          </a:p>
        </c:rich>
      </c:tx>
      <c:layout/>
      <c:overlay val="0"/>
    </c:title>
    <c:autoTitleDeleted val="0"/>
    <c:plotArea>
      <c:barChart>
        <c:barDir val="bar"/>
        <c:grouping val="clustered"/>
        <c:ser>
          <c:idx val="0"/>
          <c:order val="0"/>
          <c:tx>
            <c:strRef>
              <c:f>Sheet1!$B$1</c:f>
              <c:strCache>
                <c:ptCount val="1"/>
                <c:pt idx="0">
                  <c:v>応募数</c:v>
                </c:pt>
              </c:strCache>
            </c:strRef>
          </c:tx>
          <c:spPr>
            <a:solidFill>
              <a:srgbClr val="0099FF"/>
            </a:solidFill>
          </c:spPr>
          <c:invertIfNegative val="0"/>
          <c:cat>
            <c:strRef>
              <c:f>Sheet1!$A$2:$A$5</c:f>
              <c:strCache>
                <c:ptCount val="4"/>
                <c:pt idx="0">
                  <c:v>学内メーリングリスト</c:v>
                </c:pt>
                <c:pt idx="1">
                  <c:v>X（旧Twitter）</c:v>
                </c:pt>
                <c:pt idx="2">
                  <c:v>推し活コミュニティ</c:v>
                </c:pt>
                <c:pt idx="3">
                  <c:v>知人の紹介</c:v>
                </c:pt>
              </c:strCache>
            </c:strRef>
          </c:cat>
          <c:val>
            <c:numRef>
              <c:f>Sheet1!$B$2:$B$5</c:f>
              <c:numCache>
                <c:formatCode>General</c:formatCode>
                <c:ptCount val="4"/>
                <c:pt idx="0">
                  <c:v>68</c:v>
                </c:pt>
                <c:pt idx="1">
                  <c:v>61</c:v>
                </c:pt>
                <c:pt idx="2">
                  <c:v>29</c:v>
                </c:pt>
                <c:pt idx="3">
                  <c:v>14</c:v>
                </c:pt>
              </c:numCache>
            </c:numRef>
          </c:val>
        </c:ser>
        <c:dLbls>
          <c:numFmt formatCode="0" sourceLinked="0"/>
          <c:txPr>
            <a:bodyPr/>
            <a:lstStyle/>
            <a:p>
              <a:pPr>
                <a:defRPr sz="1100" b="1">
                  <a:solidFill>
                    <a:srgbClr val="24303F"/>
                  </a:solidFill>
                  <a:latin typeface="BIZ UDPゴシック"/>
                  <a:ea typeface="BIZ UDPゴシック"/>
                  <a:cs typeface="BIZ UDPゴシック"/>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B8C2CE"/>
            </a:solidFill>
          </a:ln>
        </c:spPr>
        <c:txPr>
          <a:bodyPr/>
          <a:lstStyle/>
          <a:p>
            <a:pPr>
              <a:defRPr sz="1100">
                <a:solidFill>
                  <a:srgbClr val="24303F"/>
                </a:solidFill>
                <a:latin typeface="BIZ UDPゴシック"/>
                <a:ea typeface="BIZ UDPゴシック"/>
                <a:cs typeface="BIZ UDPゴシック"/>
              </a:defRPr>
            </a:pPr>
          </a:p>
        </c:txPr>
        <c:crossAx val="-2113994440"/>
        <c:crosses val="autoZero"/>
        <c:auto val="1"/>
        <c:lblAlgn val="ctr"/>
        <c:lblOffset val="100"/>
        <c:noMultiLvlLbl val="0"/>
      </c:catAx>
      <c:valAx>
        <c:axId val="-2113994440"/>
        <c:scaling>
          <c:max val="80.0"/>
          <c:min val="0.0"/>
        </c:scaling>
        <c:delete val="0"/>
        <c:axPos val="b"/>
        <c:majorGridlines>
          <c:spPr>
            <a:ln w="9525">
              <a:solidFill>
                <a:srgbClr val="E3E8EF"/>
              </a:solidFill>
            </a:ln>
          </c:spPr>
        </c:majorGridlines>
        <c:numFmt formatCode="0" sourceLinked="0"/>
        <c:majorTickMark val="out"/>
        <c:minorTickMark val="none"/>
        <c:tickLblPos val="none"/>
        <c:spPr>
          <a:ln>
            <a:noFill/>
          </a:ln>
        </c:spPr>
        <c:txPr>
          <a:bodyPr/>
          <a:lstStyle/>
          <a:p>
            <a:pPr>
              <a:defRPr sz="1050">
                <a:solidFill>
                  <a:srgbClr val="5A6676"/>
                </a:solidFill>
                <a:latin typeface="BIZ UDPゴシック"/>
                <a:ea typeface="BIZ UDPゴシック"/>
                <a:cs typeface="BIZ UDPゴシック"/>
              </a:defRPr>
            </a:pPr>
          </a:p>
        </c:txPr>
        <c:crossAx val="-2068027336"/>
        <c:crosses val="autoZero"/>
      </c:valAx>
    </c:plotArea>
    <c:dispBlanksAs val="gap"/>
  </c:chart>
  <c:txPr>
    <a:bodyPr/>
    <a:lstStyle/>
    <a:p>
      <a:pPr>
        <a:defRPr sz="1100">
          <a:solidFill>
            <a:srgbClr val="5A6676"/>
          </a:solidFill>
          <a:latin typeface="BIZ UDPゴシック"/>
          <a:ea typeface="BIZ UDPゴシック"/>
          <a:cs typeface="BIZ UDPゴシック"/>
        </a:defRPr>
      </a:pPr>
      <a:endParaRPr lang="en-US">
        <a:latin typeface="BIZ UDPゴシック"/>
        <a:ea typeface="BIZ UDPゴシック"/>
        <a:cs typeface="BIZ UDPゴシック"/>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前回10/16からの2週間で、ベータ版を完成させ、研究室内で操作確認を行いました。倫理審査の承認、CHIIRへの投稿、参加者の募集開始も報告します。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前回からの差分です。予定していた5項目はすべて完了し、募集だけが進行中です。応募は現在172名で、目標の240名まであと68名です。このまま11/2に本実験を開始する予定です。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スケジュール上は、システム開発と倫理審査が完了しました。次の山場は11/2の本実験開始と、11/15の割付です。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機能ごとの完成度です。8つの機能のうち6つが完成し、みらいミラーの描画速度と疲れの中身キューの文言だけが残っています。どちらも11/15の介入開始までに直せば間に合います。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画面の流れです。毎日は30秒の記録だけで、週に1回、3つの提案から1つを選びます。群Cだけは、選んだ提案についてみらいミラーで今のままと提案どおりを比べられます。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バターの生成は5つの段階です。写真は端末のメモリの中だけで扱い、特徴点を検出して12のパラメータに変換し、SVGのパーツを合成したら写真はすぐに破棄します。生成時間は平均1.4秒、操作確認での似ている度は5段階で3.8で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ゆらぎアバターの実装です。ツインの予測分布から20通りの未来を引き、良好、ふつう、お疲れの3区分に分けて、5体のアバターを重ねて描きます。20人中何人という点の表示も加えました。記録が増えると重なりが収束し、その度合いを未来の解像度として表示しています。また、先週の見込みと実際の記録を毎週並べる答え合わせの機能も入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エンジンの出力例です。灰色の点が候補で、7つの活動から最大2つを1段階ずつ動かした98案です。本人の希望に反する案を除いた61案のうち、充実を大きく下げずに疲れを下げる、パレート最適な3案を選びます。計算は端末内で20ミリ秒程度です。群Bにも同じ3案を出しますが、予測値は表示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室内の6名で操作確認を行いました。SUSの平均は77.9で、一般的な目安の68を上回りました。毎日の記録は平均28秒で、目標の30秒以内に収まっています。一方で、みらいミラーの読み取りができたのは6名中4名で、ぼやけの意味が分からないという声が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確認で見つかった問題と、その改善です。特に、今のままの顔が怖いという声が半数あったので、疲れの表情を1段階弱くしました。ベータ版は今日凍結し、本実験中は全群共通の不具合修正だけを許可します。修正は記録して、修論に逸脱として書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倫理審査は10/21に条件付き承認となり、学外の相談窓口の追加と、データの保存期間の明記という2点を修正して、10/23に承認されました。募集は10/24から始め、現在172名です。学内メーリングリストとXからの応募が多く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CHIIR 2027にShort Paperとして投稿しました。タイトルはOshiFit: Possible-Selves Avatars for Uncertainty-Aware Behavior Change in Fan Activitiesです。予備調査、システムの設計、実験計画の3つを中心に書きました。主張した貢献は、不確かさを重なりで見せる表現、組み替える提案、正解が人によって違う領域へのアバター介入の3点です。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に本実験を開始し、2週間の記録期間のあと、11/15にWHO-5で層別して割り付けます。相談したいのは、応募が200名に届かない場合の判断基準、謝礼の分割払い、そして実験中の不具合修正のルールの3点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6200000"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image" Target="../media/image1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image" Target="../media/image1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chart" Target="../charts/char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3200" b="0">
                <a:solidFill>
                  <a:srgbClr val="24303F"/>
                </a:solidFill>
                <a:latin typeface="BIZ UDPゴシック"/>
                <a:ea typeface="BIZ UDPゴシック"/>
                <a:cs typeface="BIZ UDPゴシック"/>
              </a:rPr>
              <a:t>進捗報告 2026/10/30</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latin typeface="BIZ UDPゴシック"/>
                <a:ea typeface="BIZ UDPゴシック"/>
                <a:cs typeface="BIZ UDPゴシック"/>
              </a:rPr>
              <a:t>今井元</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latin typeface="BIZ UDPゴシック"/>
                <a:ea typeface="BIZ UDPゴシック"/>
                <a:cs typeface="BIZ UDPゴシック"/>
              </a:rPr>
              <a:t>メディアインタラクション研究室　進捗報告</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latin typeface="BIZ UDPゴシック"/>
                <a:ea typeface="BIZ UDPゴシック"/>
                <a:cs typeface="BIZ UDPゴシック"/>
              </a:rPr>
              <a:t>大阪工業大学</a:t>
            </a:r>
          </a:p>
          <a:p>
            <a:pPr algn="l" marL="0" indent="0">
              <a:spcAft>
                <a:spcPts val="200"/>
              </a:spcAft>
              <a:buNone/>
            </a:pPr>
            <a:r>
              <a:rPr sz="1400" b="0">
                <a:solidFill>
                  <a:srgbClr val="24303F"/>
                </a:solidFill>
                <a:latin typeface="BIZ UDPゴシック"/>
                <a:ea typeface="BIZ UDPゴシック"/>
                <a:cs typeface="BIZ UDPゴシック"/>
              </a:rPr>
              <a:t>メディアインタラクション研究室</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2000" b="1">
                <a:solidFill>
                  <a:srgbClr val="FFFFFF"/>
                </a:solidFill>
                <a:latin typeface="BIZ UDPゴシック"/>
                <a:ea typeface="BIZ UDPゴシック"/>
                <a:cs typeface="BIZ UDPゴシック"/>
              </a:rPr>
              <a:t>OshiFit ベータ版の完成</a:t>
            </a:r>
          </a:p>
          <a:p>
            <a:pPr algn="l" marL="0" indent="0">
              <a:lnSpc>
                <a:spcPct val="105000"/>
              </a:lnSpc>
              <a:spcAft>
                <a:spcPts val="600"/>
              </a:spcAft>
              <a:buNone/>
            </a:pPr>
            <a:r>
              <a:rPr sz="1800" b="0">
                <a:solidFill>
                  <a:srgbClr val="FFFFFF"/>
                </a:solidFill>
                <a:latin typeface="BIZ UDPゴシック"/>
                <a:ea typeface="BIZ UDPゴシック"/>
                <a:cs typeface="BIZ UDPゴシック"/>
              </a:rPr>
              <a:t>研究室内での操作確認と改善</a:t>
            </a:r>
          </a:p>
          <a:p>
            <a:pPr algn="l" marL="0" indent="0">
              <a:lnSpc>
                <a:spcPct val="105000"/>
              </a:lnSpc>
              <a:spcAft>
                <a:spcPts val="600"/>
              </a:spcAft>
              <a:buNone/>
            </a:pPr>
            <a:r>
              <a:rPr sz="1400" b="0">
                <a:solidFill>
                  <a:srgbClr val="FFFFFF"/>
                </a:solidFill>
                <a:latin typeface="BIZ UDPゴシック"/>
                <a:ea typeface="BIZ UDPゴシック"/>
                <a:cs typeface="BIZ UDPゴシック"/>
              </a:rPr>
              <a:t>倫理審査の承認 ／ CHIIR 2027 投稿 ／ 参加者募集</a:t>
            </a:r>
          </a:p>
        </p:txBody>
      </p:sp>
      <p:pic>
        <p:nvPicPr>
          <p:cNvPr id="7" name="Picture 6" descr="ghostB.png"/>
          <p:cNvPicPr>
            <a:picLocks noChangeAspect="1"/>
          </p:cNvPicPr>
          <p:nvPr/>
        </p:nvPicPr>
        <p:blipFill>
          <a:blip r:embed="rId2"/>
          <a:stretch>
            <a:fillRect/>
          </a:stretch>
        </p:blipFill>
        <p:spPr>
          <a:xfrm>
            <a:off x="6263640" y="658368"/>
            <a:ext cx="4034118"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前回（10/16）からの差分</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2</a:t>
            </a:fld>
          </a:p>
        </p:txBody>
      </p:sp>
      <p:graphicFrame>
        <p:nvGraphicFramePr>
          <p:cNvPr id="5" name="Table 4"/>
          <p:cNvGraphicFramePr>
            <a:graphicFrameLocks noGrp="1"/>
          </p:cNvGraphicFramePr>
          <p:nvPr/>
        </p:nvGraphicFramePr>
        <p:xfrm>
          <a:off x="411480" y="1371600"/>
          <a:ext cx="8321039" cy="3712464"/>
        </p:xfrm>
        <a:graphic>
          <a:graphicData uri="http://schemas.openxmlformats.org/drawingml/2006/table">
            <a:tbl>
              <a:tblPr>
                <a:tableStyleId>{5940675A-B579-460E-94D1-54222C63F5DA}</a:tableStyleId>
              </a:tblPr>
              <a:tblGrid>
                <a:gridCol w="1325880"/>
                <a:gridCol w="2331720"/>
                <a:gridCol w="3749039"/>
                <a:gridCol w="914400"/>
              </a:tblGrid>
              <a:tr h="530352">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項目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前回 10/16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今回 10/30</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300" b="1">
                          <a:solidFill>
                            <a:srgbClr val="FFFFFF"/>
                          </a:solidFill>
                          <a:latin typeface="BIZ UDPゴシック"/>
                          <a:ea typeface="BIZ UDPゴシック"/>
                          <a:cs typeface="BIZ UDPゴシック"/>
                        </a:rPr>
                        <a:t>状態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30352">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倫理審査</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申請済み・審査待ち</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10/23 承認（指摘2点を修正）</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アプリ</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記録・TIPI-J のみ</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全機能のベータ版（群A/B/C 切替）</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予測</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v1.0 を固定</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ツインの毎晩更新を端末内に実装</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評価</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未実施</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研究室内で操作確認（6名）</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対外発表</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原稿の構成を作成</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CHIIR 2027 に投稿（10/29）</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完了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30352">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募集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未着手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10/24 開始：応募172名／目標240名</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AFCFE"/>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進行中</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6F4FF"/>
                    </a:solidFill>
                  </a:tcPr>
                </a:tc>
              </a:tr>
            </a:tbl>
          </a:graphicData>
        </a:graphic>
      </p:graphicFrame>
      <p:sp>
        <p:nvSpPr>
          <p:cNvPr id="6" name="Rounded Rectangle 5"/>
          <p:cNvSpPr/>
          <p:nvPr/>
        </p:nvSpPr>
        <p:spPr>
          <a:xfrm>
            <a:off x="411480" y="5257800"/>
            <a:ext cx="8321040" cy="914400"/>
          </a:xfrm>
          <a:prstGeom prst="roundRect">
            <a:avLst>
              <a:gd name="adj" fmla="val 1200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5285232"/>
            <a:ext cx="7772400" cy="868680"/>
          </a:xfrm>
          <a:prstGeom prst="rect">
            <a:avLst/>
          </a:prstGeom>
          <a:noFill/>
        </p:spPr>
        <p:txBody>
          <a:bodyPr wrap="square" lIns="0" tIns="0" rIns="0" bIns="0" anchor="ctr">
            <a:noAutofit/>
          </a:bodyPr>
          <a:lstStyle/>
          <a:p>
            <a:pPr algn="l" marL="0" indent="0">
              <a:spcAft>
                <a:spcPts val="200"/>
              </a:spcAft>
              <a:buNone/>
            </a:pPr>
            <a:r>
              <a:rPr sz="1700" b="1">
                <a:solidFill>
                  <a:srgbClr val="FFFFFF"/>
                </a:solidFill>
                <a:latin typeface="BIZ UDPゴシック"/>
                <a:ea typeface="BIZ UDPゴシック"/>
                <a:cs typeface="BIZ UDPゴシック"/>
              </a:rPr>
              <a:t>予定どおり 11/2（月）に本実験を開始できる見込み</a:t>
            </a:r>
          </a:p>
          <a:p>
            <a:pPr algn="l" marL="0" indent="0">
              <a:spcAft>
                <a:spcPts val="400"/>
              </a:spcAft>
              <a:buNone/>
            </a:pPr>
            <a:r>
              <a:rPr sz="1300" b="0">
                <a:solidFill>
                  <a:srgbClr val="CCE9FF"/>
                </a:solidFill>
                <a:latin typeface="BIZ UDPゴシック"/>
                <a:ea typeface="BIZ UDPゴシック"/>
                <a:cs typeface="BIZ UDPゴシック"/>
              </a:rPr>
              <a:t>残る課題は参加者の確保（あと68名）。11/1 まで募集を続ける</a:t>
            </a:r>
          </a:p>
        </p:txBody>
      </p:sp>
      <p:sp>
        <p:nvSpPr>
          <p:cNvPr id="8" name="Rounded Rectangle 7"/>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latin typeface="BIZ UDPゴシック"/>
                <a:ea typeface="BIZ UDPゴシック"/>
                <a:cs typeface="BIZ UDPゴシック"/>
              </a:rPr>
              <a:t>※ 応募数などは想定値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全体スケジュールと現在地</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3</a:t>
            </a:fld>
          </a:p>
        </p:txBody>
      </p:sp>
      <p:sp>
        <p:nvSpPr>
          <p:cNvPr id="5" name="TextBox 4"/>
          <p:cNvSpPr txBox="1"/>
          <p:nvPr/>
        </p:nvSpPr>
        <p:spPr>
          <a:xfrm>
            <a:off x="1874519" y="1417320"/>
            <a:ext cx="16002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latin typeface="BIZ UDPゴシック"/>
                <a:ea typeface="BIZ UDPゴシック"/>
                <a:cs typeface="BIZ UDPゴシック"/>
              </a:rPr>
              <a:t>10月</a:t>
            </a:r>
          </a:p>
        </p:txBody>
      </p:sp>
      <p:cxnSp>
        <p:nvCxnSpPr>
          <p:cNvPr id="6" name="Connector 5"/>
          <p:cNvCxnSpPr/>
          <p:nvPr/>
        </p:nvCxnSpPr>
        <p:spPr>
          <a:xfrm>
            <a:off x="187451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74720" y="1417320"/>
            <a:ext cx="16002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latin typeface="BIZ UDPゴシック"/>
                <a:ea typeface="BIZ UDPゴシック"/>
                <a:cs typeface="BIZ UDPゴシック"/>
              </a:rPr>
              <a:t>11月</a:t>
            </a:r>
          </a:p>
        </p:txBody>
      </p:sp>
      <p:cxnSp>
        <p:nvCxnSpPr>
          <p:cNvPr id="8" name="Connector 7"/>
          <p:cNvCxnSpPr/>
          <p:nvPr/>
        </p:nvCxnSpPr>
        <p:spPr>
          <a:xfrm>
            <a:off x="34747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4920" y="1417320"/>
            <a:ext cx="137160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latin typeface="BIZ UDPゴシック"/>
                <a:ea typeface="BIZ UDPゴシック"/>
                <a:cs typeface="BIZ UDPゴシック"/>
              </a:rPr>
              <a:t>12月</a:t>
            </a:r>
          </a:p>
        </p:txBody>
      </p:sp>
      <p:cxnSp>
        <p:nvCxnSpPr>
          <p:cNvPr id="10" name="Connector 9"/>
          <p:cNvCxnSpPr/>
          <p:nvPr/>
        </p:nvCxnSpPr>
        <p:spPr>
          <a:xfrm>
            <a:off x="50749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46520" y="1417320"/>
            <a:ext cx="914399"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latin typeface="BIZ UDPゴシック"/>
                <a:ea typeface="BIZ UDPゴシック"/>
                <a:cs typeface="BIZ UDPゴシック"/>
              </a:rPr>
              <a:t>1月</a:t>
            </a:r>
          </a:p>
        </p:txBody>
      </p:sp>
      <p:cxnSp>
        <p:nvCxnSpPr>
          <p:cNvPr id="12" name="Connector 11"/>
          <p:cNvCxnSpPr/>
          <p:nvPr/>
        </p:nvCxnSpPr>
        <p:spPr>
          <a:xfrm>
            <a:off x="6446520"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60919" y="1417320"/>
            <a:ext cx="777239"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latin typeface="BIZ UDPゴシック"/>
                <a:ea typeface="BIZ UDPゴシック"/>
                <a:cs typeface="BIZ UDPゴシック"/>
              </a:rPr>
              <a:t>2月</a:t>
            </a:r>
          </a:p>
        </p:txBody>
      </p:sp>
      <p:cxnSp>
        <p:nvCxnSpPr>
          <p:cNvPr id="14" name="Connector 13"/>
          <p:cNvCxnSpPr/>
          <p:nvPr/>
        </p:nvCxnSpPr>
        <p:spPr>
          <a:xfrm>
            <a:off x="736091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38159" y="1417320"/>
            <a:ext cx="502920" cy="292608"/>
          </a:xfrm>
          <a:prstGeom prst="rect">
            <a:avLst/>
          </a:prstGeom>
          <a:noFill/>
        </p:spPr>
        <p:txBody>
          <a:bodyPr wrap="square" lIns="0" tIns="0" rIns="0" bIns="0" anchor="ctr">
            <a:noAutofit/>
          </a:bodyPr>
          <a:lstStyle/>
          <a:p>
            <a:pPr algn="ctr" marL="0" indent="0">
              <a:spcAft>
                <a:spcPts val="400"/>
              </a:spcAft>
              <a:buNone/>
            </a:pPr>
            <a:r>
              <a:rPr sz="1200" b="1">
                <a:solidFill>
                  <a:srgbClr val="5A6676"/>
                </a:solidFill>
                <a:latin typeface="BIZ UDPゴシック"/>
                <a:ea typeface="BIZ UDPゴシック"/>
                <a:cs typeface="BIZ UDPゴシック"/>
              </a:rPr>
              <a:t>3月</a:t>
            </a:r>
          </a:p>
        </p:txBody>
      </p:sp>
      <p:cxnSp>
        <p:nvCxnSpPr>
          <p:cNvPr id="16" name="Connector 15"/>
          <p:cNvCxnSpPr/>
          <p:nvPr/>
        </p:nvCxnSpPr>
        <p:spPr>
          <a:xfrm>
            <a:off x="8138159" y="1764792"/>
            <a:ext cx="0" cy="2743200"/>
          </a:xfrm>
          <a:prstGeom prst="line">
            <a:avLst/>
          </a:prstGeom>
          <a:ln w="12700">
            <a:solidFill>
              <a:srgbClr val="E3E8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1480" y="176479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システム開発</a:t>
            </a:r>
          </a:p>
        </p:txBody>
      </p:sp>
      <p:sp>
        <p:nvSpPr>
          <p:cNvPr id="18" name="Rounded Rectangle 17"/>
          <p:cNvSpPr/>
          <p:nvPr/>
        </p:nvSpPr>
        <p:spPr>
          <a:xfrm>
            <a:off x="1874519" y="1874520"/>
            <a:ext cx="1496961" cy="329184"/>
          </a:xfrm>
          <a:prstGeom prst="roundRect">
            <a:avLst>
              <a:gd name="adj" fmla="val 22222"/>
            </a:avLst>
          </a:prstGeom>
          <a:solidFill>
            <a:srgbClr val="C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874519" y="1874520"/>
            <a:ext cx="1496961" cy="329184"/>
          </a:xfrm>
          <a:prstGeom prst="roundRect">
            <a:avLst>
              <a:gd name="adj" fmla="val 22222"/>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874519" y="1874520"/>
            <a:ext cx="1496961"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latin typeface="BIZ UDPゴシック"/>
                <a:ea typeface="BIZ UDPゴシック"/>
                <a:cs typeface="BIZ UDPゴシック"/>
              </a:rPr>
              <a:t>設計 → ベータ版</a:t>
            </a:r>
          </a:p>
        </p:txBody>
      </p:sp>
      <p:sp>
        <p:nvSpPr>
          <p:cNvPr id="21" name="TextBox 20"/>
          <p:cNvSpPr txBox="1"/>
          <p:nvPr/>
        </p:nvSpPr>
        <p:spPr>
          <a:xfrm>
            <a:off x="411480" y="231343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倫理審査・募集</a:t>
            </a:r>
          </a:p>
        </p:txBody>
      </p:sp>
      <p:sp>
        <p:nvSpPr>
          <p:cNvPr id="22" name="Rounded Rectangle 21"/>
          <p:cNvSpPr/>
          <p:nvPr/>
        </p:nvSpPr>
        <p:spPr>
          <a:xfrm>
            <a:off x="2287474" y="2423160"/>
            <a:ext cx="722670" cy="329184"/>
          </a:xfrm>
          <a:prstGeom prst="roundRect">
            <a:avLst>
              <a:gd name="adj" fmla="val 22222"/>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2287474" y="2423160"/>
            <a:ext cx="722670" cy="329184"/>
          </a:xfrm>
          <a:prstGeom prst="roundRect">
            <a:avLst>
              <a:gd name="adj" fmla="val 22222"/>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287474" y="2423160"/>
            <a:ext cx="722670" cy="329184"/>
          </a:xfrm>
          <a:prstGeom prst="rect">
            <a:avLst/>
          </a:prstGeom>
          <a:noFill/>
        </p:spPr>
        <p:txBody>
          <a:bodyPr wrap="none" lIns="54864" tIns="0" rIns="0" bIns="0" anchor="ctr">
            <a:noAutofit/>
          </a:bodyPr>
          <a:lstStyle/>
          <a:p>
            <a:pPr algn="l" marL="0" indent="0">
              <a:spcAft>
                <a:spcPts val="400"/>
              </a:spcAft>
              <a:buNone/>
            </a:pPr>
            <a:r>
              <a:rPr sz="1100" b="1">
                <a:solidFill>
                  <a:srgbClr val="FFFFFF"/>
                </a:solidFill>
                <a:latin typeface="BIZ UDPゴシック"/>
                <a:ea typeface="BIZ UDPゴシック"/>
                <a:cs typeface="BIZ UDPゴシック"/>
              </a:rPr>
              <a:t>審査</a:t>
            </a:r>
          </a:p>
        </p:txBody>
      </p:sp>
      <p:sp>
        <p:nvSpPr>
          <p:cNvPr id="25" name="Rounded Rectangle 24"/>
          <p:cNvSpPr/>
          <p:nvPr/>
        </p:nvSpPr>
        <p:spPr>
          <a:xfrm>
            <a:off x="3061765" y="2423160"/>
            <a:ext cx="412954" cy="329184"/>
          </a:xfrm>
          <a:prstGeom prst="roundRect">
            <a:avLst>
              <a:gd name="adj" fmla="val 22222"/>
            </a:avLst>
          </a:prstGeom>
          <a:solidFill>
            <a:srgbClr val="EF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3061765" y="2423160"/>
            <a:ext cx="309716" cy="329184"/>
          </a:xfrm>
          <a:prstGeom prst="roundRect">
            <a:avLst>
              <a:gd name="adj" fmla="val 23619"/>
            </a:avLst>
          </a:prstGeom>
          <a:solidFill>
            <a:srgbClr val="B3A8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061765" y="2423160"/>
            <a:ext cx="457200" cy="329184"/>
          </a:xfrm>
          <a:prstGeom prst="rect">
            <a:avLst/>
          </a:prstGeom>
          <a:noFill/>
        </p:spPr>
        <p:txBody>
          <a:bodyPr wrap="none" lIns="54864" tIns="0" rIns="0" bIns="0" anchor="ctr">
            <a:noAutofit/>
          </a:bodyPr>
          <a:lstStyle/>
          <a:p>
            <a:pPr algn="l" marL="0" indent="0">
              <a:spcAft>
                <a:spcPts val="400"/>
              </a:spcAft>
              <a:buNone/>
            </a:pPr>
            <a:r>
              <a:rPr sz="950" b="1">
                <a:solidFill>
                  <a:srgbClr val="0B3C6E"/>
                </a:solidFill>
                <a:latin typeface="BIZ UDPゴシック"/>
                <a:ea typeface="BIZ UDPゴシック"/>
                <a:cs typeface="BIZ UDPゴシック"/>
              </a:rPr>
              <a:t>募集</a:t>
            </a:r>
          </a:p>
        </p:txBody>
      </p:sp>
      <p:sp>
        <p:nvSpPr>
          <p:cNvPr id="28" name="TextBox 27"/>
          <p:cNvSpPr txBox="1"/>
          <p:nvPr/>
        </p:nvSpPr>
        <p:spPr>
          <a:xfrm>
            <a:off x="411480" y="286207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本実験（6週間）</a:t>
            </a:r>
          </a:p>
        </p:txBody>
      </p:sp>
      <p:sp>
        <p:nvSpPr>
          <p:cNvPr id="29" name="Rounded Rectangle 28"/>
          <p:cNvSpPr/>
          <p:nvPr/>
        </p:nvSpPr>
        <p:spPr>
          <a:xfrm>
            <a:off x="3528059" y="2971800"/>
            <a:ext cx="693420" cy="329184"/>
          </a:xfrm>
          <a:prstGeom prst="roundRect">
            <a:avLst>
              <a:gd name="adj" fmla="val 2222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28059" y="2971800"/>
            <a:ext cx="693420"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latin typeface="BIZ UDPゴシック"/>
                <a:ea typeface="BIZ UDPゴシック"/>
                <a:cs typeface="BIZ UDPゴシック"/>
              </a:rPr>
              <a:t>記録のみ</a:t>
            </a:r>
          </a:p>
        </p:txBody>
      </p:sp>
      <p:sp>
        <p:nvSpPr>
          <p:cNvPr id="31" name="Rounded Rectangle 30"/>
          <p:cNvSpPr/>
          <p:nvPr/>
        </p:nvSpPr>
        <p:spPr>
          <a:xfrm>
            <a:off x="4274820" y="2971800"/>
            <a:ext cx="1331041" cy="329184"/>
          </a:xfrm>
          <a:prstGeom prst="roundRect">
            <a:avLst>
              <a:gd name="adj" fmla="val 2222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274820" y="2971800"/>
            <a:ext cx="1331041"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latin typeface="BIZ UDPゴシック"/>
                <a:ea typeface="BIZ UDPゴシック"/>
                <a:cs typeface="BIZ UDPゴシック"/>
              </a:rPr>
              <a:t>介入（3群）</a:t>
            </a:r>
          </a:p>
        </p:txBody>
      </p:sp>
      <p:sp>
        <p:nvSpPr>
          <p:cNvPr id="33" name="TextBox 32"/>
          <p:cNvSpPr txBox="1"/>
          <p:nvPr/>
        </p:nvSpPr>
        <p:spPr>
          <a:xfrm>
            <a:off x="411480" y="341071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解析・修論</a:t>
            </a:r>
          </a:p>
        </p:txBody>
      </p:sp>
      <p:sp>
        <p:nvSpPr>
          <p:cNvPr id="34" name="Rounded Rectangle 33"/>
          <p:cNvSpPr/>
          <p:nvPr/>
        </p:nvSpPr>
        <p:spPr>
          <a:xfrm>
            <a:off x="5650107" y="3520440"/>
            <a:ext cx="1622322" cy="329184"/>
          </a:xfrm>
          <a:prstGeom prst="roundRect">
            <a:avLst>
              <a:gd name="adj" fmla="val 22222"/>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650107" y="3520440"/>
            <a:ext cx="1622322" cy="329184"/>
          </a:xfrm>
          <a:prstGeom prst="rect">
            <a:avLst/>
          </a:prstGeom>
          <a:noFill/>
        </p:spPr>
        <p:txBody>
          <a:bodyPr wrap="none" lIns="54864" tIns="0" rIns="0" bIns="0" anchor="ctr">
            <a:noAutofit/>
          </a:bodyPr>
          <a:lstStyle/>
          <a:p>
            <a:pPr algn="l" marL="0" indent="0">
              <a:spcAft>
                <a:spcPts val="400"/>
              </a:spcAft>
              <a:buNone/>
            </a:pPr>
            <a:r>
              <a:rPr sz="1100" b="1">
                <a:solidFill>
                  <a:srgbClr val="0B3C6E"/>
                </a:solidFill>
                <a:latin typeface="BIZ UDPゴシック"/>
                <a:ea typeface="BIZ UDPゴシック"/>
                <a:cs typeface="BIZ UDPゴシック"/>
              </a:rPr>
              <a:t>解析 → 執筆</a:t>
            </a:r>
          </a:p>
        </p:txBody>
      </p:sp>
      <p:sp>
        <p:nvSpPr>
          <p:cNvPr id="36" name="TextBox 35"/>
          <p:cNvSpPr txBox="1"/>
          <p:nvPr/>
        </p:nvSpPr>
        <p:spPr>
          <a:xfrm>
            <a:off x="411480" y="3959352"/>
            <a:ext cx="1371599"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対外発表</a:t>
            </a:r>
          </a:p>
        </p:txBody>
      </p:sp>
      <p:sp>
        <p:nvSpPr>
          <p:cNvPr id="37" name="Diamond 36"/>
          <p:cNvSpPr/>
          <p:nvPr/>
        </p:nvSpPr>
        <p:spPr>
          <a:xfrm>
            <a:off x="3228421" y="4032504"/>
            <a:ext cx="182880" cy="182880"/>
          </a:xfrm>
          <a:prstGeom prst="diamond">
            <a:avLst/>
          </a:prstGeom>
          <a:solidFill>
            <a:srgbClr val="E8457C"/>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816941"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latin typeface="BIZ UDPゴシック"/>
                <a:ea typeface="BIZ UDPゴシック"/>
                <a:cs typeface="BIZ UDPゴシック"/>
              </a:rPr>
              <a:t>CHIIR投稿</a:t>
            </a:r>
          </a:p>
          <a:p>
            <a:pPr algn="ctr" marL="0" indent="0">
              <a:spcAft>
                <a:spcPts val="0"/>
              </a:spcAft>
              <a:buNone/>
            </a:pPr>
            <a:r>
              <a:rPr sz="1000" b="0">
                <a:solidFill>
                  <a:srgbClr val="24303F"/>
                </a:solidFill>
                <a:latin typeface="BIZ UDPゴシック"/>
                <a:ea typeface="BIZ UDPゴシック"/>
                <a:cs typeface="BIZ UDPゴシック"/>
              </a:rPr>
              <a:t>10/29</a:t>
            </a:r>
          </a:p>
        </p:txBody>
      </p:sp>
      <p:sp>
        <p:nvSpPr>
          <p:cNvPr id="39" name="Diamond 38"/>
          <p:cNvSpPr/>
          <p:nvPr/>
        </p:nvSpPr>
        <p:spPr>
          <a:xfrm>
            <a:off x="7180989"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769509"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latin typeface="BIZ UDPゴシック"/>
                <a:ea typeface="BIZ UDPゴシック"/>
                <a:cs typeface="BIZ UDPゴシック"/>
              </a:rPr>
              <a:t>修論提出</a:t>
            </a:r>
          </a:p>
          <a:p>
            <a:pPr algn="ctr" marL="0" indent="0">
              <a:spcAft>
                <a:spcPts val="0"/>
              </a:spcAft>
              <a:buNone/>
            </a:pPr>
            <a:r>
              <a:rPr sz="1000" b="0">
                <a:solidFill>
                  <a:srgbClr val="24303F"/>
                </a:solidFill>
                <a:latin typeface="BIZ UDPゴシック"/>
                <a:ea typeface="BIZ UDPゴシック"/>
                <a:cs typeface="BIZ UDPゴシック"/>
              </a:rPr>
              <a:t>1/29</a:t>
            </a:r>
          </a:p>
        </p:txBody>
      </p:sp>
      <p:sp>
        <p:nvSpPr>
          <p:cNvPr id="41" name="Diamond 40"/>
          <p:cNvSpPr/>
          <p:nvPr/>
        </p:nvSpPr>
        <p:spPr>
          <a:xfrm>
            <a:off x="7713617"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302137"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latin typeface="BIZ UDPゴシック"/>
                <a:ea typeface="BIZ UDPゴシック"/>
                <a:cs typeface="BIZ UDPゴシック"/>
              </a:rPr>
              <a:t>公聴会</a:t>
            </a:r>
          </a:p>
          <a:p>
            <a:pPr algn="ctr" marL="0" indent="0">
              <a:spcAft>
                <a:spcPts val="0"/>
              </a:spcAft>
              <a:buNone/>
            </a:pPr>
            <a:r>
              <a:rPr sz="1000" b="0">
                <a:solidFill>
                  <a:srgbClr val="24303F"/>
                </a:solidFill>
                <a:latin typeface="BIZ UDPゴシック"/>
                <a:ea typeface="BIZ UDPゴシック"/>
                <a:cs typeface="BIZ UDPゴシック"/>
              </a:rPr>
              <a:t>2/17</a:t>
            </a:r>
          </a:p>
        </p:txBody>
      </p:sp>
      <p:sp>
        <p:nvSpPr>
          <p:cNvPr id="43" name="Diamond 42"/>
          <p:cNvSpPr/>
          <p:nvPr/>
        </p:nvSpPr>
        <p:spPr>
          <a:xfrm>
            <a:off x="8298179" y="4032504"/>
            <a:ext cx="182880" cy="182880"/>
          </a:xfrm>
          <a:prstGeom prst="diamond">
            <a:avLst/>
          </a:prstGeom>
          <a:solidFill>
            <a:srgbClr val="FFFFFF"/>
          </a:solidFill>
          <a:ln w="1905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886699" y="4215384"/>
            <a:ext cx="1005840" cy="384048"/>
          </a:xfrm>
          <a:prstGeom prst="rect">
            <a:avLst/>
          </a:prstGeom>
          <a:noFill/>
        </p:spPr>
        <p:txBody>
          <a:bodyPr wrap="square" lIns="0" tIns="0" rIns="0" bIns="0" anchor="t">
            <a:noAutofit/>
          </a:bodyPr>
          <a:lstStyle/>
          <a:p>
            <a:pPr algn="ctr" marL="0" indent="0">
              <a:spcAft>
                <a:spcPts val="0"/>
              </a:spcAft>
              <a:buNone/>
            </a:pPr>
            <a:r>
              <a:rPr sz="1000" b="0">
                <a:solidFill>
                  <a:srgbClr val="24303F"/>
                </a:solidFill>
                <a:latin typeface="BIZ UDPゴシック"/>
                <a:ea typeface="BIZ UDPゴシック"/>
                <a:cs typeface="BIZ UDPゴシック"/>
              </a:rPr>
              <a:t>CHIIR</a:t>
            </a:r>
          </a:p>
          <a:p>
            <a:pPr algn="ctr" marL="0" indent="0">
              <a:spcAft>
                <a:spcPts val="0"/>
              </a:spcAft>
              <a:buNone/>
            </a:pPr>
            <a:r>
              <a:rPr sz="1000" b="0">
                <a:solidFill>
                  <a:srgbClr val="24303F"/>
                </a:solidFill>
                <a:latin typeface="BIZ UDPゴシック"/>
                <a:ea typeface="BIZ UDPゴシック"/>
                <a:cs typeface="BIZ UDPゴシック"/>
              </a:rPr>
              <a:t>3/7–11</a:t>
            </a:r>
          </a:p>
        </p:txBody>
      </p:sp>
      <p:cxnSp>
        <p:nvCxnSpPr>
          <p:cNvPr id="45" name="Connector 44"/>
          <p:cNvCxnSpPr/>
          <p:nvPr/>
        </p:nvCxnSpPr>
        <p:spPr>
          <a:xfrm>
            <a:off x="3371481" y="1719072"/>
            <a:ext cx="0" cy="2286000"/>
          </a:xfrm>
          <a:prstGeom prst="line">
            <a:avLst/>
          </a:prstGeom>
          <a:ln w="28575">
            <a:solidFill>
              <a:srgbClr val="E8457C"/>
            </a:solidFill>
            <a:prstDash val="dash"/>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2731401" y="4617720"/>
            <a:ext cx="1280160" cy="256032"/>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FFFFFF"/>
                </a:solidFill>
                <a:latin typeface="BIZ UDPゴシック"/>
                <a:ea typeface="BIZ UDPゴシック"/>
                <a:cs typeface="BIZ UDPゴシック"/>
              </a:rPr>
              <a:t>いまここ 10/30</a:t>
            </a:r>
          </a:p>
        </p:txBody>
      </p:sp>
      <p:sp>
        <p:nvSpPr>
          <p:cNvPr id="47" name="Rounded Rectangle 46"/>
          <p:cNvSpPr/>
          <p:nvPr/>
        </p:nvSpPr>
        <p:spPr>
          <a:xfrm>
            <a:off x="411480" y="5029200"/>
            <a:ext cx="8321040" cy="1143000"/>
          </a:xfrm>
          <a:prstGeom prst="roundRect">
            <a:avLst>
              <a:gd name="adj" fmla="val 80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94360" y="5321808"/>
            <a:ext cx="548640" cy="54864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ic_check_w.png"/>
          <p:cNvPicPr>
            <a:picLocks noChangeAspect="1"/>
          </p:cNvPicPr>
          <p:nvPr/>
        </p:nvPicPr>
        <p:blipFill>
          <a:blip r:embed="rId2"/>
          <a:stretch>
            <a:fillRect/>
          </a:stretch>
        </p:blipFill>
        <p:spPr>
          <a:xfrm>
            <a:off x="726033" y="5453481"/>
            <a:ext cx="285292" cy="285292"/>
          </a:xfrm>
          <a:prstGeom prst="rect">
            <a:avLst/>
          </a:prstGeom>
        </p:spPr>
      </p:pic>
      <p:sp>
        <p:nvSpPr>
          <p:cNvPr id="50" name="TextBox 49"/>
          <p:cNvSpPr txBox="1"/>
          <p:nvPr/>
        </p:nvSpPr>
        <p:spPr>
          <a:xfrm>
            <a:off x="1325880" y="5074920"/>
            <a:ext cx="7223760" cy="1051560"/>
          </a:xfrm>
          <a:prstGeom prst="rect">
            <a:avLst/>
          </a:prstGeom>
          <a:noFill/>
        </p:spPr>
        <p:txBody>
          <a:bodyPr wrap="square" lIns="0" tIns="0" rIns="0" bIns="0" anchor="ctr">
            <a:noAutofit/>
          </a:bodyPr>
          <a:lstStyle/>
          <a:p>
            <a:pPr algn="l" marL="0" indent="0">
              <a:spcAft>
                <a:spcPts val="200"/>
              </a:spcAft>
              <a:buNone/>
            </a:pPr>
            <a:r>
              <a:rPr sz="1400" b="1">
                <a:solidFill>
                  <a:srgbClr val="0B3C6E"/>
                </a:solidFill>
                <a:latin typeface="BIZ UDPゴシック"/>
                <a:ea typeface="BIZ UDPゴシック"/>
                <a:cs typeface="BIZ UDPゴシック"/>
              </a:rPr>
              <a:t>システム開発と倫理審査が完了。次の山場は 11/2 の本実験開始と 11/15 の割付</a:t>
            </a:r>
          </a:p>
          <a:p>
            <a:pPr algn="l" marL="0" indent="0">
              <a:spcAft>
                <a:spcPts val="400"/>
              </a:spcAft>
              <a:buNone/>
            </a:pPr>
            <a:r>
              <a:rPr sz="1200" b="0">
                <a:solidFill>
                  <a:srgbClr val="5A6676"/>
                </a:solidFill>
                <a:latin typeface="BIZ UDPゴシック"/>
                <a:ea typeface="BIZ UDPゴシック"/>
                <a:cs typeface="BIZ UDPゴシック"/>
              </a:rPr>
              <a:t>前回（10/16）からシステム開発のバーが完了に、倫理審査が承認に進んだ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ベータ版の実装状況</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4</a:t>
            </a:fld>
          </a:p>
        </p:txBody>
      </p:sp>
      <p:graphicFrame>
        <p:nvGraphicFramePr>
          <p:cNvPr id="5" name="Chart 4"/>
          <p:cNvGraphicFramePr>
            <a:graphicFrameLocks noGrp="1"/>
          </p:cNvGraphicFramePr>
          <p:nvPr/>
        </p:nvGraphicFramePr>
        <p:xfrm>
          <a:off x="411480" y="1325880"/>
          <a:ext cx="4846320" cy="4846320"/>
        </p:xfrm>
        <a:graphic>
          <a:graphicData uri="http://schemas.openxmlformats.org/drawingml/2006/chart">
            <c:chart xmlns:c="http://schemas.openxmlformats.org/drawingml/2006/chart" r:id="rId2"/>
          </a:graphicData>
        </a:graphic>
      </p:graphicFrame>
      <p:sp>
        <p:nvSpPr>
          <p:cNvPr id="6" name="Rounded Rectangle 5"/>
          <p:cNvSpPr/>
          <p:nvPr/>
        </p:nvSpPr>
        <p:spPr>
          <a:xfrm>
            <a:off x="5440680" y="1371600"/>
            <a:ext cx="3291840" cy="3017520"/>
          </a:xfrm>
          <a:prstGeom prst="roundRect">
            <a:avLst>
              <a:gd name="adj" fmla="val 303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586984" y="151790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code_w.png"/>
          <p:cNvPicPr>
            <a:picLocks noChangeAspect="1"/>
          </p:cNvPicPr>
          <p:nvPr/>
        </p:nvPicPr>
        <p:blipFill>
          <a:blip r:embed="rId3"/>
          <a:stretch>
            <a:fillRect/>
          </a:stretch>
        </p:blipFill>
        <p:spPr>
          <a:xfrm>
            <a:off x="5696712" y="1627631"/>
            <a:ext cx="237744" cy="237744"/>
          </a:xfrm>
          <a:prstGeom prst="rect">
            <a:avLst/>
          </a:prstGeom>
        </p:spPr>
      </p:pic>
      <p:sp>
        <p:nvSpPr>
          <p:cNvPr id="9" name="TextBox 8"/>
          <p:cNvSpPr txBox="1"/>
          <p:nvPr/>
        </p:nvSpPr>
        <p:spPr>
          <a:xfrm>
            <a:off x="6153912" y="1490472"/>
            <a:ext cx="24688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使っている技術</a:t>
            </a:r>
          </a:p>
        </p:txBody>
      </p:sp>
      <p:sp>
        <p:nvSpPr>
          <p:cNvPr id="10" name="TextBox 9"/>
          <p:cNvSpPr txBox="1"/>
          <p:nvPr/>
        </p:nvSpPr>
        <p:spPr>
          <a:xfrm>
            <a:off x="5605272" y="2066543"/>
            <a:ext cx="2999232" cy="2231136"/>
          </a:xfrm>
          <a:prstGeom prst="rect">
            <a:avLst/>
          </a:prstGeom>
          <a:noFill/>
        </p:spPr>
        <p:txBody>
          <a:bodyPr wrap="square" lIns="0" tIns="0" rIns="0" bIns="0" anchor="t">
            <a:noAutofit/>
          </a:bodyPr>
          <a:lstStyle/>
          <a:p>
            <a:pPr algn="l" marL="182880" indent="-182880">
              <a:spcAft>
                <a:spcPts val="400"/>
              </a:spcAft>
              <a:buClr>
                <a:srgbClr val="0099FF"/>
              </a:buClr>
              <a:buFont typeface="BIZ UDPゴシック"/>
              <a:buChar char="•"/>
            </a:pPr>
            <a:r>
              <a:rPr sz="1250" b="0">
                <a:solidFill>
                  <a:srgbClr val="24303F"/>
                </a:solidFill>
                <a:latin typeface="BIZ UDPゴシック"/>
                <a:ea typeface="BIZ UDPゴシック"/>
                <a:cs typeface="BIZ UDPゴシック"/>
              </a:rPr>
              <a:t>React Native（Expo）</a:t>
            </a:r>
          </a:p>
          <a:p>
            <a:pPr algn="l" marL="182880" indent="-182880">
              <a:spcAft>
                <a:spcPts val="400"/>
              </a:spcAft>
              <a:buClr>
                <a:srgbClr val="0099FF"/>
              </a:buClr>
              <a:buFont typeface="BIZ UDPゴシック"/>
              <a:buChar char="•"/>
            </a:pPr>
            <a:r>
              <a:rPr sz="1250" b="0">
                <a:solidFill>
                  <a:srgbClr val="24303F"/>
                </a:solidFill>
                <a:latin typeface="BIZ UDPゴシック"/>
                <a:ea typeface="BIZ UDPゴシック"/>
                <a:cs typeface="BIZ UDPゴシック"/>
              </a:rPr>
              <a:t>MediaPipe Face Landmarker（端末内）</a:t>
            </a:r>
          </a:p>
          <a:p>
            <a:pPr algn="l" marL="182880" indent="-182880">
              <a:spcAft>
                <a:spcPts val="400"/>
              </a:spcAft>
              <a:buClr>
                <a:srgbClr val="0099FF"/>
              </a:buClr>
              <a:buFont typeface="BIZ UDPゴシック"/>
              <a:buChar char="•"/>
            </a:pPr>
            <a:r>
              <a:rPr sz="1250" b="0">
                <a:solidFill>
                  <a:srgbClr val="24303F"/>
                </a:solidFill>
                <a:latin typeface="BIZ UDPゴシック"/>
                <a:ea typeface="BIZ UDPゴシック"/>
                <a:cs typeface="BIZ UDPゴシック"/>
              </a:rPr>
              <a:t>アバター：SVG パーツ合成</a:t>
            </a:r>
          </a:p>
          <a:p>
            <a:pPr algn="l" marL="182880" indent="-182880">
              <a:spcAft>
                <a:spcPts val="400"/>
              </a:spcAft>
              <a:buClr>
                <a:srgbClr val="0099FF"/>
              </a:buClr>
              <a:buFont typeface="BIZ UDPゴシック"/>
              <a:buChar char="•"/>
            </a:pPr>
            <a:r>
              <a:rPr sz="1250" b="0">
                <a:solidFill>
                  <a:srgbClr val="24303F"/>
                </a:solidFill>
                <a:latin typeface="BIZ UDPゴシック"/>
                <a:ea typeface="BIZ UDPゴシック"/>
                <a:cs typeface="BIZ UDPゴシック"/>
              </a:rPr>
              <a:t>予測：TypeScript で正規分布の更新式</a:t>
            </a:r>
          </a:p>
          <a:p>
            <a:pPr algn="l" marL="182880" indent="-182880">
              <a:spcAft>
                <a:spcPts val="400"/>
              </a:spcAft>
              <a:buClr>
                <a:srgbClr val="0099FF"/>
              </a:buClr>
              <a:buFont typeface="BIZ UDPゴシック"/>
              <a:buChar char="•"/>
            </a:pPr>
            <a:r>
              <a:rPr sz="1250" b="0">
                <a:solidFill>
                  <a:srgbClr val="24303F"/>
                </a:solidFill>
                <a:latin typeface="BIZ UDPゴシック"/>
                <a:ea typeface="BIZ UDPゴシック"/>
                <a:cs typeface="BIZ UDPゴシック"/>
              </a:rPr>
              <a:t>Firebase（匿名認証・Firestore）</a:t>
            </a:r>
          </a:p>
        </p:txBody>
      </p:sp>
      <p:sp>
        <p:nvSpPr>
          <p:cNvPr id="11" name="Rounded Rectangle 10"/>
          <p:cNvSpPr/>
          <p:nvPr/>
        </p:nvSpPr>
        <p:spPr>
          <a:xfrm>
            <a:off x="5440680" y="4572000"/>
            <a:ext cx="3291840" cy="1600200"/>
          </a:xfrm>
          <a:prstGeom prst="roundRect">
            <a:avLst>
              <a:gd name="adj" fmla="val 571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5586984" y="471830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c_warn_w.png"/>
          <p:cNvPicPr>
            <a:picLocks noChangeAspect="1"/>
          </p:cNvPicPr>
          <p:nvPr/>
        </p:nvPicPr>
        <p:blipFill>
          <a:blip r:embed="rId4"/>
          <a:stretch>
            <a:fillRect/>
          </a:stretch>
        </p:blipFill>
        <p:spPr>
          <a:xfrm>
            <a:off x="5696712" y="4828032"/>
            <a:ext cx="237744" cy="237744"/>
          </a:xfrm>
          <a:prstGeom prst="rect">
            <a:avLst/>
          </a:prstGeom>
        </p:spPr>
      </p:pic>
      <p:sp>
        <p:nvSpPr>
          <p:cNvPr id="14" name="TextBox 13"/>
          <p:cNvSpPr txBox="1"/>
          <p:nvPr/>
        </p:nvSpPr>
        <p:spPr>
          <a:xfrm>
            <a:off x="6153912" y="4690872"/>
            <a:ext cx="24688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残っている作業</a:t>
            </a:r>
          </a:p>
        </p:txBody>
      </p:sp>
      <p:sp>
        <p:nvSpPr>
          <p:cNvPr id="15" name="TextBox 14"/>
          <p:cNvSpPr txBox="1"/>
          <p:nvPr/>
        </p:nvSpPr>
        <p:spPr>
          <a:xfrm>
            <a:off x="5605272" y="5266944"/>
            <a:ext cx="2999232" cy="813816"/>
          </a:xfrm>
          <a:prstGeom prst="rect">
            <a:avLst/>
          </a:prstGeom>
          <a:noFill/>
        </p:spPr>
        <p:txBody>
          <a:bodyPr wrap="square" lIns="0" tIns="0" rIns="0" bIns="0" anchor="t">
            <a:noAutofit/>
          </a:bodyPr>
          <a:lstStyle/>
          <a:p>
            <a:pPr algn="l" marL="182880" indent="-182880">
              <a:spcAft>
                <a:spcPts val="300"/>
              </a:spcAft>
              <a:buClr>
                <a:srgbClr val="E07A10"/>
              </a:buClr>
              <a:buFont typeface="BIZ UDPゴシック"/>
              <a:buChar char="•"/>
            </a:pPr>
            <a:r>
              <a:rPr sz="1200" b="0">
                <a:solidFill>
                  <a:srgbClr val="24303F"/>
                </a:solidFill>
                <a:latin typeface="BIZ UDPゴシック"/>
                <a:ea typeface="BIZ UDPゴシック"/>
                <a:cs typeface="BIZ UDPゴシック"/>
              </a:rPr>
              <a:t>ミラーの描画速度（古い Android で 0.8 秒）</a:t>
            </a:r>
          </a:p>
          <a:p>
            <a:pPr algn="l" marL="182880" indent="-182880">
              <a:spcAft>
                <a:spcPts val="300"/>
              </a:spcAft>
              <a:buClr>
                <a:srgbClr val="E07A10"/>
              </a:buClr>
              <a:buFont typeface="BIZ UDPゴシック"/>
              <a:buChar char="•"/>
            </a:pPr>
            <a:r>
              <a:rPr sz="1200" b="0">
                <a:solidFill>
                  <a:srgbClr val="24303F"/>
                </a:solidFill>
                <a:latin typeface="BIZ UDPゴシック"/>
                <a:ea typeface="BIZ UDPゴシック"/>
                <a:cs typeface="BIZ UDPゴシック"/>
              </a:rPr>
              <a:t>キューの文言の最終確認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画面の流れ：毎日30秒 ＋ 週1回</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5</a:t>
            </a:fld>
          </a:p>
        </p:txBody>
      </p:sp>
      <p:sp>
        <p:nvSpPr>
          <p:cNvPr id="5" name="Rounded Rectangle 4"/>
          <p:cNvSpPr/>
          <p:nvPr/>
        </p:nvSpPr>
        <p:spPr>
          <a:xfrm>
            <a:off x="1005840" y="1371600"/>
            <a:ext cx="1463040" cy="292608"/>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毎日</a:t>
            </a:r>
          </a:p>
        </p:txBody>
      </p:sp>
      <p:pic>
        <p:nvPicPr>
          <p:cNvPr id="6" name="Picture 5" descr="mk_ja_log.png"/>
          <p:cNvPicPr>
            <a:picLocks noChangeAspect="1"/>
          </p:cNvPicPr>
          <p:nvPr/>
        </p:nvPicPr>
        <p:blipFill>
          <a:blip r:embed="rId2"/>
          <a:stretch>
            <a:fillRect/>
          </a:stretch>
        </p:blipFill>
        <p:spPr>
          <a:xfrm>
            <a:off x="667512" y="1737360"/>
            <a:ext cx="2035969" cy="3429000"/>
          </a:xfrm>
          <a:prstGeom prst="rect">
            <a:avLst/>
          </a:prstGeom>
        </p:spPr>
      </p:pic>
      <p:sp>
        <p:nvSpPr>
          <p:cNvPr id="7" name="TextBox 6"/>
          <p:cNvSpPr txBox="1"/>
          <p:nvPr/>
        </p:nvSpPr>
        <p:spPr>
          <a:xfrm>
            <a:off x="411480" y="5257800"/>
            <a:ext cx="2651760" cy="36576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latin typeface="BIZ UDPゴシック"/>
                <a:ea typeface="BIZ UDPゴシック"/>
                <a:cs typeface="BIZ UDPゴシック"/>
              </a:rPr>
              <a:t>今日の推し活を記録</a:t>
            </a:r>
          </a:p>
        </p:txBody>
      </p:sp>
      <p:sp>
        <p:nvSpPr>
          <p:cNvPr id="8" name="TextBox 7"/>
          <p:cNvSpPr txBox="1"/>
          <p:nvPr/>
        </p:nvSpPr>
        <p:spPr>
          <a:xfrm>
            <a:off x="411480" y="5623560"/>
            <a:ext cx="265176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latin typeface="BIZ UDPゴシック"/>
                <a:ea typeface="BIZ UDPゴシック"/>
                <a:cs typeface="BIZ UDPゴシック"/>
              </a:rPr>
              <a:t>約30秒。疲れの中身も1つ選ぶ</a:t>
            </a:r>
          </a:p>
        </p:txBody>
      </p:sp>
      <p:sp>
        <p:nvSpPr>
          <p:cNvPr id="9" name="Right Arrow 8"/>
          <p:cNvSpPr/>
          <p:nvPr/>
        </p:nvSpPr>
        <p:spPr>
          <a:xfrm>
            <a:off x="2926080" y="3291840"/>
            <a:ext cx="27432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840480" y="1371600"/>
            <a:ext cx="1463040" cy="292608"/>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週1回</a:t>
            </a:r>
          </a:p>
        </p:txBody>
      </p:sp>
      <p:pic>
        <p:nvPicPr>
          <p:cNvPr id="11" name="Picture 10" descr="mk_ja_propose.png"/>
          <p:cNvPicPr>
            <a:picLocks noChangeAspect="1"/>
          </p:cNvPicPr>
          <p:nvPr/>
        </p:nvPicPr>
        <p:blipFill>
          <a:blip r:embed="rId3"/>
          <a:stretch>
            <a:fillRect/>
          </a:stretch>
        </p:blipFill>
        <p:spPr>
          <a:xfrm>
            <a:off x="3502152" y="1737360"/>
            <a:ext cx="2035969" cy="3429000"/>
          </a:xfrm>
          <a:prstGeom prst="rect">
            <a:avLst/>
          </a:prstGeom>
        </p:spPr>
      </p:pic>
      <p:sp>
        <p:nvSpPr>
          <p:cNvPr id="12" name="TextBox 11"/>
          <p:cNvSpPr txBox="1"/>
          <p:nvPr/>
        </p:nvSpPr>
        <p:spPr>
          <a:xfrm>
            <a:off x="3246120" y="5257800"/>
            <a:ext cx="2651760" cy="36576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latin typeface="BIZ UDPゴシック"/>
                <a:ea typeface="BIZ UDPゴシック"/>
                <a:cs typeface="BIZ UDPゴシック"/>
              </a:rPr>
              <a:t>提案を3案から選ぶ</a:t>
            </a:r>
          </a:p>
        </p:txBody>
      </p:sp>
      <p:sp>
        <p:nvSpPr>
          <p:cNvPr id="13" name="TextBox 12"/>
          <p:cNvSpPr txBox="1"/>
          <p:nvPr/>
        </p:nvSpPr>
        <p:spPr>
          <a:xfrm>
            <a:off x="3246120" y="5623560"/>
            <a:ext cx="265176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latin typeface="BIZ UDPゴシック"/>
                <a:ea typeface="BIZ UDPゴシック"/>
                <a:cs typeface="BIZ UDPゴシック"/>
              </a:rPr>
              <a:t>本人の希望を先頭に表示</a:t>
            </a:r>
          </a:p>
        </p:txBody>
      </p:sp>
      <p:sp>
        <p:nvSpPr>
          <p:cNvPr id="14" name="Right Arrow 13"/>
          <p:cNvSpPr/>
          <p:nvPr/>
        </p:nvSpPr>
        <p:spPr>
          <a:xfrm>
            <a:off x="5760720" y="3291840"/>
            <a:ext cx="27432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675120" y="1371600"/>
            <a:ext cx="1463040" cy="292608"/>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週1回（群C）</a:t>
            </a:r>
          </a:p>
        </p:txBody>
      </p:sp>
      <p:pic>
        <p:nvPicPr>
          <p:cNvPr id="16" name="Picture 15" descr="mk_ja_mirror.png"/>
          <p:cNvPicPr>
            <a:picLocks noChangeAspect="1"/>
          </p:cNvPicPr>
          <p:nvPr/>
        </p:nvPicPr>
        <p:blipFill>
          <a:blip r:embed="rId4"/>
          <a:stretch>
            <a:fillRect/>
          </a:stretch>
        </p:blipFill>
        <p:spPr>
          <a:xfrm>
            <a:off x="6336792" y="1737360"/>
            <a:ext cx="2035969" cy="3429000"/>
          </a:xfrm>
          <a:prstGeom prst="rect">
            <a:avLst/>
          </a:prstGeom>
        </p:spPr>
      </p:pic>
      <p:sp>
        <p:nvSpPr>
          <p:cNvPr id="17" name="TextBox 16"/>
          <p:cNvSpPr txBox="1"/>
          <p:nvPr/>
        </p:nvSpPr>
        <p:spPr>
          <a:xfrm>
            <a:off x="6080760" y="5257800"/>
            <a:ext cx="2651760" cy="36576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latin typeface="BIZ UDPゴシック"/>
                <a:ea typeface="BIZ UDPゴシック"/>
                <a:cs typeface="BIZ UDPゴシック"/>
              </a:rPr>
              <a:t>みらいミラーで比べる</a:t>
            </a:r>
          </a:p>
        </p:txBody>
      </p:sp>
      <p:sp>
        <p:nvSpPr>
          <p:cNvPr id="18" name="TextBox 17"/>
          <p:cNvSpPr txBox="1"/>
          <p:nvPr/>
        </p:nvSpPr>
        <p:spPr>
          <a:xfrm>
            <a:off x="6080760" y="5623560"/>
            <a:ext cx="2651760" cy="32004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latin typeface="BIZ UDPゴシック"/>
                <a:ea typeface="BIZ UDPゴシック"/>
                <a:cs typeface="BIZ UDPゴシック"/>
              </a:rPr>
              <a:t>今のまま｜提案どおり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アバター生成：写真は端末の外に出さない</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6</a:t>
            </a:fld>
          </a:p>
        </p:txBody>
      </p:sp>
      <p:pic>
        <p:nvPicPr>
          <p:cNvPr id="5" name="Picture 4" descr="mk_ja_avatar.png"/>
          <p:cNvPicPr>
            <a:picLocks noChangeAspect="1"/>
          </p:cNvPicPr>
          <p:nvPr/>
        </p:nvPicPr>
        <p:blipFill>
          <a:blip r:embed="rId2"/>
          <a:stretch>
            <a:fillRect/>
          </a:stretch>
        </p:blipFill>
        <p:spPr>
          <a:xfrm>
            <a:off x="411480" y="1371600"/>
            <a:ext cx="2850356" cy="4800600"/>
          </a:xfrm>
          <a:prstGeom prst="rect">
            <a:avLst/>
          </a:prstGeom>
        </p:spPr>
      </p:pic>
      <p:sp>
        <p:nvSpPr>
          <p:cNvPr id="6" name="Oval 5"/>
          <p:cNvSpPr/>
          <p:nvPr/>
        </p:nvSpPr>
        <p:spPr>
          <a:xfrm>
            <a:off x="3429000" y="1426464"/>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amera_w.png"/>
          <p:cNvPicPr>
            <a:picLocks noChangeAspect="1"/>
          </p:cNvPicPr>
          <p:nvPr/>
        </p:nvPicPr>
        <p:blipFill>
          <a:blip r:embed="rId3"/>
          <a:stretch>
            <a:fillRect/>
          </a:stretch>
        </p:blipFill>
        <p:spPr>
          <a:xfrm>
            <a:off x="3556284" y="1553748"/>
            <a:ext cx="275783" cy="275783"/>
          </a:xfrm>
          <a:prstGeom prst="rect">
            <a:avLst/>
          </a:prstGeom>
        </p:spPr>
      </p:pic>
      <p:sp>
        <p:nvSpPr>
          <p:cNvPr id="8" name="TextBox 7"/>
          <p:cNvSpPr txBox="1"/>
          <p:nvPr/>
        </p:nvSpPr>
        <p:spPr>
          <a:xfrm>
            <a:off x="4069080" y="1371600"/>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1. 写真を撮る</a:t>
            </a:r>
          </a:p>
          <a:p>
            <a:pPr algn="l" marL="0" indent="0">
              <a:spcAft>
                <a:spcPts val="400"/>
              </a:spcAft>
              <a:buNone/>
            </a:pPr>
            <a:r>
              <a:rPr sz="1150" b="0">
                <a:solidFill>
                  <a:srgbClr val="5A6676"/>
                </a:solidFill>
                <a:latin typeface="BIZ UDPゴシック"/>
                <a:ea typeface="BIZ UDPゴシック"/>
                <a:cs typeface="BIZ UDPゴシック"/>
              </a:rPr>
              <a:t>端末内のメモリだけで扱う</a:t>
            </a:r>
          </a:p>
        </p:txBody>
      </p:sp>
      <p:sp>
        <p:nvSpPr>
          <p:cNvPr id="9" name="Oval 8"/>
          <p:cNvSpPr/>
          <p:nvPr/>
        </p:nvSpPr>
        <p:spPr>
          <a:xfrm>
            <a:off x="3429000" y="2185416"/>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c_search_w.png"/>
          <p:cNvPicPr>
            <a:picLocks noChangeAspect="1"/>
          </p:cNvPicPr>
          <p:nvPr/>
        </p:nvPicPr>
        <p:blipFill>
          <a:blip r:embed="rId4"/>
          <a:stretch>
            <a:fillRect/>
          </a:stretch>
        </p:blipFill>
        <p:spPr>
          <a:xfrm>
            <a:off x="3556284" y="2312700"/>
            <a:ext cx="275783" cy="275783"/>
          </a:xfrm>
          <a:prstGeom prst="rect">
            <a:avLst/>
          </a:prstGeom>
        </p:spPr>
      </p:pic>
      <p:sp>
        <p:nvSpPr>
          <p:cNvPr id="11" name="TextBox 10"/>
          <p:cNvSpPr txBox="1"/>
          <p:nvPr/>
        </p:nvSpPr>
        <p:spPr>
          <a:xfrm>
            <a:off x="4069080" y="2130552"/>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2. 顔の特徴点を検出</a:t>
            </a:r>
          </a:p>
          <a:p>
            <a:pPr algn="l" marL="0" indent="0">
              <a:spcAft>
                <a:spcPts val="400"/>
              </a:spcAft>
              <a:buNone/>
            </a:pPr>
            <a:r>
              <a:rPr sz="1150" b="0">
                <a:solidFill>
                  <a:srgbClr val="5A6676"/>
                </a:solidFill>
                <a:latin typeface="BIZ UDPゴシック"/>
                <a:ea typeface="BIZ UDPゴシック"/>
                <a:cs typeface="BIZ UDPゴシック"/>
              </a:rPr>
              <a:t>MediaPipe で478点（端末内）</a:t>
            </a:r>
          </a:p>
        </p:txBody>
      </p:sp>
      <p:sp>
        <p:nvSpPr>
          <p:cNvPr id="12" name="Oval 11"/>
          <p:cNvSpPr/>
          <p:nvPr/>
        </p:nvSpPr>
        <p:spPr>
          <a:xfrm>
            <a:off x="3429000" y="2944368"/>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c_sliders_w.png"/>
          <p:cNvPicPr>
            <a:picLocks noChangeAspect="1"/>
          </p:cNvPicPr>
          <p:nvPr/>
        </p:nvPicPr>
        <p:blipFill>
          <a:blip r:embed="rId5"/>
          <a:stretch>
            <a:fillRect/>
          </a:stretch>
        </p:blipFill>
        <p:spPr>
          <a:xfrm>
            <a:off x="3556284" y="3071652"/>
            <a:ext cx="275783" cy="275783"/>
          </a:xfrm>
          <a:prstGeom prst="rect">
            <a:avLst/>
          </a:prstGeom>
        </p:spPr>
      </p:pic>
      <p:sp>
        <p:nvSpPr>
          <p:cNvPr id="14" name="TextBox 13"/>
          <p:cNvSpPr txBox="1"/>
          <p:nvPr/>
        </p:nvSpPr>
        <p:spPr>
          <a:xfrm>
            <a:off x="4069080" y="2889504"/>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3. 12のパラメータへ</a:t>
            </a:r>
          </a:p>
          <a:p>
            <a:pPr algn="l" marL="0" indent="0">
              <a:spcAft>
                <a:spcPts val="400"/>
              </a:spcAft>
              <a:buNone/>
            </a:pPr>
            <a:r>
              <a:rPr sz="1150" b="0">
                <a:solidFill>
                  <a:srgbClr val="5A6676"/>
                </a:solidFill>
                <a:latin typeface="BIZ UDPゴシック"/>
                <a:ea typeface="BIZ UDPゴシック"/>
                <a:cs typeface="BIZ UDPゴシック"/>
              </a:rPr>
              <a:t>髪型・髪色・顔型・目・眉・眼鏡など</a:t>
            </a:r>
          </a:p>
        </p:txBody>
      </p:sp>
      <p:sp>
        <p:nvSpPr>
          <p:cNvPr id="15" name="Oval 14"/>
          <p:cNvSpPr/>
          <p:nvPr/>
        </p:nvSpPr>
        <p:spPr>
          <a:xfrm>
            <a:off x="3429000" y="3703320"/>
            <a:ext cx="530352" cy="530352"/>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c_layers_w.png"/>
          <p:cNvPicPr>
            <a:picLocks noChangeAspect="1"/>
          </p:cNvPicPr>
          <p:nvPr/>
        </p:nvPicPr>
        <p:blipFill>
          <a:blip r:embed="rId6"/>
          <a:stretch>
            <a:fillRect/>
          </a:stretch>
        </p:blipFill>
        <p:spPr>
          <a:xfrm>
            <a:off x="3556284" y="3830604"/>
            <a:ext cx="275783" cy="275783"/>
          </a:xfrm>
          <a:prstGeom prst="rect">
            <a:avLst/>
          </a:prstGeom>
        </p:spPr>
      </p:pic>
      <p:sp>
        <p:nvSpPr>
          <p:cNvPr id="17" name="TextBox 16"/>
          <p:cNvSpPr txBox="1"/>
          <p:nvPr/>
        </p:nvSpPr>
        <p:spPr>
          <a:xfrm>
            <a:off x="4069080" y="3648456"/>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4. SVG パーツを合成</a:t>
            </a:r>
          </a:p>
          <a:p>
            <a:pPr algn="l" marL="0" indent="0">
              <a:spcAft>
                <a:spcPts val="400"/>
              </a:spcAft>
              <a:buNone/>
            </a:pPr>
            <a:r>
              <a:rPr sz="1150" b="0">
                <a:solidFill>
                  <a:srgbClr val="5A6676"/>
                </a:solidFill>
                <a:latin typeface="BIZ UDPゴシック"/>
                <a:ea typeface="BIZ UDPゴシック"/>
                <a:cs typeface="BIZ UDPゴシック"/>
              </a:rPr>
              <a:t>推し色のヘアピンも選べる</a:t>
            </a:r>
          </a:p>
        </p:txBody>
      </p:sp>
      <p:sp>
        <p:nvSpPr>
          <p:cNvPr id="18" name="Oval 17"/>
          <p:cNvSpPr/>
          <p:nvPr/>
        </p:nvSpPr>
        <p:spPr>
          <a:xfrm>
            <a:off x="3429000" y="4462272"/>
            <a:ext cx="530352" cy="530352"/>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shield_w.png"/>
          <p:cNvPicPr>
            <a:picLocks noChangeAspect="1"/>
          </p:cNvPicPr>
          <p:nvPr/>
        </p:nvPicPr>
        <p:blipFill>
          <a:blip r:embed="rId7"/>
          <a:stretch>
            <a:fillRect/>
          </a:stretch>
        </p:blipFill>
        <p:spPr>
          <a:xfrm>
            <a:off x="3556284" y="4589556"/>
            <a:ext cx="275783" cy="275783"/>
          </a:xfrm>
          <a:prstGeom prst="rect">
            <a:avLst/>
          </a:prstGeom>
        </p:spPr>
      </p:pic>
      <p:sp>
        <p:nvSpPr>
          <p:cNvPr id="20" name="TextBox 19"/>
          <p:cNvSpPr txBox="1"/>
          <p:nvPr/>
        </p:nvSpPr>
        <p:spPr>
          <a:xfrm>
            <a:off x="4069080" y="4407408"/>
            <a:ext cx="2377440" cy="658368"/>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5. 写真を即時に破棄</a:t>
            </a:r>
          </a:p>
          <a:p>
            <a:pPr algn="l" marL="0" indent="0">
              <a:spcAft>
                <a:spcPts val="400"/>
              </a:spcAft>
              <a:buNone/>
            </a:pPr>
            <a:r>
              <a:rPr sz="1150" b="0">
                <a:solidFill>
                  <a:srgbClr val="5A6676"/>
                </a:solidFill>
                <a:latin typeface="BIZ UDPゴシック"/>
                <a:ea typeface="BIZ UDPゴシック"/>
                <a:cs typeface="BIZ UDPゴシック"/>
              </a:rPr>
              <a:t>保存も送信もしない</a:t>
            </a:r>
          </a:p>
        </p:txBody>
      </p:sp>
      <p:sp>
        <p:nvSpPr>
          <p:cNvPr id="21" name="Rounded Rectangle 20"/>
          <p:cNvSpPr/>
          <p:nvPr/>
        </p:nvSpPr>
        <p:spPr>
          <a:xfrm>
            <a:off x="6629400" y="1371600"/>
            <a:ext cx="210312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29400" y="1444752"/>
            <a:ext cx="2103120" cy="640080"/>
          </a:xfrm>
          <a:prstGeom prst="rect">
            <a:avLst/>
          </a:prstGeom>
          <a:noFill/>
        </p:spPr>
        <p:txBody>
          <a:bodyPr wrap="square" lIns="0" tIns="0" rIns="0" bIns="0" anchor="ctr">
            <a:noAutofit/>
          </a:bodyPr>
          <a:lstStyle/>
          <a:p>
            <a:pPr algn="ctr" marL="0" indent="0">
              <a:spcAft>
                <a:spcPts val="400"/>
              </a:spcAft>
              <a:buNone/>
            </a:pPr>
            <a:r>
              <a:rPr sz="2400" b="1">
                <a:solidFill>
                  <a:srgbClr val="0B3C6E"/>
                </a:solidFill>
                <a:latin typeface="BIZ UDPゴシック"/>
                <a:ea typeface="BIZ UDPゴシック"/>
                <a:cs typeface="BIZ UDPゴシック"/>
              </a:rPr>
              <a:t>1.4秒</a:t>
            </a:r>
          </a:p>
        </p:txBody>
      </p:sp>
      <p:sp>
        <p:nvSpPr>
          <p:cNvPr id="23" name="TextBox 22"/>
          <p:cNvSpPr txBox="1"/>
          <p:nvPr/>
        </p:nvSpPr>
        <p:spPr>
          <a:xfrm>
            <a:off x="6629400" y="2084832"/>
            <a:ext cx="2103120" cy="36576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latin typeface="BIZ UDPゴシック"/>
                <a:ea typeface="BIZ UDPゴシック"/>
                <a:cs typeface="BIZ UDPゴシック"/>
              </a:rPr>
              <a:t>生成時間（平均）</a:t>
            </a:r>
          </a:p>
        </p:txBody>
      </p:sp>
      <p:sp>
        <p:nvSpPr>
          <p:cNvPr id="24" name="Rounded Rectangle 23"/>
          <p:cNvSpPr/>
          <p:nvPr/>
        </p:nvSpPr>
        <p:spPr>
          <a:xfrm>
            <a:off x="6629400" y="2715768"/>
            <a:ext cx="210312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29400" y="2788920"/>
            <a:ext cx="2103120" cy="640080"/>
          </a:xfrm>
          <a:prstGeom prst="rect">
            <a:avLst/>
          </a:prstGeom>
          <a:noFill/>
        </p:spPr>
        <p:txBody>
          <a:bodyPr wrap="square" lIns="0" tIns="0" rIns="0" bIns="0" anchor="ctr">
            <a:noAutofit/>
          </a:bodyPr>
          <a:lstStyle/>
          <a:p>
            <a:pPr algn="ctr" marL="0" indent="0">
              <a:spcAft>
                <a:spcPts val="400"/>
              </a:spcAft>
              <a:buNone/>
            </a:pPr>
            <a:r>
              <a:rPr sz="2400" b="1">
                <a:solidFill>
                  <a:srgbClr val="0B3C6E"/>
                </a:solidFill>
                <a:latin typeface="BIZ UDPゴシック"/>
                <a:ea typeface="BIZ UDPゴシック"/>
                <a:cs typeface="BIZ UDPゴシック"/>
              </a:rPr>
              <a:t>3.8 / 5</a:t>
            </a:r>
          </a:p>
        </p:txBody>
      </p:sp>
      <p:sp>
        <p:nvSpPr>
          <p:cNvPr id="26" name="TextBox 25"/>
          <p:cNvSpPr txBox="1"/>
          <p:nvPr/>
        </p:nvSpPr>
        <p:spPr>
          <a:xfrm>
            <a:off x="6629400" y="3429000"/>
            <a:ext cx="2103120" cy="36576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latin typeface="BIZ UDPゴシック"/>
                <a:ea typeface="BIZ UDPゴシック"/>
                <a:cs typeface="BIZ UDPゴシック"/>
              </a:rPr>
              <a:t>似ている度</a:t>
            </a:r>
          </a:p>
        </p:txBody>
      </p:sp>
      <p:sp>
        <p:nvSpPr>
          <p:cNvPr id="27" name="Rounded Rectangle 26"/>
          <p:cNvSpPr/>
          <p:nvPr/>
        </p:nvSpPr>
        <p:spPr>
          <a:xfrm>
            <a:off x="6629400" y="4059935"/>
            <a:ext cx="2103120" cy="1188720"/>
          </a:xfrm>
          <a:prstGeom prst="roundRect">
            <a:avLst>
              <a:gd name="adj" fmla="val 923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629400" y="4133087"/>
            <a:ext cx="2103120" cy="640080"/>
          </a:xfrm>
          <a:prstGeom prst="rect">
            <a:avLst/>
          </a:prstGeom>
          <a:noFill/>
        </p:spPr>
        <p:txBody>
          <a:bodyPr wrap="square" lIns="0" tIns="0" rIns="0" bIns="0" anchor="ctr">
            <a:noAutofit/>
          </a:bodyPr>
          <a:lstStyle/>
          <a:p>
            <a:pPr algn="ctr" marL="0" indent="0">
              <a:spcAft>
                <a:spcPts val="400"/>
              </a:spcAft>
              <a:buNone/>
            </a:pPr>
            <a:r>
              <a:rPr sz="2400" b="1">
                <a:solidFill>
                  <a:srgbClr val="0B3C6E"/>
                </a:solidFill>
                <a:latin typeface="BIZ UDPゴシック"/>
                <a:ea typeface="BIZ UDPゴシック"/>
                <a:cs typeface="BIZ UDPゴシック"/>
              </a:rPr>
              <a:t>2 / 6名</a:t>
            </a:r>
          </a:p>
        </p:txBody>
      </p:sp>
      <p:sp>
        <p:nvSpPr>
          <p:cNvPr id="29" name="TextBox 28"/>
          <p:cNvSpPr txBox="1"/>
          <p:nvPr/>
        </p:nvSpPr>
        <p:spPr>
          <a:xfrm>
            <a:off x="6629400" y="4773168"/>
            <a:ext cx="2103120" cy="36576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latin typeface="BIZ UDPゴシック"/>
                <a:ea typeface="BIZ UDPゴシック"/>
                <a:cs typeface="BIZ UDPゴシック"/>
              </a:rPr>
              <a:t>写真なしを選択</a:t>
            </a:r>
          </a:p>
        </p:txBody>
      </p:sp>
      <p:sp>
        <p:nvSpPr>
          <p:cNvPr id="30" name="TextBox 29"/>
          <p:cNvSpPr txBox="1"/>
          <p:nvPr/>
        </p:nvSpPr>
        <p:spPr>
          <a:xfrm>
            <a:off x="3429000" y="5257800"/>
            <a:ext cx="5303520" cy="868680"/>
          </a:xfrm>
          <a:prstGeom prst="rect">
            <a:avLst/>
          </a:prstGeom>
          <a:noFill/>
        </p:spPr>
        <p:txBody>
          <a:bodyPr wrap="square" lIns="0" tIns="0" rIns="0" bIns="0" anchor="t">
            <a:noAutofit/>
          </a:bodyPr>
          <a:lstStyle/>
          <a:p>
            <a:pPr algn="l" marL="0" indent="0">
              <a:spcAft>
                <a:spcPts val="400"/>
              </a:spcAft>
              <a:buNone/>
            </a:pPr>
            <a:r>
              <a:rPr sz="1200" b="0">
                <a:solidFill>
                  <a:srgbClr val="24303F"/>
                </a:solidFill>
                <a:latin typeface="BIZ UDPゴシック"/>
                <a:ea typeface="BIZ UDPゴシック"/>
                <a:cs typeface="BIZ UDPゴシック"/>
              </a:rPr>
              <a:t>写真を使わない作成でも、同じパーツから選べるので見た目の質は変わらない。全群でアバターを作る（群A・Bはプロフィールにだけ表示）</a:t>
            </a:r>
          </a:p>
        </p:txBody>
      </p:sp>
      <p:sp>
        <p:nvSpPr>
          <p:cNvPr id="31" name="Rounded Rectangle 30"/>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latin typeface="BIZ UDPゴシック"/>
                <a:ea typeface="BIZ UDPゴシック"/>
                <a:cs typeface="BIZ UDPゴシック"/>
              </a:rPr>
              <a:t>※ 生成時間・評価は操作確認の想定値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ゆらぎアバターの実装</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7</a:t>
            </a:fld>
          </a:p>
        </p:txBody>
      </p:sp>
      <p:pic>
        <p:nvPicPr>
          <p:cNvPr id="5" name="Picture 4" descr="mk_ja_mirror.png"/>
          <p:cNvPicPr>
            <a:picLocks noChangeAspect="1"/>
          </p:cNvPicPr>
          <p:nvPr/>
        </p:nvPicPr>
        <p:blipFill>
          <a:blip r:embed="rId2"/>
          <a:stretch>
            <a:fillRect/>
          </a:stretch>
        </p:blipFill>
        <p:spPr>
          <a:xfrm>
            <a:off x="411480" y="1371600"/>
            <a:ext cx="2850356" cy="4800600"/>
          </a:xfrm>
          <a:prstGeom prst="rect">
            <a:avLst/>
          </a:prstGeom>
        </p:spPr>
      </p:pic>
      <p:sp>
        <p:nvSpPr>
          <p:cNvPr id="6" name="Oval 5"/>
          <p:cNvSpPr/>
          <p:nvPr/>
        </p:nvSpPr>
        <p:spPr>
          <a:xfrm>
            <a:off x="3429000" y="1463040"/>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1</a:t>
            </a:r>
          </a:p>
        </p:txBody>
      </p:sp>
      <p:sp>
        <p:nvSpPr>
          <p:cNvPr id="7" name="TextBox 6"/>
          <p:cNvSpPr txBox="1"/>
          <p:nvPr/>
        </p:nvSpPr>
        <p:spPr>
          <a:xfrm>
            <a:off x="4023360" y="1371600"/>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事後分布から20通りの未来を引く</a:t>
            </a:r>
          </a:p>
          <a:p>
            <a:pPr algn="l" marL="0" indent="0">
              <a:spcAft>
                <a:spcPts val="400"/>
              </a:spcAft>
              <a:buNone/>
            </a:pPr>
            <a:r>
              <a:rPr sz="1200" b="0">
                <a:solidFill>
                  <a:srgbClr val="5A6676"/>
                </a:solidFill>
                <a:latin typeface="BIZ UDPゴシック"/>
                <a:ea typeface="BIZ UDPゴシック"/>
                <a:cs typeface="BIZ UDPゴシック"/>
              </a:rPr>
              <a:t>ツインが出す予測分布からサンプリング</a:t>
            </a:r>
          </a:p>
        </p:txBody>
      </p:sp>
      <p:sp>
        <p:nvSpPr>
          <p:cNvPr id="8" name="Oval 7"/>
          <p:cNvSpPr/>
          <p:nvPr/>
        </p:nvSpPr>
        <p:spPr>
          <a:xfrm>
            <a:off x="3429000" y="224942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2</a:t>
            </a:r>
          </a:p>
        </p:txBody>
      </p:sp>
      <p:sp>
        <p:nvSpPr>
          <p:cNvPr id="9" name="TextBox 8"/>
          <p:cNvSpPr txBox="1"/>
          <p:nvPr/>
        </p:nvSpPr>
        <p:spPr>
          <a:xfrm>
            <a:off x="4023360" y="2157984"/>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20通りを3区分に分ける</a:t>
            </a:r>
          </a:p>
          <a:p>
            <a:pPr algn="l" marL="0" indent="0">
              <a:spcAft>
                <a:spcPts val="400"/>
              </a:spcAft>
              <a:buNone/>
            </a:pPr>
            <a:r>
              <a:rPr sz="1200" b="0">
                <a:solidFill>
                  <a:srgbClr val="5A6676"/>
                </a:solidFill>
                <a:latin typeface="BIZ UDPゴシック"/>
                <a:ea typeface="BIZ UDPゴシック"/>
                <a:cs typeface="BIZ UDPゴシック"/>
              </a:rPr>
              <a:t>良好／ふつう／お疲れ（予測値の区分）</a:t>
            </a:r>
          </a:p>
        </p:txBody>
      </p:sp>
      <p:sp>
        <p:nvSpPr>
          <p:cNvPr id="10" name="Oval 9"/>
          <p:cNvSpPr/>
          <p:nvPr/>
        </p:nvSpPr>
        <p:spPr>
          <a:xfrm>
            <a:off x="3429000" y="3035808"/>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3</a:t>
            </a:r>
          </a:p>
        </p:txBody>
      </p:sp>
      <p:sp>
        <p:nvSpPr>
          <p:cNvPr id="11" name="TextBox 10"/>
          <p:cNvSpPr txBox="1"/>
          <p:nvPr/>
        </p:nvSpPr>
        <p:spPr>
          <a:xfrm>
            <a:off x="4023360" y="2944368"/>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5体のアバターを重ねて描く</a:t>
            </a:r>
          </a:p>
          <a:p>
            <a:pPr algn="l" marL="0" indent="0">
              <a:spcAft>
                <a:spcPts val="400"/>
              </a:spcAft>
              <a:buNone/>
            </a:pPr>
            <a:r>
              <a:rPr sz="1200" b="0">
                <a:solidFill>
                  <a:srgbClr val="5A6676"/>
                </a:solidFill>
                <a:latin typeface="BIZ UDPゴシック"/>
                <a:ea typeface="BIZ UDPゴシック"/>
                <a:cs typeface="BIZ UDPゴシック"/>
              </a:rPr>
              <a:t>表情は区分の割合、濃さは起こりやすさ</a:t>
            </a:r>
          </a:p>
        </p:txBody>
      </p:sp>
      <p:sp>
        <p:nvSpPr>
          <p:cNvPr id="12" name="Oval 11"/>
          <p:cNvSpPr/>
          <p:nvPr/>
        </p:nvSpPr>
        <p:spPr>
          <a:xfrm>
            <a:off x="3429000" y="3822191"/>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4</a:t>
            </a:r>
          </a:p>
        </p:txBody>
      </p:sp>
      <p:sp>
        <p:nvSpPr>
          <p:cNvPr id="13" name="TextBox 12"/>
          <p:cNvSpPr txBox="1"/>
          <p:nvPr/>
        </p:nvSpPr>
        <p:spPr>
          <a:xfrm>
            <a:off x="4023360" y="3730752"/>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「20人中◯人」をドットで示す</a:t>
            </a:r>
          </a:p>
          <a:p>
            <a:pPr algn="l" marL="0" indent="0">
              <a:spcAft>
                <a:spcPts val="400"/>
              </a:spcAft>
              <a:buNone/>
            </a:pPr>
            <a:r>
              <a:rPr sz="1200" b="0">
                <a:solidFill>
                  <a:srgbClr val="5A6676"/>
                </a:solidFill>
                <a:latin typeface="BIZ UDPゴシック"/>
                <a:ea typeface="BIZ UDPゴシック"/>
                <a:cs typeface="BIZ UDPゴシック"/>
              </a:rPr>
              <a:t>数字が苦手でも割合が読める</a:t>
            </a:r>
          </a:p>
        </p:txBody>
      </p:sp>
      <p:sp>
        <p:nvSpPr>
          <p:cNvPr id="14" name="Oval 13"/>
          <p:cNvSpPr/>
          <p:nvPr/>
        </p:nvSpPr>
        <p:spPr>
          <a:xfrm>
            <a:off x="3429000" y="4608575"/>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5</a:t>
            </a:r>
          </a:p>
        </p:txBody>
      </p:sp>
      <p:sp>
        <p:nvSpPr>
          <p:cNvPr id="15" name="TextBox 14"/>
          <p:cNvSpPr txBox="1"/>
          <p:nvPr/>
        </p:nvSpPr>
        <p:spPr>
          <a:xfrm>
            <a:off x="4023360" y="4517136"/>
            <a:ext cx="4709160" cy="685800"/>
          </a:xfrm>
          <a:prstGeom prst="rect">
            <a:avLst/>
          </a:prstGeom>
          <a:noFill/>
        </p:spPr>
        <p:txBody>
          <a:bodyPr wrap="square" lIns="0" tIns="0" rIns="0" bIns="0" anchor="ctr">
            <a:noAutofit/>
          </a:bodyPr>
          <a:lstStyle/>
          <a:p>
            <a:pPr algn="l" marL="0" indent="0">
              <a:spcAft>
                <a:spcPts val="0"/>
              </a:spcAft>
              <a:buNone/>
            </a:pPr>
            <a:r>
              <a:rPr sz="1400" b="1">
                <a:solidFill>
                  <a:srgbClr val="0B3C6E"/>
                </a:solidFill>
                <a:latin typeface="BIZ UDPゴシック"/>
                <a:ea typeface="BIZ UDPゴシック"/>
                <a:cs typeface="BIZ UDPゴシック"/>
              </a:rPr>
              <a:t>記録が増えると重なりが収束</a:t>
            </a:r>
          </a:p>
          <a:p>
            <a:pPr algn="l" marL="0" indent="0">
              <a:spcAft>
                <a:spcPts val="400"/>
              </a:spcAft>
              <a:buNone/>
            </a:pPr>
            <a:r>
              <a:rPr sz="1200" b="0">
                <a:solidFill>
                  <a:srgbClr val="5A6676"/>
                </a:solidFill>
                <a:latin typeface="BIZ UDPゴシック"/>
                <a:ea typeface="BIZ UDPゴシック"/>
                <a:cs typeface="BIZ UDPゴシック"/>
              </a:rPr>
              <a:t>未来の解像度＝1 − 区間の幅／最初の幅</a:t>
            </a:r>
          </a:p>
        </p:txBody>
      </p:sp>
      <p:sp>
        <p:nvSpPr>
          <p:cNvPr id="16" name="Rounded Rectangle 15"/>
          <p:cNvSpPr/>
          <p:nvPr/>
        </p:nvSpPr>
        <p:spPr>
          <a:xfrm>
            <a:off x="3429000" y="5394960"/>
            <a:ext cx="5303520" cy="777240"/>
          </a:xfrm>
          <a:prstGeom prst="roundRect">
            <a:avLst>
              <a:gd name="adj" fmla="val 11764"/>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27432" bIns="27432">
            <a:noAutofit/>
          </a:bodyPr>
          <a:lstStyle/>
          <a:p>
            <a:pPr algn="l" marL="0" indent="0">
              <a:spcAft>
                <a:spcPts val="400"/>
              </a:spcAft>
              <a:buNone/>
            </a:pPr>
            <a:r>
              <a:rPr sz="1250" b="1">
                <a:solidFill>
                  <a:srgbClr val="12A38A"/>
                </a:solidFill>
                <a:latin typeface="BIZ UDPゴシック"/>
                <a:ea typeface="BIZ UDPゴシック"/>
                <a:cs typeface="BIZ UDPゴシック"/>
              </a:rPr>
              <a:t>予測の答え合わせ：先週の見込みと実際の記録を毎週並べて表示し、予測への信頼を調整してもらう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リバランス提案の出力例</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8</a:t>
            </a:fld>
          </a:p>
        </p:txBody>
      </p:sp>
      <p:graphicFrame>
        <p:nvGraphicFramePr>
          <p:cNvPr id="5" name="Chart 4"/>
          <p:cNvGraphicFramePr>
            <a:graphicFrameLocks noGrp="1"/>
          </p:cNvGraphicFramePr>
          <p:nvPr/>
        </p:nvGraphicFramePr>
        <p:xfrm>
          <a:off x="411480" y="1325880"/>
          <a:ext cx="5120640" cy="4846320"/>
        </p:xfrm>
        <a:graphic>
          <a:graphicData uri="http://schemas.openxmlformats.org/drawingml/2006/chart">
            <c:chart xmlns:c="http://schemas.openxmlformats.org/drawingml/2006/chart" r:id="rId2"/>
          </a:graphicData>
        </a:graphic>
      </p:graphicFrame>
      <p:sp>
        <p:nvSpPr>
          <p:cNvPr id="6" name="Rounded Rectangle 5"/>
          <p:cNvSpPr/>
          <p:nvPr/>
        </p:nvSpPr>
        <p:spPr>
          <a:xfrm>
            <a:off x="5715000" y="1371600"/>
            <a:ext cx="3017520" cy="2788920"/>
          </a:xfrm>
          <a:prstGeom prst="roundRect">
            <a:avLst>
              <a:gd name="adj" fmla="val 327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861304" y="151790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sliders_w.png"/>
          <p:cNvPicPr>
            <a:picLocks noChangeAspect="1"/>
          </p:cNvPicPr>
          <p:nvPr/>
        </p:nvPicPr>
        <p:blipFill>
          <a:blip r:embed="rId3"/>
          <a:stretch>
            <a:fillRect/>
          </a:stretch>
        </p:blipFill>
        <p:spPr>
          <a:xfrm>
            <a:off x="5971032" y="1627631"/>
            <a:ext cx="237744" cy="237744"/>
          </a:xfrm>
          <a:prstGeom prst="rect">
            <a:avLst/>
          </a:prstGeom>
        </p:spPr>
      </p:pic>
      <p:sp>
        <p:nvSpPr>
          <p:cNvPr id="9" name="TextBox 8"/>
          <p:cNvSpPr txBox="1"/>
          <p:nvPr/>
        </p:nvSpPr>
        <p:spPr>
          <a:xfrm>
            <a:off x="6428232" y="1490472"/>
            <a:ext cx="219455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絞り込みの流れ</a:t>
            </a:r>
          </a:p>
        </p:txBody>
      </p:sp>
      <p:sp>
        <p:nvSpPr>
          <p:cNvPr id="10" name="TextBox 9"/>
          <p:cNvSpPr txBox="1"/>
          <p:nvPr/>
        </p:nvSpPr>
        <p:spPr>
          <a:xfrm>
            <a:off x="5879592" y="2066543"/>
            <a:ext cx="2724912" cy="2002536"/>
          </a:xfrm>
          <a:prstGeom prst="rect">
            <a:avLst/>
          </a:prstGeom>
          <a:noFill/>
        </p:spPr>
        <p:txBody>
          <a:bodyPr wrap="square" lIns="0" tIns="0" rIns="0" bIns="0" anchor="t">
            <a:noAutofit/>
          </a:bodyPr>
          <a:lstStyle/>
          <a:p>
            <a:pPr algn="l" marL="182880" indent="-182880">
              <a:spcAft>
                <a:spcPts val="100"/>
              </a:spcAft>
              <a:buClr>
                <a:srgbClr val="0099FF"/>
              </a:buClr>
              <a:buFont typeface="BIZ UDPゴシック"/>
              <a:buChar char="•"/>
            </a:pPr>
            <a:r>
              <a:rPr sz="1300" b="0">
                <a:solidFill>
                  <a:srgbClr val="24303F"/>
                </a:solidFill>
                <a:latin typeface="BIZ UDPゴシック"/>
                <a:ea typeface="BIZ UDPゴシック"/>
                <a:cs typeface="BIZ UDPゴシック"/>
              </a:rPr>
              <a:t>候補：98案</a:t>
            </a:r>
          </a:p>
          <a:p>
            <a:pPr algn="l" marL="0" indent="0">
              <a:spcAft>
                <a:spcPts val="500"/>
              </a:spcAft>
              <a:buNone/>
            </a:pPr>
            <a:r>
              <a:rPr sz="1150" b="0">
                <a:solidFill>
                  <a:srgbClr val="5A6676"/>
                </a:solidFill>
                <a:latin typeface="BIZ UDPゴシック"/>
                <a:ea typeface="BIZ UDPゴシック"/>
                <a:cs typeface="BIZ UDPゴシック"/>
              </a:rPr>
              <a:t>7活動から最大2つを ±1段階</a:t>
            </a:r>
          </a:p>
          <a:p>
            <a:pPr algn="l" marL="182880" indent="-182880">
              <a:spcAft>
                <a:spcPts val="100"/>
              </a:spcAft>
              <a:buClr>
                <a:srgbClr val="0099FF"/>
              </a:buClr>
              <a:buFont typeface="BIZ UDPゴシック"/>
              <a:buChar char="•"/>
            </a:pPr>
            <a:r>
              <a:rPr sz="1300" b="0">
                <a:solidFill>
                  <a:srgbClr val="24303F"/>
                </a:solidFill>
                <a:latin typeface="BIZ UDPゴシック"/>
                <a:ea typeface="BIZ UDPゴシック"/>
                <a:cs typeface="BIZ UDPゴシック"/>
              </a:rPr>
              <a:t>希望に反する案を除外：61案</a:t>
            </a:r>
          </a:p>
          <a:p>
            <a:pPr algn="l" marL="0" indent="0">
              <a:spcAft>
                <a:spcPts val="500"/>
              </a:spcAft>
              <a:buNone/>
            </a:pPr>
            <a:r>
              <a:rPr sz="1150" b="0">
                <a:solidFill>
                  <a:srgbClr val="5A6676"/>
                </a:solidFill>
                <a:latin typeface="BIZ UDPゴシック"/>
                <a:ea typeface="BIZ UDPゴシック"/>
                <a:cs typeface="BIZ UDPゴシック"/>
              </a:rPr>
              <a:t>「増やしたい」を減らす案は出さない</a:t>
            </a:r>
          </a:p>
          <a:p>
            <a:pPr algn="l" marL="182880" indent="-182880">
              <a:spcAft>
                <a:spcPts val="100"/>
              </a:spcAft>
              <a:buClr>
                <a:srgbClr val="0099FF"/>
              </a:buClr>
              <a:buFont typeface="BIZ UDPゴシック"/>
              <a:buChar char="•"/>
            </a:pPr>
            <a:r>
              <a:rPr sz="1300" b="0">
                <a:solidFill>
                  <a:srgbClr val="24303F"/>
                </a:solidFill>
                <a:latin typeface="BIZ UDPゴシック"/>
                <a:ea typeface="BIZ UDPゴシック"/>
                <a:cs typeface="BIZ UDPゴシック"/>
              </a:rPr>
              <a:t>パレート最適な案から3つ</a:t>
            </a:r>
          </a:p>
        </p:txBody>
      </p:sp>
      <p:sp>
        <p:nvSpPr>
          <p:cNvPr id="11" name="Rounded Rectangle 10"/>
          <p:cNvSpPr/>
          <p:nvPr/>
        </p:nvSpPr>
        <p:spPr>
          <a:xfrm>
            <a:off x="5715000" y="4343400"/>
            <a:ext cx="3017520" cy="1828800"/>
          </a:xfrm>
          <a:prstGeom prst="roundRect">
            <a:avLst>
              <a:gd name="adj" fmla="val 6000"/>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852160" y="4389120"/>
            <a:ext cx="2743200" cy="1737360"/>
          </a:xfrm>
          <a:prstGeom prst="rect">
            <a:avLst/>
          </a:prstGeom>
          <a:noFill/>
        </p:spPr>
        <p:txBody>
          <a:bodyPr wrap="square" lIns="0" tIns="0" rIns="0" bIns="0" anchor="ctr">
            <a:noAutofit/>
          </a:bodyPr>
          <a:lstStyle/>
          <a:p>
            <a:pPr algn="l" marL="0" indent="0">
              <a:spcAft>
                <a:spcPts val="400"/>
              </a:spcAft>
              <a:buNone/>
            </a:pPr>
            <a:r>
              <a:rPr sz="1300" b="1">
                <a:solidFill>
                  <a:srgbClr val="E8457C"/>
                </a:solidFill>
                <a:latin typeface="BIZ UDPゴシック"/>
                <a:ea typeface="BIZ UDPゴシック"/>
                <a:cs typeface="BIZ UDPゴシック"/>
              </a:rPr>
              <a:t>計算は端末内で約20ミリ秒</a:t>
            </a:r>
          </a:p>
          <a:p>
            <a:pPr algn="l" marL="0" indent="0">
              <a:spcAft>
                <a:spcPts val="400"/>
              </a:spcAft>
              <a:buNone/>
            </a:pPr>
            <a:r>
              <a:rPr sz="1200" b="0">
                <a:solidFill>
                  <a:srgbClr val="24303F"/>
                </a:solidFill>
                <a:latin typeface="BIZ UDPゴシック"/>
                <a:ea typeface="BIZ UDPゴシック"/>
                <a:cs typeface="BIZ UDPゴシック"/>
              </a:rPr>
              <a:t>群Bにも同じ3案を出す。群Bは予測値を表示せず、文章だけを見せる</a:t>
            </a:r>
          </a:p>
        </p:txBody>
      </p:sp>
      <p:sp>
        <p:nvSpPr>
          <p:cNvPr id="13" name="Rounded Rectangle 1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latin typeface="BIZ UDPゴシック"/>
                <a:ea typeface="BIZ UDPゴシック"/>
                <a:cs typeface="BIZ UDPゴシック"/>
              </a:rPr>
              <a:t>※ 予測値は例示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研究室内の操作確認（10/24–26、6名）</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9</a:t>
            </a:fld>
          </a:p>
        </p:txBody>
      </p:sp>
      <p:sp>
        <p:nvSpPr>
          <p:cNvPr id="5" name="Rounded Rectangle 4"/>
          <p:cNvSpPr/>
          <p:nvPr/>
        </p:nvSpPr>
        <p:spPr>
          <a:xfrm>
            <a:off x="411480" y="1371600"/>
            <a:ext cx="269748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1444752"/>
            <a:ext cx="2697480" cy="822960"/>
          </a:xfrm>
          <a:prstGeom prst="rect">
            <a:avLst/>
          </a:prstGeom>
          <a:noFill/>
        </p:spPr>
        <p:txBody>
          <a:bodyPr wrap="square" lIns="0" tIns="0" rIns="0" bIns="0" anchor="ctr">
            <a:noAutofit/>
          </a:bodyPr>
          <a:lstStyle/>
          <a:p>
            <a:pPr algn="ctr" marL="0" indent="0">
              <a:spcAft>
                <a:spcPts val="400"/>
              </a:spcAft>
              <a:buNone/>
            </a:pPr>
            <a:r>
              <a:rPr sz="3200" b="1">
                <a:solidFill>
                  <a:srgbClr val="12A38A"/>
                </a:solidFill>
                <a:latin typeface="BIZ UDPゴシック"/>
                <a:ea typeface="BIZ UDPゴシック"/>
                <a:cs typeface="BIZ UDPゴシック"/>
              </a:rPr>
              <a:t>77.9</a:t>
            </a:r>
          </a:p>
        </p:txBody>
      </p:sp>
      <p:sp>
        <p:nvSpPr>
          <p:cNvPr id="7" name="TextBox 6"/>
          <p:cNvSpPr txBox="1"/>
          <p:nvPr/>
        </p:nvSpPr>
        <p:spPr>
          <a:xfrm>
            <a:off x="411480" y="2286000"/>
            <a:ext cx="2697480" cy="365760"/>
          </a:xfrm>
          <a:prstGeom prst="rect">
            <a:avLst/>
          </a:prstGeom>
          <a:noFill/>
        </p:spPr>
        <p:txBody>
          <a:bodyPr wrap="square" lIns="0" tIns="0" rIns="0" bIns="0" anchor="t">
            <a:noAutofit/>
          </a:bodyPr>
          <a:lstStyle/>
          <a:p>
            <a:pPr algn="ctr" marL="0" indent="0">
              <a:spcAft>
                <a:spcPts val="400"/>
              </a:spcAft>
              <a:buNone/>
            </a:pPr>
            <a:r>
              <a:rPr sz="1250" b="0">
                <a:solidFill>
                  <a:srgbClr val="5A6676"/>
                </a:solidFill>
                <a:latin typeface="BIZ UDPゴシック"/>
                <a:ea typeface="BIZ UDPゴシック"/>
                <a:cs typeface="BIZ UDPゴシック"/>
              </a:rPr>
              <a:t>SUS 平均（65〜90）</a:t>
            </a:r>
          </a:p>
        </p:txBody>
      </p:sp>
      <p:sp>
        <p:nvSpPr>
          <p:cNvPr id="8" name="Rounded Rectangle 7"/>
          <p:cNvSpPr/>
          <p:nvPr/>
        </p:nvSpPr>
        <p:spPr>
          <a:xfrm>
            <a:off x="3218688" y="1371600"/>
            <a:ext cx="269748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218688" y="1444752"/>
            <a:ext cx="2697480" cy="822960"/>
          </a:xfrm>
          <a:prstGeom prst="rect">
            <a:avLst/>
          </a:prstGeom>
          <a:noFill/>
        </p:spPr>
        <p:txBody>
          <a:bodyPr wrap="square" lIns="0" tIns="0" rIns="0" bIns="0" anchor="ctr">
            <a:noAutofit/>
          </a:bodyPr>
          <a:lstStyle/>
          <a:p>
            <a:pPr algn="ctr" marL="0" indent="0">
              <a:spcAft>
                <a:spcPts val="400"/>
              </a:spcAft>
              <a:buNone/>
            </a:pPr>
            <a:r>
              <a:rPr sz="3200" b="1">
                <a:solidFill>
                  <a:srgbClr val="0099FF"/>
                </a:solidFill>
                <a:latin typeface="BIZ UDPゴシック"/>
                <a:ea typeface="BIZ UDPゴシック"/>
                <a:cs typeface="BIZ UDPゴシック"/>
              </a:rPr>
              <a:t>28秒</a:t>
            </a:r>
          </a:p>
        </p:txBody>
      </p:sp>
      <p:sp>
        <p:nvSpPr>
          <p:cNvPr id="10" name="TextBox 9"/>
          <p:cNvSpPr txBox="1"/>
          <p:nvPr/>
        </p:nvSpPr>
        <p:spPr>
          <a:xfrm>
            <a:off x="3218688" y="2286000"/>
            <a:ext cx="2697480" cy="365760"/>
          </a:xfrm>
          <a:prstGeom prst="rect">
            <a:avLst/>
          </a:prstGeom>
          <a:noFill/>
        </p:spPr>
        <p:txBody>
          <a:bodyPr wrap="square" lIns="0" tIns="0" rIns="0" bIns="0" anchor="t">
            <a:noAutofit/>
          </a:bodyPr>
          <a:lstStyle/>
          <a:p>
            <a:pPr algn="ctr" marL="0" indent="0">
              <a:spcAft>
                <a:spcPts val="400"/>
              </a:spcAft>
              <a:buNone/>
            </a:pPr>
            <a:r>
              <a:rPr sz="1250" b="0">
                <a:solidFill>
                  <a:srgbClr val="5A6676"/>
                </a:solidFill>
                <a:latin typeface="BIZ UDPゴシック"/>
                <a:ea typeface="BIZ UDPゴシック"/>
                <a:cs typeface="BIZ UDPゴシック"/>
              </a:rPr>
              <a:t>毎日の記録（平均）</a:t>
            </a:r>
          </a:p>
        </p:txBody>
      </p:sp>
      <p:sp>
        <p:nvSpPr>
          <p:cNvPr id="11" name="Rounded Rectangle 10"/>
          <p:cNvSpPr/>
          <p:nvPr/>
        </p:nvSpPr>
        <p:spPr>
          <a:xfrm>
            <a:off x="6025896" y="1371600"/>
            <a:ext cx="269748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25896" y="1444752"/>
            <a:ext cx="2697480" cy="822960"/>
          </a:xfrm>
          <a:prstGeom prst="rect">
            <a:avLst/>
          </a:prstGeom>
          <a:noFill/>
        </p:spPr>
        <p:txBody>
          <a:bodyPr wrap="square" lIns="0" tIns="0" rIns="0" bIns="0" anchor="ctr">
            <a:noAutofit/>
          </a:bodyPr>
          <a:lstStyle/>
          <a:p>
            <a:pPr algn="ctr" marL="0" indent="0">
              <a:spcAft>
                <a:spcPts val="400"/>
              </a:spcAft>
              <a:buNone/>
            </a:pPr>
            <a:r>
              <a:rPr sz="3200" b="1">
                <a:solidFill>
                  <a:srgbClr val="0B3C6E"/>
                </a:solidFill>
                <a:latin typeface="BIZ UDPゴシック"/>
                <a:ea typeface="BIZ UDPゴシック"/>
                <a:cs typeface="BIZ UDPゴシック"/>
              </a:rPr>
              <a:t>4分10秒</a:t>
            </a:r>
          </a:p>
        </p:txBody>
      </p:sp>
      <p:sp>
        <p:nvSpPr>
          <p:cNvPr id="13" name="TextBox 12"/>
          <p:cNvSpPr txBox="1"/>
          <p:nvPr/>
        </p:nvSpPr>
        <p:spPr>
          <a:xfrm>
            <a:off x="6025896" y="2286000"/>
            <a:ext cx="2697480" cy="365760"/>
          </a:xfrm>
          <a:prstGeom prst="rect">
            <a:avLst/>
          </a:prstGeom>
          <a:noFill/>
        </p:spPr>
        <p:txBody>
          <a:bodyPr wrap="square" lIns="0" tIns="0" rIns="0" bIns="0" anchor="t">
            <a:noAutofit/>
          </a:bodyPr>
          <a:lstStyle/>
          <a:p>
            <a:pPr algn="ctr" marL="0" indent="0">
              <a:spcAft>
                <a:spcPts val="400"/>
              </a:spcAft>
              <a:buNone/>
            </a:pPr>
            <a:r>
              <a:rPr sz="1250" b="0">
                <a:solidFill>
                  <a:srgbClr val="5A6676"/>
                </a:solidFill>
                <a:latin typeface="BIZ UDPゴシック"/>
                <a:ea typeface="BIZ UDPゴシック"/>
                <a:cs typeface="BIZ UDPゴシック"/>
              </a:rPr>
              <a:t>初回設定（平均）</a:t>
            </a:r>
          </a:p>
        </p:txBody>
      </p:sp>
      <p:graphicFrame>
        <p:nvGraphicFramePr>
          <p:cNvPr id="14" name="Chart 13"/>
          <p:cNvGraphicFramePr>
            <a:graphicFrameLocks noGrp="1"/>
          </p:cNvGraphicFramePr>
          <p:nvPr/>
        </p:nvGraphicFramePr>
        <p:xfrm>
          <a:off x="411480" y="2971800"/>
          <a:ext cx="4572000" cy="3200400"/>
        </p:xfrm>
        <a:graphic>
          <a:graphicData uri="http://schemas.openxmlformats.org/drawingml/2006/chart">
            <c:chart xmlns:c="http://schemas.openxmlformats.org/drawingml/2006/chart" r:id="rId2"/>
          </a:graphicData>
        </a:graphic>
      </p:graphicFrame>
      <p:sp>
        <p:nvSpPr>
          <p:cNvPr id="15" name="Rounded Rectangle 14"/>
          <p:cNvSpPr/>
          <p:nvPr/>
        </p:nvSpPr>
        <p:spPr>
          <a:xfrm>
            <a:off x="5120640" y="3017520"/>
            <a:ext cx="3611880" cy="3154680"/>
          </a:xfrm>
          <a:prstGeom prst="roundRect">
            <a:avLst>
              <a:gd name="adj" fmla="val 289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266944" y="316382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clip_w.png"/>
          <p:cNvPicPr>
            <a:picLocks noChangeAspect="1"/>
          </p:cNvPicPr>
          <p:nvPr/>
        </p:nvPicPr>
        <p:blipFill>
          <a:blip r:embed="rId3"/>
          <a:stretch>
            <a:fillRect/>
          </a:stretch>
        </p:blipFill>
        <p:spPr>
          <a:xfrm>
            <a:off x="5376672" y="3273552"/>
            <a:ext cx="237744" cy="237744"/>
          </a:xfrm>
          <a:prstGeom prst="rect">
            <a:avLst/>
          </a:prstGeom>
        </p:spPr>
      </p:pic>
      <p:sp>
        <p:nvSpPr>
          <p:cNvPr id="18" name="TextBox 17"/>
          <p:cNvSpPr txBox="1"/>
          <p:nvPr/>
        </p:nvSpPr>
        <p:spPr>
          <a:xfrm>
            <a:off x="5833872" y="3136391"/>
            <a:ext cx="27889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課題の達成</a:t>
            </a:r>
          </a:p>
        </p:txBody>
      </p:sp>
      <p:sp>
        <p:nvSpPr>
          <p:cNvPr id="19" name="TextBox 18"/>
          <p:cNvSpPr txBox="1"/>
          <p:nvPr/>
        </p:nvSpPr>
        <p:spPr>
          <a:xfrm>
            <a:off x="5285231" y="3712463"/>
            <a:ext cx="3319272" cy="2368296"/>
          </a:xfrm>
          <a:prstGeom prst="rect">
            <a:avLst/>
          </a:prstGeom>
          <a:noFill/>
        </p:spPr>
        <p:txBody>
          <a:bodyPr wrap="square" lIns="0" tIns="0" rIns="0" bIns="0" anchor="t">
            <a:noAutofit/>
          </a:bodyPr>
          <a:lstStyle/>
          <a:p>
            <a:pPr algn="l" marL="182880" indent="-182880">
              <a:spcAft>
                <a:spcPts val="200"/>
              </a:spcAft>
              <a:buClr>
                <a:srgbClr val="0099FF"/>
              </a:buClr>
              <a:buFont typeface="BIZ UDPゴシック"/>
              <a:buChar char="•"/>
            </a:pPr>
            <a:r>
              <a:rPr sz="1300" b="0">
                <a:solidFill>
                  <a:srgbClr val="24303F"/>
                </a:solidFill>
                <a:latin typeface="BIZ UDPゴシック"/>
                <a:ea typeface="BIZ UDPゴシック"/>
                <a:cs typeface="BIZ UDPゴシック"/>
              </a:rPr>
              <a:t>記録 → 提案の選択：6/6名</a:t>
            </a:r>
          </a:p>
          <a:p>
            <a:pPr algn="l" marL="182880" indent="-182880">
              <a:spcAft>
                <a:spcPts val="200"/>
              </a:spcAft>
              <a:buClr>
                <a:srgbClr val="E07A10"/>
              </a:buClr>
              <a:buFont typeface="BIZ UDPゴシック"/>
              <a:buChar char="•"/>
            </a:pPr>
            <a:r>
              <a:rPr sz="1300" b="0">
                <a:solidFill>
                  <a:srgbClr val="24303F"/>
                </a:solidFill>
                <a:latin typeface="BIZ UDPゴシック"/>
                <a:ea typeface="BIZ UDPゴシック"/>
                <a:cs typeface="BIZ UDPゴシック"/>
              </a:rPr>
              <a:t>みらいミラーの読み取り：4/6名</a:t>
            </a:r>
          </a:p>
          <a:p>
            <a:pPr algn="l" marL="0" indent="0">
              <a:spcAft>
                <a:spcPts val="600"/>
              </a:spcAft>
              <a:buNone/>
            </a:pPr>
            <a:r>
              <a:rPr sz="1150" b="0">
                <a:solidFill>
                  <a:srgbClr val="5A6676"/>
                </a:solidFill>
                <a:latin typeface="BIZ UDPゴシック"/>
                <a:ea typeface="BIZ UDPゴシック"/>
                <a:cs typeface="BIZ UDPゴシック"/>
              </a:rPr>
              <a:t>「ぼやけ」の意味が分からない人が2名</a:t>
            </a:r>
          </a:p>
          <a:p>
            <a:pPr algn="l" marL="182880" indent="-182880">
              <a:spcAft>
                <a:spcPts val="200"/>
              </a:spcAft>
              <a:buClr>
                <a:srgbClr val="0099FF"/>
              </a:buClr>
              <a:buFont typeface="BIZ UDPゴシック"/>
              <a:buChar char="•"/>
            </a:pPr>
            <a:r>
              <a:rPr sz="1300" b="0">
                <a:solidFill>
                  <a:srgbClr val="24303F"/>
                </a:solidFill>
                <a:latin typeface="BIZ UDPゴシック"/>
                <a:ea typeface="BIZ UDPゴシック"/>
                <a:cs typeface="BIZ UDPゴシック"/>
              </a:rPr>
              <a:t>写真なしの作成：2/6名が選択</a:t>
            </a:r>
          </a:p>
          <a:p>
            <a:pPr algn="l" marL="0" indent="0">
              <a:spcAft>
                <a:spcPts val="200"/>
              </a:spcAft>
              <a:buNone/>
            </a:pPr>
            <a:r>
              <a:rPr sz="1150" b="0">
                <a:solidFill>
                  <a:srgbClr val="5A6676"/>
                </a:solidFill>
                <a:latin typeface="BIZ UDPゴシック"/>
                <a:ea typeface="BIZ UDPゴシック"/>
                <a:cs typeface="BIZ UDPゴシック"/>
              </a:rPr>
              <a:t>写真を撮ることへの抵抗感</a:t>
            </a:r>
          </a:p>
        </p:txBody>
      </p:sp>
      <p:sp>
        <p:nvSpPr>
          <p:cNvPr id="20" name="Rounded Rectangle 19"/>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latin typeface="BIZ UDPゴシック"/>
                <a:ea typeface="BIZ UDPゴシック"/>
                <a:cs typeface="BIZ UDPゴシック"/>
              </a:rPr>
              <a:t>※ 操作確認の結果は想定値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見つかった問題と改善</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10</a:t>
            </a:fld>
          </a:p>
        </p:txBody>
      </p:sp>
      <p:graphicFrame>
        <p:nvGraphicFramePr>
          <p:cNvPr id="5" name="Table 4"/>
          <p:cNvGraphicFramePr>
            <a:graphicFrameLocks noGrp="1"/>
          </p:cNvGraphicFramePr>
          <p:nvPr/>
        </p:nvGraphicFramePr>
        <p:xfrm>
          <a:off x="411480" y="1371600"/>
          <a:ext cx="8321040" cy="3401568"/>
        </p:xfrm>
        <a:graphic>
          <a:graphicData uri="http://schemas.openxmlformats.org/drawingml/2006/table">
            <a:tbl>
              <a:tblPr>
                <a:tableStyleId>{5940675A-B579-460E-94D1-54222C63F5DA}</a:tableStyleId>
              </a:tblPr>
              <a:tblGrid>
                <a:gridCol w="3291840"/>
                <a:gridCol w="822960"/>
                <a:gridCol w="4206240"/>
              </a:tblGrid>
              <a:tr h="566928">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見つかった問題</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300" b="1">
                          <a:solidFill>
                            <a:srgbClr val="FFFFFF"/>
                          </a:solidFill>
                          <a:latin typeface="BIZ UDPゴシック"/>
                          <a:ea typeface="BIZ UDPゴシック"/>
                          <a:cs typeface="BIZ UDPゴシック"/>
                        </a:rPr>
                        <a:t>人数</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改善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66928">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「今のまま」の顔が少し怖い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3/6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疲れの表情を1段階弱くした。配色は変えない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ぼやけ（予測の幅）の意味が分からない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2/6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「20人中◯人」のドット表示と、初回だけの説明を追加</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提案の文が説教っぽい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2/6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「〜してみる？」の口調に。本人の希望を先頭に表示</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夜に記録を忘れる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3/6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21時に1日1回だけ通知（過干渉を避ける）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66928">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写真を撮るのに抵抗がある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300" b="0">
                          <a:solidFill>
                            <a:srgbClr val="24303F"/>
                          </a:solidFill>
                          <a:latin typeface="BIZ UDPゴシック"/>
                          <a:ea typeface="BIZ UDPゴシック"/>
                          <a:cs typeface="BIZ UDPゴシック"/>
                        </a:rPr>
                        <a:t>2/6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「パーツで作る」を同じ大きさのボタンにした</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bl>
          </a:graphicData>
        </a:graphic>
      </p:graphicFrame>
      <p:sp>
        <p:nvSpPr>
          <p:cNvPr id="6" name="Rounded Rectangle 5"/>
          <p:cNvSpPr/>
          <p:nvPr/>
        </p:nvSpPr>
        <p:spPr>
          <a:xfrm>
            <a:off x="411480" y="4937760"/>
            <a:ext cx="8321040" cy="1234440"/>
          </a:xfrm>
          <a:prstGeom prst="roundRect">
            <a:avLst>
              <a:gd name="adj" fmla="val 8888"/>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40080" y="5257800"/>
            <a:ext cx="594360" cy="59436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c_lock_w.png"/>
          <p:cNvPicPr>
            <a:picLocks noChangeAspect="1"/>
          </p:cNvPicPr>
          <p:nvPr/>
        </p:nvPicPr>
        <p:blipFill>
          <a:blip r:embed="rId2"/>
          <a:stretch>
            <a:fillRect/>
          </a:stretch>
        </p:blipFill>
        <p:spPr>
          <a:xfrm>
            <a:off x="782726" y="5400446"/>
            <a:ext cx="309067" cy="309067"/>
          </a:xfrm>
          <a:prstGeom prst="rect">
            <a:avLst/>
          </a:prstGeom>
        </p:spPr>
      </p:pic>
      <p:sp>
        <p:nvSpPr>
          <p:cNvPr id="9" name="TextBox 8"/>
          <p:cNvSpPr txBox="1"/>
          <p:nvPr/>
        </p:nvSpPr>
        <p:spPr>
          <a:xfrm>
            <a:off x="1463039" y="4983480"/>
            <a:ext cx="7086600" cy="1143000"/>
          </a:xfrm>
          <a:prstGeom prst="rect">
            <a:avLst/>
          </a:prstGeom>
          <a:noFill/>
        </p:spPr>
        <p:txBody>
          <a:bodyPr wrap="square" lIns="0" tIns="0" rIns="0" bIns="0" anchor="ctr">
            <a:noAutofit/>
          </a:bodyPr>
          <a:lstStyle/>
          <a:p>
            <a:pPr algn="l" marL="0" indent="0">
              <a:spcAft>
                <a:spcPts val="300"/>
              </a:spcAft>
              <a:buNone/>
            </a:pPr>
            <a:r>
              <a:rPr sz="1500" b="1">
                <a:solidFill>
                  <a:srgbClr val="0B3C6E"/>
                </a:solidFill>
                <a:latin typeface="BIZ UDPゴシック"/>
                <a:ea typeface="BIZ UDPゴシック"/>
                <a:cs typeface="BIZ UDPゴシック"/>
              </a:rPr>
              <a:t>10/30 に ベータ版を凍結 → 本実験中は全群共通の不具合修正だけを許可</a:t>
            </a:r>
          </a:p>
          <a:p>
            <a:pPr algn="l" marL="0" indent="0">
              <a:spcAft>
                <a:spcPts val="400"/>
              </a:spcAft>
              <a:buNone/>
            </a:pPr>
            <a:r>
              <a:rPr sz="1250" b="0">
                <a:solidFill>
                  <a:srgbClr val="24303F"/>
                </a:solidFill>
                <a:latin typeface="BIZ UDPゴシック"/>
                <a:ea typeface="BIZ UDPゴシック"/>
                <a:cs typeface="BIZ UDPゴシック"/>
              </a:rPr>
              <a:t>修正はすべて日時・内容・影響する群を記録し、プロトコルからの逸脱として修論に書く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倫理審査の承認と参加者の募集</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11</a:t>
            </a:fld>
          </a:p>
        </p:txBody>
      </p:sp>
      <p:sp>
        <p:nvSpPr>
          <p:cNvPr id="5" name="Oval 4"/>
          <p:cNvSpPr/>
          <p:nvPr/>
        </p:nvSpPr>
        <p:spPr>
          <a:xfrm>
            <a:off x="640080" y="1417320"/>
            <a:ext cx="731520" cy="73152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100" b="1">
                <a:solidFill>
                  <a:srgbClr val="FFFFFF"/>
                </a:solidFill>
                <a:latin typeface="BIZ UDPゴシック"/>
                <a:ea typeface="BIZ UDPゴシック"/>
                <a:cs typeface="BIZ UDPゴシック"/>
              </a:rPr>
              <a:t>10/9</a:t>
            </a:r>
          </a:p>
        </p:txBody>
      </p:sp>
      <p:sp>
        <p:nvSpPr>
          <p:cNvPr id="6" name="TextBox 5"/>
          <p:cNvSpPr txBox="1"/>
          <p:nvPr/>
        </p:nvSpPr>
        <p:spPr>
          <a:xfrm>
            <a:off x="365760" y="2194560"/>
            <a:ext cx="1280160" cy="320040"/>
          </a:xfrm>
          <a:prstGeom prst="rect">
            <a:avLst/>
          </a:prstGeom>
          <a:noFill/>
        </p:spPr>
        <p:txBody>
          <a:bodyPr wrap="square" lIns="0" tIns="0" rIns="0" bIns="0" anchor="t">
            <a:noAutofit/>
          </a:bodyPr>
          <a:lstStyle/>
          <a:p>
            <a:pPr algn="ctr" marL="0" indent="0">
              <a:spcAft>
                <a:spcPts val="400"/>
              </a:spcAft>
              <a:buNone/>
            </a:pPr>
            <a:r>
              <a:rPr sz="1200" b="1">
                <a:solidFill>
                  <a:srgbClr val="0B3C6E"/>
                </a:solidFill>
                <a:latin typeface="BIZ UDPゴシック"/>
                <a:ea typeface="BIZ UDPゴシック"/>
                <a:cs typeface="BIZ UDPゴシック"/>
              </a:rPr>
              <a:t>申請</a:t>
            </a:r>
          </a:p>
        </p:txBody>
      </p:sp>
      <p:cxnSp>
        <p:nvCxnSpPr>
          <p:cNvPr id="7" name="Connector 6"/>
          <p:cNvCxnSpPr/>
          <p:nvPr/>
        </p:nvCxnSpPr>
        <p:spPr>
          <a:xfrm>
            <a:off x="1417320" y="1783080"/>
            <a:ext cx="594360" cy="0"/>
          </a:xfrm>
          <a:prstGeom prst="line">
            <a:avLst/>
          </a:prstGeom>
          <a:ln w="25400">
            <a:solidFill>
              <a:srgbClr val="7A85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057400" y="1417320"/>
            <a:ext cx="731520" cy="73152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100" b="1">
                <a:solidFill>
                  <a:srgbClr val="FFFFFF"/>
                </a:solidFill>
                <a:latin typeface="BIZ UDPゴシック"/>
                <a:ea typeface="BIZ UDPゴシック"/>
                <a:cs typeface="BIZ UDPゴシック"/>
              </a:rPr>
              <a:t>10/21</a:t>
            </a:r>
          </a:p>
        </p:txBody>
      </p:sp>
      <p:sp>
        <p:nvSpPr>
          <p:cNvPr id="9" name="TextBox 8"/>
          <p:cNvSpPr txBox="1"/>
          <p:nvPr/>
        </p:nvSpPr>
        <p:spPr>
          <a:xfrm>
            <a:off x="1783080" y="2194560"/>
            <a:ext cx="1280160" cy="320040"/>
          </a:xfrm>
          <a:prstGeom prst="rect">
            <a:avLst/>
          </a:prstGeom>
          <a:noFill/>
        </p:spPr>
        <p:txBody>
          <a:bodyPr wrap="square" lIns="0" tIns="0" rIns="0" bIns="0" anchor="t">
            <a:noAutofit/>
          </a:bodyPr>
          <a:lstStyle/>
          <a:p>
            <a:pPr algn="ctr" marL="0" indent="0">
              <a:spcAft>
                <a:spcPts val="400"/>
              </a:spcAft>
              <a:buNone/>
            </a:pPr>
            <a:r>
              <a:rPr sz="1200" b="1">
                <a:solidFill>
                  <a:srgbClr val="0B3C6E"/>
                </a:solidFill>
                <a:latin typeface="BIZ UDPゴシック"/>
                <a:ea typeface="BIZ UDPゴシック"/>
                <a:cs typeface="BIZ UDPゴシック"/>
              </a:rPr>
              <a:t>条件付き承認</a:t>
            </a:r>
          </a:p>
        </p:txBody>
      </p:sp>
      <p:cxnSp>
        <p:nvCxnSpPr>
          <p:cNvPr id="10" name="Connector 9"/>
          <p:cNvCxnSpPr/>
          <p:nvPr/>
        </p:nvCxnSpPr>
        <p:spPr>
          <a:xfrm>
            <a:off x="2834640" y="1783080"/>
            <a:ext cx="594360" cy="0"/>
          </a:xfrm>
          <a:prstGeom prst="line">
            <a:avLst/>
          </a:prstGeom>
          <a:ln w="25400">
            <a:solidFill>
              <a:srgbClr val="7A85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474720" y="1417320"/>
            <a:ext cx="731520" cy="73152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100" b="1">
                <a:solidFill>
                  <a:srgbClr val="FFFFFF"/>
                </a:solidFill>
                <a:latin typeface="BIZ UDPゴシック"/>
                <a:ea typeface="BIZ UDPゴシック"/>
                <a:cs typeface="BIZ UDPゴシック"/>
              </a:rPr>
              <a:t>10/23</a:t>
            </a:r>
          </a:p>
        </p:txBody>
      </p:sp>
      <p:sp>
        <p:nvSpPr>
          <p:cNvPr id="12" name="TextBox 11"/>
          <p:cNvSpPr txBox="1"/>
          <p:nvPr/>
        </p:nvSpPr>
        <p:spPr>
          <a:xfrm>
            <a:off x="3200400" y="2194560"/>
            <a:ext cx="1280160" cy="320040"/>
          </a:xfrm>
          <a:prstGeom prst="rect">
            <a:avLst/>
          </a:prstGeom>
          <a:noFill/>
        </p:spPr>
        <p:txBody>
          <a:bodyPr wrap="square" lIns="0" tIns="0" rIns="0" bIns="0" anchor="t">
            <a:noAutofit/>
          </a:bodyPr>
          <a:lstStyle/>
          <a:p>
            <a:pPr algn="ctr" marL="0" indent="0">
              <a:spcAft>
                <a:spcPts val="400"/>
              </a:spcAft>
              <a:buNone/>
            </a:pPr>
            <a:r>
              <a:rPr sz="1200" b="1">
                <a:solidFill>
                  <a:srgbClr val="0B3C6E"/>
                </a:solidFill>
                <a:latin typeface="BIZ UDPゴシック"/>
                <a:ea typeface="BIZ UDPゴシック"/>
                <a:cs typeface="BIZ UDPゴシック"/>
              </a:rPr>
              <a:t>修正して承認</a:t>
            </a:r>
          </a:p>
        </p:txBody>
      </p:sp>
      <p:sp>
        <p:nvSpPr>
          <p:cNvPr id="13" name="Rounded Rectangle 12"/>
          <p:cNvSpPr/>
          <p:nvPr/>
        </p:nvSpPr>
        <p:spPr>
          <a:xfrm>
            <a:off x="411480" y="2697480"/>
            <a:ext cx="4114800" cy="3474720"/>
          </a:xfrm>
          <a:prstGeom prst="roundRect">
            <a:avLst>
              <a:gd name="adj" fmla="val 263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7784" y="284378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sign_w.png"/>
          <p:cNvPicPr>
            <a:picLocks noChangeAspect="1"/>
          </p:cNvPicPr>
          <p:nvPr/>
        </p:nvPicPr>
        <p:blipFill>
          <a:blip r:embed="rId2"/>
          <a:stretch>
            <a:fillRect/>
          </a:stretch>
        </p:blipFill>
        <p:spPr>
          <a:xfrm>
            <a:off x="667512" y="2953512"/>
            <a:ext cx="237744" cy="237744"/>
          </a:xfrm>
          <a:prstGeom prst="rect">
            <a:avLst/>
          </a:prstGeom>
        </p:spPr>
      </p:pic>
      <p:sp>
        <p:nvSpPr>
          <p:cNvPr id="16" name="TextBox 15"/>
          <p:cNvSpPr txBox="1"/>
          <p:nvPr/>
        </p:nvSpPr>
        <p:spPr>
          <a:xfrm>
            <a:off x="1124712" y="2816352"/>
            <a:ext cx="329183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審査会での指摘と対応</a:t>
            </a:r>
          </a:p>
        </p:txBody>
      </p:sp>
      <p:sp>
        <p:nvSpPr>
          <p:cNvPr id="17" name="TextBox 16"/>
          <p:cNvSpPr txBox="1"/>
          <p:nvPr/>
        </p:nvSpPr>
        <p:spPr>
          <a:xfrm>
            <a:off x="576072" y="3392424"/>
            <a:ext cx="3822191" cy="2688336"/>
          </a:xfrm>
          <a:prstGeom prst="rect">
            <a:avLst/>
          </a:prstGeom>
          <a:noFill/>
        </p:spPr>
        <p:txBody>
          <a:bodyPr wrap="square" lIns="0" tIns="0" rIns="0" bIns="0" anchor="t">
            <a:noAutofit/>
          </a:bodyPr>
          <a:lstStyle/>
          <a:p>
            <a:pPr algn="l" marL="182880" indent="-182880">
              <a:spcAft>
                <a:spcPts val="200"/>
              </a:spcAft>
              <a:buClr>
                <a:srgbClr val="0099FF"/>
              </a:buClr>
              <a:buFont typeface="BIZ UDPゴシック"/>
              <a:buChar char="•"/>
            </a:pPr>
            <a:r>
              <a:rPr sz="1350" b="1">
                <a:solidFill>
                  <a:srgbClr val="0B3C6E"/>
                </a:solidFill>
                <a:latin typeface="BIZ UDPゴシック"/>
                <a:ea typeface="BIZ UDPゴシック"/>
                <a:cs typeface="BIZ UDPゴシック"/>
              </a:rPr>
              <a:t>学外の相談窓口も載せること</a:t>
            </a:r>
          </a:p>
          <a:p>
            <a:pPr algn="l" marL="0" indent="0">
              <a:spcAft>
                <a:spcPts val="800"/>
              </a:spcAft>
              <a:buNone/>
            </a:pPr>
            <a:r>
              <a:rPr sz="1250" b="0">
                <a:solidFill>
                  <a:srgbClr val="24303F"/>
                </a:solidFill>
                <a:latin typeface="BIZ UDPゴシック"/>
                <a:ea typeface="BIZ UDPゴシック"/>
                <a:cs typeface="BIZ UDPゴシック"/>
              </a:rPr>
              <a:t>→ 大学の学生相談室に加え、公的な電話・SNS相談の窓口を追加</a:t>
            </a:r>
          </a:p>
          <a:p>
            <a:pPr algn="l" marL="182880" indent="-182880">
              <a:spcAft>
                <a:spcPts val="200"/>
              </a:spcAft>
              <a:buClr>
                <a:srgbClr val="0099FF"/>
              </a:buClr>
              <a:buFont typeface="BIZ UDPゴシック"/>
              <a:buChar char="•"/>
            </a:pPr>
            <a:r>
              <a:rPr sz="1350" b="1">
                <a:solidFill>
                  <a:srgbClr val="0B3C6E"/>
                </a:solidFill>
                <a:latin typeface="BIZ UDPゴシック"/>
                <a:ea typeface="BIZ UDPゴシック"/>
                <a:cs typeface="BIZ UDPゴシック"/>
              </a:rPr>
              <a:t>データの保存期間を明記すること</a:t>
            </a:r>
          </a:p>
          <a:p>
            <a:pPr algn="l" marL="0" indent="0">
              <a:spcAft>
                <a:spcPts val="200"/>
              </a:spcAft>
              <a:buNone/>
            </a:pPr>
            <a:r>
              <a:rPr sz="1250" b="0">
                <a:solidFill>
                  <a:srgbClr val="24303F"/>
                </a:solidFill>
                <a:latin typeface="BIZ UDPゴシック"/>
                <a:ea typeface="BIZ UDPゴシック"/>
                <a:cs typeface="BIZ UDPゴシック"/>
              </a:rPr>
              <a:t>→ 匿名化データを5年保存し、その後に削除すると追記</a:t>
            </a:r>
          </a:p>
        </p:txBody>
      </p:sp>
      <p:sp>
        <p:nvSpPr>
          <p:cNvPr id="18" name="TextBox 17"/>
          <p:cNvSpPr txBox="1"/>
          <p:nvPr/>
        </p:nvSpPr>
        <p:spPr>
          <a:xfrm>
            <a:off x="4754880" y="1371600"/>
            <a:ext cx="3977639" cy="365760"/>
          </a:xfrm>
          <a:prstGeom prst="rect">
            <a:avLst/>
          </a:prstGeom>
          <a:noFill/>
        </p:spPr>
        <p:txBody>
          <a:bodyPr wrap="square" lIns="0" tIns="0" rIns="0" bIns="0" anchor="t">
            <a:noAutofit/>
          </a:bodyPr>
          <a:lstStyle/>
          <a:p>
            <a:pPr algn="l" marL="0" indent="0">
              <a:spcAft>
                <a:spcPts val="400"/>
              </a:spcAft>
              <a:buNone/>
            </a:pPr>
            <a:r>
              <a:rPr sz="1500" b="1">
                <a:solidFill>
                  <a:srgbClr val="0B3C6E"/>
                </a:solidFill>
                <a:latin typeface="BIZ UDPゴシック"/>
                <a:ea typeface="BIZ UDPゴシック"/>
                <a:cs typeface="BIZ UDPゴシック"/>
              </a:rPr>
              <a:t>募集状況（10/24 開始）</a:t>
            </a:r>
          </a:p>
        </p:txBody>
      </p:sp>
      <p:sp>
        <p:nvSpPr>
          <p:cNvPr id="19" name="Rounded Rectangle 18"/>
          <p:cNvSpPr/>
          <p:nvPr/>
        </p:nvSpPr>
        <p:spPr>
          <a:xfrm>
            <a:off x="4754880" y="1828800"/>
            <a:ext cx="3977639" cy="384048"/>
          </a:xfrm>
          <a:prstGeom prst="roundRect">
            <a:avLst>
              <a:gd name="adj" fmla="val 50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754880" y="1828800"/>
            <a:ext cx="2850641" cy="384048"/>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754880" y="1828800"/>
            <a:ext cx="3977639" cy="384048"/>
          </a:xfrm>
          <a:prstGeom prst="rect">
            <a:avLst/>
          </a:prstGeom>
          <a:noFill/>
        </p:spPr>
        <p:txBody>
          <a:bodyPr wrap="square" lIns="137160" tIns="0" rIns="0" bIns="0" anchor="ctr">
            <a:noAutofit/>
          </a:bodyPr>
          <a:lstStyle/>
          <a:p>
            <a:pPr algn="l" marL="0" indent="0">
              <a:spcAft>
                <a:spcPts val="400"/>
              </a:spcAft>
              <a:buNone/>
            </a:pPr>
            <a:r>
              <a:rPr sz="1300" b="1">
                <a:solidFill>
                  <a:srgbClr val="FFFFFF"/>
                </a:solidFill>
                <a:latin typeface="BIZ UDPゴシック"/>
                <a:ea typeface="BIZ UDPゴシック"/>
                <a:cs typeface="BIZ UDPゴシック"/>
              </a:rPr>
              <a:t>172 / 240名（72%）</a:t>
            </a:r>
          </a:p>
        </p:txBody>
      </p:sp>
      <p:graphicFrame>
        <p:nvGraphicFramePr>
          <p:cNvPr id="22" name="Chart 21"/>
          <p:cNvGraphicFramePr>
            <a:graphicFrameLocks noGrp="1"/>
          </p:cNvGraphicFramePr>
          <p:nvPr/>
        </p:nvGraphicFramePr>
        <p:xfrm>
          <a:off x="4754880" y="2377440"/>
          <a:ext cx="3977639" cy="3794760"/>
        </p:xfrm>
        <a:graphic>
          <a:graphicData uri="http://schemas.openxmlformats.org/drawingml/2006/chart">
            <c:chart xmlns:c="http://schemas.openxmlformats.org/drawingml/2006/chart" r:id="rId3"/>
          </a:graphicData>
        </a:graphic>
      </p:graphicFrame>
      <p:sp>
        <p:nvSpPr>
          <p:cNvPr id="23" name="Rounded Rectangle 2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latin typeface="BIZ UDPゴシック"/>
                <a:ea typeface="BIZ UDPゴシック"/>
                <a:cs typeface="BIZ UDPゴシック"/>
              </a:rPr>
              <a:t>※ 応募数は想定値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CHIIR 2027 に投稿（10/29）</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12</a:t>
            </a:fld>
          </a:p>
        </p:txBody>
      </p:sp>
      <p:sp>
        <p:nvSpPr>
          <p:cNvPr id="5" name="Rounded Rectangle 4"/>
          <p:cNvSpPr/>
          <p:nvPr/>
        </p:nvSpPr>
        <p:spPr>
          <a:xfrm>
            <a:off x="411480" y="1371600"/>
            <a:ext cx="8321040" cy="1325880"/>
          </a:xfrm>
          <a:prstGeom prst="roundRect">
            <a:avLst>
              <a:gd name="adj" fmla="val 8275"/>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17320"/>
            <a:ext cx="7772400" cy="1234440"/>
          </a:xfrm>
          <a:prstGeom prst="rect">
            <a:avLst/>
          </a:prstGeom>
          <a:noFill/>
        </p:spPr>
        <p:txBody>
          <a:bodyPr wrap="square" lIns="0" tIns="0" rIns="0" bIns="0" anchor="ctr">
            <a:noAutofit/>
          </a:bodyPr>
          <a:lstStyle/>
          <a:p>
            <a:pPr algn="l" marL="0" indent="0">
              <a:spcAft>
                <a:spcPts val="400"/>
              </a:spcAft>
              <a:buNone/>
            </a:pPr>
            <a:r>
              <a:rPr sz="1600" b="1">
                <a:solidFill>
                  <a:srgbClr val="FFFFFF"/>
                </a:solidFill>
                <a:latin typeface="BIZ UDPゴシック"/>
                <a:ea typeface="BIZ UDPゴシック"/>
                <a:cs typeface="BIZ UDPゴシック"/>
              </a:rPr>
              <a:t>OshiFit: Possible-Selves Avatars for Uncertainty-Aware Behavior Change in Fan Activities</a:t>
            </a:r>
          </a:p>
          <a:p>
            <a:pPr algn="l" marL="0" indent="0">
              <a:spcAft>
                <a:spcPts val="400"/>
              </a:spcAft>
              <a:buNone/>
            </a:pPr>
            <a:r>
              <a:rPr sz="1250" b="0">
                <a:solidFill>
                  <a:srgbClr val="CCE9FF"/>
                </a:solidFill>
                <a:latin typeface="BIZ UDPゴシック"/>
                <a:ea typeface="BIZ UDPゴシック"/>
                <a:cs typeface="BIZ UDPゴシック"/>
              </a:rPr>
              <a:t>Short Paper（4ページ＋参考文献）／ ACM CHIIR 2027 ／ 採否通知は12月中旬の予定</a:t>
            </a:r>
          </a:p>
        </p:txBody>
      </p:sp>
      <p:sp>
        <p:nvSpPr>
          <p:cNvPr id="7" name="Rounded Rectangle 6"/>
          <p:cNvSpPr/>
          <p:nvPr/>
        </p:nvSpPr>
        <p:spPr>
          <a:xfrm>
            <a:off x="411480" y="288036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288036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latin typeface="BIZ UDPゴシック"/>
                <a:ea typeface="BIZ UDPゴシック"/>
                <a:cs typeface="BIZ UDPゴシック"/>
              </a:rPr>
              <a:t>1. Introduction</a:t>
            </a:r>
          </a:p>
          <a:p>
            <a:pPr algn="l" marL="0" indent="0">
              <a:spcAft>
                <a:spcPts val="400"/>
              </a:spcAft>
              <a:buNone/>
            </a:pPr>
            <a:r>
              <a:rPr sz="1150" b="0">
                <a:solidFill>
                  <a:srgbClr val="5A6676"/>
                </a:solidFill>
                <a:latin typeface="BIZ UDPゴシック"/>
                <a:ea typeface="BIZ UDPゴシック"/>
                <a:cs typeface="BIZ UDPゴシック"/>
              </a:rPr>
              <a:t>推し活の広がりと推し疲れ。正解が人によって違う領域</a:t>
            </a:r>
          </a:p>
        </p:txBody>
      </p:sp>
      <p:sp>
        <p:nvSpPr>
          <p:cNvPr id="9" name="Rounded Rectangle 8"/>
          <p:cNvSpPr/>
          <p:nvPr/>
        </p:nvSpPr>
        <p:spPr>
          <a:xfrm>
            <a:off x="411480" y="370332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370332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latin typeface="BIZ UDPゴシック"/>
                <a:ea typeface="BIZ UDPゴシック"/>
                <a:cs typeface="BIZ UDPゴシック"/>
              </a:rPr>
              <a:t>2. Preliminary Survey</a:t>
            </a:r>
          </a:p>
          <a:p>
            <a:pPr algn="l" marL="0" indent="0">
              <a:spcAft>
                <a:spcPts val="400"/>
              </a:spcAft>
              <a:buNone/>
            </a:pPr>
            <a:r>
              <a:rPr sz="1150" b="0">
                <a:solidFill>
                  <a:srgbClr val="5A6676"/>
                </a:solidFill>
                <a:latin typeface="BIZ UDPゴシック"/>
                <a:ea typeface="BIZ UDPゴシック"/>
                <a:cs typeface="BIZ UDPゴシック"/>
              </a:rPr>
              <a:t>215名：同じ行動が充実と疲れを両方上げる</a:t>
            </a:r>
          </a:p>
        </p:txBody>
      </p:sp>
      <p:sp>
        <p:nvSpPr>
          <p:cNvPr id="11" name="Rounded Rectangle 10"/>
          <p:cNvSpPr/>
          <p:nvPr/>
        </p:nvSpPr>
        <p:spPr>
          <a:xfrm>
            <a:off x="411480" y="452628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94360" y="452628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latin typeface="BIZ UDPゴシック"/>
                <a:ea typeface="BIZ UDPゴシック"/>
                <a:cs typeface="BIZ UDPゴシック"/>
              </a:rPr>
              <a:t>3. OshiFit Design</a:t>
            </a:r>
          </a:p>
          <a:p>
            <a:pPr algn="l" marL="0" indent="0">
              <a:spcAft>
                <a:spcPts val="400"/>
              </a:spcAft>
              <a:buNone/>
            </a:pPr>
            <a:r>
              <a:rPr sz="1150" b="0">
                <a:solidFill>
                  <a:srgbClr val="5A6676"/>
                </a:solidFill>
                <a:latin typeface="BIZ UDPゴシック"/>
                <a:ea typeface="BIZ UDPゴシック"/>
                <a:cs typeface="BIZ UDPゴシック"/>
              </a:rPr>
              <a:t>ベイズ個人ツイン／リバランス提案／ゆらぎアバター</a:t>
            </a:r>
          </a:p>
        </p:txBody>
      </p:sp>
      <p:sp>
        <p:nvSpPr>
          <p:cNvPr id="13" name="Rounded Rectangle 12"/>
          <p:cNvSpPr/>
          <p:nvPr/>
        </p:nvSpPr>
        <p:spPr>
          <a:xfrm>
            <a:off x="411480" y="5349240"/>
            <a:ext cx="4754880" cy="713232"/>
          </a:xfrm>
          <a:prstGeom prst="roundRect">
            <a:avLst>
              <a:gd name="adj" fmla="val 1282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94360" y="5349240"/>
            <a:ext cx="4480560" cy="713232"/>
          </a:xfrm>
          <a:prstGeom prst="rect">
            <a:avLst/>
          </a:prstGeom>
          <a:noFill/>
        </p:spPr>
        <p:txBody>
          <a:bodyPr wrap="square" lIns="0" tIns="0" rIns="0" bIns="0" anchor="ctr">
            <a:noAutofit/>
          </a:bodyPr>
          <a:lstStyle/>
          <a:p>
            <a:pPr algn="l" marL="0" indent="0">
              <a:spcAft>
                <a:spcPts val="0"/>
              </a:spcAft>
              <a:buNone/>
            </a:pPr>
            <a:r>
              <a:rPr sz="1350" b="1">
                <a:solidFill>
                  <a:srgbClr val="0B3C6E"/>
                </a:solidFill>
                <a:latin typeface="BIZ UDPゴシック"/>
                <a:ea typeface="BIZ UDPゴシック"/>
                <a:cs typeface="BIZ UDPゴシック"/>
              </a:rPr>
              <a:t>4. Planned Study</a:t>
            </a:r>
          </a:p>
          <a:p>
            <a:pPr algn="l" marL="0" indent="0">
              <a:spcAft>
                <a:spcPts val="400"/>
              </a:spcAft>
              <a:buNone/>
            </a:pPr>
            <a:r>
              <a:rPr sz="1150" b="0">
                <a:solidFill>
                  <a:srgbClr val="5A6676"/>
                </a:solidFill>
                <a:latin typeface="BIZ UDPゴシック"/>
                <a:ea typeface="BIZ UDPゴシック"/>
                <a:cs typeface="BIZ UDPゴシック"/>
              </a:rPr>
              <a:t>6週間・3群の無作為化比較実験と評価指標</a:t>
            </a:r>
          </a:p>
        </p:txBody>
      </p:sp>
      <p:sp>
        <p:nvSpPr>
          <p:cNvPr id="15" name="Rounded Rectangle 14"/>
          <p:cNvSpPr/>
          <p:nvPr/>
        </p:nvSpPr>
        <p:spPr>
          <a:xfrm>
            <a:off x="5349240" y="2880360"/>
            <a:ext cx="3383280" cy="3291840"/>
          </a:xfrm>
          <a:prstGeom prst="roundRect">
            <a:avLst>
              <a:gd name="adj" fmla="val 2777"/>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495544" y="302666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star_w.png"/>
          <p:cNvPicPr>
            <a:picLocks noChangeAspect="1"/>
          </p:cNvPicPr>
          <p:nvPr/>
        </p:nvPicPr>
        <p:blipFill>
          <a:blip r:embed="rId2"/>
          <a:stretch>
            <a:fillRect/>
          </a:stretch>
        </p:blipFill>
        <p:spPr>
          <a:xfrm>
            <a:off x="5605272" y="3136392"/>
            <a:ext cx="237744" cy="237744"/>
          </a:xfrm>
          <a:prstGeom prst="rect">
            <a:avLst/>
          </a:prstGeom>
        </p:spPr>
      </p:pic>
      <p:sp>
        <p:nvSpPr>
          <p:cNvPr id="18" name="TextBox 17"/>
          <p:cNvSpPr txBox="1"/>
          <p:nvPr/>
        </p:nvSpPr>
        <p:spPr>
          <a:xfrm>
            <a:off x="6062472" y="2999232"/>
            <a:ext cx="25603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主張した貢献</a:t>
            </a:r>
          </a:p>
        </p:txBody>
      </p:sp>
      <p:sp>
        <p:nvSpPr>
          <p:cNvPr id="19" name="TextBox 18"/>
          <p:cNvSpPr txBox="1"/>
          <p:nvPr/>
        </p:nvSpPr>
        <p:spPr>
          <a:xfrm>
            <a:off x="5513831" y="3575304"/>
            <a:ext cx="3090672" cy="2505456"/>
          </a:xfrm>
          <a:prstGeom prst="rect">
            <a:avLst/>
          </a:prstGeom>
          <a:noFill/>
        </p:spPr>
        <p:txBody>
          <a:bodyPr wrap="square" lIns="0" tIns="0" rIns="0" bIns="0" anchor="t">
            <a:noAutofit/>
          </a:bodyPr>
          <a:lstStyle/>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予測の不確かさを「ありうる自分」の重なりとして見せる表現</a:t>
            </a:r>
          </a:p>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「減らす」でなく「組み替える」提案の作り方</a:t>
            </a:r>
          </a:p>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正解が人によって違う領域へのアバター介入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次回までの予定と相談事項</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2026/10/30</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13</a:t>
            </a:fld>
          </a:p>
        </p:txBody>
      </p:sp>
      <p:sp>
        <p:nvSpPr>
          <p:cNvPr id="5" name="TextBox 4"/>
          <p:cNvSpPr txBox="1"/>
          <p:nvPr/>
        </p:nvSpPr>
        <p:spPr>
          <a:xfrm>
            <a:off x="411480" y="1371600"/>
            <a:ext cx="4114800" cy="365760"/>
          </a:xfrm>
          <a:prstGeom prst="rect">
            <a:avLst/>
          </a:prstGeom>
          <a:noFill/>
        </p:spPr>
        <p:txBody>
          <a:bodyPr wrap="square" lIns="0" tIns="0" rIns="0" bIns="0" anchor="t">
            <a:noAutofit/>
          </a:bodyPr>
          <a:lstStyle/>
          <a:p>
            <a:pPr algn="l" marL="0" indent="0">
              <a:spcAft>
                <a:spcPts val="400"/>
              </a:spcAft>
              <a:buNone/>
            </a:pPr>
            <a:r>
              <a:rPr sz="1600" b="1">
                <a:solidFill>
                  <a:srgbClr val="0B3C6E"/>
                </a:solidFill>
                <a:latin typeface="BIZ UDPゴシック"/>
                <a:ea typeface="BIZ UDPゴシック"/>
                <a:cs typeface="BIZ UDPゴシック"/>
              </a:rPr>
              <a:t>やること</a:t>
            </a:r>
          </a:p>
        </p:txBody>
      </p:sp>
      <p:sp>
        <p:nvSpPr>
          <p:cNvPr id="6" name="Rounded Rectangle 5"/>
          <p:cNvSpPr/>
          <p:nvPr/>
        </p:nvSpPr>
        <p:spPr>
          <a:xfrm>
            <a:off x="411480" y="1874519"/>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11/1</a:t>
            </a:r>
          </a:p>
        </p:txBody>
      </p:sp>
      <p:sp>
        <p:nvSpPr>
          <p:cNvPr id="7" name="TextBox 6"/>
          <p:cNvSpPr txBox="1"/>
          <p:nvPr/>
        </p:nvSpPr>
        <p:spPr>
          <a:xfrm>
            <a:off x="1554480" y="1783080"/>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募集締め切り・同意の取得</a:t>
            </a:r>
          </a:p>
        </p:txBody>
      </p:sp>
      <p:sp>
        <p:nvSpPr>
          <p:cNvPr id="8" name="Rounded Rectangle 7"/>
          <p:cNvSpPr/>
          <p:nvPr/>
        </p:nvSpPr>
        <p:spPr>
          <a:xfrm>
            <a:off x="411480" y="2404872"/>
            <a:ext cx="1005840" cy="31089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11/2</a:t>
            </a:r>
          </a:p>
        </p:txBody>
      </p:sp>
      <p:sp>
        <p:nvSpPr>
          <p:cNvPr id="9" name="TextBox 8"/>
          <p:cNvSpPr txBox="1"/>
          <p:nvPr/>
        </p:nvSpPr>
        <p:spPr>
          <a:xfrm>
            <a:off x="1554480" y="2313432"/>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本実験開始（全群：記録のみ）</a:t>
            </a:r>
          </a:p>
        </p:txBody>
      </p:sp>
      <p:sp>
        <p:nvSpPr>
          <p:cNvPr id="10" name="Rounded Rectangle 9"/>
          <p:cNvSpPr/>
          <p:nvPr/>
        </p:nvSpPr>
        <p:spPr>
          <a:xfrm>
            <a:off x="411480" y="2935224"/>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11/2–15</a:t>
            </a:r>
          </a:p>
        </p:txBody>
      </p:sp>
      <p:sp>
        <p:nvSpPr>
          <p:cNvPr id="11" name="TextBox 10"/>
          <p:cNvSpPr txBox="1"/>
          <p:nvPr/>
        </p:nvSpPr>
        <p:spPr>
          <a:xfrm>
            <a:off x="1554480" y="2843784"/>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記録率を毎日確認（ダッシュボード）</a:t>
            </a:r>
          </a:p>
        </p:txBody>
      </p:sp>
      <p:sp>
        <p:nvSpPr>
          <p:cNvPr id="12" name="Rounded Rectangle 11"/>
          <p:cNvSpPr/>
          <p:nvPr/>
        </p:nvSpPr>
        <p:spPr>
          <a:xfrm>
            <a:off x="411480" y="3465575"/>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11/14</a:t>
            </a:r>
          </a:p>
        </p:txBody>
      </p:sp>
      <p:sp>
        <p:nvSpPr>
          <p:cNvPr id="13" name="TextBox 12"/>
          <p:cNvSpPr txBox="1"/>
          <p:nvPr/>
        </p:nvSpPr>
        <p:spPr>
          <a:xfrm>
            <a:off x="1554480" y="3374135"/>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解析計画書を版固定</a:t>
            </a:r>
          </a:p>
        </p:txBody>
      </p:sp>
      <p:sp>
        <p:nvSpPr>
          <p:cNvPr id="14" name="Rounded Rectangle 13"/>
          <p:cNvSpPr/>
          <p:nvPr/>
        </p:nvSpPr>
        <p:spPr>
          <a:xfrm>
            <a:off x="411480" y="3995927"/>
            <a:ext cx="1005840" cy="31089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11/15</a:t>
            </a:r>
          </a:p>
        </p:txBody>
      </p:sp>
      <p:sp>
        <p:nvSpPr>
          <p:cNvPr id="15" name="TextBox 14"/>
          <p:cNvSpPr txBox="1"/>
          <p:nvPr/>
        </p:nvSpPr>
        <p:spPr>
          <a:xfrm>
            <a:off x="1554480" y="3904487"/>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WHO-5 で層別して3群に割付</a:t>
            </a:r>
          </a:p>
        </p:txBody>
      </p:sp>
      <p:sp>
        <p:nvSpPr>
          <p:cNvPr id="16" name="Rounded Rectangle 15"/>
          <p:cNvSpPr/>
          <p:nvPr/>
        </p:nvSpPr>
        <p:spPr>
          <a:xfrm>
            <a:off x="411480" y="4526279"/>
            <a:ext cx="1005840" cy="310896"/>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100" b="1">
                <a:solidFill>
                  <a:srgbClr val="FFFFFF"/>
                </a:solidFill>
                <a:latin typeface="BIZ UDPゴシック"/>
                <a:ea typeface="BIZ UDPゴシック"/>
                <a:cs typeface="BIZ UDPゴシック"/>
              </a:rPr>
              <a:t>11/16</a:t>
            </a:r>
          </a:p>
        </p:txBody>
      </p:sp>
      <p:sp>
        <p:nvSpPr>
          <p:cNvPr id="17" name="TextBox 16"/>
          <p:cNvSpPr txBox="1"/>
          <p:nvPr/>
        </p:nvSpPr>
        <p:spPr>
          <a:xfrm>
            <a:off x="1554480" y="4434840"/>
            <a:ext cx="3017520" cy="493776"/>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介入開始（提案・ミラー）</a:t>
            </a:r>
          </a:p>
        </p:txBody>
      </p:sp>
      <p:sp>
        <p:nvSpPr>
          <p:cNvPr id="18" name="Rounded Rectangle 17"/>
          <p:cNvSpPr/>
          <p:nvPr/>
        </p:nvSpPr>
        <p:spPr>
          <a:xfrm>
            <a:off x="4709160" y="1371600"/>
            <a:ext cx="4023360" cy="3611880"/>
          </a:xfrm>
          <a:prstGeom prst="roundRect">
            <a:avLst>
              <a:gd name="adj" fmla="val 3037"/>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892040" y="1508760"/>
            <a:ext cx="502920" cy="50292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c_comments_w.png"/>
          <p:cNvPicPr>
            <a:picLocks noChangeAspect="1"/>
          </p:cNvPicPr>
          <p:nvPr/>
        </p:nvPicPr>
        <p:blipFill>
          <a:blip r:embed="rId2"/>
          <a:stretch>
            <a:fillRect/>
          </a:stretch>
        </p:blipFill>
        <p:spPr>
          <a:xfrm>
            <a:off x="5012740" y="1629460"/>
            <a:ext cx="261518" cy="261518"/>
          </a:xfrm>
          <a:prstGeom prst="rect">
            <a:avLst/>
          </a:prstGeom>
        </p:spPr>
      </p:pic>
      <p:sp>
        <p:nvSpPr>
          <p:cNvPr id="21" name="TextBox 20"/>
          <p:cNvSpPr txBox="1"/>
          <p:nvPr/>
        </p:nvSpPr>
        <p:spPr>
          <a:xfrm>
            <a:off x="5532120" y="1508760"/>
            <a:ext cx="3017520" cy="502920"/>
          </a:xfrm>
          <a:prstGeom prst="rect">
            <a:avLst/>
          </a:prstGeom>
          <a:noFill/>
        </p:spPr>
        <p:txBody>
          <a:bodyPr wrap="square" lIns="0" tIns="0" rIns="0" bIns="0" anchor="ctr">
            <a:noAutofit/>
          </a:bodyPr>
          <a:lstStyle/>
          <a:p>
            <a:pPr algn="l" marL="0" indent="0">
              <a:spcAft>
                <a:spcPts val="400"/>
              </a:spcAft>
              <a:buNone/>
            </a:pPr>
            <a:r>
              <a:rPr sz="1600" b="1">
                <a:solidFill>
                  <a:srgbClr val="E8457C"/>
                </a:solidFill>
                <a:latin typeface="BIZ UDPゴシック"/>
                <a:ea typeface="BIZ UDPゴシック"/>
                <a:cs typeface="BIZ UDPゴシック"/>
              </a:rPr>
              <a:t>相談したいこと</a:t>
            </a:r>
          </a:p>
        </p:txBody>
      </p:sp>
      <p:sp>
        <p:nvSpPr>
          <p:cNvPr id="22" name="TextBox 21"/>
          <p:cNvSpPr txBox="1"/>
          <p:nvPr/>
        </p:nvSpPr>
        <p:spPr>
          <a:xfrm>
            <a:off x="4892040" y="2148840"/>
            <a:ext cx="3703320" cy="3931920"/>
          </a:xfrm>
          <a:prstGeom prst="rect">
            <a:avLst/>
          </a:prstGeom>
          <a:noFill/>
        </p:spPr>
        <p:txBody>
          <a:bodyPr wrap="square" lIns="0" tIns="0" rIns="0" bIns="0" anchor="t">
            <a:noAutofit/>
          </a:bodyPr>
          <a:lstStyle/>
          <a:p>
            <a:pPr algn="l" marL="0" indent="0">
              <a:spcAft>
                <a:spcPts val="200"/>
              </a:spcAft>
              <a:buNone/>
            </a:pPr>
            <a:r>
              <a:rPr sz="1400" b="1">
                <a:solidFill>
                  <a:srgbClr val="0B3C6E"/>
                </a:solidFill>
                <a:latin typeface="BIZ UDPゴシック"/>
                <a:ea typeface="BIZ UDPゴシック"/>
                <a:cs typeface="BIZ UDPゴシック"/>
              </a:rPr>
              <a:t>応募が200名に届かない場合</a:t>
            </a:r>
          </a:p>
          <a:p>
            <a:pPr algn="l" marL="0" indent="0">
              <a:spcAft>
                <a:spcPts val="1000"/>
              </a:spcAft>
              <a:buNone/>
            </a:pPr>
            <a:r>
              <a:rPr sz="1250" b="0">
                <a:solidFill>
                  <a:srgbClr val="24303F"/>
                </a:solidFill>
                <a:latin typeface="BIZ UDPゴシック"/>
                <a:ea typeface="BIZ UDPゴシック"/>
                <a:cs typeface="BIZ UDPゴシック"/>
              </a:rPr>
              <a:t>3群のまま進めるか、計画書どおり群B・Cの2群に絞るか。判断の基準を決めたい</a:t>
            </a:r>
          </a:p>
          <a:p>
            <a:pPr algn="l" marL="0" indent="0">
              <a:spcAft>
                <a:spcPts val="200"/>
              </a:spcAft>
              <a:buNone/>
            </a:pPr>
            <a:r>
              <a:rPr sz="1400" b="1">
                <a:solidFill>
                  <a:srgbClr val="0B3C6E"/>
                </a:solidFill>
                <a:latin typeface="BIZ UDPゴシック"/>
                <a:ea typeface="BIZ UDPゴシック"/>
                <a:cs typeface="BIZ UDPゴシック"/>
              </a:rPr>
              <a:t>謝礼を分けて払うか</a:t>
            </a:r>
          </a:p>
          <a:p>
            <a:pPr algn="l" marL="0" indent="0">
              <a:spcAft>
                <a:spcPts val="1000"/>
              </a:spcAft>
              <a:buNone/>
            </a:pPr>
            <a:r>
              <a:rPr sz="1250" b="0">
                <a:solidFill>
                  <a:srgbClr val="24303F"/>
                </a:solidFill>
                <a:latin typeface="BIZ UDPゴシック"/>
                <a:ea typeface="BIZ UDPゴシック"/>
                <a:cs typeface="BIZ UDPゴシック"/>
              </a:rPr>
              <a:t>2週・6週の2回に分けると脱落を減らせるが、事務手続きが増える</a:t>
            </a:r>
          </a:p>
          <a:p>
            <a:pPr algn="l" marL="0" indent="0">
              <a:spcAft>
                <a:spcPts val="200"/>
              </a:spcAft>
              <a:buNone/>
            </a:pPr>
            <a:r>
              <a:rPr sz="1400" b="1">
                <a:solidFill>
                  <a:srgbClr val="0B3C6E"/>
                </a:solidFill>
                <a:latin typeface="BIZ UDPゴシック"/>
                <a:ea typeface="BIZ UDPゴシック"/>
                <a:cs typeface="BIZ UDPゴシック"/>
              </a:rPr>
              <a:t>実験中の不具合修正のルール</a:t>
            </a:r>
          </a:p>
          <a:p>
            <a:pPr algn="l" marL="0" indent="0">
              <a:spcAft>
                <a:spcPts val="400"/>
              </a:spcAft>
              <a:buNone/>
            </a:pPr>
            <a:r>
              <a:rPr sz="1250" b="0">
                <a:solidFill>
                  <a:srgbClr val="24303F"/>
                </a:solidFill>
                <a:latin typeface="BIZ UDPゴシック"/>
                <a:ea typeface="BIZ UDPゴシック"/>
                <a:cs typeface="BIZ UDPゴシック"/>
              </a:rPr>
              <a:t>全群共通の修正だけ許可し、記録する案でよいか</a:t>
            </a:r>
          </a:p>
        </p:txBody>
      </p:sp>
      <p:sp>
        <p:nvSpPr>
          <p:cNvPr id="23" name="Rounded Rectangle 22"/>
          <p:cNvSpPr/>
          <p:nvPr/>
        </p:nvSpPr>
        <p:spPr>
          <a:xfrm>
            <a:off x="411480" y="5166360"/>
            <a:ext cx="8321040" cy="1005840"/>
          </a:xfrm>
          <a:prstGeom prst="roundRect">
            <a:avLst>
              <a:gd name="adj" fmla="val 909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94360" y="5394960"/>
            <a:ext cx="548640" cy="54864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ic_eye_w.png"/>
          <p:cNvPicPr>
            <a:picLocks noChangeAspect="1"/>
          </p:cNvPicPr>
          <p:nvPr/>
        </p:nvPicPr>
        <p:blipFill>
          <a:blip r:embed="rId3"/>
          <a:stretch>
            <a:fillRect/>
          </a:stretch>
        </p:blipFill>
        <p:spPr>
          <a:xfrm>
            <a:off x="726033" y="5526633"/>
            <a:ext cx="285292" cy="285292"/>
          </a:xfrm>
          <a:prstGeom prst="rect">
            <a:avLst/>
          </a:prstGeom>
        </p:spPr>
      </p:pic>
      <p:sp>
        <p:nvSpPr>
          <p:cNvPr id="26" name="TextBox 25"/>
          <p:cNvSpPr txBox="1"/>
          <p:nvPr/>
        </p:nvSpPr>
        <p:spPr>
          <a:xfrm>
            <a:off x="1325880" y="5193792"/>
            <a:ext cx="7223760" cy="950976"/>
          </a:xfrm>
          <a:prstGeom prst="rect">
            <a:avLst/>
          </a:prstGeom>
          <a:noFill/>
        </p:spPr>
        <p:txBody>
          <a:bodyPr wrap="square" lIns="0" tIns="0" rIns="0" bIns="0" anchor="ctr">
            <a:noAutofit/>
          </a:bodyPr>
          <a:lstStyle/>
          <a:p>
            <a:pPr algn="l" marL="0" indent="0">
              <a:spcAft>
                <a:spcPts val="300"/>
              </a:spcAft>
              <a:buNone/>
            </a:pPr>
            <a:r>
              <a:rPr sz="1400" b="1">
                <a:solidFill>
                  <a:srgbClr val="0B3C6E"/>
                </a:solidFill>
                <a:latin typeface="BIZ UDPゴシック"/>
                <a:ea typeface="BIZ UDPゴシック"/>
                <a:cs typeface="BIZ UDPゴシック"/>
              </a:rPr>
              <a:t>次回（11/27）に見せるもの</a:t>
            </a:r>
          </a:p>
          <a:p>
            <a:pPr algn="l" marL="0" indent="0">
              <a:spcAft>
                <a:spcPts val="400"/>
              </a:spcAft>
              <a:buNone/>
            </a:pPr>
            <a:r>
              <a:rPr sz="1250" b="0">
                <a:solidFill>
                  <a:srgbClr val="24303F"/>
                </a:solidFill>
                <a:latin typeface="BIZ UDPゴシック"/>
                <a:ea typeface="BIZ UDPゴシック"/>
                <a:cs typeface="BIZ UDPゴシック"/>
              </a:rPr>
              <a:t>記録期間2週間の結果（記録率・ベースライン）／割付のバランス／介入1週目の提案の選ばれ方</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 2026/10/30</dc:title>
  <dc:creator>今井元</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