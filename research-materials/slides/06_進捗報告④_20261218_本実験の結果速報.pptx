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10"/>
    <p:sldId id="257" r:id="rId11"/>
    <p:sldId id="258" r:id="rId12"/>
    <p:sldId id="259" r:id="rId9"/>
    <p:sldId id="260" r:id="rId8"/>
    <p:sldId id="261" r:id="rId7"/>
    <p:sldId id="262" r:id="rId6"/>
    <p:sldId id="263" r:id="rId5"/>
    <p:sldId id="264" r:id="rId18"/>
    <p:sldId id="265" r:id="rId19"/>
    <p:sldId id="266" r:id="rId20"/>
    <p:sldId id="267" r:id="rId21"/>
    <p:sldId id="268" r:id="rId2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94660"/>
  </p:normalViewPr>
  <p:slideViewPr>
    <p:cSldViewPr snapToGrid="0" showGuides="1">
      <p:cViewPr varScale="1">
        <p:scale>
          <a:sx n="59" d="100"/>
          <a:sy n="59" d="100"/>
        </p:scale>
        <p:origin x="96" y="6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割付から6週完了までの継続率</a:t>
            </a:r>
          </a:p>
        </c:rich>
      </c:tx>
      <c:layout/>
      <c:overlay val="0"/>
    </c:title>
    <c:autoTitleDeleted val="0"/>
    <c:plotArea>
      <c:barChart>
        <c:barDir val="col"/>
        <c:grouping val="clustered"/>
        <c:ser>
          <c:idx val="0"/>
          <c:order val="0"/>
          <c:tx>
            <c:strRef>
              <c:f>Sheet1!$B$1</c:f>
              <c:strCache>
                <c:ptCount val="1"/>
                <c:pt idx="0">
                  <c:v>完了率（%）</c:v>
                </c:pt>
              </c:strCache>
            </c:strRef>
          </c:tx>
          <c:spPr>
            <a:solidFill>
              <a:srgbClr val="7A8594"/>
            </a:solidFill>
          </c:spPr>
          <c:invertIfNegative val="0"/>
          <c:dPt>
            <c:idx val="0"/>
            <c:spPr>
              <a:solidFill>
                <a:srgbClr val="8FA3B8"/>
              </a:solidFill>
            </c:spPr>
          </c:dPt>
          <c:dPt>
            <c:idx val="1"/>
            <c:spPr>
              <a:solidFill>
                <a:srgbClr val="0099FF"/>
              </a:solidFill>
            </c:spPr>
          </c:dPt>
          <c:dPt>
            <c:idx val="2"/>
            <c:spPr>
              <a:solidFill>
                <a:srgbClr val="12A38A"/>
              </a:solidFill>
            </c:spPr>
          </c:dPt>
          <c:cat>
            <c:strRef>
              <c:f>Sheet1!$A$2:$A$4</c:f>
              <c:strCache>
                <c:ptCount val="3"/>
                <c:pt idx="0">
                  <c:v>群A 記録のみ</c:v>
                </c:pt>
                <c:pt idx="1">
                  <c:v>群B 提案（文章）</c:v>
                </c:pt>
                <c:pt idx="2">
                  <c:v>群C 提案＋アバター</c:v>
                </c:pt>
              </c:strCache>
            </c:strRef>
          </c:cat>
          <c:val>
            <c:numRef>
              <c:f>Sheet1!$B$2:$B$4</c:f>
              <c:numCache>
                <c:formatCode>General</c:formatCode>
                <c:ptCount val="3"/>
                <c:pt idx="0">
                  <c:v>90</c:v>
                </c:pt>
                <c:pt idx="1">
                  <c:v>93</c:v>
                </c:pt>
                <c:pt idx="2">
                  <c:v>94</c:v>
                </c:pt>
              </c:numCache>
            </c:numRef>
          </c:val>
        </c:ser>
        <c:dLbls>
          <c:numFmt formatCode="0&quot;%&quot;"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E3E8EF"/>
              </a:solidFill>
            </a:ln>
          </c:spPr>
        </c:majorGridlines>
        <c:numFmt formatCode="0&quot;%&quot;" sourceLinked="0"/>
        <c:majorTickMark val="out"/>
        <c:minorTickMark val="none"/>
        <c:tickLblPos val="nextTo"/>
        <c:spPr>
          <a:ln>
            <a:noFill/>
          </a:ln>
        </c:spPr>
        <c:txPr>
          <a:bodyPr/>
          <a:lstStyle/>
          <a:p>
            <a:pPr>
              <a:defRPr sz="1050">
                <a:solidFill>
                  <a:srgbClr val="5A6676"/>
                </a:solidFill>
              </a:defRPr>
            </a:pPr>
          </a:p>
        </c:txPr>
        <c:crossAx val="-2068027336"/>
        <c:crosses val="autoZero"/>
        <c:majorUnit val="20.0"/>
      </c:valAx>
    </c:plotArea>
    <c:dispBlanksAs val="gap"/>
  </c:chart>
  <c:txPr>
    <a:bodyPr/>
    <a:lstStyle/>
    <a:p>
      <a:pPr>
        <a:defRPr sz="1100">
          <a:solidFill>
            <a:srgbClr val="5A667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WHO-5 の平均（素点 0〜25）</a:t>
            </a:r>
          </a:p>
        </c:rich>
      </c:tx>
      <c:layout/>
      <c:overlay val="0"/>
    </c:title>
    <c:autoTitleDeleted val="0"/>
    <c:plotArea>
      <c:lineChart>
        <c:grouping val="standard"/>
        <c:varyColors val="0"/>
        <c:ser>
          <c:idx val="0"/>
          <c:order val="0"/>
          <c:tx>
            <c:strRef>
              <c:f>Sheet1!$B$1</c:f>
              <c:strCache>
                <c:ptCount val="1"/>
                <c:pt idx="0">
                  <c:v>群A 記録のみ</c:v>
                </c:pt>
              </c:strCache>
            </c:strRef>
          </c:tx>
          <c:spPr>
            <a:ln w="31750">
              <a:solidFill>
                <a:srgbClr val="8FA3B8"/>
              </a:solidFill>
            </a:ln>
          </c:spPr>
          <c:marker>
            <c:symbol val="circle"/>
            <c:size val="7"/>
            <c:spPr>
              <a:solidFill>
                <a:srgbClr val="8FA3B8"/>
              </a:solidFill>
              <a:ln>
                <a:solidFill>
                  <a:srgbClr val="8FA3B8"/>
                </a:solidFill>
              </a:ln>
            </c:spPr>
          </c:marker>
          <c:dLbls>
            <c:dLbl>
              <c:idx val="3"/>
              <c:numFmt formatCode="0.0" sourceLinked="0"/>
              <c:spPr/>
              <c:txPr>
                <a:bodyPr/>
                <a:lstStyle/>
                <a:p>
                  <a:pPr>
                    <a:defRPr sz="1100" b="1">
                      <a:solidFill>
                        <a:srgbClr val="8FA3B8"/>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開始</c:v>
                </c:pt>
                <c:pt idx="1">
                  <c:v>2週</c:v>
                </c:pt>
                <c:pt idx="2">
                  <c:v>4週</c:v>
                </c:pt>
                <c:pt idx="3">
                  <c:v>6週</c:v>
                </c:pt>
              </c:strCache>
            </c:strRef>
          </c:cat>
          <c:val>
            <c:numRef>
              <c:f>Sheet1!$B$2:$B$5</c:f>
              <c:numCache>
                <c:formatCode>General</c:formatCode>
                <c:ptCount val="4"/>
                <c:pt idx="0">
                  <c:v>13.0</c:v>
                </c:pt>
                <c:pt idx="1">
                  <c:v>13.2</c:v>
                </c:pt>
                <c:pt idx="2">
                  <c:v>13.1</c:v>
                </c:pt>
                <c:pt idx="3">
                  <c:v>13.0</c:v>
                </c:pt>
              </c:numCache>
            </c:numRef>
          </c:val>
          <c:smooth val="0"/>
        </c:ser>
        <c:ser>
          <c:idx val="1"/>
          <c:order val="1"/>
          <c:tx>
            <c:strRef>
              <c:f>Sheet1!$C$1</c:f>
              <c:strCache>
                <c:ptCount val="1"/>
                <c:pt idx="0">
                  <c:v>群B 提案（文章）</c:v>
                </c:pt>
              </c:strCache>
            </c:strRef>
          </c:tx>
          <c:spPr>
            <a:ln w="31750">
              <a:solidFill>
                <a:srgbClr val="0099FF"/>
              </a:solidFill>
            </a:ln>
          </c:spPr>
          <c:marker>
            <c:symbol val="circle"/>
            <c:size val="7"/>
            <c:spPr>
              <a:solidFill>
                <a:srgbClr val="0099FF"/>
              </a:solidFill>
              <a:ln>
                <a:solidFill>
                  <a:srgbClr val="0099FF"/>
                </a:solidFill>
              </a:ln>
            </c:spPr>
          </c:marker>
          <c:dLbls>
            <c:dLbl>
              <c:idx val="3"/>
              <c:numFmt formatCode="0.0" sourceLinked="0"/>
              <c:spPr/>
              <c:txPr>
                <a:bodyPr/>
                <a:lstStyle/>
                <a:p>
                  <a:pPr>
                    <a:defRPr sz="1100" b="1">
                      <a:solidFill>
                        <a:srgbClr val="0099FF"/>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開始</c:v>
                </c:pt>
                <c:pt idx="1">
                  <c:v>2週</c:v>
                </c:pt>
                <c:pt idx="2">
                  <c:v>4週</c:v>
                </c:pt>
                <c:pt idx="3">
                  <c:v>6週</c:v>
                </c:pt>
              </c:strCache>
            </c:strRef>
          </c:cat>
          <c:val>
            <c:numRef>
              <c:f>Sheet1!$C$2:$C$5</c:f>
              <c:numCache>
                <c:formatCode>General</c:formatCode>
                <c:ptCount val="4"/>
                <c:pt idx="0">
                  <c:v>13.2</c:v>
                </c:pt>
                <c:pt idx="1">
                  <c:v>13.1</c:v>
                </c:pt>
                <c:pt idx="2">
                  <c:v>13.6</c:v>
                </c:pt>
                <c:pt idx="3">
                  <c:v>13.8</c:v>
                </c:pt>
              </c:numCache>
            </c:numRef>
          </c:val>
          <c:smooth val="0"/>
        </c:ser>
        <c:ser>
          <c:idx val="2"/>
          <c:order val="2"/>
          <c:tx>
            <c:strRef>
              <c:f>Sheet1!$D$1</c:f>
              <c:strCache>
                <c:ptCount val="1"/>
                <c:pt idx="0">
                  <c:v>群C 提案＋アバター</c:v>
                </c:pt>
              </c:strCache>
            </c:strRef>
          </c:tx>
          <c:spPr>
            <a:ln w="31750">
              <a:solidFill>
                <a:srgbClr val="12A38A"/>
              </a:solidFill>
            </a:ln>
          </c:spPr>
          <c:marker>
            <c:symbol val="circle"/>
            <c:size val="7"/>
            <c:spPr>
              <a:solidFill>
                <a:srgbClr val="12A38A"/>
              </a:solidFill>
              <a:ln>
                <a:solidFill>
                  <a:srgbClr val="12A38A"/>
                </a:solidFill>
              </a:ln>
            </c:spPr>
          </c:marker>
          <c:dLbls>
            <c:dLbl>
              <c:idx val="3"/>
              <c:numFmt formatCode="0.0" sourceLinked="0"/>
              <c:spPr/>
              <c:txPr>
                <a:bodyPr/>
                <a:lstStyle/>
                <a:p>
                  <a:pPr>
                    <a:defRPr sz="1100" b="1">
                      <a:solidFill>
                        <a:srgbClr val="12A38A"/>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開始</c:v>
                </c:pt>
                <c:pt idx="1">
                  <c:v>2週</c:v>
                </c:pt>
                <c:pt idx="2">
                  <c:v>4週</c:v>
                </c:pt>
                <c:pt idx="3">
                  <c:v>6週</c:v>
                </c:pt>
              </c:strCache>
            </c:strRef>
          </c:cat>
          <c:val>
            <c:numRef>
              <c:f>Sheet1!$D$2:$D$5</c:f>
              <c:numCache>
                <c:formatCode>General</c:formatCode>
                <c:ptCount val="4"/>
                <c:pt idx="0">
                  <c:v>13.1</c:v>
                </c:pt>
                <c:pt idx="1">
                  <c:v>13.3</c:v>
                </c:pt>
                <c:pt idx="2">
                  <c:v>14.2</c:v>
                </c:pt>
                <c:pt idx="3">
                  <c:v>14.7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15.5"/>
          <c:min val="12.0"/>
        </c:scaling>
        <c:delete val="0"/>
        <c:axPos val="l"/>
        <c:majorGridlines>
          <c:spPr>
            <a:ln w="9525">
              <a:solidFill>
                <a:srgbClr val="E3E8EF"/>
              </a:solidFill>
            </a:ln>
          </c:spPr>
        </c:majorGridlines>
        <c:numFmt formatCode="0.0" sourceLinked="0"/>
        <c:majorTickMark val="out"/>
        <c:minorTickMark val="none"/>
        <c:tickLblPos val="nextTo"/>
        <c:spPr>
          <a:ln>
            <a:noFill/>
          </a:ln>
        </c:spPr>
        <c:txPr>
          <a:bodyPr/>
          <a:lstStyle/>
          <a:p>
            <a:pPr>
              <a:defRPr sz="1050">
                <a:solidFill>
                  <a:srgbClr val="5A6676"/>
                </a:solidFill>
              </a:defRPr>
            </a:pPr>
          </a:p>
        </c:txPr>
        <c:crossAx val="2118791784"/>
        <c:crosses val="autoZero"/>
        <c:majorUnit val="0.5"/>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週ごとの実行率（%）</a:t>
            </a:r>
          </a:p>
        </c:rich>
      </c:tx>
      <c:layout/>
      <c:overlay val="0"/>
    </c:title>
    <c:autoTitleDeleted val="0"/>
    <c:plotArea>
      <c:lineChart>
        <c:grouping val="standard"/>
        <c:varyColors val="0"/>
        <c:ser>
          <c:idx val="0"/>
          <c:order val="0"/>
          <c:tx>
            <c:strRef>
              <c:f>Sheet1!$B$1</c:f>
              <c:strCache>
                <c:ptCount val="1"/>
                <c:pt idx="0">
                  <c:v>群B 提案（文章）</c:v>
                </c:pt>
              </c:strCache>
            </c:strRef>
          </c:tx>
          <c:spPr>
            <a:ln w="31750">
              <a:solidFill>
                <a:srgbClr val="0099FF"/>
              </a:solidFill>
            </a:ln>
          </c:spPr>
          <c:marker>
            <c:symbol val="circle"/>
            <c:size val="7"/>
            <c:spPr>
              <a:solidFill>
                <a:srgbClr val="0099FF"/>
              </a:solidFill>
              <a:ln>
                <a:solidFill>
                  <a:srgbClr val="0099FF"/>
                </a:solidFill>
              </a:ln>
            </c:spPr>
          </c:marker>
          <c:dLbls>
            <c:numFmt formatCode="0" sourceLinked="0"/>
            <c:txPr>
              <a:bodyPr/>
              <a:lstStyle/>
              <a:p>
                <a:pPr>
                  <a:defRPr sz="1000" b="1">
                    <a:solidFill>
                      <a:srgbClr val="0099FF"/>
                    </a:solidFill>
                  </a:defRPr>
                </a:pPr>
              </a:p>
            </c:txPr>
            <c:dLblPos val="t"/>
            <c:showLegendKey val="0"/>
            <c:showVal val="1"/>
            <c:showCatName val="0"/>
            <c:showSerName val="0"/>
            <c:showPercent val="0"/>
            <c:showBubbleSize val="0"/>
            <c:showLeaderLines val="1"/>
          </c:dLbls>
          <c:cat>
            <c:strRef>
              <c:f>Sheet1!$A$2:$A$5</c:f>
              <c:strCache>
                <c:ptCount val="4"/>
                <c:pt idx="0">
                  <c:v>3週</c:v>
                </c:pt>
                <c:pt idx="1">
                  <c:v>4週</c:v>
                </c:pt>
                <c:pt idx="2">
                  <c:v>5週</c:v>
                </c:pt>
                <c:pt idx="3">
                  <c:v>6週</c:v>
                </c:pt>
              </c:strCache>
            </c:strRef>
          </c:cat>
          <c:val>
            <c:numRef>
              <c:f>Sheet1!$B$2:$B$5</c:f>
              <c:numCache>
                <c:formatCode>General</c:formatCode>
                <c:ptCount val="4"/>
                <c:pt idx="0">
                  <c:v>54</c:v>
                </c:pt>
                <c:pt idx="1">
                  <c:v>49</c:v>
                </c:pt>
                <c:pt idx="2">
                  <c:v>46</c:v>
                </c:pt>
                <c:pt idx="3">
                  <c:v>44</c:v>
                </c:pt>
              </c:numCache>
            </c:numRef>
          </c:val>
          <c:smooth val="0"/>
        </c:ser>
        <c:ser>
          <c:idx val="1"/>
          <c:order val="1"/>
          <c:tx>
            <c:strRef>
              <c:f>Sheet1!$C$1</c:f>
              <c:strCache>
                <c:ptCount val="1"/>
                <c:pt idx="0">
                  <c:v>群C 提案＋アバター</c:v>
                </c:pt>
              </c:strCache>
            </c:strRef>
          </c:tx>
          <c:spPr>
            <a:ln w="31750">
              <a:solidFill>
                <a:srgbClr val="12A38A"/>
              </a:solidFill>
            </a:ln>
          </c:spPr>
          <c:marker>
            <c:symbol val="circle"/>
            <c:size val="7"/>
            <c:spPr>
              <a:solidFill>
                <a:srgbClr val="12A38A"/>
              </a:solidFill>
              <a:ln>
                <a:solidFill>
                  <a:srgbClr val="12A38A"/>
                </a:solidFill>
              </a:ln>
            </c:spPr>
          </c:marker>
          <c:dLbls>
            <c:numFmt formatCode="0" sourceLinked="0"/>
            <c:txPr>
              <a:bodyPr/>
              <a:lstStyle/>
              <a:p>
                <a:pPr>
                  <a:defRPr sz="1000" b="1">
                    <a:solidFill>
                      <a:srgbClr val="12A38A"/>
                    </a:solidFill>
                  </a:defRPr>
                </a:pPr>
              </a:p>
            </c:txPr>
            <c:dLblPos val="t"/>
            <c:showLegendKey val="0"/>
            <c:showVal val="1"/>
            <c:showCatName val="0"/>
            <c:showSerName val="0"/>
            <c:showPercent val="0"/>
            <c:showBubbleSize val="0"/>
            <c:showLeaderLines val="1"/>
          </c:dLbls>
          <c:cat>
            <c:strRef>
              <c:f>Sheet1!$A$2:$A$5</c:f>
              <c:strCache>
                <c:ptCount val="4"/>
                <c:pt idx="0">
                  <c:v>3週</c:v>
                </c:pt>
                <c:pt idx="1">
                  <c:v>4週</c:v>
                </c:pt>
                <c:pt idx="2">
                  <c:v>5週</c:v>
                </c:pt>
                <c:pt idx="3">
                  <c:v>6週</c:v>
                </c:pt>
              </c:strCache>
            </c:strRef>
          </c:cat>
          <c:val>
            <c:numRef>
              <c:f>Sheet1!$C$2:$C$5</c:f>
              <c:numCache>
                <c:formatCode>General</c:formatCode>
                <c:ptCount val="4"/>
                <c:pt idx="0">
                  <c:v>63</c:v>
                </c:pt>
                <c:pt idx="1">
                  <c:v>61</c:v>
                </c:pt>
                <c:pt idx="2">
                  <c:v>58</c:v>
                </c:pt>
                <c:pt idx="3">
                  <c:v>57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70.0"/>
          <c:min val="30.0"/>
        </c:scaling>
        <c:delete val="0"/>
        <c:axPos val="l"/>
        <c:majorGridlines>
          <c:spPr>
            <a:ln w="9525">
              <a:solidFill>
                <a:srgbClr val="E3E8EF"/>
              </a:solidFill>
            </a:ln>
          </c:spPr>
        </c:majorGridlines>
        <c:numFmt formatCode="0" sourceLinked="0"/>
        <c:majorTickMark val="out"/>
        <c:minorTickMark val="none"/>
        <c:tickLblPos val="nextTo"/>
        <c:spPr>
          <a:ln>
            <a:noFill/>
          </a:ln>
        </c:spPr>
        <c:txPr>
          <a:bodyPr/>
          <a:lstStyle/>
          <a:p>
            <a:pPr>
              <a:defRPr sz="1050">
                <a:solidFill>
                  <a:srgbClr val="5A6676"/>
                </a:solidFill>
              </a:defRPr>
            </a:pPr>
          </a:p>
        </c:txPr>
        <c:crossAx val="2118791784"/>
        <c:crosses val="autoZero"/>
        <c:majorUnit val="10.0"/>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6週時点の平均絶対誤差（5段階）</a:t>
            </a:r>
          </a:p>
        </c:rich>
      </c:tx>
      <c:layout/>
      <c:overlay val="0"/>
    </c:title>
    <c:autoTitleDeleted val="0"/>
    <c:plotArea>
      <c:barChart>
        <c:barDir val="col"/>
        <c:grouping val="clustered"/>
        <c:ser>
          <c:idx val="0"/>
          <c:order val="0"/>
          <c:tx>
            <c:strRef>
              <c:f>Sheet1!$B$1</c:f>
              <c:strCache>
                <c:ptCount val="1"/>
                <c:pt idx="0">
                  <c:v>全体の傾向のみ</c:v>
                </c:pt>
              </c:strCache>
            </c:strRef>
          </c:tx>
          <c:spPr>
            <a:solidFill>
              <a:srgbClr val="8FA3B8"/>
            </a:solidFill>
          </c:spPr>
          <c:invertIfNegative val="0"/>
          <c:cat>
            <c:strRef>
              <c:f>Sheet1!$A$2:$A$3</c:f>
              <c:strCache>
                <c:ptCount val="2"/>
                <c:pt idx="0">
                  <c:v>充実</c:v>
                </c:pt>
                <c:pt idx="1">
                  <c:v>推し疲れ</c:v>
                </c:pt>
              </c:strCache>
            </c:strRef>
          </c:cat>
          <c:val>
            <c:numRef>
              <c:f>Sheet1!$B$2:$B$3</c:f>
              <c:numCache>
                <c:formatCode>General</c:formatCode>
                <c:ptCount val="2"/>
                <c:pt idx="0">
                  <c:v>0.68</c:v>
                </c:pt>
                <c:pt idx="1">
                  <c:v>0.84</c:v>
                </c:pt>
              </c:numCache>
            </c:numRef>
          </c:val>
        </c:ser>
        <c:ser>
          <c:idx val="1"/>
          <c:order val="1"/>
          <c:tx>
            <c:strRef>
              <c:f>Sheet1!$C$1</c:f>
              <c:strCache>
                <c:ptCount val="1"/>
                <c:pt idx="0">
                  <c:v>個人補正後（ツイン）</c:v>
                </c:pt>
              </c:strCache>
            </c:strRef>
          </c:tx>
          <c:spPr>
            <a:solidFill>
              <a:srgbClr val="12A38A"/>
            </a:solidFill>
          </c:spPr>
          <c:invertIfNegative val="0"/>
          <c:cat>
            <c:strRef>
              <c:f>Sheet1!$A$2:$A$3</c:f>
              <c:strCache>
                <c:ptCount val="2"/>
                <c:pt idx="0">
                  <c:v>充実</c:v>
                </c:pt>
                <c:pt idx="1">
                  <c:v>推し疲れ</c:v>
                </c:pt>
              </c:strCache>
            </c:strRef>
          </c:cat>
          <c:val>
            <c:numRef>
              <c:f>Sheet1!$C$2:$C$3</c:f>
              <c:numCache>
                <c:formatCode>General</c:formatCode>
                <c:ptCount val="2"/>
                <c:pt idx="0">
                  <c:v>0.49</c:v>
                </c:pt>
                <c:pt idx="1">
                  <c:v>0.62</c:v>
                </c:pt>
              </c:numCache>
            </c:numRef>
          </c:val>
        </c:ser>
        <c:dLbls>
          <c:numFmt formatCode="0.00"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1.0"/>
          <c:min val="0.0"/>
        </c:scaling>
        <c:delete val="0"/>
        <c:axPos val="l"/>
        <c:majorGridlines>
          <c:spPr>
            <a:ln w="9525">
              <a:solidFill>
                <a:srgbClr val="E3E8EF"/>
              </a:solidFill>
            </a:ln>
          </c:spPr>
        </c:majorGridlines>
        <c:numFmt formatCode="0.00" sourceLinked="0"/>
        <c:majorTickMark val="out"/>
        <c:minorTickMark val="none"/>
        <c:tickLblPos val="nextTo"/>
        <c:spPr>
          <a:ln>
            <a:noFill/>
          </a:ln>
        </c:spPr>
        <c:txPr>
          <a:bodyPr/>
          <a:lstStyle/>
          <a:p>
            <a:pPr>
              <a:defRPr sz="1050">
                <a:solidFill>
                  <a:srgbClr val="5A6676"/>
                </a:solidFill>
              </a:defRPr>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A667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2週 → 6週の変化（マイナス＝疲れが減った）</a:t>
            </a:r>
          </a:p>
        </c:rich>
      </c:tx>
      <c:layout/>
      <c:overlay val="0"/>
    </c:title>
    <c:autoTitleDeleted val="0"/>
    <c:plotArea>
      <c:barChart>
        <c:barDir val="col"/>
        <c:grouping val="clustered"/>
        <c:ser>
          <c:idx val="0"/>
          <c:order val="0"/>
          <c:tx>
            <c:strRef>
              <c:f>Sheet1!$B$1</c:f>
              <c:strCache>
                <c:ptCount val="1"/>
                <c:pt idx="0">
                  <c:v>群A</c:v>
                </c:pt>
              </c:strCache>
            </c:strRef>
          </c:tx>
          <c:spPr>
            <a:solidFill>
              <a:srgbClr val="8FA3B8"/>
            </a:solidFill>
          </c:spPr>
          <c:invertIfNegative val="0"/>
          <c:cat>
            <c:strRef>
              <c:f>Sheet1!$A$2:$A$5</c:f>
              <c:strCache>
                <c:ptCount val="4"/>
                <c:pt idx="0">
                  <c:v>睡眠</c:v>
                </c:pt>
                <c:pt idx="1">
                  <c:v>出費</c:v>
                </c:pt>
                <c:pt idx="2">
                  <c:v>義務感</c:v>
                </c:pt>
                <c:pt idx="3">
                  <c:v>比較</c:v>
                </c:pt>
              </c:strCache>
            </c:strRef>
          </c:cat>
          <c:val>
            <c:numRef>
              <c:f>Sheet1!$B$2:$B$5</c:f>
              <c:numCache>
                <c:formatCode>General</c:formatCode>
                <c:ptCount val="4"/>
                <c:pt idx="0">
                  <c:v>-0.02</c:v>
                </c:pt>
                <c:pt idx="1">
                  <c:v>0.03</c:v>
                </c:pt>
                <c:pt idx="2">
                  <c:v>-0.05</c:v>
                </c:pt>
                <c:pt idx="3">
                  <c:v>0.0</c:v>
                </c:pt>
              </c:numCache>
            </c:numRef>
          </c:val>
        </c:ser>
        <c:ser>
          <c:idx val="1"/>
          <c:order val="1"/>
          <c:tx>
            <c:strRef>
              <c:f>Sheet1!$C$1</c:f>
              <c:strCache>
                <c:ptCount val="1"/>
                <c:pt idx="0">
                  <c:v>群B</c:v>
                </c:pt>
              </c:strCache>
            </c:strRef>
          </c:tx>
          <c:spPr>
            <a:solidFill>
              <a:srgbClr val="0099FF"/>
            </a:solidFill>
          </c:spPr>
          <c:invertIfNegative val="0"/>
          <c:cat>
            <c:strRef>
              <c:f>Sheet1!$A$2:$A$5</c:f>
              <c:strCache>
                <c:ptCount val="4"/>
                <c:pt idx="0">
                  <c:v>睡眠</c:v>
                </c:pt>
                <c:pt idx="1">
                  <c:v>出費</c:v>
                </c:pt>
                <c:pt idx="2">
                  <c:v>義務感</c:v>
                </c:pt>
                <c:pt idx="3">
                  <c:v>比較</c:v>
                </c:pt>
              </c:strCache>
            </c:strRef>
          </c:cat>
          <c:val>
            <c:numRef>
              <c:f>Sheet1!$C$2:$C$5</c:f>
              <c:numCache>
                <c:formatCode>General</c:formatCode>
                <c:ptCount val="4"/>
                <c:pt idx="0">
                  <c:v>-0.15</c:v>
                </c:pt>
                <c:pt idx="1">
                  <c:v>-0.12</c:v>
                </c:pt>
                <c:pt idx="2">
                  <c:v>-0.1</c:v>
                </c:pt>
                <c:pt idx="3">
                  <c:v>-0.06</c:v>
                </c:pt>
              </c:numCache>
            </c:numRef>
          </c:val>
        </c:ser>
        <c:ser>
          <c:idx val="2"/>
          <c:order val="2"/>
          <c:tx>
            <c:strRef>
              <c:f>Sheet1!$D$1</c:f>
              <c:strCache>
                <c:ptCount val="1"/>
                <c:pt idx="0">
                  <c:v>群C</c:v>
                </c:pt>
              </c:strCache>
            </c:strRef>
          </c:tx>
          <c:spPr>
            <a:solidFill>
              <a:srgbClr val="12A38A"/>
            </a:solidFill>
          </c:spPr>
          <c:invertIfNegative val="0"/>
          <c:cat>
            <c:strRef>
              <c:f>Sheet1!$A$2:$A$5</c:f>
              <c:strCache>
                <c:ptCount val="4"/>
                <c:pt idx="0">
                  <c:v>睡眠</c:v>
                </c:pt>
                <c:pt idx="1">
                  <c:v>出費</c:v>
                </c:pt>
                <c:pt idx="2">
                  <c:v>義務感</c:v>
                </c:pt>
                <c:pt idx="3">
                  <c:v>比較</c:v>
                </c:pt>
              </c:strCache>
            </c:strRef>
          </c:cat>
          <c:val>
            <c:numRef>
              <c:f>Sheet1!$D$2:$D$5</c:f>
              <c:numCache>
                <c:formatCode>General</c:formatCode>
                <c:ptCount val="4"/>
                <c:pt idx="0">
                  <c:v>-0.31</c:v>
                </c:pt>
                <c:pt idx="1">
                  <c:v>-0.22</c:v>
                </c:pt>
                <c:pt idx="2">
                  <c:v>-0.14</c:v>
                </c:pt>
                <c:pt idx="3">
                  <c:v>-0.05</c:v>
                </c:pt>
              </c:numCache>
            </c:numRef>
          </c:val>
        </c:ser>
        <c:gapWidth val="60"/>
        <c:overlap val="-5"/>
        <c:axId val="-2068027336"/>
        <c:axId val="-2113994440"/>
      </c:barChart>
      <c:catAx>
        <c:axId val="-2068027336"/>
        <c:scaling>
          <c:orientation val="minMax"/>
        </c:scaling>
        <c:delete val="0"/>
        <c:axPos val="b"/>
        <c:majorTickMark val="out"/>
        <c:minorTickMark val="none"/>
        <c:tickLblPos val="low"/>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0.1"/>
          <c:min val="-0.4"/>
        </c:scaling>
        <c:delete val="0"/>
        <c:axPos val="l"/>
        <c:majorGridlines>
          <c:spPr>
            <a:ln w="9525">
              <a:solidFill>
                <a:srgbClr val="E3E8EF"/>
              </a:solidFill>
            </a:ln>
          </c:spPr>
        </c:majorGridlines>
        <c:numFmt formatCode="+0.00;-0.00;0.00" sourceLinked="0"/>
        <c:majorTickMark val="out"/>
        <c:minorTickMark val="none"/>
        <c:tickLblPos val="nextTo"/>
        <c:spPr>
          <a:ln>
            <a:noFill/>
          </a:ln>
        </c:spPr>
        <c:txPr>
          <a:bodyPr/>
          <a:lstStyle/>
          <a:p>
            <a:pPr>
              <a:defRPr sz="1050">
                <a:solidFill>
                  <a:srgbClr val="5A6676"/>
                </a:solidFill>
              </a:defRPr>
            </a:pPr>
          </a:p>
        </c:txPr>
        <c:crossAx val="-2068027336"/>
        <c:crosses val="autoZero"/>
        <c:majorUnit val="0.1"/>
      </c:valAx>
    </c:plotArea>
    <c:legend>
      <c:legendPos val="b"/>
      <c:overlay val="0"/>
      <c:txPr>
        <a:bodyPr/>
        <a:lstStyle/>
        <a:p>
          <a:pPr>
            <a:defRPr sz="1100"/>
          </a:pPr>
        </a:p>
      </c:txPr>
    </c:legend>
    <c:dispBlanksAs val="gap"/>
  </c:chart>
  <c:txPr>
    <a:bodyPr/>
    <a:lstStyle/>
    <a:p>
      <a:pPr>
        <a:defRPr sz="1100">
          <a:solidFill>
            <a:srgbClr val="5A6676"/>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週ごとの記録率（%）</a:t>
            </a:r>
          </a:p>
        </c:rich>
      </c:tx>
      <c:layout/>
      <c:overlay val="0"/>
    </c:title>
    <c:autoTitleDeleted val="0"/>
    <c:plotArea>
      <c:lineChart>
        <c:grouping val="standard"/>
        <c:varyColors val="0"/>
        <c:ser>
          <c:idx val="0"/>
          <c:order val="0"/>
          <c:tx>
            <c:strRef>
              <c:f>Sheet1!$B$1</c:f>
              <c:strCache>
                <c:ptCount val="1"/>
                <c:pt idx="0">
                  <c:v>群A</c:v>
                </c:pt>
              </c:strCache>
            </c:strRef>
          </c:tx>
          <c:spPr>
            <a:ln w="31750">
              <a:solidFill>
                <a:srgbClr val="8FA3B8"/>
              </a:solidFill>
            </a:ln>
          </c:spPr>
          <c:marker>
            <c:symbol val="circle"/>
            <c:size val="7"/>
            <c:spPr>
              <a:solidFill>
                <a:srgbClr val="8FA3B8"/>
              </a:solidFill>
              <a:ln>
                <a:solidFill>
                  <a:srgbClr val="8FA3B8"/>
                </a:solidFill>
              </a:ln>
            </c:spPr>
          </c:marker>
          <c:dLbls>
            <c:dLbl>
              <c:idx val="5"/>
              <c:numFmt formatCode="0" sourceLinked="0"/>
              <c:spPr/>
              <c:txPr>
                <a:bodyPr/>
                <a:lstStyle/>
                <a:p>
                  <a:pPr>
                    <a:defRPr sz="1100" b="1">
                      <a:solidFill>
                        <a:srgbClr val="8FA3B8"/>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1週</c:v>
                </c:pt>
                <c:pt idx="1">
                  <c:v>2週</c:v>
                </c:pt>
                <c:pt idx="2">
                  <c:v>3週</c:v>
                </c:pt>
                <c:pt idx="3">
                  <c:v>4週</c:v>
                </c:pt>
                <c:pt idx="4">
                  <c:v>5週</c:v>
                </c:pt>
                <c:pt idx="5">
                  <c:v>6週</c:v>
                </c:pt>
              </c:strCache>
            </c:strRef>
          </c:cat>
          <c:val>
            <c:numRef>
              <c:f>Sheet1!$B$2:$B$7</c:f>
              <c:numCache>
                <c:formatCode>General</c:formatCode>
                <c:ptCount val="6"/>
                <c:pt idx="0">
                  <c:v>91</c:v>
                </c:pt>
                <c:pt idx="1">
                  <c:v>87</c:v>
                </c:pt>
                <c:pt idx="2">
                  <c:v>82</c:v>
                </c:pt>
                <c:pt idx="3">
                  <c:v>78</c:v>
                </c:pt>
                <c:pt idx="4">
                  <c:v>74</c:v>
                </c:pt>
                <c:pt idx="5">
                  <c:v>71</c:v>
                </c:pt>
              </c:numCache>
            </c:numRef>
          </c:val>
          <c:smooth val="0"/>
        </c:ser>
        <c:ser>
          <c:idx val="1"/>
          <c:order val="1"/>
          <c:tx>
            <c:strRef>
              <c:f>Sheet1!$C$1</c:f>
              <c:strCache>
                <c:ptCount val="1"/>
                <c:pt idx="0">
                  <c:v>群B</c:v>
                </c:pt>
              </c:strCache>
            </c:strRef>
          </c:tx>
          <c:spPr>
            <a:ln w="31750">
              <a:solidFill>
                <a:srgbClr val="0099FF"/>
              </a:solidFill>
            </a:ln>
          </c:spPr>
          <c:marker>
            <c:symbol val="circle"/>
            <c:size val="7"/>
            <c:spPr>
              <a:solidFill>
                <a:srgbClr val="0099FF"/>
              </a:solidFill>
              <a:ln>
                <a:solidFill>
                  <a:srgbClr val="0099FF"/>
                </a:solidFill>
              </a:ln>
            </c:spPr>
          </c:marker>
          <c:dLbls>
            <c:dLbl>
              <c:idx val="5"/>
              <c:numFmt formatCode="0" sourceLinked="0"/>
              <c:spPr/>
              <c:txPr>
                <a:bodyPr/>
                <a:lstStyle/>
                <a:p>
                  <a:pPr>
                    <a:defRPr sz="1100" b="1">
                      <a:solidFill>
                        <a:srgbClr val="0099FF"/>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1週</c:v>
                </c:pt>
                <c:pt idx="1">
                  <c:v>2週</c:v>
                </c:pt>
                <c:pt idx="2">
                  <c:v>3週</c:v>
                </c:pt>
                <c:pt idx="3">
                  <c:v>4週</c:v>
                </c:pt>
                <c:pt idx="4">
                  <c:v>5週</c:v>
                </c:pt>
                <c:pt idx="5">
                  <c:v>6週</c:v>
                </c:pt>
              </c:strCache>
            </c:strRef>
          </c:cat>
          <c:val>
            <c:numRef>
              <c:f>Sheet1!$C$2:$C$7</c:f>
              <c:numCache>
                <c:formatCode>General</c:formatCode>
                <c:ptCount val="6"/>
                <c:pt idx="0">
                  <c:v>90</c:v>
                </c:pt>
                <c:pt idx="1">
                  <c:v>88</c:v>
                </c:pt>
                <c:pt idx="2">
                  <c:v>84</c:v>
                </c:pt>
                <c:pt idx="3">
                  <c:v>81</c:v>
                </c:pt>
                <c:pt idx="4">
                  <c:v>78</c:v>
                </c:pt>
                <c:pt idx="5">
                  <c:v>75</c:v>
                </c:pt>
              </c:numCache>
            </c:numRef>
          </c:val>
          <c:smooth val="0"/>
        </c:ser>
        <c:ser>
          <c:idx val="2"/>
          <c:order val="2"/>
          <c:tx>
            <c:strRef>
              <c:f>Sheet1!$D$1</c:f>
              <c:strCache>
                <c:ptCount val="1"/>
                <c:pt idx="0">
                  <c:v>群C</c:v>
                </c:pt>
              </c:strCache>
            </c:strRef>
          </c:tx>
          <c:spPr>
            <a:ln w="31750">
              <a:solidFill>
                <a:srgbClr val="12A38A"/>
              </a:solidFill>
            </a:ln>
          </c:spPr>
          <c:marker>
            <c:symbol val="circle"/>
            <c:size val="7"/>
            <c:spPr>
              <a:solidFill>
                <a:srgbClr val="12A38A"/>
              </a:solidFill>
              <a:ln>
                <a:solidFill>
                  <a:srgbClr val="12A38A"/>
                </a:solidFill>
              </a:ln>
            </c:spPr>
          </c:marker>
          <c:dLbls>
            <c:dLbl>
              <c:idx val="5"/>
              <c:numFmt formatCode="0" sourceLinked="0"/>
              <c:spPr/>
              <c:txPr>
                <a:bodyPr/>
                <a:lstStyle/>
                <a:p>
                  <a:pPr>
                    <a:defRPr sz="1100" b="1">
                      <a:solidFill>
                        <a:srgbClr val="12A38A"/>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1週</c:v>
                </c:pt>
                <c:pt idx="1">
                  <c:v>2週</c:v>
                </c:pt>
                <c:pt idx="2">
                  <c:v>3週</c:v>
                </c:pt>
                <c:pt idx="3">
                  <c:v>4週</c:v>
                </c:pt>
                <c:pt idx="4">
                  <c:v>5週</c:v>
                </c:pt>
                <c:pt idx="5">
                  <c:v>6週</c:v>
                </c:pt>
              </c:strCache>
            </c:strRef>
          </c:cat>
          <c:val>
            <c:numRef>
              <c:f>Sheet1!$D$2:$D$7</c:f>
              <c:numCache>
                <c:formatCode>General</c:formatCode>
                <c:ptCount val="6"/>
                <c:pt idx="0">
                  <c:v>91</c:v>
                </c:pt>
                <c:pt idx="1">
                  <c:v>88</c:v>
                </c:pt>
                <c:pt idx="2">
                  <c:v>87</c:v>
                </c:pt>
                <c:pt idx="3">
                  <c:v>86</c:v>
                </c:pt>
                <c:pt idx="4">
                  <c:v>84</c:v>
                </c:pt>
                <c:pt idx="5">
                  <c:v>83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100.0"/>
          <c:min val="60.0"/>
        </c:scaling>
        <c:delete val="0"/>
        <c:axPos val="l"/>
        <c:majorGridlines>
          <c:spPr>
            <a:ln w="9525">
              <a:solidFill>
                <a:srgbClr val="E3E8EF"/>
              </a:solidFill>
            </a:ln>
          </c:spPr>
        </c:majorGridlines>
        <c:numFmt formatCode="0" sourceLinked="0"/>
        <c:majorTickMark val="out"/>
        <c:minorTickMark val="none"/>
        <c:tickLblPos val="nextTo"/>
        <c:spPr>
          <a:ln>
            <a:noFill/>
          </a:ln>
        </c:spPr>
        <c:txPr>
          <a:bodyPr/>
          <a:lstStyle/>
          <a:p>
            <a:pPr>
              <a:defRPr sz="1050">
                <a:solidFill>
                  <a:srgbClr val="5A6676"/>
                </a:solidFill>
              </a:defRPr>
            </a:pPr>
          </a:p>
        </c:txPr>
        <c:crossAx val="2118791784"/>
        <c:crosses val="autoZero"/>
        <c:majorUnit val="10.0"/>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139FF-5DF4-46B1-A730-4E68595A117A}" type="datetimeFigureOut">
              <a:rPr kumimoji="1" lang="ja-JP" altLang="en-US" smtClean="0"/>
              <a:t>2026/7/3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D2F10-75EE-4518-AB94-CE9EAC6EA3C6}" type="slidenum">
              <a:rPr kumimoji="1" lang="ja-JP" altLang="en-US" smtClean="0"/>
              <a:t>‹#›</a:t>
            </a:fld>
            <a:endParaRPr kumimoji="1" lang="ja-JP" altLang="en-US"/>
          </a:p>
        </p:txBody>
      </p:sp>
    </p:spTree>
    <p:extLst>
      <p:ext uri="{BB962C8B-B14F-4D97-AF65-F5344CB8AC3E}">
        <p14:creationId xmlns:p14="http://schemas.microsoft.com/office/powerpoint/2010/main" val="23456392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12/13に6週間の本実験が完了しました。今日は、事前に決めた解析計画どおりに行った主要な解析の速報と、修士論文の執筆計画を報告します。数値はすべて速報値で、修論までに再確認します。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果のまとめです。RQ1は、個人補正で予測の誤差が減り、予測区間の当たり方もほぼ目標どおりでした。RQ2は、アバターで将来の見込みを見た群Cの実行率が、文章だけの群Bより高くなりました。RQ3は、WHO-5が群Cで上がったものの、事前に決めた主要な比較では有意差が出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本実験が完了し、解析と修論執筆の段階に入りました。提出まで約6週間です。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6週間を完了したのは197名で、割付後の脱落率は約8%でした。各群とも、計画書で必要とした1群64名を確保できています。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3の主要な結果です。WHO-5は群Cで開始時の13.1から6週の14.7へ上がりました。ただし、事前に決めた主要な比較、群C対群Bと群B対群Aは、Holm法で補正すると有意差はありませんでした。探索的に見ると群Cは群Aより1.7点高く、群C対群Bの差は効果量で0.2程度と小さいため、検出力が足りなかった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の結果です。選んだ提案を実行できた割合は、4週間を通して群Cが群Bを上回り、オッズ比は1.71でした。両群とも週を追うごとに下がりますが、群Cは下がり方がゆるやかでした。同じ提案でも、見せ方で実行が変わることが示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の結果です。6週時点の予測と実測のずれは、個人補正によって充実で0.68から0.49、推し疲れで0.84から0.62に減りました。また、80%予測区間に実測が入った割合は76〜78%で、区間がおおむね正直だったといえ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副次評価です。推し疲れの中身では、睡眠と出費の疲れが群Cで大きく減りました。一方で、他のファンとの比較による疲れはどの群も変わりませんでした。推し活の楽しさは3群とも下がっておらず、組み替える提案のねらいどおりの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の続き方を見ると、介入が始まった3週目から群Cの記録率が高く保たれていました。未来の解像度が記録の動機になった可能性がありますが、探索的な結果です。アバターの評価では、似ている度が3.7、未来の自分とのつながりは群Cが群Bより高く、予測を見た後の不安は群Bと同程度で、不安を高めてはい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由記述からは、減らせと言われない安心感と、未来がくっきりしていく楽しさが続ける理由になっていたことがうかがえます。一方で、予測が外れ続けると信頼が下がるという声もあり、答え合わせの見せ方は今後の課題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暫定的な考察です。1つ目は、同じ提案でも見せ方で行動が変わったこと。2つ目は、幸福度への効果は小さく、6週間は習慣の定着には短い可能性があること。3つ目は、不確かさを見せても不安は増えなかったことです。実行した人ほど幸福度が高いかという分析は偏りがあるので、主な結論には使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修論は7章構成の予定です。3章の予備調査はIEVCと関西支部大会の原稿を、4章のシステムはCHIIRの原稿を下敷きにして、執筆を早めます。1/12までに4章まで、1/24から全体の確認をして、1/29に提出します。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相談したいのは3点です。有意差が出なかったRQ3の書き方、記録率の群差による欠測の偏りの扱い、そしてCHIIR採択後の作業とIEEE Accessへの投稿時期です。次回は確定値と修論の草稿を見せる予定です。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ctrTitle"/>
          </p:nvPr>
        </p:nvSpPr>
        <p:spPr>
          <a:xfrm>
            <a:off x="103340" y="3607869"/>
            <a:ext cx="8915400" cy="1655761"/>
          </a:xfrm>
        </p:spPr>
        <p:txBody>
          <a:bodyPr anchor="b"/>
          <a:lstStyle>
            <a:lvl1pPr algn="ctr">
              <a:defRPr sz="4500"/>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00740" y="5356274"/>
            <a:ext cx="4925889" cy="1418957"/>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dirty="0"/>
          </a:p>
        </p:txBody>
      </p:sp>
      <p:sp>
        <p:nvSpPr>
          <p:cNvPr id="19" name="サブタイトル 2"/>
          <p:cNvSpPr txBox="1">
            <a:spLocks/>
          </p:cNvSpPr>
          <p:nvPr userDrawn="1"/>
        </p:nvSpPr>
        <p:spPr>
          <a:xfrm>
            <a:off x="6068860" y="4277519"/>
            <a:ext cx="2949880" cy="1655762"/>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ja-JP" altLang="en-US" sz="2400" dirty="0"/>
          </a:p>
        </p:txBody>
      </p:sp>
      <p:pic>
        <p:nvPicPr>
          <p:cNvPr id="9" name="図 8" descr="アイコン&#10;&#10;自動的に生成された説明">
            <a:extLst>
              <a:ext uri="{FF2B5EF4-FFF2-40B4-BE49-F238E27FC236}">
                <a16:creationId xmlns:a16="http://schemas.microsoft.com/office/drawing/2014/main" id="{27B4E2A7-DAEA-4D6D-82DB-9419AF5FAF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340" y="5346399"/>
            <a:ext cx="1182362" cy="1428837"/>
          </a:xfrm>
          <a:prstGeom prst="rect">
            <a:avLst/>
          </a:prstGeom>
        </p:spPr>
      </p:pic>
      <p:cxnSp>
        <p:nvCxnSpPr>
          <p:cNvPr id="5" name="直線コネクタ 4">
            <a:extLst>
              <a:ext uri="{FF2B5EF4-FFF2-40B4-BE49-F238E27FC236}">
                <a16:creationId xmlns:a16="http://schemas.microsoft.com/office/drawing/2014/main" id="{CCAFA43D-FE5B-48C3-863A-33F247D129D4}"/>
              </a:ext>
            </a:extLst>
          </p:cNvPr>
          <p:cNvCxnSpPr/>
          <p:nvPr userDrawn="1"/>
        </p:nvCxnSpPr>
        <p:spPr>
          <a:xfrm>
            <a:off x="103340" y="5252744"/>
            <a:ext cx="8915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B5F561B1-C9EC-4DC6-912D-C77D62F90B04}"/>
              </a:ext>
            </a:extLst>
          </p:cNvPr>
          <p:cNvSpPr/>
          <p:nvPr userDrawn="1"/>
        </p:nvSpPr>
        <p:spPr>
          <a:xfrm>
            <a:off x="0" y="-1"/>
            <a:ext cx="9144000" cy="3435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985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5D49C76-77F1-4215-9649-4092C94102D0}"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264577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正方形/長方形 7"/>
          <p:cNvSpPr/>
          <p:nvPr userDrawn="1"/>
        </p:nvSpPr>
        <p:spPr>
          <a:xfrm>
            <a:off x="1" y="0"/>
            <a:ext cx="9114626" cy="63005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title"/>
          </p:nvPr>
        </p:nvSpPr>
        <p:spPr>
          <a:xfrm>
            <a:off x="300625" y="1709739"/>
            <a:ext cx="8586592" cy="2852737"/>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300625" y="4589464"/>
            <a:ext cx="8586592"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867CBC8-C13F-44F6-BCB3-948A96AAE3EF}"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pic>
        <p:nvPicPr>
          <p:cNvPr id="9" name="図 8"/>
          <p:cNvPicPr>
            <a:picLocks noChangeAspect="1"/>
          </p:cNvPicPr>
          <p:nvPr userDrawn="1"/>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7988385" y="25052"/>
            <a:ext cx="1155615" cy="1342496"/>
          </a:xfrm>
          <a:prstGeom prst="rect">
            <a:avLst/>
          </a:prstGeom>
        </p:spPr>
      </p:pic>
    </p:spTree>
    <p:extLst>
      <p:ext uri="{BB962C8B-B14F-4D97-AF65-F5344CB8AC3E}">
        <p14:creationId xmlns:p14="http://schemas.microsoft.com/office/powerpoint/2010/main" val="216364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122128" y="1716067"/>
            <a:ext cx="4392722"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29150" y="1716067"/>
            <a:ext cx="4408379"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日付プレースホルダー 4"/>
          <p:cNvSpPr>
            <a:spLocks noGrp="1"/>
          </p:cNvSpPr>
          <p:nvPr>
            <p:ph type="dt" sz="half" idx="10"/>
          </p:nvPr>
        </p:nvSpPr>
        <p:spPr/>
        <p:txBody>
          <a:bodyPr/>
          <a:lstStyle/>
          <a:p>
            <a:fld id="{9AA910EA-EFB6-4ED7-B593-CE78B1973066}" type="datetime1">
              <a:rPr kumimoji="1" lang="ja-JP" altLang="en-US" smtClean="0"/>
              <a:t>2026/7/3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81963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0" y="1"/>
            <a:ext cx="7886700" cy="1325563"/>
          </a:xfrm>
        </p:spPr>
        <p:txBody>
          <a:body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122129" y="1681163"/>
            <a:ext cx="4376053"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22129" y="2505075"/>
            <a:ext cx="4376053"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29150" y="1681163"/>
            <a:ext cx="448547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29150" y="2505075"/>
            <a:ext cx="448547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7" name="日付プレースホルダー 6"/>
          <p:cNvSpPr>
            <a:spLocks noGrp="1"/>
          </p:cNvSpPr>
          <p:nvPr>
            <p:ph type="dt" sz="half" idx="10"/>
          </p:nvPr>
        </p:nvSpPr>
        <p:spPr/>
        <p:txBody>
          <a:bodyPr/>
          <a:lstStyle/>
          <a:p>
            <a:fld id="{9C446DE9-826E-4F2E-9FBE-79AF29EDC55F}" type="datetime1">
              <a:rPr kumimoji="1" lang="ja-JP" altLang="en-US" smtClean="0"/>
              <a:t>2026/7/3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480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ED6424B-FEB0-415C-8C57-9662DE1E2037}" type="datetime1">
              <a:rPr kumimoji="1" lang="ja-JP" altLang="en-US" smtClean="0"/>
              <a:t>2026/7/3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57174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B5750C9-8340-4923-BDA6-FE9093DBE1F0}" type="datetime1">
              <a:rPr kumimoji="1" lang="ja-JP" altLang="en-US" smtClean="0"/>
              <a:t>2026/7/3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5124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AD568FF-8035-4960-B29B-D2E38E699D23}"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13087982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userDrawn="1"/>
        </p:nvSpPr>
        <p:spPr>
          <a:xfrm>
            <a:off x="0" y="6394366"/>
            <a:ext cx="1155526"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2" name="正方形/長方形 11"/>
          <p:cNvSpPr/>
          <p:nvPr userDrawn="1"/>
        </p:nvSpPr>
        <p:spPr>
          <a:xfrm>
            <a:off x="1155526" y="6394366"/>
            <a:ext cx="7158625" cy="46363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3" name="正方形/長方形 12"/>
          <p:cNvSpPr/>
          <p:nvPr userDrawn="1"/>
        </p:nvSpPr>
        <p:spPr>
          <a:xfrm>
            <a:off x="8314151" y="6394366"/>
            <a:ext cx="829850"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8" name="正方形/長方形 7"/>
          <p:cNvSpPr/>
          <p:nvPr userDrawn="1"/>
        </p:nvSpPr>
        <p:spPr>
          <a:xfrm>
            <a:off x="1" y="0"/>
            <a:ext cx="7565720" cy="1083832"/>
          </a:xfrm>
          <a:prstGeom prst="rect">
            <a:avLst/>
          </a:prstGeom>
          <a:gradFill>
            <a:gsLst>
              <a:gs pos="68000">
                <a:schemeClr val="accent1">
                  <a:lumMod val="20000"/>
                  <a:lumOff val="80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プレースホルダー 1"/>
          <p:cNvSpPr>
            <a:spLocks noGrp="1"/>
          </p:cNvSpPr>
          <p:nvPr>
            <p:ph type="title"/>
          </p:nvPr>
        </p:nvSpPr>
        <p:spPr>
          <a:xfrm>
            <a:off x="0" y="-7407"/>
            <a:ext cx="8109606" cy="87383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116237" y="1261733"/>
            <a:ext cx="8903777" cy="4915231"/>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46973" y="6455298"/>
            <a:ext cx="967636" cy="365125"/>
          </a:xfrm>
          <a:prstGeom prst="rect">
            <a:avLst/>
          </a:prstGeom>
        </p:spPr>
        <p:txBody>
          <a:bodyPr vert="horz" lIns="91440" tIns="45720" rIns="91440" bIns="45720" rtlCol="0" anchor="ctr"/>
          <a:lstStyle>
            <a:lvl1pPr algn="l">
              <a:defRPr sz="1200">
                <a:solidFill>
                  <a:schemeClr val="tx1"/>
                </a:solidFill>
              </a:defRPr>
            </a:lvl1pPr>
          </a:lstStyle>
          <a:p>
            <a:fld id="{530C953D-9D36-4E45-98EB-F4573D85DE5F}" type="datetime1">
              <a:rPr lang="ja-JP" altLang="en-US" smtClean="0"/>
              <a:t>2026/7/3</a:t>
            </a:fld>
            <a:endParaRPr lang="ja-JP" altLang="en-US" dirty="0"/>
          </a:p>
        </p:txBody>
      </p:sp>
      <p:sp>
        <p:nvSpPr>
          <p:cNvPr id="5" name="フッター プレースホルダー 4"/>
          <p:cNvSpPr>
            <a:spLocks noGrp="1"/>
          </p:cNvSpPr>
          <p:nvPr>
            <p:ph type="ftr" sz="quarter" idx="3"/>
          </p:nvPr>
        </p:nvSpPr>
        <p:spPr>
          <a:xfrm>
            <a:off x="1202498" y="6435466"/>
            <a:ext cx="7082278" cy="384956"/>
          </a:xfrm>
          <a:prstGeom prst="rect">
            <a:avLst/>
          </a:prstGeom>
        </p:spPr>
        <p:txBody>
          <a:bodyPr vert="horz" lIns="91440" tIns="45720" rIns="91440" bIns="45720" rtlCol="0" anchor="ctr"/>
          <a:lstStyle>
            <a:lvl1pPr algn="ctr">
              <a:defRPr sz="1200">
                <a:solidFill>
                  <a:schemeClr val="tx1"/>
                </a:solidFill>
              </a:defRPr>
            </a:lvl1pPr>
          </a:lstStyle>
          <a:p>
            <a:endParaRPr lang="ja-JP" altLang="en-US" dirty="0"/>
          </a:p>
        </p:txBody>
      </p:sp>
      <p:sp>
        <p:nvSpPr>
          <p:cNvPr id="9" name="正方形/長方形 8"/>
          <p:cNvSpPr/>
          <p:nvPr userDrawn="1"/>
        </p:nvSpPr>
        <p:spPr>
          <a:xfrm>
            <a:off x="1" y="880126"/>
            <a:ext cx="9143999" cy="320675"/>
          </a:xfrm>
          <a:prstGeom prst="rect">
            <a:avLst/>
          </a:prstGeom>
          <a:gradFill flip="none" rotWithShape="1">
            <a:gsLst>
              <a:gs pos="17000">
                <a:schemeClr val="accent1">
                  <a:lumMod val="50000"/>
                </a:schemeClr>
              </a:gs>
              <a:gs pos="88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0" name="テキスト ボックス 9"/>
          <p:cNvSpPr txBox="1"/>
          <p:nvPr userDrawn="1"/>
        </p:nvSpPr>
        <p:spPr>
          <a:xfrm>
            <a:off x="0" y="855796"/>
            <a:ext cx="5115503" cy="300082"/>
          </a:xfrm>
          <a:prstGeom prst="rect">
            <a:avLst/>
          </a:prstGeom>
          <a:noFill/>
        </p:spPr>
        <p:txBody>
          <a:bodyPr wrap="none" rtlCol="0">
            <a:spAutoFit/>
          </a:bodyPr>
          <a:lstStyle/>
          <a:p>
            <a:r>
              <a:rPr kumimoji="1" lang="en-US" altLang="ja-JP" sz="1350" b="1" i="1" dirty="0">
                <a:solidFill>
                  <a:schemeClr val="bg1"/>
                </a:solidFill>
              </a:rPr>
              <a:t>Media</a:t>
            </a:r>
            <a:r>
              <a:rPr kumimoji="1" lang="en-US" altLang="ja-JP" sz="1350" b="1" i="1" baseline="0" dirty="0">
                <a:solidFill>
                  <a:schemeClr val="bg1"/>
                </a:solidFill>
              </a:rPr>
              <a:t> Interaction Laboratory, Osaka Institute of Technology</a:t>
            </a:r>
            <a:endParaRPr kumimoji="1" lang="ja-JP" altLang="en-US" sz="1350" b="1" i="1" dirty="0">
              <a:solidFill>
                <a:schemeClr val="bg1"/>
              </a:solidFill>
            </a:endParaRPr>
          </a:p>
        </p:txBody>
      </p:sp>
      <p:sp>
        <p:nvSpPr>
          <p:cNvPr id="6" name="スライド番号プレースホルダー 5"/>
          <p:cNvSpPr>
            <a:spLocks noGrp="1"/>
          </p:cNvSpPr>
          <p:nvPr>
            <p:ph type="sldNum" sz="quarter" idx="4"/>
          </p:nvPr>
        </p:nvSpPr>
        <p:spPr>
          <a:xfrm>
            <a:off x="8389307" y="6455298"/>
            <a:ext cx="725319" cy="365125"/>
          </a:xfrm>
          <a:prstGeom prst="rect">
            <a:avLst/>
          </a:prstGeom>
        </p:spPr>
        <p:txBody>
          <a:bodyPr vert="horz" lIns="91440" tIns="45720" rIns="91440" bIns="45720" rtlCol="0" anchor="ctr"/>
          <a:lstStyle>
            <a:lvl1pPr algn="r">
              <a:defRPr sz="1200">
                <a:solidFill>
                  <a:schemeClr val="tx1"/>
                </a:solidFill>
              </a:defRPr>
            </a:lvl1pPr>
          </a:lstStyle>
          <a:p>
            <a:fld id="{38531E9D-61D6-4888-9999-68160698B78F}" type="slidenum">
              <a:rPr lang="ja-JP" altLang="en-US" smtClean="0"/>
              <a:pPr/>
              <a:t>‹#›</a:t>
            </a:fld>
            <a:endParaRPr lang="ja-JP" altLang="en-US" dirty="0"/>
          </a:p>
        </p:txBody>
      </p:sp>
      <p:pic>
        <p:nvPicPr>
          <p:cNvPr id="17" name="図 16" descr="アイコン&#10;&#10;自動的に生成された説明">
            <a:extLst>
              <a:ext uri="{FF2B5EF4-FFF2-40B4-BE49-F238E27FC236}">
                <a16:creationId xmlns:a16="http://schemas.microsoft.com/office/drawing/2014/main" id="{2CB505E5-1A9F-4F7A-B174-AC352F0CDE0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138980" y="21772"/>
            <a:ext cx="975646" cy="1179029"/>
          </a:xfrm>
          <a:prstGeom prst="rect">
            <a:avLst/>
          </a:prstGeom>
        </p:spPr>
      </p:pic>
    </p:spTree>
    <p:extLst>
      <p:ext uri="{BB962C8B-B14F-4D97-AF65-F5344CB8AC3E}">
        <p14:creationId xmlns:p14="http://schemas.microsoft.com/office/powerpoint/2010/main" val="65575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hf hdr="0" ftr="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chor="b">
            <a:noAutofit/>
          </a:bodyPr>
          <a:lstStyle/>
          <a:p>
            <a:pPr algn="ctr" marL="0" indent="0">
              <a:spcAft>
                <a:spcPts val="0"/>
              </a:spcAft>
              <a:buNone/>
            </a:pPr>
            <a:r>
              <a:rPr sz="3200" b="0">
                <a:solidFill>
                  <a:srgbClr val="24303F"/>
                </a:solidFill>
              </a:rPr>
              <a:t>進捗報告 2026/12/18</a:t>
            </a:r>
          </a:p>
        </p:txBody>
      </p:sp>
      <p:sp>
        <p:nvSpPr>
          <p:cNvPr id="3" name="Subtitle 2"/>
          <p:cNvSpPr>
            <a:spLocks noGrp="1"/>
          </p:cNvSpPr>
          <p:nvPr>
            <p:ph type="subTitle" idx="1"/>
          </p:nvPr>
        </p:nvSpPr>
        <p:spPr/>
        <p:txBody>
          <a:bodyPr wrap="square" anchor="t">
            <a:noAutofit/>
          </a:bodyPr>
          <a:lstStyle/>
          <a:p>
            <a:pPr algn="l" marL="0" indent="0">
              <a:spcAft>
                <a:spcPts val="400"/>
              </a:spcAft>
              <a:buNone/>
            </a:pPr>
            <a:r>
              <a:rPr sz="1800" b="0">
                <a:solidFill>
                  <a:srgbClr val="24303F"/>
                </a:solidFill>
              </a:rPr>
              <a:t>今井元</a:t>
            </a:r>
          </a:p>
        </p:txBody>
      </p:sp>
      <p:sp>
        <p:nvSpPr>
          <p:cNvPr id="4" name="会議名"/>
          <p:cNvSpPr txBox="1"/>
          <p:nvPr/>
        </p:nvSpPr>
        <p:spPr>
          <a:xfrm>
            <a:off x="64008" y="82296"/>
            <a:ext cx="4206240" cy="384048"/>
          </a:xfrm>
          <a:prstGeom prst="rect">
            <a:avLst/>
          </a:prstGeom>
          <a:solidFill>
            <a:srgbClr val="A9DCFF"/>
          </a:solidFill>
        </p:spPr>
        <p:txBody>
          <a:bodyPr wrap="square" tIns="18288" bIns="18288" anchor="ctr">
            <a:noAutofit/>
          </a:bodyPr>
          <a:lstStyle/>
          <a:p>
            <a:pPr algn="l" marL="0" indent="0">
              <a:spcAft>
                <a:spcPts val="400"/>
              </a:spcAft>
              <a:buNone/>
            </a:pPr>
            <a:r>
              <a:rPr sz="1400" b="0">
                <a:solidFill>
                  <a:srgbClr val="24303F"/>
                </a:solidFill>
              </a:rPr>
              <a:t>メディアインタラクション研究室　進捗報告</a:t>
            </a:r>
          </a:p>
        </p:txBody>
      </p:sp>
      <p:sp>
        <p:nvSpPr>
          <p:cNvPr id="5" name="著者所属"/>
          <p:cNvSpPr txBox="1"/>
          <p:nvPr/>
        </p:nvSpPr>
        <p:spPr>
          <a:xfrm>
            <a:off x="3931920" y="5358384"/>
            <a:ext cx="4937760" cy="1097280"/>
          </a:xfrm>
          <a:prstGeom prst="rect">
            <a:avLst/>
          </a:prstGeom>
          <a:noFill/>
        </p:spPr>
        <p:txBody>
          <a:bodyPr wrap="square" lIns="45720" tIns="27432" rIns="45720" bIns="27432" anchor="t">
            <a:noAutofit/>
          </a:bodyPr>
          <a:lstStyle/>
          <a:p>
            <a:pPr algn="l" marL="0" indent="0">
              <a:spcAft>
                <a:spcPts val="200"/>
              </a:spcAft>
              <a:buNone/>
            </a:pPr>
            <a:r>
              <a:rPr sz="1400" b="0">
                <a:solidFill>
                  <a:srgbClr val="24303F"/>
                </a:solidFill>
              </a:rPr>
              <a:t>大阪工業大学</a:t>
            </a:r>
          </a:p>
          <a:p>
            <a:pPr algn="l" marL="0" indent="0">
              <a:spcAft>
                <a:spcPts val="200"/>
              </a:spcAft>
              <a:buNone/>
            </a:pPr>
            <a:r>
              <a:rPr sz="1400" b="0">
                <a:solidFill>
                  <a:srgbClr val="24303F"/>
                </a:solidFill>
              </a:rPr>
              <a:t>メディアインタラクション研究室</a:t>
            </a:r>
          </a:p>
        </p:txBody>
      </p:sp>
      <p:sp>
        <p:nvSpPr>
          <p:cNvPr id="6" name="サブタイトル"/>
          <p:cNvSpPr txBox="1"/>
          <p:nvPr/>
        </p:nvSpPr>
        <p:spPr>
          <a:xfrm>
            <a:off x="411480" y="914400"/>
            <a:ext cx="5669280" cy="2103120"/>
          </a:xfrm>
          <a:prstGeom prst="rect">
            <a:avLst/>
          </a:prstGeom>
          <a:noFill/>
        </p:spPr>
        <p:txBody>
          <a:bodyPr wrap="square" lIns="45720" tIns="27432" rIns="45720" bIns="27432" anchor="ctr">
            <a:noAutofit/>
          </a:bodyPr>
          <a:lstStyle/>
          <a:p>
            <a:pPr algn="l" marL="0" indent="0">
              <a:lnSpc>
                <a:spcPct val="105000"/>
              </a:lnSpc>
              <a:spcAft>
                <a:spcPts val="600"/>
              </a:spcAft>
              <a:buNone/>
            </a:pPr>
            <a:r>
              <a:rPr sz="2000" b="1">
                <a:solidFill>
                  <a:srgbClr val="FFFFFF"/>
                </a:solidFill>
              </a:rPr>
              <a:t>本実験が完了</a:t>
            </a:r>
          </a:p>
          <a:p>
            <a:pPr algn="l" marL="0" indent="0">
              <a:lnSpc>
                <a:spcPct val="105000"/>
              </a:lnSpc>
              <a:spcAft>
                <a:spcPts val="600"/>
              </a:spcAft>
              <a:buNone/>
            </a:pPr>
            <a:r>
              <a:rPr sz="1800" b="0">
                <a:solidFill>
                  <a:srgbClr val="FFFFFF"/>
                </a:solidFill>
              </a:rPr>
              <a:t>RQ1〜3 の主要な結果（速報）</a:t>
            </a:r>
          </a:p>
          <a:p>
            <a:pPr algn="l" marL="0" indent="0">
              <a:lnSpc>
                <a:spcPct val="105000"/>
              </a:lnSpc>
              <a:spcAft>
                <a:spcPts val="600"/>
              </a:spcAft>
              <a:buNone/>
            </a:pPr>
            <a:r>
              <a:rPr sz="1400" b="0">
                <a:solidFill>
                  <a:srgbClr val="FFFFFF"/>
                </a:solidFill>
              </a:rPr>
              <a:t>修士論文の章立てと執筆スケジュール</a:t>
            </a:r>
          </a:p>
        </p:txBody>
      </p:sp>
      <p:pic>
        <p:nvPicPr>
          <p:cNvPr id="7" name="Picture 6" descr="ghost_d14.png"/>
          <p:cNvPicPr>
            <a:picLocks noChangeAspect="1"/>
          </p:cNvPicPr>
          <p:nvPr/>
        </p:nvPicPr>
        <p:blipFill>
          <a:blip r:embed="rId2"/>
          <a:stretch>
            <a:fillRect/>
          </a:stretch>
        </p:blipFill>
        <p:spPr>
          <a:xfrm>
            <a:off x="6263640" y="658368"/>
            <a:ext cx="4034118"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結果のまとめ（速報）</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2</a:t>
            </a:fld>
          </a:p>
        </p:txBody>
      </p:sp>
      <p:sp>
        <p:nvSpPr>
          <p:cNvPr id="5" name="Rounded Rectangle 4"/>
          <p:cNvSpPr/>
          <p:nvPr/>
        </p:nvSpPr>
        <p:spPr>
          <a:xfrm>
            <a:off x="411480" y="1371600"/>
            <a:ext cx="8321040" cy="1325880"/>
          </a:xfrm>
          <a:prstGeom prst="roundRect">
            <a:avLst>
              <a:gd name="adj" fmla="val 827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645920"/>
            <a:ext cx="777240" cy="77724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600" b="1">
                <a:solidFill>
                  <a:srgbClr val="FFFFFF"/>
                </a:solidFill>
              </a:rPr>
              <a:t>○</a:t>
            </a:r>
          </a:p>
        </p:txBody>
      </p:sp>
      <p:sp>
        <p:nvSpPr>
          <p:cNvPr id="7" name="TextBox 6"/>
          <p:cNvSpPr txBox="1"/>
          <p:nvPr/>
        </p:nvSpPr>
        <p:spPr>
          <a:xfrm>
            <a:off x="1554480" y="1463040"/>
            <a:ext cx="1737360" cy="1143000"/>
          </a:xfrm>
          <a:prstGeom prst="rect">
            <a:avLst/>
          </a:prstGeom>
          <a:noFill/>
        </p:spPr>
        <p:txBody>
          <a:bodyPr wrap="square" lIns="0" tIns="0" rIns="0" bIns="0" anchor="ctr">
            <a:noAutofit/>
          </a:bodyPr>
          <a:lstStyle/>
          <a:p>
            <a:pPr algn="l" marL="0" indent="0">
              <a:spcAft>
                <a:spcPts val="0"/>
              </a:spcAft>
              <a:buNone/>
            </a:pPr>
            <a:r>
              <a:rPr sz="1800" b="1">
                <a:solidFill>
                  <a:srgbClr val="0B3C6E"/>
                </a:solidFill>
              </a:rPr>
              <a:t>RQ1</a:t>
            </a:r>
          </a:p>
          <a:p>
            <a:pPr algn="l" marL="0" indent="0">
              <a:spcAft>
                <a:spcPts val="400"/>
              </a:spcAft>
              <a:buNone/>
            </a:pPr>
            <a:r>
              <a:rPr sz="1150" b="0">
                <a:solidFill>
                  <a:srgbClr val="5A6676"/>
                </a:solidFill>
              </a:rPr>
              <a:t>予測の精度</a:t>
            </a:r>
          </a:p>
        </p:txBody>
      </p:sp>
      <p:sp>
        <p:nvSpPr>
          <p:cNvPr id="8" name="TextBox 7"/>
          <p:cNvSpPr txBox="1"/>
          <p:nvPr/>
        </p:nvSpPr>
        <p:spPr>
          <a:xfrm>
            <a:off x="3337560" y="1463040"/>
            <a:ext cx="5212080" cy="1143000"/>
          </a:xfrm>
          <a:prstGeom prst="rect">
            <a:avLst/>
          </a:prstGeom>
          <a:noFill/>
        </p:spPr>
        <p:txBody>
          <a:bodyPr wrap="square" lIns="0" tIns="0" rIns="0" bIns="0" anchor="ctr">
            <a:noAutofit/>
          </a:bodyPr>
          <a:lstStyle/>
          <a:p>
            <a:pPr algn="l" marL="0" indent="0">
              <a:spcAft>
                <a:spcPts val="300"/>
              </a:spcAft>
              <a:buNone/>
            </a:pPr>
            <a:r>
              <a:rPr sz="1500" b="1">
                <a:solidFill>
                  <a:srgbClr val="24303F"/>
                </a:solidFill>
              </a:rPr>
              <a:t>個人補正で予測の誤差が約26%減った（推し疲れ）</a:t>
            </a:r>
          </a:p>
          <a:p>
            <a:pPr algn="l" marL="0" indent="0">
              <a:spcAft>
                <a:spcPts val="400"/>
              </a:spcAft>
              <a:buNone/>
            </a:pPr>
            <a:r>
              <a:rPr sz="1200" b="0">
                <a:solidFill>
                  <a:srgbClr val="5A6676"/>
                </a:solidFill>
              </a:rPr>
              <a:t>80%区間に入った割合は 76%（目標 80%）</a:t>
            </a:r>
          </a:p>
        </p:txBody>
      </p:sp>
      <p:sp>
        <p:nvSpPr>
          <p:cNvPr id="9" name="Rounded Rectangle 8"/>
          <p:cNvSpPr/>
          <p:nvPr/>
        </p:nvSpPr>
        <p:spPr>
          <a:xfrm>
            <a:off x="411480" y="2852928"/>
            <a:ext cx="8321040" cy="1325880"/>
          </a:xfrm>
          <a:prstGeom prst="roundRect">
            <a:avLst>
              <a:gd name="adj" fmla="val 827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94360" y="3127248"/>
            <a:ext cx="777240" cy="77724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600" b="1">
                <a:solidFill>
                  <a:srgbClr val="FFFFFF"/>
                </a:solidFill>
              </a:rPr>
              <a:t>○</a:t>
            </a:r>
          </a:p>
        </p:txBody>
      </p:sp>
      <p:sp>
        <p:nvSpPr>
          <p:cNvPr id="11" name="TextBox 10"/>
          <p:cNvSpPr txBox="1"/>
          <p:nvPr/>
        </p:nvSpPr>
        <p:spPr>
          <a:xfrm>
            <a:off x="1554480" y="2944368"/>
            <a:ext cx="1737360" cy="1143000"/>
          </a:xfrm>
          <a:prstGeom prst="rect">
            <a:avLst/>
          </a:prstGeom>
          <a:noFill/>
        </p:spPr>
        <p:txBody>
          <a:bodyPr wrap="square" lIns="0" tIns="0" rIns="0" bIns="0" anchor="ctr">
            <a:noAutofit/>
          </a:bodyPr>
          <a:lstStyle/>
          <a:p>
            <a:pPr algn="l" marL="0" indent="0">
              <a:spcAft>
                <a:spcPts val="0"/>
              </a:spcAft>
              <a:buNone/>
            </a:pPr>
            <a:r>
              <a:rPr sz="1800" b="1">
                <a:solidFill>
                  <a:srgbClr val="0B3C6E"/>
                </a:solidFill>
              </a:rPr>
              <a:t>RQ2</a:t>
            </a:r>
          </a:p>
          <a:p>
            <a:pPr algn="l" marL="0" indent="0">
              <a:spcAft>
                <a:spcPts val="400"/>
              </a:spcAft>
              <a:buNone/>
            </a:pPr>
            <a:r>
              <a:rPr sz="1150" b="0">
                <a:solidFill>
                  <a:srgbClr val="5A6676"/>
                </a:solidFill>
              </a:rPr>
              <a:t>アバターで実行は増えるか</a:t>
            </a:r>
          </a:p>
        </p:txBody>
      </p:sp>
      <p:sp>
        <p:nvSpPr>
          <p:cNvPr id="12" name="TextBox 11"/>
          <p:cNvSpPr txBox="1"/>
          <p:nvPr/>
        </p:nvSpPr>
        <p:spPr>
          <a:xfrm>
            <a:off x="3337560" y="2944368"/>
            <a:ext cx="5212080" cy="1143000"/>
          </a:xfrm>
          <a:prstGeom prst="rect">
            <a:avLst/>
          </a:prstGeom>
          <a:noFill/>
        </p:spPr>
        <p:txBody>
          <a:bodyPr wrap="square" lIns="0" tIns="0" rIns="0" bIns="0" anchor="ctr">
            <a:noAutofit/>
          </a:bodyPr>
          <a:lstStyle/>
          <a:p>
            <a:pPr algn="l" marL="0" indent="0">
              <a:spcAft>
                <a:spcPts val="300"/>
              </a:spcAft>
              <a:buNone/>
            </a:pPr>
            <a:r>
              <a:rPr sz="1500" b="1">
                <a:solidFill>
                  <a:srgbClr val="24303F"/>
                </a:solidFill>
              </a:rPr>
              <a:t>群Cの実行率が群Bより高い（オッズ比 1.71）</a:t>
            </a:r>
          </a:p>
          <a:p>
            <a:pPr algn="l" marL="0" indent="0">
              <a:spcAft>
                <a:spcPts val="400"/>
              </a:spcAft>
              <a:buNone/>
            </a:pPr>
            <a:r>
              <a:rPr sz="1200" b="0">
                <a:solidFill>
                  <a:srgbClr val="5A6676"/>
                </a:solidFill>
              </a:rPr>
              <a:t>4週間を通して群Cが約12ポイント上回った</a:t>
            </a:r>
          </a:p>
        </p:txBody>
      </p:sp>
      <p:sp>
        <p:nvSpPr>
          <p:cNvPr id="13" name="Rounded Rectangle 12"/>
          <p:cNvSpPr/>
          <p:nvPr/>
        </p:nvSpPr>
        <p:spPr>
          <a:xfrm>
            <a:off x="411480" y="4334256"/>
            <a:ext cx="8321040" cy="1325880"/>
          </a:xfrm>
          <a:prstGeom prst="roundRect">
            <a:avLst>
              <a:gd name="adj" fmla="val 827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94360" y="4608576"/>
            <a:ext cx="777240" cy="77724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600" b="1">
                <a:solidFill>
                  <a:srgbClr val="FFFFFF"/>
                </a:solidFill>
              </a:rPr>
              <a:t>△</a:t>
            </a:r>
          </a:p>
        </p:txBody>
      </p:sp>
      <p:sp>
        <p:nvSpPr>
          <p:cNvPr id="15" name="TextBox 14"/>
          <p:cNvSpPr txBox="1"/>
          <p:nvPr/>
        </p:nvSpPr>
        <p:spPr>
          <a:xfrm>
            <a:off x="1554480" y="4425696"/>
            <a:ext cx="1737360" cy="1143000"/>
          </a:xfrm>
          <a:prstGeom prst="rect">
            <a:avLst/>
          </a:prstGeom>
          <a:noFill/>
        </p:spPr>
        <p:txBody>
          <a:bodyPr wrap="square" lIns="0" tIns="0" rIns="0" bIns="0" anchor="ctr">
            <a:noAutofit/>
          </a:bodyPr>
          <a:lstStyle/>
          <a:p>
            <a:pPr algn="l" marL="0" indent="0">
              <a:spcAft>
                <a:spcPts val="0"/>
              </a:spcAft>
              <a:buNone/>
            </a:pPr>
            <a:r>
              <a:rPr sz="1800" b="1">
                <a:solidFill>
                  <a:srgbClr val="0B3C6E"/>
                </a:solidFill>
              </a:rPr>
              <a:t>RQ3</a:t>
            </a:r>
          </a:p>
          <a:p>
            <a:pPr algn="l" marL="0" indent="0">
              <a:spcAft>
                <a:spcPts val="400"/>
              </a:spcAft>
              <a:buNone/>
            </a:pPr>
            <a:r>
              <a:rPr sz="1150" b="0">
                <a:solidFill>
                  <a:srgbClr val="5A6676"/>
                </a:solidFill>
              </a:rPr>
              <a:t>ウェルビーイングは上がるか</a:t>
            </a:r>
          </a:p>
        </p:txBody>
      </p:sp>
      <p:sp>
        <p:nvSpPr>
          <p:cNvPr id="16" name="TextBox 15"/>
          <p:cNvSpPr txBox="1"/>
          <p:nvPr/>
        </p:nvSpPr>
        <p:spPr>
          <a:xfrm>
            <a:off x="3337560" y="4425696"/>
            <a:ext cx="5212080" cy="1143000"/>
          </a:xfrm>
          <a:prstGeom prst="rect">
            <a:avLst/>
          </a:prstGeom>
          <a:noFill/>
        </p:spPr>
        <p:txBody>
          <a:bodyPr wrap="square" lIns="0" tIns="0" rIns="0" bIns="0" anchor="ctr">
            <a:noAutofit/>
          </a:bodyPr>
          <a:lstStyle/>
          <a:p>
            <a:pPr algn="l" marL="0" indent="0">
              <a:spcAft>
                <a:spcPts val="300"/>
              </a:spcAft>
              <a:buNone/>
            </a:pPr>
            <a:r>
              <a:rPr sz="1500" b="1">
                <a:solidFill>
                  <a:srgbClr val="24303F"/>
                </a:solidFill>
              </a:rPr>
              <a:t>WHO-5 は群Cで上がったが、主要な比較は有意差なし</a:t>
            </a:r>
          </a:p>
          <a:p>
            <a:pPr algn="l" marL="0" indent="0">
              <a:spcAft>
                <a:spcPts val="400"/>
              </a:spcAft>
              <a:buNone/>
            </a:pPr>
            <a:r>
              <a:rPr sz="1200" b="0">
                <a:solidFill>
                  <a:srgbClr val="5A6676"/>
                </a:solidFill>
              </a:rPr>
              <a:t>群C−群B +0.9（Holm 補正後 p = .16）。群C−群A は +1.7（探索的）</a:t>
            </a:r>
          </a:p>
        </p:txBody>
      </p:sp>
      <p:sp>
        <p:nvSpPr>
          <p:cNvPr id="17" name="Rounded Rectangle 16"/>
          <p:cNvSpPr/>
          <p:nvPr/>
        </p:nvSpPr>
        <p:spPr>
          <a:xfrm>
            <a:off x="411480" y="5852160"/>
            <a:ext cx="8321040" cy="365760"/>
          </a:xfrm>
          <a:prstGeom prst="roundRect">
            <a:avLst>
              <a:gd name="adj" fmla="val 2000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前回からの差分：実験完了（12/13）→ 事後アンケート回収（197名）→ 事前に決めた解析を実施（12/17）</a:t>
            </a:r>
          </a:p>
        </p:txBody>
      </p:sp>
      <p:sp>
        <p:nvSpPr>
          <p:cNvPr id="18" name="Rounded Rectangle 17"/>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全体スケジュールと現在地</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3</a:t>
            </a:fld>
          </a:p>
        </p:txBody>
      </p:sp>
      <p:sp>
        <p:nvSpPr>
          <p:cNvPr id="5" name="TextBox 4"/>
          <p:cNvSpPr txBox="1"/>
          <p:nvPr/>
        </p:nvSpPr>
        <p:spPr>
          <a:xfrm>
            <a:off x="1874519" y="1417320"/>
            <a:ext cx="16002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10月</a:t>
            </a:r>
          </a:p>
        </p:txBody>
      </p:sp>
      <p:cxnSp>
        <p:nvCxnSpPr>
          <p:cNvPr id="6" name="Connector 5"/>
          <p:cNvCxnSpPr/>
          <p:nvPr/>
        </p:nvCxnSpPr>
        <p:spPr>
          <a:xfrm>
            <a:off x="187451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74720" y="1417320"/>
            <a:ext cx="16002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11月</a:t>
            </a:r>
          </a:p>
        </p:txBody>
      </p:sp>
      <p:cxnSp>
        <p:nvCxnSpPr>
          <p:cNvPr id="8" name="Connector 7"/>
          <p:cNvCxnSpPr/>
          <p:nvPr/>
        </p:nvCxnSpPr>
        <p:spPr>
          <a:xfrm>
            <a:off x="34747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4920" y="1417320"/>
            <a:ext cx="13716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12月</a:t>
            </a:r>
          </a:p>
        </p:txBody>
      </p:sp>
      <p:cxnSp>
        <p:nvCxnSpPr>
          <p:cNvPr id="10" name="Connector 9"/>
          <p:cNvCxnSpPr/>
          <p:nvPr/>
        </p:nvCxnSpPr>
        <p:spPr>
          <a:xfrm>
            <a:off x="50749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46520" y="1417320"/>
            <a:ext cx="914399"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1月</a:t>
            </a:r>
          </a:p>
        </p:txBody>
      </p:sp>
      <p:cxnSp>
        <p:nvCxnSpPr>
          <p:cNvPr id="12" name="Connector 11"/>
          <p:cNvCxnSpPr/>
          <p:nvPr/>
        </p:nvCxnSpPr>
        <p:spPr>
          <a:xfrm>
            <a:off x="64465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60919" y="1417320"/>
            <a:ext cx="777239"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2月</a:t>
            </a:r>
          </a:p>
        </p:txBody>
      </p:sp>
      <p:cxnSp>
        <p:nvCxnSpPr>
          <p:cNvPr id="14" name="Connector 13"/>
          <p:cNvCxnSpPr/>
          <p:nvPr/>
        </p:nvCxnSpPr>
        <p:spPr>
          <a:xfrm>
            <a:off x="736091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38159" y="1417320"/>
            <a:ext cx="50292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rPr>
              <a:t>3月</a:t>
            </a:r>
          </a:p>
        </p:txBody>
      </p:sp>
      <p:cxnSp>
        <p:nvCxnSpPr>
          <p:cNvPr id="16" name="Connector 15"/>
          <p:cNvCxnSpPr/>
          <p:nvPr/>
        </p:nvCxnSpPr>
        <p:spPr>
          <a:xfrm>
            <a:off x="813815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1480" y="176479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システム開発</a:t>
            </a:r>
          </a:p>
        </p:txBody>
      </p:sp>
      <p:sp>
        <p:nvSpPr>
          <p:cNvPr id="18" name="Rounded Rectangle 17"/>
          <p:cNvSpPr/>
          <p:nvPr/>
        </p:nvSpPr>
        <p:spPr>
          <a:xfrm>
            <a:off x="1874519" y="1874520"/>
            <a:ext cx="1496961" cy="329184"/>
          </a:xfrm>
          <a:prstGeom prst="roundRect">
            <a:avLst>
              <a:gd name="adj" fmla="val 22222"/>
            </a:avLst>
          </a:prstGeom>
          <a:solidFill>
            <a:srgbClr val="C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874519" y="1874520"/>
            <a:ext cx="1496961" cy="329184"/>
          </a:xfrm>
          <a:prstGeom prst="roundRect">
            <a:avLst>
              <a:gd name="adj" fmla="val 22222"/>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874519" y="1874520"/>
            <a:ext cx="1496961" cy="329184"/>
          </a:xfrm>
          <a:prstGeom prst="rect">
            <a:avLst/>
          </a:prstGeom>
          <a:noFill/>
        </p:spPr>
        <p:txBody>
          <a:bodyPr wrap="none" lIns="54864" tIns="0" rIns="0" bIns="0" anchor="ctr">
            <a:noAutofit/>
          </a:bodyPr>
          <a:lstStyle/>
          <a:p>
            <a:pPr algn="l" marL="0" indent="0">
              <a:spcAft>
                <a:spcPts val="400"/>
              </a:spcAft>
              <a:buNone/>
            </a:pPr>
            <a:r>
              <a:rPr sz="1100" b="1">
                <a:solidFill>
                  <a:srgbClr val="FFFFFF"/>
                </a:solidFill>
              </a:rPr>
              <a:t>設計 → β版</a:t>
            </a:r>
          </a:p>
        </p:txBody>
      </p:sp>
      <p:sp>
        <p:nvSpPr>
          <p:cNvPr id="21" name="TextBox 20"/>
          <p:cNvSpPr txBox="1"/>
          <p:nvPr/>
        </p:nvSpPr>
        <p:spPr>
          <a:xfrm>
            <a:off x="411480" y="231343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倫理審査・募集</a:t>
            </a:r>
          </a:p>
        </p:txBody>
      </p:sp>
      <p:sp>
        <p:nvSpPr>
          <p:cNvPr id="22" name="Rounded Rectangle 21"/>
          <p:cNvSpPr/>
          <p:nvPr/>
        </p:nvSpPr>
        <p:spPr>
          <a:xfrm>
            <a:off x="2287474" y="2423160"/>
            <a:ext cx="722670" cy="329184"/>
          </a:xfrm>
          <a:prstGeom prst="roundRect">
            <a:avLst>
              <a:gd name="adj" fmla="val 22222"/>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2287474" y="2423160"/>
            <a:ext cx="722670" cy="329184"/>
          </a:xfrm>
          <a:prstGeom prst="roundRect">
            <a:avLst>
              <a:gd name="adj" fmla="val 22222"/>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287474" y="2423160"/>
            <a:ext cx="722670" cy="329184"/>
          </a:xfrm>
          <a:prstGeom prst="rect">
            <a:avLst/>
          </a:prstGeom>
          <a:noFill/>
        </p:spPr>
        <p:txBody>
          <a:bodyPr wrap="none" lIns="54864" tIns="0" rIns="0" bIns="0" anchor="ctr">
            <a:noAutofit/>
          </a:bodyPr>
          <a:lstStyle/>
          <a:p>
            <a:pPr algn="l" marL="0" indent="0">
              <a:spcAft>
                <a:spcPts val="400"/>
              </a:spcAft>
              <a:buNone/>
            </a:pPr>
            <a:r>
              <a:rPr sz="1100" b="1">
                <a:solidFill>
                  <a:srgbClr val="FFFFFF"/>
                </a:solidFill>
              </a:rPr>
              <a:t>審査</a:t>
            </a:r>
          </a:p>
        </p:txBody>
      </p:sp>
      <p:sp>
        <p:nvSpPr>
          <p:cNvPr id="25" name="Rounded Rectangle 24"/>
          <p:cNvSpPr/>
          <p:nvPr/>
        </p:nvSpPr>
        <p:spPr>
          <a:xfrm>
            <a:off x="3061765" y="2423160"/>
            <a:ext cx="412954" cy="329184"/>
          </a:xfrm>
          <a:prstGeom prst="roundRect">
            <a:avLst>
              <a:gd name="adj" fmla="val 22222"/>
            </a:avLst>
          </a:prstGeom>
          <a:solidFill>
            <a:srgbClr val="EF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3061765" y="2423160"/>
            <a:ext cx="412954" cy="329184"/>
          </a:xfrm>
          <a:prstGeom prst="roundRect">
            <a:avLst>
              <a:gd name="adj" fmla="val 22222"/>
            </a:avLst>
          </a:prstGeom>
          <a:solidFill>
            <a:srgbClr val="7C6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061765" y="2423160"/>
            <a:ext cx="457200" cy="329184"/>
          </a:xfrm>
          <a:prstGeom prst="rect">
            <a:avLst/>
          </a:prstGeom>
          <a:noFill/>
        </p:spPr>
        <p:txBody>
          <a:bodyPr wrap="none" lIns="54864" tIns="0" rIns="0" bIns="0" anchor="ctr">
            <a:noAutofit/>
          </a:bodyPr>
          <a:lstStyle/>
          <a:p>
            <a:pPr algn="l" marL="0" indent="0">
              <a:spcAft>
                <a:spcPts val="400"/>
              </a:spcAft>
              <a:buNone/>
            </a:pPr>
            <a:r>
              <a:rPr sz="950" b="1">
                <a:solidFill>
                  <a:srgbClr val="FFFFFF"/>
                </a:solidFill>
              </a:rPr>
              <a:t>募集</a:t>
            </a:r>
          </a:p>
        </p:txBody>
      </p:sp>
      <p:sp>
        <p:nvSpPr>
          <p:cNvPr id="28" name="TextBox 27"/>
          <p:cNvSpPr txBox="1"/>
          <p:nvPr/>
        </p:nvSpPr>
        <p:spPr>
          <a:xfrm>
            <a:off x="411480" y="286207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本実験（6週間）</a:t>
            </a:r>
          </a:p>
        </p:txBody>
      </p:sp>
      <p:sp>
        <p:nvSpPr>
          <p:cNvPr id="29" name="Rounded Rectangle 28"/>
          <p:cNvSpPr/>
          <p:nvPr/>
        </p:nvSpPr>
        <p:spPr>
          <a:xfrm>
            <a:off x="3528059" y="2971800"/>
            <a:ext cx="693420" cy="329184"/>
          </a:xfrm>
          <a:prstGeom prst="roundRect">
            <a:avLst>
              <a:gd name="adj" fmla="val 22222"/>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3528059" y="2971800"/>
            <a:ext cx="693420" cy="329184"/>
          </a:xfrm>
          <a:prstGeom prst="roundRect">
            <a:avLst>
              <a:gd name="adj" fmla="val 22222"/>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528059" y="2971800"/>
            <a:ext cx="693420" cy="329184"/>
          </a:xfrm>
          <a:prstGeom prst="rect">
            <a:avLst/>
          </a:prstGeom>
          <a:noFill/>
        </p:spPr>
        <p:txBody>
          <a:bodyPr wrap="none" lIns="54864" tIns="0" rIns="0" bIns="0" anchor="ctr">
            <a:noAutofit/>
          </a:bodyPr>
          <a:lstStyle/>
          <a:p>
            <a:pPr algn="l" marL="0" indent="0">
              <a:spcAft>
                <a:spcPts val="400"/>
              </a:spcAft>
              <a:buNone/>
            </a:pPr>
            <a:r>
              <a:rPr sz="1100" b="1">
                <a:solidFill>
                  <a:srgbClr val="FFFFFF"/>
                </a:solidFill>
              </a:rPr>
              <a:t>記録のみ</a:t>
            </a:r>
          </a:p>
        </p:txBody>
      </p:sp>
      <p:sp>
        <p:nvSpPr>
          <p:cNvPr id="32" name="Rounded Rectangle 31"/>
          <p:cNvSpPr/>
          <p:nvPr/>
        </p:nvSpPr>
        <p:spPr>
          <a:xfrm>
            <a:off x="4274820" y="2971800"/>
            <a:ext cx="1331041" cy="329184"/>
          </a:xfrm>
          <a:prstGeom prst="roundRect">
            <a:avLst>
              <a:gd name="adj" fmla="val 22222"/>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4274820" y="2971800"/>
            <a:ext cx="1331041" cy="329184"/>
          </a:xfrm>
          <a:prstGeom prst="roundRect">
            <a:avLst>
              <a:gd name="adj" fmla="val 22222"/>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274820" y="2971800"/>
            <a:ext cx="1331041" cy="329184"/>
          </a:xfrm>
          <a:prstGeom prst="rect">
            <a:avLst/>
          </a:prstGeom>
          <a:noFill/>
        </p:spPr>
        <p:txBody>
          <a:bodyPr wrap="none" lIns="54864" tIns="0" rIns="0" bIns="0" anchor="ctr">
            <a:noAutofit/>
          </a:bodyPr>
          <a:lstStyle/>
          <a:p>
            <a:pPr algn="l" marL="0" indent="0">
              <a:spcAft>
                <a:spcPts val="400"/>
              </a:spcAft>
              <a:buNone/>
            </a:pPr>
            <a:r>
              <a:rPr sz="1100" b="1">
                <a:solidFill>
                  <a:srgbClr val="FFFFFF"/>
                </a:solidFill>
              </a:rPr>
              <a:t>介入（3群）</a:t>
            </a:r>
          </a:p>
        </p:txBody>
      </p:sp>
      <p:sp>
        <p:nvSpPr>
          <p:cNvPr id="35" name="TextBox 34"/>
          <p:cNvSpPr txBox="1"/>
          <p:nvPr/>
        </p:nvSpPr>
        <p:spPr>
          <a:xfrm>
            <a:off x="411480" y="341071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解析・修論</a:t>
            </a:r>
          </a:p>
        </p:txBody>
      </p:sp>
      <p:sp>
        <p:nvSpPr>
          <p:cNvPr id="36" name="Rounded Rectangle 35"/>
          <p:cNvSpPr/>
          <p:nvPr/>
        </p:nvSpPr>
        <p:spPr>
          <a:xfrm>
            <a:off x="5650107" y="3520440"/>
            <a:ext cx="1622322" cy="329184"/>
          </a:xfrm>
          <a:prstGeom prst="roundRect">
            <a:avLst>
              <a:gd name="adj" fmla="val 22222"/>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5650107" y="3520440"/>
            <a:ext cx="176980" cy="329184"/>
          </a:xfrm>
          <a:prstGeom prst="roundRect">
            <a:avLst>
              <a:gd name="adj" fmla="val 41333"/>
            </a:avLst>
          </a:prstGeom>
          <a:solidFill>
            <a:srgbClr val="8F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650107" y="3520440"/>
            <a:ext cx="1622322" cy="329184"/>
          </a:xfrm>
          <a:prstGeom prst="rect">
            <a:avLst/>
          </a:prstGeom>
          <a:noFill/>
        </p:spPr>
        <p:txBody>
          <a:bodyPr wrap="none" lIns="54864" tIns="0" rIns="0" bIns="0" anchor="ctr">
            <a:noAutofit/>
          </a:bodyPr>
          <a:lstStyle/>
          <a:p>
            <a:pPr algn="l" marL="0" indent="0">
              <a:spcAft>
                <a:spcPts val="400"/>
              </a:spcAft>
              <a:buNone/>
            </a:pPr>
            <a:r>
              <a:rPr sz="1100" b="1">
                <a:solidFill>
                  <a:srgbClr val="0B3C6E"/>
                </a:solidFill>
              </a:rPr>
              <a:t>解析 → 執筆</a:t>
            </a:r>
          </a:p>
        </p:txBody>
      </p:sp>
      <p:sp>
        <p:nvSpPr>
          <p:cNvPr id="39" name="TextBox 38"/>
          <p:cNvSpPr txBox="1"/>
          <p:nvPr/>
        </p:nvSpPr>
        <p:spPr>
          <a:xfrm>
            <a:off x="411480" y="395935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rPr>
              <a:t>対外発表</a:t>
            </a:r>
          </a:p>
        </p:txBody>
      </p:sp>
      <p:sp>
        <p:nvSpPr>
          <p:cNvPr id="40" name="Diamond 39"/>
          <p:cNvSpPr/>
          <p:nvPr/>
        </p:nvSpPr>
        <p:spPr>
          <a:xfrm>
            <a:off x="3228421" y="4032504"/>
            <a:ext cx="182880" cy="182880"/>
          </a:xfrm>
          <a:prstGeom prst="diamond">
            <a:avLst/>
          </a:prstGeom>
          <a:solidFill>
            <a:srgbClr val="E8457C"/>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816941"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rPr>
              <a:t>CHIIR投稿</a:t>
            </a:r>
          </a:p>
          <a:p>
            <a:pPr algn="ctr" marL="0" indent="0">
              <a:spcAft>
                <a:spcPts val="0"/>
              </a:spcAft>
              <a:buNone/>
            </a:pPr>
            <a:r>
              <a:rPr sz="1000" b="0">
                <a:solidFill>
                  <a:srgbClr val="24303F"/>
                </a:solidFill>
              </a:rPr>
              <a:t>10/29</a:t>
            </a:r>
          </a:p>
        </p:txBody>
      </p:sp>
      <p:sp>
        <p:nvSpPr>
          <p:cNvPr id="42" name="Diamond 41"/>
          <p:cNvSpPr/>
          <p:nvPr/>
        </p:nvSpPr>
        <p:spPr>
          <a:xfrm>
            <a:off x="7180989"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769509"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rPr>
              <a:t>修論提出</a:t>
            </a:r>
          </a:p>
          <a:p>
            <a:pPr algn="ctr" marL="0" indent="0">
              <a:spcAft>
                <a:spcPts val="0"/>
              </a:spcAft>
              <a:buNone/>
            </a:pPr>
            <a:r>
              <a:rPr sz="1000" b="0">
                <a:solidFill>
                  <a:srgbClr val="24303F"/>
                </a:solidFill>
              </a:rPr>
              <a:t>1/29</a:t>
            </a:r>
          </a:p>
        </p:txBody>
      </p:sp>
      <p:sp>
        <p:nvSpPr>
          <p:cNvPr id="44" name="Diamond 43"/>
          <p:cNvSpPr/>
          <p:nvPr/>
        </p:nvSpPr>
        <p:spPr>
          <a:xfrm>
            <a:off x="7713617"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302137"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rPr>
              <a:t>公聴会</a:t>
            </a:r>
          </a:p>
          <a:p>
            <a:pPr algn="ctr" marL="0" indent="0">
              <a:spcAft>
                <a:spcPts val="0"/>
              </a:spcAft>
              <a:buNone/>
            </a:pPr>
            <a:r>
              <a:rPr sz="1000" b="0">
                <a:solidFill>
                  <a:srgbClr val="24303F"/>
                </a:solidFill>
              </a:rPr>
              <a:t>2/17</a:t>
            </a:r>
          </a:p>
        </p:txBody>
      </p:sp>
      <p:sp>
        <p:nvSpPr>
          <p:cNvPr id="46" name="Diamond 45"/>
          <p:cNvSpPr/>
          <p:nvPr/>
        </p:nvSpPr>
        <p:spPr>
          <a:xfrm>
            <a:off x="8298179"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886699"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rPr>
              <a:t>CHIIR</a:t>
            </a:r>
          </a:p>
          <a:p>
            <a:pPr algn="ctr" marL="0" indent="0">
              <a:spcAft>
                <a:spcPts val="0"/>
              </a:spcAft>
              <a:buNone/>
            </a:pPr>
            <a:r>
              <a:rPr sz="1000" b="0">
                <a:solidFill>
                  <a:srgbClr val="24303F"/>
                </a:solidFill>
              </a:rPr>
              <a:t>3/7–11</a:t>
            </a:r>
          </a:p>
        </p:txBody>
      </p:sp>
      <p:cxnSp>
        <p:nvCxnSpPr>
          <p:cNvPr id="48" name="Connector 47"/>
          <p:cNvCxnSpPr/>
          <p:nvPr/>
        </p:nvCxnSpPr>
        <p:spPr>
          <a:xfrm>
            <a:off x="5827087" y="1719072"/>
            <a:ext cx="0" cy="2286000"/>
          </a:xfrm>
          <a:prstGeom prst="line">
            <a:avLst/>
          </a:prstGeom>
          <a:ln w="28575">
            <a:solidFill>
              <a:srgbClr val="E8457C"/>
            </a:solidFill>
            <a:prstDash val="dash"/>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5187007" y="4617720"/>
            <a:ext cx="1280160" cy="256032"/>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FFFFFF"/>
                </a:solidFill>
              </a:rPr>
              <a:t>いまここ 12/18</a:t>
            </a:r>
          </a:p>
        </p:txBody>
      </p:sp>
      <p:sp>
        <p:nvSpPr>
          <p:cNvPr id="50" name="Rounded Rectangle 49"/>
          <p:cNvSpPr/>
          <p:nvPr/>
        </p:nvSpPr>
        <p:spPr>
          <a:xfrm>
            <a:off x="411480" y="5029200"/>
            <a:ext cx="8321040" cy="1143000"/>
          </a:xfrm>
          <a:prstGeom prst="roundRect">
            <a:avLst>
              <a:gd name="adj" fmla="val 800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594360" y="5321808"/>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ic_pen_w.png"/>
          <p:cNvPicPr>
            <a:picLocks noChangeAspect="1"/>
          </p:cNvPicPr>
          <p:nvPr/>
        </p:nvPicPr>
        <p:blipFill>
          <a:blip r:embed="rId2"/>
          <a:stretch>
            <a:fillRect/>
          </a:stretch>
        </p:blipFill>
        <p:spPr>
          <a:xfrm>
            <a:off x="726033" y="5453481"/>
            <a:ext cx="285292" cy="285292"/>
          </a:xfrm>
          <a:prstGeom prst="rect">
            <a:avLst/>
          </a:prstGeom>
        </p:spPr>
      </p:pic>
      <p:sp>
        <p:nvSpPr>
          <p:cNvPr id="53" name="TextBox 52"/>
          <p:cNvSpPr txBox="1"/>
          <p:nvPr/>
        </p:nvSpPr>
        <p:spPr>
          <a:xfrm>
            <a:off x="1325880" y="5074920"/>
            <a:ext cx="7223760" cy="1051560"/>
          </a:xfrm>
          <a:prstGeom prst="rect">
            <a:avLst/>
          </a:prstGeom>
          <a:noFill/>
        </p:spPr>
        <p:txBody>
          <a:bodyPr wrap="square" lIns="0" tIns="0" rIns="0" bIns="0" anchor="ctr">
            <a:noAutofit/>
          </a:bodyPr>
          <a:lstStyle/>
          <a:p>
            <a:pPr algn="l" marL="0" indent="0">
              <a:spcAft>
                <a:spcPts val="200"/>
              </a:spcAft>
              <a:buNone/>
            </a:pPr>
            <a:r>
              <a:rPr sz="1400" b="1">
                <a:solidFill>
                  <a:srgbClr val="0B3C6E"/>
                </a:solidFill>
              </a:rPr>
              <a:t>本実験が完了し、解析と修論執筆の段階へ。提出（1/29）まで約6週間</a:t>
            </a:r>
          </a:p>
          <a:p>
            <a:pPr algn="l" marL="0" indent="0">
              <a:spcAft>
                <a:spcPts val="400"/>
              </a:spcAft>
              <a:buNone/>
            </a:pPr>
            <a:r>
              <a:rPr sz="1200" b="0">
                <a:solidFill>
                  <a:srgbClr val="5A6676"/>
                </a:solidFill>
              </a:rPr>
              <a:t>前回（11/27）から：介入期間の後半 → 終了 → 事後アンケート → 主要解析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参加者：最後まで続いた割合</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4</a:t>
            </a:fld>
          </a:p>
        </p:txBody>
      </p:sp>
      <p:graphicFrame>
        <p:nvGraphicFramePr>
          <p:cNvPr id="5" name="Chart 4"/>
          <p:cNvGraphicFramePr>
            <a:graphicFrameLocks noGrp="1"/>
          </p:cNvGraphicFramePr>
          <p:nvPr/>
        </p:nvGraphicFramePr>
        <p:xfrm>
          <a:off x="411480" y="1325880"/>
          <a:ext cx="4846320" cy="3931920"/>
        </p:xfrm>
        <a:graphic>
          <a:graphicData uri="http://schemas.openxmlformats.org/drawingml/2006/chart">
            <c:chart xmlns:c="http://schemas.openxmlformats.org/drawingml/2006/chart" r:id="rId2"/>
          </a:graphicData>
        </a:graphic>
      </p:graphicFrame>
      <p:sp>
        <p:nvSpPr>
          <p:cNvPr id="6" name="Rounded Rectangle 5"/>
          <p:cNvSpPr/>
          <p:nvPr/>
        </p:nvSpPr>
        <p:spPr>
          <a:xfrm>
            <a:off x="5486400" y="1371600"/>
            <a:ext cx="3246120" cy="1188720"/>
          </a:xfrm>
          <a:prstGeom prst="roundRect">
            <a:avLst>
              <a:gd name="adj" fmla="val 923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0" y="1417320"/>
            <a:ext cx="3246120" cy="73152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197名</a:t>
            </a:r>
          </a:p>
        </p:txBody>
      </p:sp>
      <p:sp>
        <p:nvSpPr>
          <p:cNvPr id="8" name="TextBox 7"/>
          <p:cNvSpPr txBox="1"/>
          <p:nvPr/>
        </p:nvSpPr>
        <p:spPr>
          <a:xfrm>
            <a:off x="5486400" y="2148840"/>
            <a:ext cx="324612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6週間を完了</a:t>
            </a:r>
          </a:p>
        </p:txBody>
      </p:sp>
      <p:sp>
        <p:nvSpPr>
          <p:cNvPr id="9" name="Rounded Rectangle 8"/>
          <p:cNvSpPr/>
          <p:nvPr/>
        </p:nvSpPr>
        <p:spPr>
          <a:xfrm>
            <a:off x="5486400" y="2697480"/>
            <a:ext cx="3246120" cy="1188720"/>
          </a:xfrm>
          <a:prstGeom prst="roundRect">
            <a:avLst>
              <a:gd name="adj" fmla="val 923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0" y="2743200"/>
            <a:ext cx="3246120" cy="73152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7.5%</a:t>
            </a:r>
          </a:p>
        </p:txBody>
      </p:sp>
      <p:sp>
        <p:nvSpPr>
          <p:cNvPr id="11" name="TextBox 10"/>
          <p:cNvSpPr txBox="1"/>
          <p:nvPr/>
        </p:nvSpPr>
        <p:spPr>
          <a:xfrm>
            <a:off x="5486400" y="3474720"/>
            <a:ext cx="324612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割付後の脱落率</a:t>
            </a:r>
          </a:p>
        </p:txBody>
      </p:sp>
      <p:sp>
        <p:nvSpPr>
          <p:cNvPr id="12" name="Rounded Rectangle 11"/>
          <p:cNvSpPr/>
          <p:nvPr/>
        </p:nvSpPr>
        <p:spPr>
          <a:xfrm>
            <a:off x="5486400" y="4023360"/>
            <a:ext cx="3246120" cy="1188720"/>
          </a:xfrm>
          <a:prstGeom prst="roundRect">
            <a:avLst>
              <a:gd name="adj" fmla="val 923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0" y="4069080"/>
            <a:ext cx="3246120" cy="73152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64名</a:t>
            </a:r>
          </a:p>
        </p:txBody>
      </p:sp>
      <p:sp>
        <p:nvSpPr>
          <p:cNvPr id="14" name="TextBox 13"/>
          <p:cNvSpPr txBox="1"/>
          <p:nvPr/>
        </p:nvSpPr>
        <p:spPr>
          <a:xfrm>
            <a:off x="5486400" y="4800600"/>
            <a:ext cx="324612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1群あたりの必要人数</a:t>
            </a:r>
          </a:p>
        </p:txBody>
      </p:sp>
      <p:sp>
        <p:nvSpPr>
          <p:cNvPr id="15" name="Rounded Rectangle 14"/>
          <p:cNvSpPr/>
          <p:nvPr/>
        </p:nvSpPr>
        <p:spPr>
          <a:xfrm>
            <a:off x="411480" y="5440680"/>
            <a:ext cx="8321040" cy="731520"/>
          </a:xfrm>
          <a:prstGeom prst="roundRect">
            <a:avLst>
              <a:gd name="adj" fmla="val 125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27432" rIns="137160" bIns="27432">
            <a:noAutofit/>
          </a:bodyPr>
          <a:lstStyle/>
          <a:p>
            <a:pPr algn="l" marL="0" indent="0">
              <a:spcAft>
                <a:spcPts val="400"/>
              </a:spcAft>
              <a:buNone/>
            </a:pPr>
            <a:r>
              <a:rPr sz="1250" b="1">
                <a:solidFill>
                  <a:srgbClr val="12A38A"/>
                </a:solidFill>
              </a:rPr>
              <a:t>各群とも必要人数（64名）を確保：群A 64名・群B 66名・群C 67名。脱落は群Aでやや多い</a:t>
            </a:r>
          </a:p>
        </p:txBody>
      </p:sp>
      <p:sp>
        <p:nvSpPr>
          <p:cNvPr id="16" name="Rounded Rectangle 15"/>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RQ3：WHO-5（精神的な健康）の変化</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5</a:t>
            </a:fld>
          </a:p>
        </p:txBody>
      </p:sp>
      <p:graphicFrame>
        <p:nvGraphicFramePr>
          <p:cNvPr id="5" name="Chart 4"/>
          <p:cNvGraphicFramePr>
            <a:graphicFrameLocks noGrp="1"/>
          </p:cNvGraphicFramePr>
          <p:nvPr/>
        </p:nvGraphicFramePr>
        <p:xfrm>
          <a:off x="411480" y="1325880"/>
          <a:ext cx="4572000" cy="4069080"/>
        </p:xfrm>
        <a:graphic>
          <a:graphicData uri="http://schemas.openxmlformats.org/drawingml/2006/chart">
            <c:chart xmlns:c="http://schemas.openxmlformats.org/drawingml/2006/chart" r:id="rId2"/>
          </a:graphicData>
        </a:graphic>
      </p:graphicFrame>
      <p:sp>
        <p:nvSpPr>
          <p:cNvPr id="6" name="TextBox 5"/>
          <p:cNvSpPr txBox="1"/>
          <p:nvPr/>
        </p:nvSpPr>
        <p:spPr>
          <a:xfrm>
            <a:off x="411480" y="5440680"/>
            <a:ext cx="4572000" cy="685800"/>
          </a:xfrm>
          <a:prstGeom prst="rect">
            <a:avLst/>
          </a:prstGeom>
          <a:noFill/>
        </p:spPr>
        <p:txBody>
          <a:bodyPr wrap="square" lIns="0" tIns="0" rIns="0" bIns="0" anchor="t">
            <a:noAutofit/>
          </a:bodyPr>
          <a:lstStyle/>
          <a:p>
            <a:pPr algn="l" marL="0" indent="0">
              <a:spcAft>
                <a:spcPts val="400"/>
              </a:spcAft>
              <a:buNone/>
            </a:pPr>
            <a:r>
              <a:rPr sz="1100" b="0">
                <a:solidFill>
                  <a:srgbClr val="5A6676"/>
                </a:solidFill>
              </a:rPr>
              <a:t>2週までは全群が記録のみ。2週の終わりに割付し、3週目から介入</a:t>
            </a:r>
          </a:p>
        </p:txBody>
      </p:sp>
      <p:graphicFrame>
        <p:nvGraphicFramePr>
          <p:cNvPr id="7" name="Table 6"/>
          <p:cNvGraphicFramePr>
            <a:graphicFrameLocks noGrp="1"/>
          </p:cNvGraphicFramePr>
          <p:nvPr/>
        </p:nvGraphicFramePr>
        <p:xfrm>
          <a:off x="5166360" y="1371600"/>
          <a:ext cx="3566160" cy="2011680"/>
        </p:xfrm>
        <a:graphic>
          <a:graphicData uri="http://schemas.openxmlformats.org/drawingml/2006/table">
            <a:tbl>
              <a:tblPr>
                <a:tableStyleId>{5940675A-B579-460E-94D1-54222C63F5DA}</a:tableStyleId>
              </a:tblPr>
              <a:tblGrid>
                <a:gridCol w="1417320"/>
                <a:gridCol w="960120"/>
                <a:gridCol w="1188720"/>
              </a:tblGrid>
              <a:tr h="502920">
                <a:tc>
                  <a:txBody>
                    <a:bodyPr wrap="square" lIns="64008" tIns="27432" rIns="64008" bIns="27432" anchor="ctr">
                      <a:noAutofit/>
                    </a:bodyPr>
                    <a:lstStyle/>
                    <a:p>
                      <a:pPr algn="l" marL="0" indent="0">
                        <a:spcAft>
                          <a:spcPts val="0"/>
                        </a:spcAft>
                        <a:buNone/>
                      </a:pPr>
                      <a:r>
                        <a:rPr sz="1150" b="1">
                          <a:solidFill>
                            <a:srgbClr val="FFFFFF"/>
                          </a:solidFill>
                        </a:rPr>
                        <a:t>比較</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150" b="1">
                          <a:solidFill>
                            <a:srgbClr val="FFFFFF"/>
                          </a:solidFill>
                        </a:rPr>
                        <a:t>調整済みの差</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150" b="1">
                          <a:solidFill>
                            <a:srgbClr val="FFFFFF"/>
                          </a:solidFill>
                        </a:rPr>
                        <a:t>p（Holm 補正後）</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02920">
                <a:tc>
                  <a:txBody>
                    <a:bodyPr wrap="square" lIns="64008" tIns="27432" rIns="64008" bIns="27432" anchor="ctr">
                      <a:noAutofit/>
                    </a:bodyPr>
                    <a:lstStyle/>
                    <a:p>
                      <a:pPr algn="l" marL="0" indent="0">
                        <a:spcAft>
                          <a:spcPts val="0"/>
                        </a:spcAft>
                        <a:buNone/>
                      </a:pPr>
                      <a:r>
                        <a:rPr sz="1150" b="1">
                          <a:solidFill>
                            <a:srgbClr val="24303F"/>
                          </a:solidFill>
                        </a:rPr>
                        <a:t>C − B（主要）</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c>
                  <a:txBody>
                    <a:bodyPr wrap="square" lIns="64008" tIns="27432" rIns="64008" bIns="27432" anchor="ctr">
                      <a:noAutofit/>
                    </a:bodyPr>
                    <a:lstStyle/>
                    <a:p>
                      <a:pPr algn="ctr" marL="0" indent="0">
                        <a:spcAft>
                          <a:spcPts val="0"/>
                        </a:spcAft>
                        <a:buNone/>
                      </a:pPr>
                      <a:r>
                        <a:rPr sz="1150" b="0">
                          <a:solidFill>
                            <a:srgbClr val="24303F"/>
                          </a:solidFill>
                        </a:rPr>
                        <a:t>+0.9</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c>
                  <a:txBody>
                    <a:bodyPr wrap="square" lIns="64008" tIns="27432" rIns="64008" bIns="27432" anchor="ctr">
                      <a:noAutofit/>
                    </a:bodyPr>
                    <a:lstStyle/>
                    <a:p>
                      <a:pPr algn="ctr" marL="0" indent="0">
                        <a:spcAft>
                          <a:spcPts val="0"/>
                        </a:spcAft>
                        <a:buNone/>
                      </a:pPr>
                      <a:r>
                        <a:rPr sz="1150" b="0">
                          <a:solidFill>
                            <a:srgbClr val="24303F"/>
                          </a:solidFill>
                        </a:rPr>
                        <a:t>.08（.16）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02920">
                <a:tc>
                  <a:txBody>
                    <a:bodyPr wrap="square" lIns="64008" tIns="27432" rIns="64008" bIns="27432" anchor="ctr">
                      <a:noAutofit/>
                    </a:bodyPr>
                    <a:lstStyle/>
                    <a:p>
                      <a:pPr algn="l" marL="0" indent="0">
                        <a:spcAft>
                          <a:spcPts val="0"/>
                        </a:spcAft>
                        <a:buNone/>
                      </a:pPr>
                      <a:r>
                        <a:rPr sz="1150" b="1">
                          <a:solidFill>
                            <a:srgbClr val="24303F"/>
                          </a:solidFill>
                        </a:rPr>
                        <a:t>B − A（主要）</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150" b="0">
                          <a:solidFill>
                            <a:srgbClr val="24303F"/>
                          </a:solidFill>
                        </a:rPr>
                        <a:t>+0.8</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150" b="0">
                          <a:solidFill>
                            <a:srgbClr val="24303F"/>
                          </a:solidFill>
                        </a:rPr>
                        <a:t>.12（.16）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r>
              <a:tr h="502920">
                <a:tc>
                  <a:txBody>
                    <a:bodyPr wrap="square" lIns="64008" tIns="27432" rIns="64008" bIns="27432" anchor="ctr">
                      <a:noAutofit/>
                    </a:bodyPr>
                    <a:lstStyle/>
                    <a:p>
                      <a:pPr algn="l" marL="0" indent="0">
                        <a:spcAft>
                          <a:spcPts val="0"/>
                        </a:spcAft>
                        <a:buNone/>
                      </a:pPr>
                      <a:r>
                        <a:rPr sz="1150" b="1">
                          <a:solidFill>
                            <a:srgbClr val="24303F"/>
                          </a:solidFill>
                        </a:rPr>
                        <a:t>C − A（探索的）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150" b="0">
                          <a:solidFill>
                            <a:srgbClr val="24303F"/>
                          </a:solidFill>
                        </a:rPr>
                        <a:t>+1.7</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150" b="0">
                          <a:solidFill>
                            <a:srgbClr val="24303F"/>
                          </a:solidFill>
                        </a:rPr>
                        <a:t>.001</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bl>
          </a:graphicData>
        </a:graphic>
      </p:graphicFrame>
      <p:sp>
        <p:nvSpPr>
          <p:cNvPr id="8" name="TextBox 7"/>
          <p:cNvSpPr txBox="1"/>
          <p:nvPr/>
        </p:nvSpPr>
        <p:spPr>
          <a:xfrm>
            <a:off x="5166360" y="3703320"/>
            <a:ext cx="3566160" cy="274320"/>
          </a:xfrm>
          <a:prstGeom prst="rect">
            <a:avLst/>
          </a:prstGeom>
          <a:noFill/>
        </p:spPr>
        <p:txBody>
          <a:bodyPr wrap="square" lIns="0" tIns="0" rIns="0" bIns="0" anchor="t">
            <a:noAutofit/>
          </a:bodyPr>
          <a:lstStyle/>
          <a:p>
            <a:pPr algn="l" marL="0" indent="0">
              <a:spcAft>
                <a:spcPts val="400"/>
              </a:spcAft>
              <a:buNone/>
            </a:pPr>
            <a:r>
              <a:rPr sz="1050" b="0">
                <a:solidFill>
                  <a:srgbClr val="5A6676"/>
                </a:solidFill>
              </a:rPr>
              <a:t>共分散分析（2週の WHO-5 を共変量）</a:t>
            </a:r>
          </a:p>
        </p:txBody>
      </p:sp>
      <p:sp>
        <p:nvSpPr>
          <p:cNvPr id="9" name="Rounded Rectangle 8"/>
          <p:cNvSpPr/>
          <p:nvPr/>
        </p:nvSpPr>
        <p:spPr>
          <a:xfrm>
            <a:off x="5166360" y="4069080"/>
            <a:ext cx="3566160" cy="2103120"/>
          </a:xfrm>
          <a:prstGeom prst="roundRect">
            <a:avLst>
              <a:gd name="adj" fmla="val 5217"/>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03520" y="4114800"/>
            <a:ext cx="3291840" cy="2011680"/>
          </a:xfrm>
          <a:prstGeom prst="rect">
            <a:avLst/>
          </a:prstGeom>
          <a:noFill/>
        </p:spPr>
        <p:txBody>
          <a:bodyPr wrap="square" lIns="0" tIns="0" rIns="0" bIns="0" anchor="ctr">
            <a:noAutofit/>
          </a:bodyPr>
          <a:lstStyle/>
          <a:p>
            <a:pPr algn="l" marL="0" indent="0">
              <a:spcAft>
                <a:spcPts val="400"/>
              </a:spcAft>
              <a:buNone/>
            </a:pPr>
            <a:r>
              <a:rPr sz="1400" b="1">
                <a:solidFill>
                  <a:srgbClr val="E07A10"/>
                </a:solidFill>
              </a:rPr>
              <a:t>主要な比較は有意差なし</a:t>
            </a:r>
          </a:p>
          <a:p>
            <a:pPr algn="l" marL="182880" indent="-182880">
              <a:spcAft>
                <a:spcPts val="400"/>
              </a:spcAft>
              <a:buClr>
                <a:srgbClr val="E07A10"/>
              </a:buClr>
              <a:buFont typeface="Arial"/>
              <a:buChar char="•"/>
            </a:pPr>
            <a:r>
              <a:rPr sz="1200" b="0">
                <a:solidFill>
                  <a:srgbClr val="24303F"/>
                </a:solidFill>
              </a:rPr>
              <a:t>群Cは記録のみの群Aより +1.7 点（探索的）</a:t>
            </a:r>
          </a:p>
          <a:p>
            <a:pPr algn="l" marL="182880" indent="-182880">
              <a:spcAft>
                <a:spcPts val="400"/>
              </a:spcAft>
              <a:buClr>
                <a:srgbClr val="E07A10"/>
              </a:buClr>
              <a:buFont typeface="Arial"/>
              <a:buChar char="•"/>
            </a:pPr>
            <a:r>
              <a:rPr sz="1200" b="0">
                <a:solidFill>
                  <a:srgbClr val="24303F"/>
                </a:solidFill>
              </a:rPr>
              <a:t>群C−群B の差 +0.9 は効果量 d ≈ 0.2（小）。検出力が足りなかった可能性</a:t>
            </a:r>
          </a:p>
        </p:txBody>
      </p:sp>
      <p:sp>
        <p:nvSpPr>
          <p:cNvPr id="11" name="Rounded Rectangle 10"/>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RQ2：選んだ提案を実行できた割合</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6</a:t>
            </a:fld>
          </a:p>
        </p:txBody>
      </p:sp>
      <p:graphicFrame>
        <p:nvGraphicFramePr>
          <p:cNvPr id="5" name="Chart 4"/>
          <p:cNvGraphicFramePr>
            <a:graphicFrameLocks noGrp="1"/>
          </p:cNvGraphicFramePr>
          <p:nvPr/>
        </p:nvGraphicFramePr>
        <p:xfrm>
          <a:off x="411480" y="1325880"/>
          <a:ext cx="5120640" cy="4069080"/>
        </p:xfrm>
        <a:graphic>
          <a:graphicData uri="http://schemas.openxmlformats.org/drawingml/2006/chart">
            <c:chart xmlns:c="http://schemas.openxmlformats.org/drawingml/2006/chart" r:id="rId2"/>
          </a:graphicData>
        </a:graphic>
      </p:graphicFrame>
      <p:sp>
        <p:nvSpPr>
          <p:cNvPr id="6" name="Rounded Rectangle 5"/>
          <p:cNvSpPr/>
          <p:nvPr/>
        </p:nvSpPr>
        <p:spPr>
          <a:xfrm>
            <a:off x="5715000" y="1371600"/>
            <a:ext cx="3017520" cy="1965960"/>
          </a:xfrm>
          <a:prstGeom prst="roundRect">
            <a:avLst>
              <a:gd name="adj" fmla="val 5581"/>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852160" y="1417320"/>
            <a:ext cx="2743200" cy="1874519"/>
          </a:xfrm>
          <a:prstGeom prst="rect">
            <a:avLst/>
          </a:prstGeom>
          <a:noFill/>
        </p:spPr>
        <p:txBody>
          <a:bodyPr wrap="square" lIns="0" tIns="0" rIns="0" bIns="0" anchor="ctr">
            <a:noAutofit/>
          </a:bodyPr>
          <a:lstStyle/>
          <a:p>
            <a:pPr algn="l" marL="0" indent="0">
              <a:spcAft>
                <a:spcPts val="200"/>
              </a:spcAft>
              <a:buNone/>
            </a:pPr>
            <a:r>
              <a:rPr sz="2600" b="1">
                <a:solidFill>
                  <a:srgbClr val="12A38A"/>
                </a:solidFill>
              </a:rPr>
              <a:t>オッズ比 1.71</a:t>
            </a:r>
          </a:p>
          <a:p>
            <a:pPr algn="l" marL="0" indent="0">
              <a:spcAft>
                <a:spcPts val="200"/>
              </a:spcAft>
              <a:buNone/>
            </a:pPr>
            <a:r>
              <a:rPr sz="1200" b="0">
                <a:solidFill>
                  <a:srgbClr val="24303F"/>
                </a:solidFill>
              </a:rPr>
              <a:t>95%信頼区間 1.18〜2.48、p = .005</a:t>
            </a:r>
          </a:p>
          <a:p>
            <a:pPr algn="l" marL="0" indent="0">
              <a:spcAft>
                <a:spcPts val="400"/>
              </a:spcAft>
              <a:buNone/>
            </a:pPr>
            <a:r>
              <a:rPr sz="1100" b="0">
                <a:solidFill>
                  <a:srgbClr val="5A6676"/>
                </a:solidFill>
              </a:rPr>
              <a:t>ロジスティック混合モデル（群×週）</a:t>
            </a:r>
          </a:p>
        </p:txBody>
      </p:sp>
      <p:sp>
        <p:nvSpPr>
          <p:cNvPr id="8" name="Rounded Rectangle 7"/>
          <p:cNvSpPr/>
          <p:nvPr/>
        </p:nvSpPr>
        <p:spPr>
          <a:xfrm>
            <a:off x="5715000" y="3520440"/>
            <a:ext cx="3017520" cy="2651760"/>
          </a:xfrm>
          <a:prstGeom prst="roundRect">
            <a:avLst>
              <a:gd name="adj" fmla="val 344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861304" y="366674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ic_chart_w.png"/>
          <p:cNvPicPr>
            <a:picLocks noChangeAspect="1"/>
          </p:cNvPicPr>
          <p:nvPr/>
        </p:nvPicPr>
        <p:blipFill>
          <a:blip r:embed="rId3"/>
          <a:stretch>
            <a:fillRect/>
          </a:stretch>
        </p:blipFill>
        <p:spPr>
          <a:xfrm>
            <a:off x="5971032" y="3776472"/>
            <a:ext cx="237744" cy="237744"/>
          </a:xfrm>
          <a:prstGeom prst="rect">
            <a:avLst/>
          </a:prstGeom>
        </p:spPr>
      </p:pic>
      <p:sp>
        <p:nvSpPr>
          <p:cNvPr id="11" name="TextBox 10"/>
          <p:cNvSpPr txBox="1"/>
          <p:nvPr/>
        </p:nvSpPr>
        <p:spPr>
          <a:xfrm>
            <a:off x="6428232" y="3639312"/>
            <a:ext cx="219455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読み取れること</a:t>
            </a:r>
          </a:p>
        </p:txBody>
      </p:sp>
      <p:sp>
        <p:nvSpPr>
          <p:cNvPr id="12" name="TextBox 11"/>
          <p:cNvSpPr txBox="1"/>
          <p:nvPr/>
        </p:nvSpPr>
        <p:spPr>
          <a:xfrm>
            <a:off x="5879592" y="4215384"/>
            <a:ext cx="2724912" cy="1865375"/>
          </a:xfrm>
          <a:prstGeom prst="rect">
            <a:avLst/>
          </a:prstGeom>
          <a:noFill/>
        </p:spPr>
        <p:txBody>
          <a:bodyPr wrap="square" lIns="0" tIns="0" rIns="0" bIns="0" anchor="t">
            <a:noAutofit/>
          </a:bodyPr>
          <a:lstStyle/>
          <a:p>
            <a:pPr algn="l" marL="182880" indent="-182880">
              <a:spcAft>
                <a:spcPts val="300"/>
              </a:spcAft>
              <a:buClr>
                <a:srgbClr val="0099FF"/>
              </a:buClr>
              <a:buFont typeface="Arial"/>
              <a:buChar char="•"/>
            </a:pPr>
            <a:r>
              <a:rPr sz="1250" b="0">
                <a:solidFill>
                  <a:srgbClr val="24303F"/>
                </a:solidFill>
              </a:rPr>
              <a:t>両群とも週を追うごとに下がる（交互作用は有意でない）</a:t>
            </a:r>
          </a:p>
          <a:p>
            <a:pPr algn="l" marL="182880" indent="-182880">
              <a:spcAft>
                <a:spcPts val="300"/>
              </a:spcAft>
              <a:buClr>
                <a:srgbClr val="0099FF"/>
              </a:buClr>
              <a:buFont typeface="Arial"/>
              <a:buChar char="•"/>
            </a:pPr>
            <a:r>
              <a:rPr sz="1250" b="0">
                <a:solidFill>
                  <a:srgbClr val="24303F"/>
                </a:solidFill>
              </a:rPr>
              <a:t>群Cは下がり方がゆるやかで、6週でも半分以上が実行</a:t>
            </a:r>
          </a:p>
          <a:p>
            <a:pPr algn="l" marL="182880" indent="-182880">
              <a:spcAft>
                <a:spcPts val="300"/>
              </a:spcAft>
              <a:buClr>
                <a:srgbClr val="E8457C"/>
              </a:buClr>
              <a:buFont typeface="Arial"/>
              <a:buChar char="•"/>
            </a:pPr>
            <a:r>
              <a:rPr sz="1250" b="0">
                <a:solidFill>
                  <a:srgbClr val="24303F"/>
                </a:solidFill>
              </a:rPr>
              <a:t>同じ提案でも、見せ方で実行が変わる</a:t>
            </a:r>
          </a:p>
        </p:txBody>
      </p:sp>
      <p:sp>
        <p:nvSpPr>
          <p:cNvPr id="13" name="Rounded Rectangle 12"/>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RQ1：個人補正で予測はどれだけ当たったか</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7</a:t>
            </a:fld>
          </a:p>
        </p:txBody>
      </p:sp>
      <p:graphicFrame>
        <p:nvGraphicFramePr>
          <p:cNvPr id="5" name="Chart 4"/>
          <p:cNvGraphicFramePr>
            <a:graphicFrameLocks noGrp="1"/>
          </p:cNvGraphicFramePr>
          <p:nvPr/>
        </p:nvGraphicFramePr>
        <p:xfrm>
          <a:off x="411480" y="1325880"/>
          <a:ext cx="4846320" cy="4023360"/>
        </p:xfrm>
        <a:graphic>
          <a:graphicData uri="http://schemas.openxmlformats.org/drawingml/2006/chart">
            <c:chart xmlns:c="http://schemas.openxmlformats.org/drawingml/2006/chart" r:id="rId2"/>
          </a:graphicData>
        </a:graphic>
      </p:graphicFrame>
      <p:sp>
        <p:nvSpPr>
          <p:cNvPr id="6" name="Rounded Rectangle 5"/>
          <p:cNvSpPr/>
          <p:nvPr/>
        </p:nvSpPr>
        <p:spPr>
          <a:xfrm>
            <a:off x="5486400" y="1371600"/>
            <a:ext cx="3246120" cy="1188720"/>
          </a:xfrm>
          <a:prstGeom prst="roundRect">
            <a:avLst>
              <a:gd name="adj" fmla="val 923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0" y="1417320"/>
            <a:ext cx="3246120" cy="73152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78%</a:t>
            </a:r>
          </a:p>
        </p:txBody>
      </p:sp>
      <p:sp>
        <p:nvSpPr>
          <p:cNvPr id="8" name="TextBox 7"/>
          <p:cNvSpPr txBox="1"/>
          <p:nvPr/>
        </p:nvSpPr>
        <p:spPr>
          <a:xfrm>
            <a:off x="5486400" y="2148840"/>
            <a:ext cx="324612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充実：80%区間に入った割合</a:t>
            </a:r>
          </a:p>
        </p:txBody>
      </p:sp>
      <p:sp>
        <p:nvSpPr>
          <p:cNvPr id="9" name="Rounded Rectangle 8"/>
          <p:cNvSpPr/>
          <p:nvPr/>
        </p:nvSpPr>
        <p:spPr>
          <a:xfrm>
            <a:off x="5486400" y="2697480"/>
            <a:ext cx="3246120" cy="1188720"/>
          </a:xfrm>
          <a:prstGeom prst="roundRect">
            <a:avLst>
              <a:gd name="adj" fmla="val 923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0" y="2743200"/>
            <a:ext cx="3246120" cy="73152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76%</a:t>
            </a:r>
          </a:p>
        </p:txBody>
      </p:sp>
      <p:sp>
        <p:nvSpPr>
          <p:cNvPr id="11" name="TextBox 10"/>
          <p:cNvSpPr txBox="1"/>
          <p:nvPr/>
        </p:nvSpPr>
        <p:spPr>
          <a:xfrm>
            <a:off x="5486400" y="3474720"/>
            <a:ext cx="324612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推し疲れ：80%区間に入った割合</a:t>
            </a:r>
          </a:p>
        </p:txBody>
      </p:sp>
      <p:sp>
        <p:nvSpPr>
          <p:cNvPr id="12" name="Rounded Rectangle 11"/>
          <p:cNvSpPr/>
          <p:nvPr/>
        </p:nvSpPr>
        <p:spPr>
          <a:xfrm>
            <a:off x="5486400" y="4069080"/>
            <a:ext cx="3246120" cy="2103120"/>
          </a:xfrm>
          <a:prstGeom prst="roundRect">
            <a:avLst>
              <a:gd name="adj" fmla="val 5217"/>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23560" y="4114800"/>
            <a:ext cx="2971800" cy="2011680"/>
          </a:xfrm>
          <a:prstGeom prst="rect">
            <a:avLst/>
          </a:prstGeom>
          <a:noFill/>
        </p:spPr>
        <p:txBody>
          <a:bodyPr wrap="square" lIns="0" tIns="0" rIns="0" bIns="0" anchor="ctr">
            <a:noAutofit/>
          </a:bodyPr>
          <a:lstStyle/>
          <a:p>
            <a:pPr algn="l" marL="0" indent="0">
              <a:spcAft>
                <a:spcPts val="400"/>
              </a:spcAft>
              <a:buNone/>
            </a:pPr>
            <a:r>
              <a:rPr sz="1400" b="1">
                <a:solidFill>
                  <a:srgbClr val="0B3C6E"/>
                </a:solidFill>
              </a:rPr>
              <a:t>区間はほぼ「正直」</a:t>
            </a:r>
          </a:p>
          <a:p>
            <a:pPr algn="l" marL="0" indent="0">
              <a:spcAft>
                <a:spcPts val="400"/>
              </a:spcAft>
              <a:buNone/>
            </a:pPr>
            <a:r>
              <a:rPr sz="1200" b="0">
                <a:solidFill>
                  <a:srgbClr val="24303F"/>
                </a:solidFill>
              </a:rPr>
              <a:t>80%区間に入った割合が80%に近い → ゆらぎアバターが示す幅は、実際の外れ方とおおむね一致</a:t>
            </a:r>
          </a:p>
        </p:txBody>
      </p:sp>
      <p:sp>
        <p:nvSpPr>
          <p:cNvPr id="14" name="Rounded Rectangle 13"/>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副次評価：疲れの中身と楽しさ</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8</a:t>
            </a:fld>
          </a:p>
        </p:txBody>
      </p:sp>
      <p:graphicFrame>
        <p:nvGraphicFramePr>
          <p:cNvPr id="5" name="Chart 4"/>
          <p:cNvGraphicFramePr>
            <a:graphicFrameLocks noGrp="1"/>
          </p:cNvGraphicFramePr>
          <p:nvPr/>
        </p:nvGraphicFramePr>
        <p:xfrm>
          <a:off x="411480" y="1325880"/>
          <a:ext cx="5486400" cy="4023360"/>
        </p:xfrm>
        <a:graphic>
          <a:graphicData uri="http://schemas.openxmlformats.org/drawingml/2006/chart">
            <c:chart xmlns:c="http://schemas.openxmlformats.org/drawingml/2006/chart" r:id="rId2"/>
          </a:graphicData>
        </a:graphic>
      </p:graphicFrame>
      <p:sp>
        <p:nvSpPr>
          <p:cNvPr id="6" name="TextBox 5"/>
          <p:cNvSpPr txBox="1"/>
          <p:nvPr/>
        </p:nvSpPr>
        <p:spPr>
          <a:xfrm>
            <a:off x="411480" y="5394960"/>
            <a:ext cx="5486400" cy="731520"/>
          </a:xfrm>
          <a:prstGeom prst="rect">
            <a:avLst/>
          </a:prstGeom>
          <a:noFill/>
        </p:spPr>
        <p:txBody>
          <a:bodyPr wrap="square" lIns="0" tIns="0" rIns="0" bIns="0" anchor="t">
            <a:noAutofit/>
          </a:bodyPr>
          <a:lstStyle/>
          <a:p>
            <a:pPr algn="l" marL="0" indent="0">
              <a:spcAft>
                <a:spcPts val="400"/>
              </a:spcAft>
              <a:buNone/>
            </a:pPr>
            <a:r>
              <a:rPr sz="1200" b="0">
                <a:solidFill>
                  <a:srgbClr val="24303F"/>
                </a:solidFill>
              </a:rPr>
              <a:t>睡眠と出費の疲れが群Cで大きく減った。比較（SNS での他のファンとの比較）はどの群も変わらない</a:t>
            </a:r>
          </a:p>
        </p:txBody>
      </p:sp>
      <p:sp>
        <p:nvSpPr>
          <p:cNvPr id="7" name="Rounded Rectangle 6"/>
          <p:cNvSpPr/>
          <p:nvPr/>
        </p:nvSpPr>
        <p:spPr>
          <a:xfrm>
            <a:off x="6126480" y="1371600"/>
            <a:ext cx="2606040" cy="2377440"/>
          </a:xfrm>
          <a:prstGeom prst="roundRect">
            <a:avLst>
              <a:gd name="adj" fmla="val 4615"/>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63640" y="1417320"/>
            <a:ext cx="2331720" cy="2286000"/>
          </a:xfrm>
          <a:prstGeom prst="rect">
            <a:avLst/>
          </a:prstGeom>
          <a:noFill/>
        </p:spPr>
        <p:txBody>
          <a:bodyPr wrap="square" lIns="0" tIns="0" rIns="0" bIns="0" anchor="ctr">
            <a:noAutofit/>
          </a:bodyPr>
          <a:lstStyle/>
          <a:p>
            <a:pPr algn="l" marL="0" indent="0">
              <a:spcAft>
                <a:spcPts val="600"/>
              </a:spcAft>
              <a:buNone/>
            </a:pPr>
            <a:r>
              <a:rPr sz="1500" b="1">
                <a:solidFill>
                  <a:srgbClr val="12A38A"/>
                </a:solidFill>
              </a:rPr>
              <a:t>楽しさは下がらなかった</a:t>
            </a:r>
          </a:p>
          <a:p>
            <a:pPr algn="l" marL="0" indent="0">
              <a:spcAft>
                <a:spcPts val="200"/>
              </a:spcAft>
              <a:buNone/>
            </a:pPr>
            <a:r>
              <a:rPr sz="1300" b="0">
                <a:solidFill>
                  <a:srgbClr val="24303F"/>
                </a:solidFill>
              </a:rPr>
              <a:t>群A 3.9 → 3.9</a:t>
            </a:r>
          </a:p>
          <a:p>
            <a:pPr algn="l" marL="0" indent="0">
              <a:spcAft>
                <a:spcPts val="200"/>
              </a:spcAft>
              <a:buNone/>
            </a:pPr>
            <a:r>
              <a:rPr sz="1300" b="0">
                <a:solidFill>
                  <a:srgbClr val="24303F"/>
                </a:solidFill>
              </a:rPr>
              <a:t>群B 3.9 → 3.9</a:t>
            </a:r>
          </a:p>
          <a:p>
            <a:pPr algn="l" marL="0" indent="0">
              <a:spcAft>
                <a:spcPts val="400"/>
              </a:spcAft>
              <a:buNone/>
            </a:pPr>
            <a:r>
              <a:rPr sz="1300" b="1">
                <a:solidFill>
                  <a:srgbClr val="12A38A"/>
                </a:solidFill>
              </a:rPr>
              <a:t>群C 3.8 → 3.9</a:t>
            </a:r>
          </a:p>
        </p:txBody>
      </p:sp>
      <p:sp>
        <p:nvSpPr>
          <p:cNvPr id="9" name="Rounded Rectangle 8"/>
          <p:cNvSpPr/>
          <p:nvPr/>
        </p:nvSpPr>
        <p:spPr>
          <a:xfrm>
            <a:off x="6126480" y="3931920"/>
            <a:ext cx="2606040" cy="2240280"/>
          </a:xfrm>
          <a:prstGeom prst="roundRect">
            <a:avLst>
              <a:gd name="adj" fmla="val 4897"/>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63640" y="3977639"/>
            <a:ext cx="2331720" cy="2148840"/>
          </a:xfrm>
          <a:prstGeom prst="rect">
            <a:avLst/>
          </a:prstGeom>
          <a:noFill/>
        </p:spPr>
        <p:txBody>
          <a:bodyPr wrap="square" lIns="0" tIns="0" rIns="0" bIns="0" anchor="ctr">
            <a:noAutofit/>
          </a:bodyPr>
          <a:lstStyle/>
          <a:p>
            <a:pPr algn="l" marL="0" indent="0">
              <a:spcAft>
                <a:spcPts val="400"/>
              </a:spcAft>
              <a:buNone/>
            </a:pPr>
            <a:r>
              <a:rPr sz="1350" b="1">
                <a:solidFill>
                  <a:srgbClr val="0B3C6E"/>
                </a:solidFill>
              </a:rPr>
              <a:t>「組み替える」提案の手応え</a:t>
            </a:r>
          </a:p>
          <a:p>
            <a:pPr algn="l" marL="0" indent="0">
              <a:spcAft>
                <a:spcPts val="400"/>
              </a:spcAft>
              <a:buNone/>
            </a:pPr>
            <a:r>
              <a:rPr sz="1200" b="0">
                <a:solidFill>
                  <a:srgbClr val="24303F"/>
                </a:solidFill>
              </a:rPr>
              <a:t>疲れは減り、楽しさは保たれた。一律に減らす支援では得にくい結果</a:t>
            </a:r>
          </a:p>
        </p:txBody>
      </p:sp>
      <p:sp>
        <p:nvSpPr>
          <p:cNvPr id="11" name="Rounded Rectangle 10"/>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記録の続き方とアバターの評価</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9</a:t>
            </a:fld>
          </a:p>
        </p:txBody>
      </p:sp>
      <p:graphicFrame>
        <p:nvGraphicFramePr>
          <p:cNvPr id="5" name="Chart 4"/>
          <p:cNvGraphicFramePr>
            <a:graphicFrameLocks noGrp="1"/>
          </p:cNvGraphicFramePr>
          <p:nvPr/>
        </p:nvGraphicFramePr>
        <p:xfrm>
          <a:off x="411480" y="1325880"/>
          <a:ext cx="4846320" cy="4069080"/>
        </p:xfrm>
        <a:graphic>
          <a:graphicData uri="http://schemas.openxmlformats.org/drawingml/2006/chart">
            <c:chart xmlns:c="http://schemas.openxmlformats.org/drawingml/2006/chart" r:id="rId2"/>
          </a:graphicData>
        </a:graphic>
      </p:graphicFrame>
      <p:sp>
        <p:nvSpPr>
          <p:cNvPr id="6" name="TextBox 5"/>
          <p:cNvSpPr txBox="1"/>
          <p:nvPr/>
        </p:nvSpPr>
        <p:spPr>
          <a:xfrm>
            <a:off x="411480" y="5440680"/>
            <a:ext cx="4846320" cy="685800"/>
          </a:xfrm>
          <a:prstGeom prst="rect">
            <a:avLst/>
          </a:prstGeom>
          <a:noFill/>
        </p:spPr>
        <p:txBody>
          <a:bodyPr wrap="square" lIns="0" tIns="0" rIns="0" bIns="0" anchor="t">
            <a:noAutofit/>
          </a:bodyPr>
          <a:lstStyle/>
          <a:p>
            <a:pPr algn="l" marL="0" indent="0">
              <a:spcAft>
                <a:spcPts val="400"/>
              </a:spcAft>
              <a:buNone/>
            </a:pPr>
            <a:r>
              <a:rPr sz="1150" b="0">
                <a:solidFill>
                  <a:srgbClr val="5A6676"/>
                </a:solidFill>
              </a:rPr>
              <a:t>3週目（介入開始）から差が開く。群Cは「未来の解像度」が記録の動機になった可能性（探索的）</a:t>
            </a:r>
          </a:p>
        </p:txBody>
      </p:sp>
      <p:sp>
        <p:nvSpPr>
          <p:cNvPr id="7" name="Rounded Rectangle 6"/>
          <p:cNvSpPr/>
          <p:nvPr/>
        </p:nvSpPr>
        <p:spPr>
          <a:xfrm>
            <a:off x="5486400" y="1371600"/>
            <a:ext cx="3246120" cy="1078992"/>
          </a:xfrm>
          <a:prstGeom prst="roundRect">
            <a:avLst>
              <a:gd name="adj" fmla="val 10169"/>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0" y="1399032"/>
            <a:ext cx="3246120" cy="658368"/>
          </a:xfrm>
          <a:prstGeom prst="rect">
            <a:avLst/>
          </a:prstGeom>
          <a:noFill/>
        </p:spPr>
        <p:txBody>
          <a:bodyPr wrap="square" lIns="0" tIns="0" rIns="0" bIns="0" anchor="ctr">
            <a:noAutofit/>
          </a:bodyPr>
          <a:lstStyle/>
          <a:p>
            <a:pPr algn="ctr" marL="0" indent="0">
              <a:spcAft>
                <a:spcPts val="400"/>
              </a:spcAft>
              <a:buNone/>
            </a:pPr>
            <a:r>
              <a:rPr sz="2200" b="1">
                <a:solidFill>
                  <a:srgbClr val="12A38A"/>
                </a:solidFill>
              </a:rPr>
              <a:t>3.7</a:t>
            </a:r>
          </a:p>
        </p:txBody>
      </p:sp>
      <p:sp>
        <p:nvSpPr>
          <p:cNvPr id="9" name="TextBox 8"/>
          <p:cNvSpPr txBox="1"/>
          <p:nvPr/>
        </p:nvSpPr>
        <p:spPr>
          <a:xfrm>
            <a:off x="5486400" y="2057400"/>
            <a:ext cx="3246120" cy="320040"/>
          </a:xfrm>
          <a:prstGeom prst="rect">
            <a:avLst/>
          </a:prstGeom>
          <a:noFill/>
        </p:spPr>
        <p:txBody>
          <a:bodyPr wrap="square" lIns="0" tIns="0" rIns="0" bIns="0" anchor="t">
            <a:noAutofit/>
          </a:bodyPr>
          <a:lstStyle/>
          <a:p>
            <a:pPr algn="ctr" marL="0" indent="0">
              <a:spcAft>
                <a:spcPts val="400"/>
              </a:spcAft>
              <a:buNone/>
            </a:pPr>
            <a:r>
              <a:rPr sz="1100" b="0">
                <a:solidFill>
                  <a:srgbClr val="5A6676"/>
                </a:solidFill>
              </a:rPr>
              <a:t>似ている度（群C・5段階）</a:t>
            </a:r>
          </a:p>
        </p:txBody>
      </p:sp>
      <p:sp>
        <p:nvSpPr>
          <p:cNvPr id="10" name="Rounded Rectangle 9"/>
          <p:cNvSpPr/>
          <p:nvPr/>
        </p:nvSpPr>
        <p:spPr>
          <a:xfrm>
            <a:off x="5486400" y="2578608"/>
            <a:ext cx="3246120" cy="1078992"/>
          </a:xfrm>
          <a:prstGeom prst="roundRect">
            <a:avLst>
              <a:gd name="adj" fmla="val 10169"/>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0" y="2606040"/>
            <a:ext cx="3246120" cy="658368"/>
          </a:xfrm>
          <a:prstGeom prst="rect">
            <a:avLst/>
          </a:prstGeom>
          <a:noFill/>
        </p:spPr>
        <p:txBody>
          <a:bodyPr wrap="square" lIns="0" tIns="0" rIns="0" bIns="0" anchor="ctr">
            <a:noAutofit/>
          </a:bodyPr>
          <a:lstStyle/>
          <a:p>
            <a:pPr algn="ctr" marL="0" indent="0">
              <a:spcAft>
                <a:spcPts val="400"/>
              </a:spcAft>
              <a:buNone/>
            </a:pPr>
            <a:r>
              <a:rPr sz="2200" b="1">
                <a:solidFill>
                  <a:srgbClr val="12A38A"/>
                </a:solidFill>
              </a:rPr>
              <a:t>4.6 vs 4.1</a:t>
            </a:r>
          </a:p>
        </p:txBody>
      </p:sp>
      <p:sp>
        <p:nvSpPr>
          <p:cNvPr id="12" name="TextBox 11"/>
          <p:cNvSpPr txBox="1"/>
          <p:nvPr/>
        </p:nvSpPr>
        <p:spPr>
          <a:xfrm>
            <a:off x="5486400" y="3264408"/>
            <a:ext cx="3246120" cy="320040"/>
          </a:xfrm>
          <a:prstGeom prst="rect">
            <a:avLst/>
          </a:prstGeom>
          <a:noFill/>
        </p:spPr>
        <p:txBody>
          <a:bodyPr wrap="square" lIns="0" tIns="0" rIns="0" bIns="0" anchor="t">
            <a:noAutofit/>
          </a:bodyPr>
          <a:lstStyle/>
          <a:p>
            <a:pPr algn="ctr" marL="0" indent="0">
              <a:spcAft>
                <a:spcPts val="400"/>
              </a:spcAft>
              <a:buNone/>
            </a:pPr>
            <a:r>
              <a:rPr sz="1100" b="0">
                <a:solidFill>
                  <a:srgbClr val="5A6676"/>
                </a:solidFill>
              </a:rPr>
              <a:t>未来の自分とのつながり（C vs B・7段階）</a:t>
            </a:r>
          </a:p>
        </p:txBody>
      </p:sp>
      <p:sp>
        <p:nvSpPr>
          <p:cNvPr id="13" name="Rounded Rectangle 12"/>
          <p:cNvSpPr/>
          <p:nvPr/>
        </p:nvSpPr>
        <p:spPr>
          <a:xfrm>
            <a:off x="5486400" y="3785616"/>
            <a:ext cx="3246120" cy="1078992"/>
          </a:xfrm>
          <a:prstGeom prst="roundRect">
            <a:avLst>
              <a:gd name="adj" fmla="val 10169"/>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0" y="3813048"/>
            <a:ext cx="3246120" cy="658368"/>
          </a:xfrm>
          <a:prstGeom prst="rect">
            <a:avLst/>
          </a:prstGeom>
          <a:noFill/>
        </p:spPr>
        <p:txBody>
          <a:bodyPr wrap="square" lIns="0" tIns="0" rIns="0" bIns="0" anchor="ctr">
            <a:noAutofit/>
          </a:bodyPr>
          <a:lstStyle/>
          <a:p>
            <a:pPr algn="ctr" marL="0" indent="0">
              <a:spcAft>
                <a:spcPts val="400"/>
              </a:spcAft>
              <a:buNone/>
            </a:pPr>
            <a:r>
              <a:rPr sz="2200" b="1">
                <a:solidFill>
                  <a:srgbClr val="0B3C6E"/>
                </a:solidFill>
              </a:rPr>
              <a:t>1.9 vs 1.8</a:t>
            </a:r>
          </a:p>
        </p:txBody>
      </p:sp>
      <p:sp>
        <p:nvSpPr>
          <p:cNvPr id="15" name="TextBox 14"/>
          <p:cNvSpPr txBox="1"/>
          <p:nvPr/>
        </p:nvSpPr>
        <p:spPr>
          <a:xfrm>
            <a:off x="5486400" y="4471416"/>
            <a:ext cx="3246120" cy="320040"/>
          </a:xfrm>
          <a:prstGeom prst="rect">
            <a:avLst/>
          </a:prstGeom>
          <a:noFill/>
        </p:spPr>
        <p:txBody>
          <a:bodyPr wrap="square" lIns="0" tIns="0" rIns="0" bIns="0" anchor="t">
            <a:noAutofit/>
          </a:bodyPr>
          <a:lstStyle/>
          <a:p>
            <a:pPr algn="ctr" marL="0" indent="0">
              <a:spcAft>
                <a:spcPts val="400"/>
              </a:spcAft>
              <a:buNone/>
            </a:pPr>
            <a:r>
              <a:rPr sz="1100" b="0">
                <a:solidFill>
                  <a:srgbClr val="5A6676"/>
                </a:solidFill>
              </a:rPr>
              <a:t>予測を見た後の不安（C vs B・5段階）</a:t>
            </a:r>
          </a:p>
        </p:txBody>
      </p:sp>
      <p:sp>
        <p:nvSpPr>
          <p:cNvPr id="16" name="Rounded Rectangle 15"/>
          <p:cNvSpPr/>
          <p:nvPr/>
        </p:nvSpPr>
        <p:spPr>
          <a:xfrm>
            <a:off x="5486400" y="4992624"/>
            <a:ext cx="3246120" cy="1078992"/>
          </a:xfrm>
          <a:prstGeom prst="roundRect">
            <a:avLst>
              <a:gd name="adj" fmla="val 10169"/>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0" y="5020056"/>
            <a:ext cx="3246120" cy="658368"/>
          </a:xfrm>
          <a:prstGeom prst="rect">
            <a:avLst/>
          </a:prstGeom>
          <a:noFill/>
        </p:spPr>
        <p:txBody>
          <a:bodyPr wrap="square" lIns="0" tIns="0" rIns="0" bIns="0" anchor="ctr">
            <a:noAutofit/>
          </a:bodyPr>
          <a:lstStyle/>
          <a:p>
            <a:pPr algn="ctr" marL="0" indent="0">
              <a:spcAft>
                <a:spcPts val="400"/>
              </a:spcAft>
              <a:buNone/>
            </a:pPr>
            <a:r>
              <a:rPr sz="2200" b="1">
                <a:solidFill>
                  <a:srgbClr val="12A38A"/>
                </a:solidFill>
              </a:rPr>
              <a:t>76.4</a:t>
            </a:r>
          </a:p>
        </p:txBody>
      </p:sp>
      <p:sp>
        <p:nvSpPr>
          <p:cNvPr id="18" name="TextBox 17"/>
          <p:cNvSpPr txBox="1"/>
          <p:nvPr/>
        </p:nvSpPr>
        <p:spPr>
          <a:xfrm>
            <a:off x="5486400" y="5678424"/>
            <a:ext cx="3246120" cy="320040"/>
          </a:xfrm>
          <a:prstGeom prst="rect">
            <a:avLst/>
          </a:prstGeom>
          <a:noFill/>
        </p:spPr>
        <p:txBody>
          <a:bodyPr wrap="square" lIns="0" tIns="0" rIns="0" bIns="0" anchor="t">
            <a:noAutofit/>
          </a:bodyPr>
          <a:lstStyle/>
          <a:p>
            <a:pPr algn="ctr" marL="0" indent="0">
              <a:spcAft>
                <a:spcPts val="400"/>
              </a:spcAft>
              <a:buNone/>
            </a:pPr>
            <a:r>
              <a:rPr sz="1100" b="0">
                <a:solidFill>
                  <a:srgbClr val="5A6676"/>
                </a:solidFill>
              </a:rPr>
              <a:t>SUS（群C）</a:t>
            </a:r>
          </a:p>
        </p:txBody>
      </p:sp>
      <p:sp>
        <p:nvSpPr>
          <p:cNvPr id="19" name="Rounded Rectangle 18"/>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自由記述から</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10</a:t>
            </a:fld>
          </a:p>
        </p:txBody>
      </p:sp>
      <p:sp>
        <p:nvSpPr>
          <p:cNvPr id="5" name="Rounded Rectangle 4"/>
          <p:cNvSpPr/>
          <p:nvPr/>
        </p:nvSpPr>
        <p:spPr>
          <a:xfrm>
            <a:off x="411480" y="1371600"/>
            <a:ext cx="4069080" cy="1645920"/>
          </a:xfrm>
          <a:prstGeom prst="roundRect">
            <a:avLst>
              <a:gd name="adj" fmla="val 7777"/>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94360" y="1536192"/>
            <a:ext cx="731520" cy="274320"/>
          </a:xfrm>
          <a:prstGeom prst="roundRect">
            <a:avLst>
              <a:gd name="adj" fmla="val 50000"/>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群C</a:t>
            </a:r>
          </a:p>
        </p:txBody>
      </p:sp>
      <p:sp>
        <p:nvSpPr>
          <p:cNvPr id="7" name="TextBox 6"/>
          <p:cNvSpPr txBox="1"/>
          <p:nvPr/>
        </p:nvSpPr>
        <p:spPr>
          <a:xfrm>
            <a:off x="594360" y="1901952"/>
            <a:ext cx="3703320" cy="1024128"/>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「ぼやけていた自分がだんだんはっきりしてくるのが楽しみで、記録を続けられた」</a:t>
            </a:r>
          </a:p>
        </p:txBody>
      </p:sp>
      <p:sp>
        <p:nvSpPr>
          <p:cNvPr id="8" name="Rounded Rectangle 7"/>
          <p:cNvSpPr/>
          <p:nvPr/>
        </p:nvSpPr>
        <p:spPr>
          <a:xfrm>
            <a:off x="4663440" y="1371600"/>
            <a:ext cx="4069080" cy="1645920"/>
          </a:xfrm>
          <a:prstGeom prst="roundRect">
            <a:avLst>
              <a:gd name="adj" fmla="val 7777"/>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4846320" y="1536192"/>
            <a:ext cx="731520" cy="274320"/>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群B</a:t>
            </a:r>
          </a:p>
        </p:txBody>
      </p:sp>
      <p:sp>
        <p:nvSpPr>
          <p:cNvPr id="10" name="TextBox 9"/>
          <p:cNvSpPr txBox="1"/>
          <p:nvPr/>
        </p:nvSpPr>
        <p:spPr>
          <a:xfrm>
            <a:off x="4846320" y="1901952"/>
            <a:ext cx="3703320" cy="1024128"/>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「「推しを減らせ」と言われないのがよかった。グッズの買い方だけ変えた」</a:t>
            </a:r>
          </a:p>
        </p:txBody>
      </p:sp>
      <p:sp>
        <p:nvSpPr>
          <p:cNvPr id="11" name="Rounded Rectangle 10"/>
          <p:cNvSpPr/>
          <p:nvPr/>
        </p:nvSpPr>
        <p:spPr>
          <a:xfrm>
            <a:off x="411480" y="3200400"/>
            <a:ext cx="4069080" cy="1645920"/>
          </a:xfrm>
          <a:prstGeom prst="roundRect">
            <a:avLst>
              <a:gd name="adj" fmla="val 7777"/>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94360" y="3364992"/>
            <a:ext cx="731520" cy="274320"/>
          </a:xfrm>
          <a:prstGeom prst="roundRect">
            <a:avLst>
              <a:gd name="adj" fmla="val 50000"/>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群C</a:t>
            </a:r>
          </a:p>
        </p:txBody>
      </p:sp>
      <p:sp>
        <p:nvSpPr>
          <p:cNvPr id="13" name="TextBox 12"/>
          <p:cNvSpPr txBox="1"/>
          <p:nvPr/>
        </p:nvSpPr>
        <p:spPr>
          <a:xfrm>
            <a:off x="594360" y="3730752"/>
            <a:ext cx="3703320" cy="1024128"/>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「「今のまま」の自分の顔を見て、夜中まで配信を見るのをやめようと思った」</a:t>
            </a:r>
          </a:p>
        </p:txBody>
      </p:sp>
      <p:sp>
        <p:nvSpPr>
          <p:cNvPr id="14" name="Rounded Rectangle 13"/>
          <p:cNvSpPr/>
          <p:nvPr/>
        </p:nvSpPr>
        <p:spPr>
          <a:xfrm>
            <a:off x="4663440" y="3200400"/>
            <a:ext cx="4069080" cy="1645920"/>
          </a:xfrm>
          <a:prstGeom prst="roundRect">
            <a:avLst>
              <a:gd name="adj" fmla="val 7777"/>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4846320" y="3364992"/>
            <a:ext cx="731520" cy="274320"/>
          </a:xfrm>
          <a:prstGeom prst="roundRect">
            <a:avLst>
              <a:gd name="adj" fmla="val 50000"/>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群C</a:t>
            </a:r>
          </a:p>
        </p:txBody>
      </p:sp>
      <p:sp>
        <p:nvSpPr>
          <p:cNvPr id="16" name="TextBox 15"/>
          <p:cNvSpPr txBox="1"/>
          <p:nvPr/>
        </p:nvSpPr>
        <p:spPr>
          <a:xfrm>
            <a:off x="4846320" y="3730752"/>
            <a:ext cx="3703320" cy="1024128"/>
          </a:xfrm>
          <a:prstGeom prst="rect">
            <a:avLst/>
          </a:prstGeom>
          <a:noFill/>
        </p:spPr>
        <p:txBody>
          <a:bodyPr wrap="square" lIns="0" tIns="0" rIns="0" bIns="0" anchor="ctr">
            <a:noAutofit/>
          </a:bodyPr>
          <a:lstStyle/>
          <a:p>
            <a:pPr algn="l" marL="0" indent="0">
              <a:spcAft>
                <a:spcPts val="400"/>
              </a:spcAft>
              <a:buNone/>
            </a:pPr>
            <a:r>
              <a:rPr sz="1350" b="0">
                <a:solidFill>
                  <a:srgbClr val="24303F"/>
                </a:solidFill>
              </a:rPr>
              <a:t>「予測が2週続けて外れて、少し信用できなくなった」</a:t>
            </a:r>
          </a:p>
        </p:txBody>
      </p:sp>
      <p:sp>
        <p:nvSpPr>
          <p:cNvPr id="17" name="Rounded Rectangle 16"/>
          <p:cNvSpPr/>
          <p:nvPr/>
        </p:nvSpPr>
        <p:spPr>
          <a:xfrm>
            <a:off x="411480" y="5120640"/>
            <a:ext cx="8321040" cy="1051560"/>
          </a:xfrm>
          <a:prstGeom prst="roundRect">
            <a:avLst>
              <a:gd name="adj" fmla="val 10434"/>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94360" y="5349240"/>
            <a:ext cx="594360" cy="59436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c_comments_w.png"/>
          <p:cNvPicPr>
            <a:picLocks noChangeAspect="1"/>
          </p:cNvPicPr>
          <p:nvPr/>
        </p:nvPicPr>
        <p:blipFill>
          <a:blip r:embed="rId2"/>
          <a:stretch>
            <a:fillRect/>
          </a:stretch>
        </p:blipFill>
        <p:spPr>
          <a:xfrm>
            <a:off x="737006" y="5491886"/>
            <a:ext cx="309067" cy="309067"/>
          </a:xfrm>
          <a:prstGeom prst="rect">
            <a:avLst/>
          </a:prstGeom>
        </p:spPr>
      </p:pic>
      <p:sp>
        <p:nvSpPr>
          <p:cNvPr id="20" name="TextBox 19"/>
          <p:cNvSpPr txBox="1"/>
          <p:nvPr/>
        </p:nvSpPr>
        <p:spPr>
          <a:xfrm>
            <a:off x="1417320" y="5166360"/>
            <a:ext cx="7132320" cy="960120"/>
          </a:xfrm>
          <a:prstGeom prst="rect">
            <a:avLst/>
          </a:prstGeom>
          <a:noFill/>
        </p:spPr>
        <p:txBody>
          <a:bodyPr wrap="square" lIns="0" tIns="0" rIns="0" bIns="0" anchor="ctr">
            <a:noAutofit/>
          </a:bodyPr>
          <a:lstStyle/>
          <a:p>
            <a:pPr algn="l" marL="0" indent="0">
              <a:spcAft>
                <a:spcPts val="300"/>
              </a:spcAft>
              <a:buNone/>
            </a:pPr>
            <a:r>
              <a:rPr sz="1400" b="1">
                <a:solidFill>
                  <a:srgbClr val="0B3C6E"/>
                </a:solidFill>
              </a:rPr>
              <a:t>「減らせと言われない」安心感と、「未来がくっきりする」楽しさが続ける理由に</a:t>
            </a:r>
          </a:p>
          <a:p>
            <a:pPr algn="l" marL="0" indent="0">
              <a:spcAft>
                <a:spcPts val="400"/>
              </a:spcAft>
              <a:buNone/>
            </a:pPr>
            <a:r>
              <a:rPr sz="1250" b="0">
                <a:solidFill>
                  <a:srgbClr val="24303F"/>
                </a:solidFill>
              </a:rPr>
              <a:t>一方で、予測が外れ続けると信頼が下がる → 答え合わせの見せ方は今後の課題</a:t>
            </a:r>
          </a:p>
        </p:txBody>
      </p:sp>
      <p:sp>
        <p:nvSpPr>
          <p:cNvPr id="21" name="Rounded Rectangle 20"/>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記述は想定例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考察（暫定）</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11</a:t>
            </a:fld>
          </a:p>
        </p:txBody>
      </p:sp>
      <p:sp>
        <p:nvSpPr>
          <p:cNvPr id="5" name="Rounded Rectangle 4"/>
          <p:cNvSpPr/>
          <p:nvPr/>
        </p:nvSpPr>
        <p:spPr>
          <a:xfrm>
            <a:off x="411480" y="1371600"/>
            <a:ext cx="8321040" cy="1234440"/>
          </a:xfrm>
          <a:prstGeom prst="roundRect">
            <a:avLst>
              <a:gd name="adj" fmla="val 888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645920"/>
            <a:ext cx="685800" cy="6858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check_w.png"/>
          <p:cNvPicPr>
            <a:picLocks noChangeAspect="1"/>
          </p:cNvPicPr>
          <p:nvPr/>
        </p:nvPicPr>
        <p:blipFill>
          <a:blip r:embed="rId2"/>
          <a:stretch>
            <a:fillRect/>
          </a:stretch>
        </p:blipFill>
        <p:spPr>
          <a:xfrm>
            <a:off x="804671" y="1810512"/>
            <a:ext cx="356616" cy="356616"/>
          </a:xfrm>
          <a:prstGeom prst="rect">
            <a:avLst/>
          </a:prstGeom>
        </p:spPr>
      </p:pic>
      <p:sp>
        <p:nvSpPr>
          <p:cNvPr id="8" name="TextBox 7"/>
          <p:cNvSpPr txBox="1"/>
          <p:nvPr/>
        </p:nvSpPr>
        <p:spPr>
          <a:xfrm>
            <a:off x="1554480" y="1444752"/>
            <a:ext cx="6995160" cy="1097280"/>
          </a:xfrm>
          <a:prstGeom prst="rect">
            <a:avLst/>
          </a:prstGeom>
          <a:noFill/>
        </p:spPr>
        <p:txBody>
          <a:bodyPr wrap="square" lIns="0" tIns="0" rIns="0" bIns="0" anchor="ctr">
            <a:noAutofit/>
          </a:bodyPr>
          <a:lstStyle/>
          <a:p>
            <a:pPr algn="l" marL="0" indent="0">
              <a:spcAft>
                <a:spcPts val="300"/>
              </a:spcAft>
              <a:buNone/>
            </a:pPr>
            <a:r>
              <a:rPr sz="1550" b="1">
                <a:solidFill>
                  <a:srgbClr val="0B3C6E"/>
                </a:solidFill>
              </a:rPr>
              <a:t>見せ方で行動は変わる（RQ2）</a:t>
            </a:r>
          </a:p>
          <a:p>
            <a:pPr algn="l" marL="0" indent="0">
              <a:spcAft>
                <a:spcPts val="400"/>
              </a:spcAft>
              <a:buNone/>
            </a:pPr>
            <a:r>
              <a:rPr sz="1250" b="0">
                <a:solidFill>
                  <a:srgbClr val="24303F"/>
                </a:solidFill>
              </a:rPr>
              <a:t>同じ提案でも、自分に似たアバターで将来の見込みを見ると実行が増えた</a:t>
            </a:r>
          </a:p>
        </p:txBody>
      </p:sp>
      <p:sp>
        <p:nvSpPr>
          <p:cNvPr id="9" name="Rounded Rectangle 8"/>
          <p:cNvSpPr/>
          <p:nvPr/>
        </p:nvSpPr>
        <p:spPr>
          <a:xfrm>
            <a:off x="411480" y="2743200"/>
            <a:ext cx="8321040" cy="1234440"/>
          </a:xfrm>
          <a:prstGeom prst="roundRect">
            <a:avLst>
              <a:gd name="adj" fmla="val 888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0080" y="3017520"/>
            <a:ext cx="685800" cy="6858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hourglass_w.png"/>
          <p:cNvPicPr>
            <a:picLocks noChangeAspect="1"/>
          </p:cNvPicPr>
          <p:nvPr/>
        </p:nvPicPr>
        <p:blipFill>
          <a:blip r:embed="rId3"/>
          <a:stretch>
            <a:fillRect/>
          </a:stretch>
        </p:blipFill>
        <p:spPr>
          <a:xfrm>
            <a:off x="804671" y="3182112"/>
            <a:ext cx="356616" cy="356616"/>
          </a:xfrm>
          <a:prstGeom prst="rect">
            <a:avLst/>
          </a:prstGeom>
        </p:spPr>
      </p:pic>
      <p:sp>
        <p:nvSpPr>
          <p:cNvPr id="12" name="TextBox 11"/>
          <p:cNvSpPr txBox="1"/>
          <p:nvPr/>
        </p:nvSpPr>
        <p:spPr>
          <a:xfrm>
            <a:off x="1554480" y="2816352"/>
            <a:ext cx="6995160" cy="1097280"/>
          </a:xfrm>
          <a:prstGeom prst="rect">
            <a:avLst/>
          </a:prstGeom>
          <a:noFill/>
        </p:spPr>
        <p:txBody>
          <a:bodyPr wrap="square" lIns="0" tIns="0" rIns="0" bIns="0" anchor="ctr">
            <a:noAutofit/>
          </a:bodyPr>
          <a:lstStyle/>
          <a:p>
            <a:pPr algn="l" marL="0" indent="0">
              <a:spcAft>
                <a:spcPts val="300"/>
              </a:spcAft>
              <a:buNone/>
            </a:pPr>
            <a:r>
              <a:rPr sz="1550" b="1">
                <a:solidFill>
                  <a:srgbClr val="0B3C6E"/>
                </a:solidFill>
              </a:rPr>
              <a:t>幸福度への効果は小さい（RQ3）</a:t>
            </a:r>
          </a:p>
          <a:p>
            <a:pPr algn="l" marL="0" indent="0">
              <a:spcAft>
                <a:spcPts val="400"/>
              </a:spcAft>
              <a:buNone/>
            </a:pPr>
            <a:r>
              <a:rPr sz="1250" b="0">
                <a:solidFill>
                  <a:srgbClr val="24303F"/>
                </a:solidFill>
              </a:rPr>
              <a:t>6週間は習慣が定着する前（Lally et al., 2010：中央値66日）。効果が出るには期間が短い可能性</a:t>
            </a:r>
          </a:p>
        </p:txBody>
      </p:sp>
      <p:sp>
        <p:nvSpPr>
          <p:cNvPr id="13" name="Rounded Rectangle 12"/>
          <p:cNvSpPr/>
          <p:nvPr/>
        </p:nvSpPr>
        <p:spPr>
          <a:xfrm>
            <a:off x="411480" y="4114800"/>
            <a:ext cx="8321040" cy="1234440"/>
          </a:xfrm>
          <a:prstGeom prst="roundRect">
            <a:avLst>
              <a:gd name="adj" fmla="val 888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4389120"/>
            <a:ext cx="685800" cy="6858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shield_w.png"/>
          <p:cNvPicPr>
            <a:picLocks noChangeAspect="1"/>
          </p:cNvPicPr>
          <p:nvPr/>
        </p:nvPicPr>
        <p:blipFill>
          <a:blip r:embed="rId4"/>
          <a:stretch>
            <a:fillRect/>
          </a:stretch>
        </p:blipFill>
        <p:spPr>
          <a:xfrm>
            <a:off x="804671" y="4553712"/>
            <a:ext cx="356616" cy="356616"/>
          </a:xfrm>
          <a:prstGeom prst="rect">
            <a:avLst/>
          </a:prstGeom>
        </p:spPr>
      </p:pic>
      <p:sp>
        <p:nvSpPr>
          <p:cNvPr id="16" name="TextBox 15"/>
          <p:cNvSpPr txBox="1"/>
          <p:nvPr/>
        </p:nvSpPr>
        <p:spPr>
          <a:xfrm>
            <a:off x="1554480" y="4187952"/>
            <a:ext cx="6995160" cy="1097280"/>
          </a:xfrm>
          <a:prstGeom prst="rect">
            <a:avLst/>
          </a:prstGeom>
          <a:noFill/>
        </p:spPr>
        <p:txBody>
          <a:bodyPr wrap="square" lIns="0" tIns="0" rIns="0" bIns="0" anchor="ctr">
            <a:noAutofit/>
          </a:bodyPr>
          <a:lstStyle/>
          <a:p>
            <a:pPr algn="l" marL="0" indent="0">
              <a:spcAft>
                <a:spcPts val="300"/>
              </a:spcAft>
              <a:buNone/>
            </a:pPr>
            <a:r>
              <a:rPr sz="1550" b="1">
                <a:solidFill>
                  <a:srgbClr val="0B3C6E"/>
                </a:solidFill>
              </a:rPr>
              <a:t>不確かさを見せても不安は増えない</a:t>
            </a:r>
          </a:p>
          <a:p>
            <a:pPr algn="l" marL="0" indent="0">
              <a:spcAft>
                <a:spcPts val="400"/>
              </a:spcAft>
              <a:buNone/>
            </a:pPr>
            <a:r>
              <a:rPr sz="1250" b="0">
                <a:solidFill>
                  <a:srgbClr val="24303F"/>
                </a:solidFill>
              </a:rPr>
              <a:t>区間がおおむね正直で、不安も群Bと同程度。「ゆらぎ」は安全に使える見込み</a:t>
            </a:r>
          </a:p>
        </p:txBody>
      </p:sp>
      <p:sp>
        <p:nvSpPr>
          <p:cNvPr id="17" name="Rounded Rectangle 16"/>
          <p:cNvSpPr/>
          <p:nvPr/>
        </p:nvSpPr>
        <p:spPr>
          <a:xfrm>
            <a:off x="411480" y="5532120"/>
            <a:ext cx="8321040" cy="640080"/>
          </a:xfrm>
          <a:prstGeom prst="roundRect">
            <a:avLst>
              <a:gd name="adj" fmla="val 14285"/>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27432" rIns="137160" bIns="27432">
            <a:noAutofit/>
          </a:bodyPr>
          <a:lstStyle/>
          <a:p>
            <a:pPr algn="l" marL="0" indent="0">
              <a:spcAft>
                <a:spcPts val="400"/>
              </a:spcAft>
              <a:buNone/>
            </a:pPr>
            <a:r>
              <a:rPr sz="1200" b="1">
                <a:solidFill>
                  <a:srgbClr val="E8457C"/>
                </a:solidFill>
              </a:rPr>
              <a:t>注意：実行した人ほど WHO-5 が高いかは、実行を本人が選ぶため偏りがある。主な結論は無作為割付の比較から導く</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修士論文の章立てと執筆スケジュール</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12</a:t>
            </a:fld>
          </a:p>
        </p:txBody>
      </p:sp>
      <p:graphicFrame>
        <p:nvGraphicFramePr>
          <p:cNvPr id="5" name="Table 4"/>
          <p:cNvGraphicFramePr>
            <a:graphicFrameLocks noGrp="1"/>
          </p:cNvGraphicFramePr>
          <p:nvPr/>
        </p:nvGraphicFramePr>
        <p:xfrm>
          <a:off x="411480" y="1371600"/>
          <a:ext cx="5120640" cy="4023360"/>
        </p:xfrm>
        <a:graphic>
          <a:graphicData uri="http://schemas.openxmlformats.org/drawingml/2006/table">
            <a:tbl>
              <a:tblPr>
                <a:tableStyleId>{5940675A-B579-460E-94D1-54222C63F5DA}</a:tableStyleId>
              </a:tblPr>
              <a:tblGrid>
                <a:gridCol w="1463040"/>
                <a:gridCol w="2377440"/>
                <a:gridCol w="1280160"/>
              </a:tblGrid>
              <a:tr h="502920">
                <a:tc>
                  <a:txBody>
                    <a:bodyPr wrap="square" lIns="64008" tIns="27432" rIns="64008" bIns="27432" anchor="ctr">
                      <a:noAutofit/>
                    </a:bodyPr>
                    <a:lstStyle/>
                    <a:p>
                      <a:pPr algn="l" marL="0" indent="0">
                        <a:spcAft>
                          <a:spcPts val="0"/>
                        </a:spcAft>
                        <a:buNone/>
                      </a:pPr>
                      <a:r>
                        <a:rPr sz="1200" b="1">
                          <a:solidFill>
                            <a:srgbClr val="FFFFFF"/>
                          </a:solidFill>
                        </a:rPr>
                        <a:t>章</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200" b="1">
                          <a:solidFill>
                            <a:srgbClr val="FFFFFF"/>
                          </a:solidFill>
                        </a:rPr>
                        <a:t>内容</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200" b="1">
                          <a:solidFill>
                            <a:srgbClr val="FFFFFF"/>
                          </a:solidFill>
                        </a:rPr>
                        <a:t>執筆期間</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02920">
                <a:tc>
                  <a:txBody>
                    <a:bodyPr wrap="square" lIns="64008" tIns="27432" rIns="64008" bIns="27432" anchor="ctr">
                      <a:noAutofit/>
                    </a:bodyPr>
                    <a:lstStyle/>
                    <a:p>
                      <a:pPr algn="l" marL="0" indent="0">
                        <a:spcAft>
                          <a:spcPts val="0"/>
                        </a:spcAft>
                        <a:buNone/>
                      </a:pPr>
                      <a:r>
                        <a:rPr sz="1200" b="1">
                          <a:solidFill>
                            <a:srgbClr val="24303F"/>
                          </a:solidFill>
                        </a:rPr>
                        <a:t>1章 序論</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200" b="0">
                          <a:solidFill>
                            <a:srgbClr val="24303F"/>
                          </a:solidFill>
                        </a:rPr>
                        <a:t>背景・目的・RQ</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200" b="0">
                          <a:solidFill>
                            <a:srgbClr val="24303F"/>
                          </a:solidFill>
                        </a:rPr>
                        <a:t>12/21–12/25</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r h="502920">
                <a:tc>
                  <a:txBody>
                    <a:bodyPr wrap="square" lIns="64008" tIns="27432" rIns="64008" bIns="27432" anchor="ctr">
                      <a:noAutofit/>
                    </a:bodyPr>
                    <a:lstStyle/>
                    <a:p>
                      <a:pPr algn="l" marL="0" indent="0">
                        <a:spcAft>
                          <a:spcPts val="0"/>
                        </a:spcAft>
                        <a:buNone/>
                      </a:pPr>
                      <a:r>
                        <a:rPr sz="1200" b="1">
                          <a:solidFill>
                            <a:srgbClr val="24303F"/>
                          </a:solidFill>
                        </a:rPr>
                        <a:t>2章 関連研究</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200" b="0">
                          <a:solidFill>
                            <a:srgbClr val="24303F"/>
                          </a:solidFill>
                        </a:rPr>
                        <a:t>PI・行動変容・アバター・推し活</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200" b="0">
                          <a:solidFill>
                            <a:srgbClr val="24303F"/>
                          </a:solidFill>
                        </a:rPr>
                        <a:t>12/26–12/30</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r>
              <a:tr h="502920">
                <a:tc>
                  <a:txBody>
                    <a:bodyPr wrap="square" lIns="64008" tIns="27432" rIns="64008" bIns="27432" anchor="ctr">
                      <a:noAutofit/>
                    </a:bodyPr>
                    <a:lstStyle/>
                    <a:p>
                      <a:pPr algn="l" marL="0" indent="0">
                        <a:spcAft>
                          <a:spcPts val="0"/>
                        </a:spcAft>
                        <a:buNone/>
                      </a:pPr>
                      <a:r>
                        <a:rPr sz="1200" b="1">
                          <a:solidFill>
                            <a:srgbClr val="24303F"/>
                          </a:solidFill>
                        </a:rPr>
                        <a:t>3章 予備調査</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200" b="0">
                          <a:solidFill>
                            <a:srgbClr val="24303F"/>
                          </a:solidFill>
                        </a:rPr>
                        <a:t>215名の調査とパス解析</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200" b="0">
                          <a:solidFill>
                            <a:srgbClr val="24303F"/>
                          </a:solidFill>
                        </a:rPr>
                        <a:t>1/4–1/7</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r h="502920">
                <a:tc>
                  <a:txBody>
                    <a:bodyPr wrap="square" lIns="64008" tIns="27432" rIns="64008" bIns="27432" anchor="ctr">
                      <a:noAutofit/>
                    </a:bodyPr>
                    <a:lstStyle/>
                    <a:p>
                      <a:pPr algn="l" marL="0" indent="0">
                        <a:spcAft>
                          <a:spcPts val="0"/>
                        </a:spcAft>
                        <a:buNone/>
                      </a:pPr>
                      <a:r>
                        <a:rPr sz="1200" b="1">
                          <a:solidFill>
                            <a:srgbClr val="24303F"/>
                          </a:solidFill>
                        </a:rPr>
                        <a:t>4章 システム</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200" b="0">
                          <a:solidFill>
                            <a:srgbClr val="24303F"/>
                          </a:solidFill>
                        </a:rPr>
                        <a:t>OshiFit（ツイン・提案・ゆらぎ）</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200" b="0">
                          <a:solidFill>
                            <a:srgbClr val="24303F"/>
                          </a:solidFill>
                        </a:rPr>
                        <a:t>1/8–1/12</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r>
              <a:tr h="502920">
                <a:tc>
                  <a:txBody>
                    <a:bodyPr wrap="square" lIns="64008" tIns="27432" rIns="64008" bIns="27432" anchor="ctr">
                      <a:noAutofit/>
                    </a:bodyPr>
                    <a:lstStyle/>
                    <a:p>
                      <a:pPr algn="l" marL="0" indent="0">
                        <a:spcAft>
                          <a:spcPts val="0"/>
                        </a:spcAft>
                        <a:buNone/>
                      </a:pPr>
                      <a:r>
                        <a:rPr sz="1200" b="1">
                          <a:solidFill>
                            <a:srgbClr val="24303F"/>
                          </a:solidFill>
                        </a:rPr>
                        <a:t>5章 実験</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200" b="0">
                          <a:solidFill>
                            <a:srgbClr val="24303F"/>
                          </a:solidFill>
                        </a:rPr>
                        <a:t>6週間・3群の比較実験と結果</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200" b="0">
                          <a:solidFill>
                            <a:srgbClr val="24303F"/>
                          </a:solidFill>
                        </a:rPr>
                        <a:t>1/13–1/18</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r h="502920">
                <a:tc>
                  <a:txBody>
                    <a:bodyPr wrap="square" lIns="64008" tIns="27432" rIns="64008" bIns="27432" anchor="ctr">
                      <a:noAutofit/>
                    </a:bodyPr>
                    <a:lstStyle/>
                    <a:p>
                      <a:pPr algn="l" marL="0" indent="0">
                        <a:spcAft>
                          <a:spcPts val="0"/>
                        </a:spcAft>
                        <a:buNone/>
                      </a:pPr>
                      <a:r>
                        <a:rPr sz="1200" b="1">
                          <a:solidFill>
                            <a:srgbClr val="24303F"/>
                          </a:solidFill>
                        </a:rPr>
                        <a:t>6章 考察</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200" b="0">
                          <a:solidFill>
                            <a:srgbClr val="24303F"/>
                          </a:solidFill>
                        </a:rPr>
                        <a:t>RQごとの考察・限界</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200" b="0">
                          <a:solidFill>
                            <a:srgbClr val="24303F"/>
                          </a:solidFill>
                        </a:rPr>
                        <a:t>1/19–1/22</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r>
              <a:tr h="502920">
                <a:tc>
                  <a:txBody>
                    <a:bodyPr wrap="square" lIns="64008" tIns="27432" rIns="64008" bIns="27432" anchor="ctr">
                      <a:noAutofit/>
                    </a:bodyPr>
                    <a:lstStyle/>
                    <a:p>
                      <a:pPr algn="l" marL="0" indent="0">
                        <a:spcAft>
                          <a:spcPts val="0"/>
                        </a:spcAft>
                        <a:buNone/>
                      </a:pPr>
                      <a:r>
                        <a:rPr sz="1200" b="1">
                          <a:solidFill>
                            <a:srgbClr val="24303F"/>
                          </a:solidFill>
                        </a:rPr>
                        <a:t>7章 結論</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200" b="0">
                          <a:solidFill>
                            <a:srgbClr val="24303F"/>
                          </a:solidFill>
                        </a:rPr>
                        <a:t>まとめと展望</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200" b="0">
                          <a:solidFill>
                            <a:srgbClr val="24303F"/>
                          </a:solidFill>
                        </a:rPr>
                        <a:t>1/23</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bl>
          </a:graphicData>
        </a:graphic>
      </p:graphicFrame>
      <p:sp>
        <p:nvSpPr>
          <p:cNvPr id="6" name="TextBox 5"/>
          <p:cNvSpPr txBox="1"/>
          <p:nvPr/>
        </p:nvSpPr>
        <p:spPr>
          <a:xfrm>
            <a:off x="5760720" y="1371600"/>
            <a:ext cx="2971800" cy="365760"/>
          </a:xfrm>
          <a:prstGeom prst="rect">
            <a:avLst/>
          </a:prstGeom>
          <a:noFill/>
        </p:spPr>
        <p:txBody>
          <a:bodyPr wrap="square" lIns="0" tIns="0" rIns="0" bIns="0" anchor="t">
            <a:noAutofit/>
          </a:bodyPr>
          <a:lstStyle/>
          <a:p>
            <a:pPr algn="l" marL="0" indent="0">
              <a:spcAft>
                <a:spcPts val="400"/>
              </a:spcAft>
              <a:buNone/>
            </a:pPr>
            <a:r>
              <a:rPr sz="1500" b="1">
                <a:solidFill>
                  <a:srgbClr val="0B3C6E"/>
                </a:solidFill>
              </a:rPr>
              <a:t>節目</a:t>
            </a:r>
          </a:p>
        </p:txBody>
      </p:sp>
      <p:sp>
        <p:nvSpPr>
          <p:cNvPr id="7" name="Rounded Rectangle 6"/>
          <p:cNvSpPr/>
          <p:nvPr/>
        </p:nvSpPr>
        <p:spPr>
          <a:xfrm>
            <a:off x="5760720" y="1874519"/>
            <a:ext cx="96012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12/25</a:t>
            </a:r>
          </a:p>
        </p:txBody>
      </p:sp>
      <p:sp>
        <p:nvSpPr>
          <p:cNvPr id="8" name="TextBox 7"/>
          <p:cNvSpPr txBox="1"/>
          <p:nvPr/>
        </p:nvSpPr>
        <p:spPr>
          <a:xfrm>
            <a:off x="6812280" y="1783080"/>
            <a:ext cx="1920240" cy="512064"/>
          </a:xfrm>
          <a:prstGeom prst="rect">
            <a:avLst/>
          </a:prstGeom>
          <a:noFill/>
        </p:spPr>
        <p:txBody>
          <a:bodyPr wrap="square" lIns="0" tIns="0" rIns="0" bIns="0" anchor="ctr">
            <a:noAutofit/>
          </a:bodyPr>
          <a:lstStyle/>
          <a:p>
            <a:pPr algn="l" marL="0" indent="0">
              <a:spcAft>
                <a:spcPts val="400"/>
              </a:spcAft>
              <a:buNone/>
            </a:pPr>
            <a:r>
              <a:rPr sz="1300" b="0">
                <a:solidFill>
                  <a:srgbClr val="24303F"/>
                </a:solidFill>
              </a:rPr>
              <a:t>1章を先生に提出</a:t>
            </a:r>
          </a:p>
        </p:txBody>
      </p:sp>
      <p:sp>
        <p:nvSpPr>
          <p:cNvPr id="9" name="Rounded Rectangle 8"/>
          <p:cNvSpPr/>
          <p:nvPr/>
        </p:nvSpPr>
        <p:spPr>
          <a:xfrm>
            <a:off x="5760720" y="2532888"/>
            <a:ext cx="96012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1/12</a:t>
            </a:r>
          </a:p>
        </p:txBody>
      </p:sp>
      <p:sp>
        <p:nvSpPr>
          <p:cNvPr id="10" name="TextBox 9"/>
          <p:cNvSpPr txBox="1"/>
          <p:nvPr/>
        </p:nvSpPr>
        <p:spPr>
          <a:xfrm>
            <a:off x="6812280" y="2441448"/>
            <a:ext cx="1920240" cy="512064"/>
          </a:xfrm>
          <a:prstGeom prst="rect">
            <a:avLst/>
          </a:prstGeom>
          <a:noFill/>
        </p:spPr>
        <p:txBody>
          <a:bodyPr wrap="square" lIns="0" tIns="0" rIns="0" bIns="0" anchor="ctr">
            <a:noAutofit/>
          </a:bodyPr>
          <a:lstStyle/>
          <a:p>
            <a:pPr algn="l" marL="0" indent="0">
              <a:spcAft>
                <a:spcPts val="400"/>
              </a:spcAft>
              <a:buNone/>
            </a:pPr>
            <a:r>
              <a:rPr sz="1300" b="0">
                <a:solidFill>
                  <a:srgbClr val="24303F"/>
                </a:solidFill>
              </a:rPr>
              <a:t>4章まで提出</a:t>
            </a:r>
          </a:p>
        </p:txBody>
      </p:sp>
      <p:sp>
        <p:nvSpPr>
          <p:cNvPr id="11" name="Rounded Rectangle 10"/>
          <p:cNvSpPr/>
          <p:nvPr/>
        </p:nvSpPr>
        <p:spPr>
          <a:xfrm>
            <a:off x="5760720" y="3191256"/>
            <a:ext cx="96012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1/24–27</a:t>
            </a:r>
          </a:p>
        </p:txBody>
      </p:sp>
      <p:sp>
        <p:nvSpPr>
          <p:cNvPr id="12" name="TextBox 11"/>
          <p:cNvSpPr txBox="1"/>
          <p:nvPr/>
        </p:nvSpPr>
        <p:spPr>
          <a:xfrm>
            <a:off x="6812280" y="3099815"/>
            <a:ext cx="1920240" cy="512064"/>
          </a:xfrm>
          <a:prstGeom prst="rect">
            <a:avLst/>
          </a:prstGeom>
          <a:noFill/>
        </p:spPr>
        <p:txBody>
          <a:bodyPr wrap="square" lIns="0" tIns="0" rIns="0" bIns="0" anchor="ctr">
            <a:noAutofit/>
          </a:bodyPr>
          <a:lstStyle/>
          <a:p>
            <a:pPr algn="l" marL="0" indent="0">
              <a:spcAft>
                <a:spcPts val="400"/>
              </a:spcAft>
              <a:buNone/>
            </a:pPr>
            <a:r>
              <a:rPr sz="1300" b="0">
                <a:solidFill>
                  <a:srgbClr val="24303F"/>
                </a:solidFill>
              </a:rPr>
              <a:t>全体の確認・修正</a:t>
            </a:r>
          </a:p>
        </p:txBody>
      </p:sp>
      <p:sp>
        <p:nvSpPr>
          <p:cNvPr id="13" name="Rounded Rectangle 12"/>
          <p:cNvSpPr/>
          <p:nvPr/>
        </p:nvSpPr>
        <p:spPr>
          <a:xfrm>
            <a:off x="5760720" y="3849624"/>
            <a:ext cx="960120" cy="310896"/>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1/29</a:t>
            </a:r>
          </a:p>
        </p:txBody>
      </p:sp>
      <p:sp>
        <p:nvSpPr>
          <p:cNvPr id="14" name="TextBox 13"/>
          <p:cNvSpPr txBox="1"/>
          <p:nvPr/>
        </p:nvSpPr>
        <p:spPr>
          <a:xfrm>
            <a:off x="6812280" y="3758184"/>
            <a:ext cx="1920240" cy="512064"/>
          </a:xfrm>
          <a:prstGeom prst="rect">
            <a:avLst/>
          </a:prstGeom>
          <a:noFill/>
        </p:spPr>
        <p:txBody>
          <a:bodyPr wrap="square" lIns="0" tIns="0" rIns="0" bIns="0" anchor="ctr">
            <a:noAutofit/>
          </a:bodyPr>
          <a:lstStyle/>
          <a:p>
            <a:pPr algn="l" marL="0" indent="0">
              <a:spcAft>
                <a:spcPts val="400"/>
              </a:spcAft>
              <a:buNone/>
            </a:pPr>
            <a:r>
              <a:rPr sz="1300" b="0">
                <a:solidFill>
                  <a:srgbClr val="24303F"/>
                </a:solidFill>
              </a:rPr>
              <a:t>修論提出</a:t>
            </a:r>
          </a:p>
        </p:txBody>
      </p:sp>
      <p:sp>
        <p:nvSpPr>
          <p:cNvPr id="15" name="Rounded Rectangle 14"/>
          <p:cNvSpPr/>
          <p:nvPr/>
        </p:nvSpPr>
        <p:spPr>
          <a:xfrm>
            <a:off x="5760720" y="4507992"/>
            <a:ext cx="960120" cy="310896"/>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2/17</a:t>
            </a:r>
          </a:p>
        </p:txBody>
      </p:sp>
      <p:sp>
        <p:nvSpPr>
          <p:cNvPr id="16" name="TextBox 15"/>
          <p:cNvSpPr txBox="1"/>
          <p:nvPr/>
        </p:nvSpPr>
        <p:spPr>
          <a:xfrm>
            <a:off x="6812280" y="4416552"/>
            <a:ext cx="1920240" cy="512064"/>
          </a:xfrm>
          <a:prstGeom prst="rect">
            <a:avLst/>
          </a:prstGeom>
          <a:noFill/>
        </p:spPr>
        <p:txBody>
          <a:bodyPr wrap="square" lIns="0" tIns="0" rIns="0" bIns="0" anchor="ctr">
            <a:noAutofit/>
          </a:bodyPr>
          <a:lstStyle/>
          <a:p>
            <a:pPr algn="l" marL="0" indent="0">
              <a:spcAft>
                <a:spcPts val="400"/>
              </a:spcAft>
              <a:buNone/>
            </a:pPr>
            <a:r>
              <a:rPr sz="1300" b="0">
                <a:solidFill>
                  <a:srgbClr val="24303F"/>
                </a:solidFill>
              </a:rPr>
              <a:t>公聴会</a:t>
            </a:r>
          </a:p>
        </p:txBody>
      </p:sp>
      <p:sp>
        <p:nvSpPr>
          <p:cNvPr id="17" name="Rounded Rectangle 16"/>
          <p:cNvSpPr/>
          <p:nvPr/>
        </p:nvSpPr>
        <p:spPr>
          <a:xfrm>
            <a:off x="5760720" y="5166360"/>
            <a:ext cx="2971800" cy="1005840"/>
          </a:xfrm>
          <a:prstGeom prst="roundRect">
            <a:avLst>
              <a:gd name="adj" fmla="val 909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27432" bIns="27432">
            <a:noAutofit/>
          </a:bodyPr>
          <a:lstStyle/>
          <a:p>
            <a:pPr algn="l" marL="0" indent="0">
              <a:spcAft>
                <a:spcPts val="400"/>
              </a:spcAft>
              <a:buNone/>
            </a:pPr>
            <a:r>
              <a:rPr sz="1150" b="1">
                <a:solidFill>
                  <a:srgbClr val="0B3C6E"/>
                </a:solidFill>
              </a:rPr>
              <a:t>3章は IEVC・関西支部大会の原稿を、4章は CHIIR の原稿を下敷きにする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相談事項と次の予定</a:t>
            </a:r>
          </a:p>
        </p:txBody>
      </p:sp>
      <p:sp>
        <p:nvSpPr>
          <p:cNvPr id="3" name="Date Placeholder 2"/>
          <p:cNvSpPr>
            <a:spLocks noGrp="1"/>
          </p:cNvSpPr>
          <p:nvPr>
            <p:ph type="dt" idx="10" sz="half"/>
          </p:nvPr>
        </p:nvSpPr>
        <p:spPr/>
        <p:txBody>
          <a:bodyPr/>
          <a:p>
            <a:r>
              <a:t>2026/12/18</a:t>
            </a:r>
          </a:p>
        </p:txBody>
      </p:sp>
      <p:sp>
        <p:nvSpPr>
          <p:cNvPr id="4" name="Slide Number Placeholder 3"/>
          <p:cNvSpPr>
            <a:spLocks noGrp="1"/>
          </p:cNvSpPr>
          <p:nvPr>
            <p:ph type="sldNum" idx="12" sz="quarter"/>
          </p:nvPr>
        </p:nvSpPr>
        <p:spPr/>
        <p:txBody>
          <a:bodyPr/>
          <a:p>
            <a:fld id="{B6F15528-21DE-4FAA-801E-634DDDAF4B2B}" type="slidenum">
              <a:rPr lang="en-US"/>
              <a:t>13</a:t>
            </a:fld>
          </a:p>
        </p:txBody>
      </p:sp>
      <p:sp>
        <p:nvSpPr>
          <p:cNvPr id="5" name="Rounded Rectangle 4"/>
          <p:cNvSpPr/>
          <p:nvPr/>
        </p:nvSpPr>
        <p:spPr>
          <a:xfrm>
            <a:off x="411480" y="1371600"/>
            <a:ext cx="8321040" cy="3566160"/>
          </a:xfrm>
          <a:prstGeom prst="roundRect">
            <a:avLst>
              <a:gd name="adj" fmla="val 3076"/>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508760"/>
            <a:ext cx="502920" cy="50292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comments_w.png"/>
          <p:cNvPicPr>
            <a:picLocks noChangeAspect="1"/>
          </p:cNvPicPr>
          <p:nvPr/>
        </p:nvPicPr>
        <p:blipFill>
          <a:blip r:embed="rId2"/>
          <a:stretch>
            <a:fillRect/>
          </a:stretch>
        </p:blipFill>
        <p:spPr>
          <a:xfrm>
            <a:off x="715060" y="1629460"/>
            <a:ext cx="261518" cy="261518"/>
          </a:xfrm>
          <a:prstGeom prst="rect">
            <a:avLst/>
          </a:prstGeom>
        </p:spPr>
      </p:pic>
      <p:sp>
        <p:nvSpPr>
          <p:cNvPr id="8" name="TextBox 7"/>
          <p:cNvSpPr txBox="1"/>
          <p:nvPr/>
        </p:nvSpPr>
        <p:spPr>
          <a:xfrm>
            <a:off x="1234440" y="1508760"/>
            <a:ext cx="5486400" cy="502920"/>
          </a:xfrm>
          <a:prstGeom prst="rect">
            <a:avLst/>
          </a:prstGeom>
          <a:noFill/>
        </p:spPr>
        <p:txBody>
          <a:bodyPr wrap="square" lIns="0" tIns="0" rIns="0" bIns="0" anchor="ctr">
            <a:noAutofit/>
          </a:bodyPr>
          <a:lstStyle/>
          <a:p>
            <a:pPr algn="l" marL="0" indent="0">
              <a:spcAft>
                <a:spcPts val="400"/>
              </a:spcAft>
              <a:buNone/>
            </a:pPr>
            <a:r>
              <a:rPr sz="1600" b="1">
                <a:solidFill>
                  <a:srgbClr val="E8457C"/>
                </a:solidFill>
              </a:rPr>
              <a:t>相談したいこと</a:t>
            </a:r>
          </a:p>
        </p:txBody>
      </p:sp>
      <p:sp>
        <p:nvSpPr>
          <p:cNvPr id="9" name="TextBox 8"/>
          <p:cNvSpPr txBox="1"/>
          <p:nvPr/>
        </p:nvSpPr>
        <p:spPr>
          <a:xfrm>
            <a:off x="640080" y="2148840"/>
            <a:ext cx="7863840" cy="2743200"/>
          </a:xfrm>
          <a:prstGeom prst="rect">
            <a:avLst/>
          </a:prstGeom>
          <a:noFill/>
        </p:spPr>
        <p:txBody>
          <a:bodyPr wrap="square" lIns="0" tIns="0" rIns="0" bIns="0" anchor="t">
            <a:noAutofit/>
          </a:bodyPr>
          <a:lstStyle/>
          <a:p>
            <a:pPr algn="l" marL="0" indent="0">
              <a:spcAft>
                <a:spcPts val="200"/>
              </a:spcAft>
              <a:buNone/>
            </a:pPr>
            <a:r>
              <a:rPr sz="1400" b="1">
                <a:solidFill>
                  <a:srgbClr val="0B3C6E"/>
                </a:solidFill>
              </a:rPr>
              <a:t>主要な比較で有意差が出なかった RQ3 の書き方</a:t>
            </a:r>
          </a:p>
          <a:p>
            <a:pPr algn="l" marL="0" indent="0">
              <a:spcAft>
                <a:spcPts val="900"/>
              </a:spcAft>
              <a:buNone/>
            </a:pPr>
            <a:r>
              <a:rPr sz="1250" b="0">
                <a:solidFill>
                  <a:srgbClr val="24303F"/>
                </a:solidFill>
              </a:rPr>
              <a:t>「傾向あり」とは書かず、効果量と信頼区間で報告し、必要人数の再計算を今後の課題にする案でよいか</a:t>
            </a:r>
          </a:p>
          <a:p>
            <a:pPr algn="l" marL="0" indent="0">
              <a:spcAft>
                <a:spcPts val="200"/>
              </a:spcAft>
              <a:buNone/>
            </a:pPr>
            <a:r>
              <a:rPr sz="1400" b="1">
                <a:solidFill>
                  <a:srgbClr val="0B3C6E"/>
                </a:solidFill>
              </a:rPr>
              <a:t>記録率の群差（群C 86% / 群A 81%）による欠測の偏り</a:t>
            </a:r>
          </a:p>
          <a:p>
            <a:pPr algn="l" marL="0" indent="0">
              <a:spcAft>
                <a:spcPts val="900"/>
              </a:spcAft>
              <a:buNone/>
            </a:pPr>
            <a:r>
              <a:rPr sz="1250" b="0">
                <a:solidFill>
                  <a:srgbClr val="24303F"/>
                </a:solidFill>
              </a:rPr>
              <a:t>多重代入の感度分析を本文の表に並べ、結論が変わらないことを示す</a:t>
            </a:r>
          </a:p>
          <a:p>
            <a:pPr algn="l" marL="0" indent="0">
              <a:spcAft>
                <a:spcPts val="200"/>
              </a:spcAft>
              <a:buNone/>
            </a:pPr>
            <a:r>
              <a:rPr sz="1400" b="1">
                <a:solidFill>
                  <a:srgbClr val="0B3C6E"/>
                </a:solidFill>
              </a:rPr>
              <a:t>CHIIR 2027 採択（12/15 通知）後の作業と IEEE Access への投稿時期</a:t>
            </a:r>
          </a:p>
          <a:p>
            <a:pPr algn="l" marL="0" indent="0">
              <a:spcAft>
                <a:spcPts val="400"/>
              </a:spcAft>
              <a:buNone/>
            </a:pPr>
            <a:r>
              <a:rPr sz="1250" b="0">
                <a:solidFill>
                  <a:srgbClr val="24303F"/>
                </a:solidFill>
              </a:rPr>
              <a:t>カメラレディは1月中旬。修論提出後の2月に IEEE Access の原稿をまとめる</a:t>
            </a:r>
          </a:p>
        </p:txBody>
      </p:sp>
      <p:sp>
        <p:nvSpPr>
          <p:cNvPr id="10" name="Rounded Rectangle 9"/>
          <p:cNvSpPr/>
          <p:nvPr/>
        </p:nvSpPr>
        <p:spPr>
          <a:xfrm>
            <a:off x="411480" y="5120640"/>
            <a:ext cx="8321040" cy="1051560"/>
          </a:xfrm>
          <a:prstGeom prst="roundRect">
            <a:avLst>
              <a:gd name="adj" fmla="val 8695"/>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94360" y="5367528"/>
            <a:ext cx="548640" cy="54864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eye_w.png"/>
          <p:cNvPicPr>
            <a:picLocks noChangeAspect="1"/>
          </p:cNvPicPr>
          <p:nvPr/>
        </p:nvPicPr>
        <p:blipFill>
          <a:blip r:embed="rId3"/>
          <a:stretch>
            <a:fillRect/>
          </a:stretch>
        </p:blipFill>
        <p:spPr>
          <a:xfrm>
            <a:off x="726033" y="5499201"/>
            <a:ext cx="285292" cy="285292"/>
          </a:xfrm>
          <a:prstGeom prst="rect">
            <a:avLst/>
          </a:prstGeom>
        </p:spPr>
      </p:pic>
      <p:sp>
        <p:nvSpPr>
          <p:cNvPr id="13" name="TextBox 12"/>
          <p:cNvSpPr txBox="1"/>
          <p:nvPr/>
        </p:nvSpPr>
        <p:spPr>
          <a:xfrm>
            <a:off x="1325880" y="5148072"/>
            <a:ext cx="7223760" cy="1005840"/>
          </a:xfrm>
          <a:prstGeom prst="rect">
            <a:avLst/>
          </a:prstGeom>
          <a:noFill/>
        </p:spPr>
        <p:txBody>
          <a:bodyPr wrap="square" lIns="0" tIns="0" rIns="0" bIns="0" anchor="ctr">
            <a:noAutofit/>
          </a:bodyPr>
          <a:lstStyle/>
          <a:p>
            <a:pPr algn="l" marL="0" indent="0">
              <a:spcAft>
                <a:spcPts val="300"/>
              </a:spcAft>
              <a:buNone/>
            </a:pPr>
            <a:r>
              <a:rPr sz="1400" b="1">
                <a:solidFill>
                  <a:srgbClr val="0B3C6E"/>
                </a:solidFill>
              </a:rPr>
              <a:t>次回（1月）に見せるもの</a:t>
            </a:r>
          </a:p>
          <a:p>
            <a:pPr algn="l" marL="0" indent="0">
              <a:spcAft>
                <a:spcPts val="400"/>
              </a:spcAft>
              <a:buNone/>
            </a:pPr>
            <a:r>
              <a:rPr sz="1250" b="0">
                <a:solidFill>
                  <a:srgbClr val="24303F"/>
                </a:solidFill>
              </a:rPr>
              <a:t>感度分析を含めた確定値／修論の1〜4章の草稿／公聴会スライドの骨子</a:t>
            </a:r>
          </a:p>
        </p:txBody>
      </p:sp>
      <p:sp>
        <p:nvSpPr>
          <p:cNvPr id="14" name="Rounded Rectangle 13"/>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採否・数値は想定</a:t>
            </a:r>
          </a:p>
        </p:txBody>
      </p:sp>
    </p:spTree>
  </p:cSld>
  <p:clrMapOvr>
    <a:masterClrMapping/>
  </p:clrMapOvr>
</p:sld>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0099FF"/>
      </a:accent1>
      <a:accent2>
        <a:srgbClr val="00CC66"/>
      </a:accent2>
      <a:accent3>
        <a:srgbClr val="9999FF"/>
      </a:accent3>
      <a:accent4>
        <a:srgbClr val="ED7D31"/>
      </a:accent4>
      <a:accent5>
        <a:srgbClr val="FF99CC"/>
      </a:accent5>
      <a:accent6>
        <a:srgbClr val="CCFF66"/>
      </a:accent6>
      <a:hlink>
        <a:srgbClr val="0563C1"/>
      </a:hlink>
      <a:folHlink>
        <a:srgbClr val="954F72"/>
      </a:folHlink>
    </a:clrScheme>
    <a:fontScheme name="mixlab">
      <a:majorFont>
        <a:latin typeface="Arial"/>
        <a:ea typeface="BIZ UDPゴシック"/>
        <a:cs typeface=""/>
      </a:majorFont>
      <a:minorFont>
        <a:latin typeface="Arial"/>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71DAD71D-71F1-4879-AA29-AD68469550B8}" vid="{C503FC9E-2328-42BB-94CD-380D5209378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E6AF0D829D43D49B1E81D8F4BBE5B7D" ma:contentTypeVersion="10" ma:contentTypeDescription="新しいドキュメントを作成します。" ma:contentTypeScope="" ma:versionID="5539ab1a2f6c3bdbf31c7c5cd0f154e8">
  <xsd:schema xmlns:xsd="http://www.w3.org/2001/XMLSchema" xmlns:xs="http://www.w3.org/2001/XMLSchema" xmlns:p="http://schemas.microsoft.com/office/2006/metadata/properties" xmlns:ns3="827dca8b-9b89-463d-9c0f-8f583314a21a" targetNamespace="http://schemas.microsoft.com/office/2006/metadata/properties" ma:root="true" ma:fieldsID="0abcb71c8026bc76d3643389aaf979a1" ns3:_="">
    <xsd:import namespace="827dca8b-9b89-463d-9c0f-8f583314a21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7dca8b-9b89-463d-9c0f-8f583314a21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7dca8b-9b89-463d-9c0f-8f583314a21a" xsi:nil="true"/>
  </documentManagement>
</p:properties>
</file>

<file path=customXml/itemProps1.xml><?xml version="1.0" encoding="utf-8"?>
<ds:datastoreItem xmlns:ds="http://schemas.openxmlformats.org/officeDocument/2006/customXml" ds:itemID="{7243403C-11AC-4F64-B63B-092045F9CB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7dca8b-9b89-463d-9c0f-8f583314a2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FAF0C7-D3A2-4F0D-85B6-FC2608B86CAE}">
  <ds:schemaRefs>
    <ds:schemaRef ds:uri="http://schemas.microsoft.com/sharepoint/v3/contenttype/forms"/>
  </ds:schemaRefs>
</ds:datastoreItem>
</file>

<file path=customXml/itemProps3.xml><?xml version="1.0" encoding="utf-8"?>
<ds:datastoreItem xmlns:ds="http://schemas.openxmlformats.org/officeDocument/2006/customXml" ds:itemID="{C64F4103-916A-4822-B22D-C96AE4A255CF}">
  <ds:schemaRefs>
    <ds:schemaRef ds:uri="http://schemas.microsoft.com/office/2006/metadata/properties"/>
    <ds:schemaRef ds:uri="827dca8b-9b89-463d-9c0f-8f583314a21a"/>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mixlab_jp(4-3)</Template>
  <TotalTime>12</TotalTime>
  <Words>546</Words>
  <Application>Microsoft Office PowerPoint</Application>
  <PresentationFormat>画面に合わせる (4:3)</PresentationFormat>
  <Paragraphs>60</Paragraphs>
  <Slides>8</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游ゴシック</vt:lpstr>
      <vt:lpstr>Arial</vt:lpstr>
      <vt:lpstr>Office テーマ</vt:lpstr>
      <vt:lpstr>進捗報告2026/07/03</vt:lpstr>
      <vt:lpstr>進捗</vt:lpstr>
      <vt:lpstr>PowerPoint プレゼンテーション</vt:lpstr>
      <vt:lpstr>SEM分析（パス解析）のモデル構築</vt:lpstr>
      <vt:lpstr>進捗</vt:lpstr>
      <vt:lpstr>進捗</vt:lpstr>
      <vt:lpstr>進捗</vt:lpstr>
      <vt:lpstr>進捗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 2026/12/18</dc:title>
  <dc:creator>今井元</dc:creator>
  <cp:lastModifiedBy>今井　元</cp:lastModifiedBy>
  <cp:revision>1</cp:revision>
  <dcterms:created xsi:type="dcterms:W3CDTF">2026-07-03T00:39:04Z</dcterms:created>
  <dcterms:modified xsi:type="dcterms:W3CDTF">2026-07-03T00:51:52Z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0x0101004E6AF0D829D43D49B1E81D8F4BBE5B7D</vt:lpwstr>
  </property>
</Properties>
</file>