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6" r:id="rId10"/>
    <p:sldId id="257" r:id="rId11"/>
    <p:sldId id="258" r:id="rId12"/>
    <p:sldId id="259" r:id="rId9"/>
    <p:sldId id="260" r:id="rId8"/>
    <p:sldId id="261" r:id="rId7"/>
    <p:sldId id="262" r:id="rId6"/>
    <p:sldId id="263" r:id="rId5"/>
    <p:sldId id="264" r:id="rId18"/>
    <p:sldId id="265" r:id="rId19"/>
    <p:sldId id="266" r:id="rId20"/>
    <p:sldId id="267" r:id="rId21"/>
    <p:sldId id="268" r:id="rId2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5" autoAdjust="0"/>
    <p:restoredTop sz="94660"/>
  </p:normalViewPr>
  <p:slideViewPr>
    <p:cSldViewPr snapToGrid="0" showGuides="1">
      <p:cViewPr varScale="1">
        <p:scale>
          <a:sx n="59" d="100"/>
          <a:sy n="59" d="100"/>
        </p:scale>
        <p:origin x="96" y="6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F139FF-5DF4-46B1-A730-4E68595A117A}" type="datetimeFigureOut">
              <a:rPr kumimoji="1" lang="ja-JP" altLang="en-US" smtClean="0"/>
              <a:t>2026/7/3</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6D2F10-75EE-4518-AB94-CE9EAC6EA3C6}" type="slidenum">
              <a:rPr kumimoji="1" lang="ja-JP" altLang="en-US" smtClean="0"/>
              <a:t>‹#›</a:t>
            </a:fld>
            <a:endParaRPr kumimoji="1" lang="ja-JP" altLang="en-US"/>
          </a:p>
        </p:txBody>
      </p:sp>
    </p:spTree>
    <p:extLst>
      <p:ext uri="{BB962C8B-B14F-4D97-AF65-F5344CB8AC3E}">
        <p14:creationId xmlns:p14="http://schemas.microsoft.com/office/powerpoint/2010/main" val="234563921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今回は、スマホでバスの到着予測の不確かさをどう見せるかを扱ったKayらのCHI 2016の論文を紹介します。OshiFitの予測の幅の見せ方、特にゆらぎアバターと「20人中何人」の表示の根拠として選びました。</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論文はCHI 2016のものです。選んだ理由は、OshiFitの予測は誤差が大きく幅の見せ方が重要であること、スマホで一般の人に日常の予測を見せるという問題設定が同じであること、そして操作確認で出た「ぼやけの意味が分からない」という課題を解くヒントになるから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バスの到着予測のような日常の予測は外れるものです。点の予測だけを見せると、外れたときに信頼を失います。一方で、分布の図は一般の人には読みにくい。手がかりになるのが、確率を頻度で示すと分かりやすいという知見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は4段階で進められています。文献調査、人気の乗換アプリOneBusAwayの利用者へのアンケート、反復的なデザイン、そして統制実験です。アンケートからは、利用者が予測を走るべきか、いつ家を出るかといった判断に使っていることが見えてきました。具体的な人数や質問項目は原著のSurveyの節で確認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提案されたのがquantile dotplotです。予測分布から20個の分位点をとり、1点を5%の確率として、同じ区間の点を積み上げます。すると、5分以内に来る確率を知りたいときは、左から点を数えるだけで済みます。連続した分布を数えられる結果に変えるの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統制実験では、密度の図などの従来の表示とquantile dotplotを比べ、表示を見て「何分までに来る確率」を答えてもらっています。測ったのは、推定のばらつきと答えへの自信です。細かい条件や人数は原著で確認した値を入れてください。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主な結果は、quantile dotplotが密度の図に比べて確率の推定の分散を約1.15分の1にしたこと、そして利用者がより自信をもって推定できたことです。後続のFernandesらの2018年の研究では、実際の判断の質も上がることが示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界としては、シナリオ上の課題であること、効果量が小さめであること、予測の更新を扱っていないこと、そして客観的な予測が対象であることが挙げられます。OshiFitは主観的な予測を毎週更新し、実際の行動を測る点で、この論文の外側を検証できます。ただし、群Cはドットとアバターの両方を見るので、どちらが効いたかは切り分けら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OshiFitに対応づけると、バスの到着時刻が6週間後の推し疲れに、走るべきかという判断が提案を試すかという判断に当たります。進捗②で追加した「20人中何人」の点表示は、まさにこの論文のquantile dotplotと同じ考え方です。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ゆらぎアバターへの応用案です。予測の20点に、疲れ高めの境目の線を引くと、境目より右の点を数えるだけで、20人中7人が疲れ高めと読めます。さらに、5体のアバターを4点ずつに対応づけて、点の数と重なりの意味をそろえます。初回だけ30秒の説明も入れます。ただし本実験は11/2に開始済みでベータ版を凍結しているので、これらは事後アンケートでの理解度の確認と、次の版で対応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実験中はベータ版を凍結しているので、画面は変えずに、事後アンケートに点の読み取り問題を2問追加することを提案します。画面の改良は修論の後の次の版で行い、ドットとアバターのどちらが行動に効くかを切り分ける実験につなげたいと考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議論したい点は3つです。点の数は20でよいか、感情に訴えるアバターと数で示す点はそれぞれ行動のどこに効くのか、そして予測が外れたときの信頼をどう保つかです。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8" name="正方形/長方形 7"/>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1"/>
          <p:cNvSpPr>
            <a:spLocks noGrp="1"/>
          </p:cNvSpPr>
          <p:nvPr>
            <p:ph type="ctrTitle"/>
          </p:nvPr>
        </p:nvSpPr>
        <p:spPr>
          <a:xfrm>
            <a:off x="103340" y="3607869"/>
            <a:ext cx="8915400" cy="1655761"/>
          </a:xfrm>
        </p:spPr>
        <p:txBody>
          <a:bodyPr anchor="b"/>
          <a:lstStyle>
            <a:lvl1pPr algn="ctr">
              <a:defRPr sz="4500"/>
            </a:lvl1pPr>
          </a:lstStyle>
          <a:p>
            <a:r>
              <a:rPr kumimoji="1" lang="ja-JP" altLang="en-US"/>
              <a:t>マスター タイトルの書式設定</a:t>
            </a:r>
            <a:endParaRPr kumimoji="1" lang="ja-JP" altLang="en-US" dirty="0"/>
          </a:p>
        </p:txBody>
      </p:sp>
      <p:sp>
        <p:nvSpPr>
          <p:cNvPr id="3" name="サブタイトル 2"/>
          <p:cNvSpPr>
            <a:spLocks noGrp="1"/>
          </p:cNvSpPr>
          <p:nvPr>
            <p:ph type="subTitle" idx="1"/>
          </p:nvPr>
        </p:nvSpPr>
        <p:spPr>
          <a:xfrm>
            <a:off x="1300740" y="5356274"/>
            <a:ext cx="4925889" cy="1418957"/>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endParaRPr kumimoji="1" lang="ja-JP" altLang="en-US" dirty="0"/>
          </a:p>
        </p:txBody>
      </p:sp>
      <p:sp>
        <p:nvSpPr>
          <p:cNvPr id="19" name="サブタイトル 2"/>
          <p:cNvSpPr txBox="1">
            <a:spLocks/>
          </p:cNvSpPr>
          <p:nvPr userDrawn="1"/>
        </p:nvSpPr>
        <p:spPr>
          <a:xfrm>
            <a:off x="6068860" y="4277519"/>
            <a:ext cx="2949880" cy="1655762"/>
          </a:xfrm>
          <a:prstGeom prst="rect">
            <a:avLst/>
          </a:prstGeom>
        </p:spPr>
        <p:txBody>
          <a:bodyPr vert="horz" lIns="68580" tIns="34290" rIns="68580" bIns="34290" rtlCol="0">
            <a:normAutofit/>
          </a:bodyPr>
          <a:lstStyle>
            <a:lvl1pPr marL="0" indent="0" algn="l" defTabSz="914400" rtl="0" eaLnBrk="1" latinLnBrk="0" hangingPunct="1">
              <a:lnSpc>
                <a:spcPct val="90000"/>
              </a:lnSpc>
              <a:spcBef>
                <a:spcPts val="1000"/>
              </a:spcBef>
              <a:buFont typeface="Arial" panose="020B0604020202020204" pitchFamily="34" charset="0"/>
              <a:buNone/>
              <a:defRPr kumimoji="1" sz="32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endParaRPr lang="ja-JP" altLang="en-US" sz="2400" dirty="0"/>
          </a:p>
        </p:txBody>
      </p:sp>
      <p:pic>
        <p:nvPicPr>
          <p:cNvPr id="9" name="図 8" descr="アイコン&#10;&#10;自動的に生成された説明">
            <a:extLst>
              <a:ext uri="{FF2B5EF4-FFF2-40B4-BE49-F238E27FC236}">
                <a16:creationId xmlns:a16="http://schemas.microsoft.com/office/drawing/2014/main" id="{27B4E2A7-DAEA-4D6D-82DB-9419AF5FAF5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340" y="5346399"/>
            <a:ext cx="1182362" cy="1428837"/>
          </a:xfrm>
          <a:prstGeom prst="rect">
            <a:avLst/>
          </a:prstGeom>
        </p:spPr>
      </p:pic>
      <p:cxnSp>
        <p:nvCxnSpPr>
          <p:cNvPr id="5" name="直線コネクタ 4">
            <a:extLst>
              <a:ext uri="{FF2B5EF4-FFF2-40B4-BE49-F238E27FC236}">
                <a16:creationId xmlns:a16="http://schemas.microsoft.com/office/drawing/2014/main" id="{CCAFA43D-FE5B-48C3-863A-33F247D129D4}"/>
              </a:ext>
            </a:extLst>
          </p:cNvPr>
          <p:cNvCxnSpPr/>
          <p:nvPr userDrawn="1"/>
        </p:nvCxnSpPr>
        <p:spPr>
          <a:xfrm>
            <a:off x="103340" y="5252744"/>
            <a:ext cx="8915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B5F561B1-C9EC-4DC6-912D-C77D62F90B04}"/>
              </a:ext>
            </a:extLst>
          </p:cNvPr>
          <p:cNvSpPr/>
          <p:nvPr userDrawn="1"/>
        </p:nvSpPr>
        <p:spPr>
          <a:xfrm>
            <a:off x="0" y="-1"/>
            <a:ext cx="9144000" cy="34355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9856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F5D49C76-77F1-4215-9649-4092C94102D0}"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2645773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8" name="正方形/長方形 7"/>
          <p:cNvSpPr/>
          <p:nvPr userDrawn="1"/>
        </p:nvSpPr>
        <p:spPr>
          <a:xfrm>
            <a:off x="1" y="0"/>
            <a:ext cx="9114626" cy="63005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1"/>
          <p:cNvSpPr>
            <a:spLocks noGrp="1"/>
          </p:cNvSpPr>
          <p:nvPr>
            <p:ph type="title"/>
          </p:nvPr>
        </p:nvSpPr>
        <p:spPr>
          <a:xfrm>
            <a:off x="300625" y="1709739"/>
            <a:ext cx="8586592" cy="2852737"/>
          </a:xfrm>
        </p:spPr>
        <p:txBody>
          <a:bodyPr anchor="b"/>
          <a:lstStyle>
            <a:lvl1pPr>
              <a:defRPr sz="45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300625" y="4589464"/>
            <a:ext cx="8586592"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C867CBC8-C13F-44F6-BCB3-948A96AAE3EF}"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pic>
        <p:nvPicPr>
          <p:cNvPr id="9" name="図 8"/>
          <p:cNvPicPr>
            <a:picLocks noChangeAspect="1"/>
          </p:cNvPicPr>
          <p:nvPr userDrawn="1"/>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7988385" y="25052"/>
            <a:ext cx="1155615" cy="1342496"/>
          </a:xfrm>
          <a:prstGeom prst="rect">
            <a:avLst/>
          </a:prstGeom>
        </p:spPr>
      </p:pic>
    </p:spTree>
    <p:extLst>
      <p:ext uri="{BB962C8B-B14F-4D97-AF65-F5344CB8AC3E}">
        <p14:creationId xmlns:p14="http://schemas.microsoft.com/office/powerpoint/2010/main" val="2163646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122128" y="1716067"/>
            <a:ext cx="4392722" cy="44608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29150" y="1716067"/>
            <a:ext cx="4408379" cy="4460897"/>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日付プレースホルダー 4"/>
          <p:cNvSpPr>
            <a:spLocks noGrp="1"/>
          </p:cNvSpPr>
          <p:nvPr>
            <p:ph type="dt" sz="half" idx="10"/>
          </p:nvPr>
        </p:nvSpPr>
        <p:spPr/>
        <p:txBody>
          <a:bodyPr/>
          <a:lstStyle/>
          <a:p>
            <a:fld id="{9AA910EA-EFB6-4ED7-B593-CE78B1973066}" type="datetime1">
              <a:rPr kumimoji="1" lang="ja-JP" altLang="en-US" smtClean="0"/>
              <a:t>2026/7/3</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819632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0" y="1"/>
            <a:ext cx="7886700" cy="1325563"/>
          </a:xfrm>
        </p:spPr>
        <p:txBody>
          <a:bodyPr/>
          <a:lstStyle/>
          <a:p>
            <a:r>
              <a:rPr kumimoji="1" lang="ja-JP" altLang="en-US"/>
              <a:t>マスター タイトルの書式設定</a:t>
            </a:r>
            <a:endParaRPr kumimoji="1" lang="ja-JP" altLang="en-US" dirty="0"/>
          </a:p>
        </p:txBody>
      </p:sp>
      <p:sp>
        <p:nvSpPr>
          <p:cNvPr id="3" name="テキスト プレースホルダー 2"/>
          <p:cNvSpPr>
            <a:spLocks noGrp="1"/>
          </p:cNvSpPr>
          <p:nvPr>
            <p:ph type="body" idx="1"/>
          </p:nvPr>
        </p:nvSpPr>
        <p:spPr>
          <a:xfrm>
            <a:off x="122129" y="1681163"/>
            <a:ext cx="4376053"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122129" y="2505075"/>
            <a:ext cx="4376053"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29150" y="1681163"/>
            <a:ext cx="4485476"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29150" y="2505075"/>
            <a:ext cx="4485476"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7" name="日付プレースホルダー 6"/>
          <p:cNvSpPr>
            <a:spLocks noGrp="1"/>
          </p:cNvSpPr>
          <p:nvPr>
            <p:ph type="dt" sz="half" idx="10"/>
          </p:nvPr>
        </p:nvSpPr>
        <p:spPr/>
        <p:txBody>
          <a:bodyPr/>
          <a:lstStyle/>
          <a:p>
            <a:fld id="{9C446DE9-826E-4F2E-9FBE-79AF29EDC55F}" type="datetime1">
              <a:rPr kumimoji="1" lang="ja-JP" altLang="en-US" smtClean="0"/>
              <a:t>2026/7/3</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34805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4ED6424B-FEB0-415C-8C57-9662DE1E2037}" type="datetime1">
              <a:rPr kumimoji="1" lang="ja-JP" altLang="en-US" smtClean="0"/>
              <a:t>2026/7/3</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57174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AB5750C9-8340-4923-BDA6-FE9093DBE1F0}" type="datetime1">
              <a:rPr kumimoji="1" lang="ja-JP" altLang="en-US" smtClean="0"/>
              <a:t>2026/7/3</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351240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5AD568FF-8035-4960-B29B-D2E38E699D23}" type="datetime1">
              <a:rPr kumimoji="1" lang="ja-JP" altLang="en-US" smtClean="0"/>
              <a:t>2026/7/3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531E9D-61D6-4888-9999-68160698B78F}" type="slidenum">
              <a:rPr kumimoji="1" lang="ja-JP" altLang="en-US" smtClean="0"/>
              <a:t>‹#›</a:t>
            </a:fld>
            <a:endParaRPr kumimoji="1" lang="ja-JP" altLang="en-US"/>
          </a:p>
        </p:txBody>
      </p:sp>
    </p:spTree>
    <p:extLst>
      <p:ext uri="{BB962C8B-B14F-4D97-AF65-F5344CB8AC3E}">
        <p14:creationId xmlns:p14="http://schemas.microsoft.com/office/powerpoint/2010/main" val="13087982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正方形/長方形 10"/>
          <p:cNvSpPr/>
          <p:nvPr userDrawn="1"/>
        </p:nvSpPr>
        <p:spPr>
          <a:xfrm>
            <a:off x="0" y="6394366"/>
            <a:ext cx="1155526" cy="46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2" name="正方形/長方形 11"/>
          <p:cNvSpPr/>
          <p:nvPr userDrawn="1"/>
        </p:nvSpPr>
        <p:spPr>
          <a:xfrm>
            <a:off x="1155526" y="6394366"/>
            <a:ext cx="7158625" cy="46363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3" name="正方形/長方形 12"/>
          <p:cNvSpPr/>
          <p:nvPr userDrawn="1"/>
        </p:nvSpPr>
        <p:spPr>
          <a:xfrm>
            <a:off x="8314151" y="6394366"/>
            <a:ext cx="829850" cy="46363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8" name="正方形/長方形 7"/>
          <p:cNvSpPr/>
          <p:nvPr userDrawn="1"/>
        </p:nvSpPr>
        <p:spPr>
          <a:xfrm>
            <a:off x="1" y="0"/>
            <a:ext cx="7565720" cy="1083832"/>
          </a:xfrm>
          <a:prstGeom prst="rect">
            <a:avLst/>
          </a:prstGeom>
          <a:gradFill>
            <a:gsLst>
              <a:gs pos="68000">
                <a:schemeClr val="accent1">
                  <a:lumMod val="20000"/>
                  <a:lumOff val="80000"/>
                </a:schemeClr>
              </a:gs>
              <a:gs pos="100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2" name="タイトル プレースホルダー 1"/>
          <p:cNvSpPr>
            <a:spLocks noGrp="1"/>
          </p:cNvSpPr>
          <p:nvPr>
            <p:ph type="title"/>
          </p:nvPr>
        </p:nvSpPr>
        <p:spPr>
          <a:xfrm>
            <a:off x="0" y="-7407"/>
            <a:ext cx="8109606" cy="873837"/>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116237" y="1261733"/>
            <a:ext cx="8903777" cy="4915231"/>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46973" y="6455298"/>
            <a:ext cx="967636" cy="365125"/>
          </a:xfrm>
          <a:prstGeom prst="rect">
            <a:avLst/>
          </a:prstGeom>
        </p:spPr>
        <p:txBody>
          <a:bodyPr vert="horz" lIns="91440" tIns="45720" rIns="91440" bIns="45720" rtlCol="0" anchor="ctr"/>
          <a:lstStyle>
            <a:lvl1pPr algn="l">
              <a:defRPr sz="1200">
                <a:solidFill>
                  <a:schemeClr val="tx1"/>
                </a:solidFill>
              </a:defRPr>
            </a:lvl1pPr>
          </a:lstStyle>
          <a:p>
            <a:fld id="{530C953D-9D36-4E45-98EB-F4573D85DE5F}" type="datetime1">
              <a:rPr lang="ja-JP" altLang="en-US" smtClean="0"/>
              <a:t>2026/7/3</a:t>
            </a:fld>
            <a:endParaRPr lang="ja-JP" altLang="en-US" dirty="0"/>
          </a:p>
        </p:txBody>
      </p:sp>
      <p:sp>
        <p:nvSpPr>
          <p:cNvPr id="5" name="フッター プレースホルダー 4"/>
          <p:cNvSpPr>
            <a:spLocks noGrp="1"/>
          </p:cNvSpPr>
          <p:nvPr>
            <p:ph type="ftr" sz="quarter" idx="3"/>
          </p:nvPr>
        </p:nvSpPr>
        <p:spPr>
          <a:xfrm>
            <a:off x="1202498" y="6435466"/>
            <a:ext cx="7082278" cy="384956"/>
          </a:xfrm>
          <a:prstGeom prst="rect">
            <a:avLst/>
          </a:prstGeom>
        </p:spPr>
        <p:txBody>
          <a:bodyPr vert="horz" lIns="91440" tIns="45720" rIns="91440" bIns="45720" rtlCol="0" anchor="ctr"/>
          <a:lstStyle>
            <a:lvl1pPr algn="ctr">
              <a:defRPr sz="1200">
                <a:solidFill>
                  <a:schemeClr val="tx1"/>
                </a:solidFill>
              </a:defRPr>
            </a:lvl1pPr>
          </a:lstStyle>
          <a:p>
            <a:endParaRPr lang="ja-JP" altLang="en-US" dirty="0"/>
          </a:p>
        </p:txBody>
      </p:sp>
      <p:sp>
        <p:nvSpPr>
          <p:cNvPr id="9" name="正方形/長方形 8"/>
          <p:cNvSpPr/>
          <p:nvPr userDrawn="1"/>
        </p:nvSpPr>
        <p:spPr>
          <a:xfrm>
            <a:off x="1" y="880126"/>
            <a:ext cx="9143999" cy="320675"/>
          </a:xfrm>
          <a:prstGeom prst="rect">
            <a:avLst/>
          </a:prstGeom>
          <a:gradFill flip="none" rotWithShape="1">
            <a:gsLst>
              <a:gs pos="17000">
                <a:schemeClr val="accent1">
                  <a:lumMod val="50000"/>
                </a:schemeClr>
              </a:gs>
              <a:gs pos="88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a:p>
        </p:txBody>
      </p:sp>
      <p:sp>
        <p:nvSpPr>
          <p:cNvPr id="10" name="テキスト ボックス 9"/>
          <p:cNvSpPr txBox="1"/>
          <p:nvPr userDrawn="1"/>
        </p:nvSpPr>
        <p:spPr>
          <a:xfrm>
            <a:off x="0" y="855796"/>
            <a:ext cx="6200000" cy="300082"/>
          </a:xfrm>
          <a:prstGeom prst="rect">
            <a:avLst/>
          </a:prstGeom>
          <a:noFill/>
        </p:spPr>
        <p:txBody>
          <a:bodyPr wrap="none" rtlCol="0">
            <a:spAutoFit/>
          </a:bodyPr>
          <a:lstStyle/>
          <a:p>
            <a:r>
              <a:rPr kumimoji="1" lang="en-US" altLang="ja-JP" sz="1350" b="1" i="1" dirty="0">
                <a:solidFill>
                  <a:schemeClr val="bg1"/>
                </a:solidFill>
              </a:rPr>
              <a:t>Media</a:t>
            </a:r>
            <a:r>
              <a:rPr kumimoji="1" lang="en-US" altLang="ja-JP" sz="1350" b="1" i="1" baseline="0" dirty="0">
                <a:solidFill>
                  <a:schemeClr val="bg1"/>
                </a:solidFill>
              </a:rPr>
              <a:t> Interaction Laboratory, Osaka Institute of Technology</a:t>
            </a:r>
            <a:endParaRPr kumimoji="1" lang="ja-JP" altLang="en-US" sz="1350" b="1" i="1" dirty="0">
              <a:solidFill>
                <a:schemeClr val="bg1"/>
              </a:solidFill>
            </a:endParaRPr>
          </a:p>
        </p:txBody>
      </p:sp>
      <p:sp>
        <p:nvSpPr>
          <p:cNvPr id="6" name="スライド番号プレースホルダー 5"/>
          <p:cNvSpPr>
            <a:spLocks noGrp="1"/>
          </p:cNvSpPr>
          <p:nvPr>
            <p:ph type="sldNum" sz="quarter" idx="4"/>
          </p:nvPr>
        </p:nvSpPr>
        <p:spPr>
          <a:xfrm>
            <a:off x="8389307" y="6455298"/>
            <a:ext cx="725319" cy="365125"/>
          </a:xfrm>
          <a:prstGeom prst="rect">
            <a:avLst/>
          </a:prstGeom>
        </p:spPr>
        <p:txBody>
          <a:bodyPr vert="horz" lIns="91440" tIns="45720" rIns="91440" bIns="45720" rtlCol="0" anchor="ctr"/>
          <a:lstStyle>
            <a:lvl1pPr algn="r">
              <a:defRPr sz="1200">
                <a:solidFill>
                  <a:schemeClr val="tx1"/>
                </a:solidFill>
              </a:defRPr>
            </a:lvl1pPr>
          </a:lstStyle>
          <a:p>
            <a:fld id="{38531E9D-61D6-4888-9999-68160698B78F}" type="slidenum">
              <a:rPr lang="ja-JP" altLang="en-US" smtClean="0"/>
              <a:pPr/>
              <a:t>‹#›</a:t>
            </a:fld>
            <a:endParaRPr lang="ja-JP" altLang="en-US" dirty="0"/>
          </a:p>
        </p:txBody>
      </p:sp>
      <p:pic>
        <p:nvPicPr>
          <p:cNvPr id="17" name="図 16" descr="アイコン&#10;&#10;自動的に生成された説明">
            <a:extLst>
              <a:ext uri="{FF2B5EF4-FFF2-40B4-BE49-F238E27FC236}">
                <a16:creationId xmlns:a16="http://schemas.microsoft.com/office/drawing/2014/main" id="{2CB505E5-1A9F-4F7A-B174-AC352F0CDE0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138980" y="21772"/>
            <a:ext cx="975646" cy="1179029"/>
          </a:xfrm>
          <a:prstGeom prst="rect">
            <a:avLst/>
          </a:prstGeom>
        </p:spPr>
      </p:pic>
    </p:spTree>
    <p:extLst>
      <p:ext uri="{BB962C8B-B14F-4D97-AF65-F5344CB8AC3E}">
        <p14:creationId xmlns:p14="http://schemas.microsoft.com/office/powerpoint/2010/main" val="655750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Lst>
  <p:hf hdr="0" ftr="0"/>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7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24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21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8.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chor="b">
            <a:noAutofit/>
          </a:bodyPr>
          <a:lstStyle/>
          <a:p>
            <a:pPr algn="ctr" marL="0" indent="0">
              <a:spcAft>
                <a:spcPts val="0"/>
              </a:spcAft>
              <a:buNone/>
            </a:pPr>
            <a:r>
              <a:rPr sz="3200" b="0">
                <a:solidFill>
                  <a:srgbClr val="24303F"/>
                </a:solidFill>
                <a:latin typeface="BIZ UDPゴシック"/>
                <a:ea typeface="BIZ UDPゴシック"/>
                <a:cs typeface="BIZ UDPゴシック"/>
              </a:rPr>
              <a:t>輪講 2026/11/13</a:t>
            </a:r>
          </a:p>
        </p:txBody>
      </p:sp>
      <p:sp>
        <p:nvSpPr>
          <p:cNvPr id="3" name="Subtitle 2"/>
          <p:cNvSpPr>
            <a:spLocks noGrp="1"/>
          </p:cNvSpPr>
          <p:nvPr>
            <p:ph type="subTitle" idx="1"/>
          </p:nvPr>
        </p:nvSpPr>
        <p:spPr/>
        <p:txBody>
          <a:bodyPr wrap="square" anchor="t">
            <a:noAutofit/>
          </a:bodyPr>
          <a:lstStyle/>
          <a:p>
            <a:pPr algn="l" marL="0" indent="0">
              <a:spcAft>
                <a:spcPts val="400"/>
              </a:spcAft>
              <a:buNone/>
            </a:pPr>
            <a:r>
              <a:rPr sz="1800" b="0">
                <a:solidFill>
                  <a:srgbClr val="24303F"/>
                </a:solidFill>
                <a:latin typeface="BIZ UDPゴシック"/>
                <a:ea typeface="BIZ UDPゴシック"/>
                <a:cs typeface="BIZ UDPゴシック"/>
              </a:rPr>
              <a:t>今井元</a:t>
            </a:r>
          </a:p>
        </p:txBody>
      </p:sp>
      <p:sp>
        <p:nvSpPr>
          <p:cNvPr id="4" name="会議名"/>
          <p:cNvSpPr txBox="1"/>
          <p:nvPr/>
        </p:nvSpPr>
        <p:spPr>
          <a:xfrm>
            <a:off x="64008" y="82296"/>
            <a:ext cx="4206240" cy="384048"/>
          </a:xfrm>
          <a:prstGeom prst="rect">
            <a:avLst/>
          </a:prstGeom>
          <a:solidFill>
            <a:srgbClr val="A9DCFF"/>
          </a:solidFill>
        </p:spPr>
        <p:txBody>
          <a:bodyPr wrap="square" tIns="18288" bIns="18288" anchor="ctr">
            <a:noAutofit/>
          </a:bodyPr>
          <a:lstStyle/>
          <a:p>
            <a:pPr algn="l" marL="0" indent="0">
              <a:spcAft>
                <a:spcPts val="400"/>
              </a:spcAft>
              <a:buNone/>
            </a:pPr>
            <a:r>
              <a:rPr sz="1400" b="0">
                <a:solidFill>
                  <a:srgbClr val="24303F"/>
                </a:solidFill>
                <a:latin typeface="BIZ UDPゴシック"/>
                <a:ea typeface="BIZ UDPゴシック"/>
                <a:cs typeface="BIZ UDPゴシック"/>
              </a:rPr>
              <a:t>メディアインタラクション研究室　輪講</a:t>
            </a:r>
          </a:p>
        </p:txBody>
      </p:sp>
      <p:sp>
        <p:nvSpPr>
          <p:cNvPr id="5" name="著者所属"/>
          <p:cNvSpPr txBox="1"/>
          <p:nvPr/>
        </p:nvSpPr>
        <p:spPr>
          <a:xfrm>
            <a:off x="3931920" y="5358384"/>
            <a:ext cx="4937760" cy="1097280"/>
          </a:xfrm>
          <a:prstGeom prst="rect">
            <a:avLst/>
          </a:prstGeom>
          <a:noFill/>
        </p:spPr>
        <p:txBody>
          <a:bodyPr wrap="square" lIns="45720" tIns="27432" rIns="45720" bIns="27432" anchor="t">
            <a:noAutofit/>
          </a:bodyPr>
          <a:lstStyle/>
          <a:p>
            <a:pPr algn="l" marL="0" indent="0">
              <a:spcAft>
                <a:spcPts val="200"/>
              </a:spcAft>
              <a:buNone/>
            </a:pPr>
            <a:r>
              <a:rPr sz="1400" b="0">
                <a:solidFill>
                  <a:srgbClr val="24303F"/>
                </a:solidFill>
                <a:latin typeface="BIZ UDPゴシック"/>
                <a:ea typeface="BIZ UDPゴシック"/>
                <a:cs typeface="BIZ UDPゴシック"/>
              </a:rPr>
              <a:t>大阪工業大学</a:t>
            </a:r>
          </a:p>
          <a:p>
            <a:pPr algn="l" marL="0" indent="0">
              <a:spcAft>
                <a:spcPts val="200"/>
              </a:spcAft>
              <a:buNone/>
            </a:pPr>
            <a:r>
              <a:rPr sz="1400" b="0">
                <a:solidFill>
                  <a:srgbClr val="24303F"/>
                </a:solidFill>
                <a:latin typeface="BIZ UDPゴシック"/>
                <a:ea typeface="BIZ UDPゴシック"/>
                <a:cs typeface="BIZ UDPゴシック"/>
              </a:rPr>
              <a:t>メディアインタラクション研究室</a:t>
            </a:r>
          </a:p>
        </p:txBody>
      </p:sp>
      <p:sp>
        <p:nvSpPr>
          <p:cNvPr id="6" name="サブタイトル"/>
          <p:cNvSpPr txBox="1"/>
          <p:nvPr/>
        </p:nvSpPr>
        <p:spPr>
          <a:xfrm>
            <a:off x="411480" y="914400"/>
            <a:ext cx="5669280" cy="2103120"/>
          </a:xfrm>
          <a:prstGeom prst="rect">
            <a:avLst/>
          </a:prstGeom>
          <a:noFill/>
        </p:spPr>
        <p:txBody>
          <a:bodyPr wrap="square" lIns="45720" tIns="27432" rIns="45720" bIns="27432" anchor="ctr">
            <a:noAutofit/>
          </a:bodyPr>
          <a:lstStyle/>
          <a:p>
            <a:pPr algn="l" marL="0" indent="0">
              <a:lnSpc>
                <a:spcPct val="105000"/>
              </a:lnSpc>
              <a:spcAft>
                <a:spcPts val="600"/>
              </a:spcAft>
              <a:buNone/>
            </a:pPr>
            <a:r>
              <a:rPr sz="1600" b="1">
                <a:solidFill>
                  <a:srgbClr val="FFFFFF"/>
                </a:solidFill>
                <a:latin typeface="BIZ UDPゴシック"/>
                <a:ea typeface="BIZ UDPゴシック"/>
                <a:cs typeface="BIZ UDPゴシック"/>
              </a:rPr>
              <a:t>When(ish) is My Bus? User-centered Visualizations of Uncertainty in Everyday, Mobile Predictive Systems</a:t>
            </a:r>
          </a:p>
          <a:p>
            <a:pPr algn="l" marL="0" indent="0">
              <a:lnSpc>
                <a:spcPct val="105000"/>
              </a:lnSpc>
              <a:spcAft>
                <a:spcPts val="600"/>
              </a:spcAft>
              <a:buNone/>
            </a:pPr>
            <a:r>
              <a:rPr sz="1300" b="0">
                <a:solidFill>
                  <a:srgbClr val="FFFFFF"/>
                </a:solidFill>
                <a:latin typeface="BIZ UDPゴシック"/>
                <a:ea typeface="BIZ UDPゴシック"/>
                <a:cs typeface="BIZ UDPゴシック"/>
              </a:rPr>
              <a:t>Kay, Kola, Hullman &amp; Munson, CHI 2016</a:t>
            </a:r>
          </a:p>
        </p:txBody>
      </p:sp>
      <p:pic>
        <p:nvPicPr>
          <p:cNvPr id="7" name="Picture 6" descr="ghost_d7.png"/>
          <p:cNvPicPr>
            <a:picLocks noChangeAspect="1"/>
          </p:cNvPicPr>
          <p:nvPr/>
        </p:nvPicPr>
        <p:blipFill>
          <a:blip r:embed="rId2"/>
          <a:stretch>
            <a:fillRect/>
          </a:stretch>
        </p:blipFill>
        <p:spPr>
          <a:xfrm>
            <a:off x="6263640" y="658368"/>
            <a:ext cx="4034118" cy="2743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論文情報と選んだ理由</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2026/11/13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2</a:t>
            </a:fld>
          </a:p>
        </p:txBody>
      </p:sp>
      <p:sp>
        <p:nvSpPr>
          <p:cNvPr id="5" name="Rounded Rectangle 4"/>
          <p:cNvSpPr/>
          <p:nvPr/>
        </p:nvSpPr>
        <p:spPr>
          <a:xfrm>
            <a:off x="411480" y="1417320"/>
            <a:ext cx="4160520" cy="4754880"/>
          </a:xfrm>
          <a:prstGeom prst="roundRect">
            <a:avLst>
              <a:gd name="adj" fmla="val 2637"/>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94360" y="1572768"/>
            <a:ext cx="502920" cy="50292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book_w.png"/>
          <p:cNvPicPr>
            <a:picLocks noChangeAspect="1"/>
          </p:cNvPicPr>
          <p:nvPr/>
        </p:nvPicPr>
        <p:blipFill>
          <a:blip r:embed="rId2"/>
          <a:stretch>
            <a:fillRect/>
          </a:stretch>
        </p:blipFill>
        <p:spPr>
          <a:xfrm>
            <a:off x="715060" y="1693468"/>
            <a:ext cx="261518" cy="261518"/>
          </a:xfrm>
          <a:prstGeom prst="rect">
            <a:avLst/>
          </a:prstGeom>
        </p:spPr>
      </p:pic>
      <p:sp>
        <p:nvSpPr>
          <p:cNvPr id="8" name="TextBox 7"/>
          <p:cNvSpPr txBox="1"/>
          <p:nvPr/>
        </p:nvSpPr>
        <p:spPr>
          <a:xfrm>
            <a:off x="1234440" y="1572768"/>
            <a:ext cx="3200400" cy="502920"/>
          </a:xfrm>
          <a:prstGeom prst="rect">
            <a:avLst/>
          </a:prstGeom>
          <a:noFill/>
        </p:spPr>
        <p:txBody>
          <a:bodyPr wrap="square" lIns="0" tIns="0" rIns="0" bIns="0" anchor="ctr">
            <a:noAutofit/>
          </a:bodyPr>
          <a:lstStyle/>
          <a:p>
            <a:pPr algn="l" marL="0" indent="0">
              <a:spcAft>
                <a:spcPts val="400"/>
              </a:spcAft>
              <a:buNone/>
            </a:pPr>
            <a:r>
              <a:rPr sz="1600" b="1">
                <a:solidFill>
                  <a:srgbClr val="0B3C6E"/>
                </a:solidFill>
                <a:latin typeface="BIZ UDPゴシック"/>
                <a:ea typeface="BIZ UDPゴシック"/>
                <a:cs typeface="BIZ UDPゴシック"/>
              </a:rPr>
              <a:t>論文情報</a:t>
            </a:r>
          </a:p>
        </p:txBody>
      </p:sp>
      <p:sp>
        <p:nvSpPr>
          <p:cNvPr id="9" name="TextBox 8"/>
          <p:cNvSpPr txBox="1"/>
          <p:nvPr/>
        </p:nvSpPr>
        <p:spPr>
          <a:xfrm>
            <a:off x="612648" y="2240280"/>
            <a:ext cx="3794760" cy="3840480"/>
          </a:xfrm>
          <a:prstGeom prst="rect">
            <a:avLst/>
          </a:prstGeom>
          <a:noFill/>
        </p:spPr>
        <p:txBody>
          <a:bodyPr wrap="square" lIns="0" tIns="0" rIns="0" bIns="0" anchor="t">
            <a:noAutofit/>
          </a:bodyPr>
          <a:lstStyle/>
          <a:p>
            <a:pPr algn="l" marL="0" indent="0">
              <a:spcAft>
                <a:spcPts val="0"/>
              </a:spcAft>
              <a:buNone/>
            </a:pPr>
            <a:r>
              <a:rPr sz="1100" b="0">
                <a:solidFill>
                  <a:srgbClr val="5A6676"/>
                </a:solidFill>
                <a:latin typeface="BIZ UDPゴシック"/>
                <a:ea typeface="BIZ UDPゴシック"/>
                <a:cs typeface="BIZ UDPゴシック"/>
              </a:rPr>
              <a:t>タイトル</a:t>
            </a:r>
          </a:p>
          <a:p>
            <a:pPr algn="l" marL="0" indent="0">
              <a:spcAft>
                <a:spcPts val="800"/>
              </a:spcAft>
              <a:buNone/>
            </a:pPr>
            <a:r>
              <a:rPr sz="1300" b="1">
                <a:solidFill>
                  <a:srgbClr val="24303F"/>
                </a:solidFill>
                <a:latin typeface="BIZ UDPゴシック"/>
                <a:ea typeface="BIZ UDPゴシック"/>
                <a:cs typeface="BIZ UDPゴシック"/>
              </a:rPr>
              <a:t>When(ish) is My Bus? User-centered Visualizations of Uncertainty in Everyday, Mobile Predictive Systems</a:t>
            </a:r>
          </a:p>
          <a:p>
            <a:pPr algn="l" marL="0" indent="0">
              <a:spcAft>
                <a:spcPts val="0"/>
              </a:spcAft>
              <a:buNone/>
            </a:pPr>
            <a:r>
              <a:rPr sz="1100" b="0">
                <a:solidFill>
                  <a:srgbClr val="5A6676"/>
                </a:solidFill>
                <a:latin typeface="BIZ UDPゴシック"/>
                <a:ea typeface="BIZ UDPゴシック"/>
                <a:cs typeface="BIZ UDPゴシック"/>
              </a:rPr>
              <a:t>著者</a:t>
            </a:r>
          </a:p>
          <a:p>
            <a:pPr algn="l" marL="0" indent="0">
              <a:spcAft>
                <a:spcPts val="800"/>
              </a:spcAft>
              <a:buNone/>
            </a:pPr>
            <a:r>
              <a:rPr sz="1200" b="0">
                <a:solidFill>
                  <a:srgbClr val="24303F"/>
                </a:solidFill>
                <a:latin typeface="BIZ UDPゴシック"/>
                <a:ea typeface="BIZ UDPゴシック"/>
                <a:cs typeface="BIZ UDPゴシック"/>
              </a:rPr>
              <a:t>Matthew Kay, Tara Kola, Jessica R. Hullman, Sean A. Munson</a:t>
            </a:r>
          </a:p>
          <a:p>
            <a:pPr algn="l" marL="0" indent="0">
              <a:spcAft>
                <a:spcPts val="0"/>
              </a:spcAft>
              <a:buNone/>
            </a:pPr>
            <a:r>
              <a:rPr sz="1100" b="0">
                <a:solidFill>
                  <a:srgbClr val="5A6676"/>
                </a:solidFill>
                <a:latin typeface="BIZ UDPゴシック"/>
                <a:ea typeface="BIZ UDPゴシック"/>
                <a:cs typeface="BIZ UDPゴシック"/>
              </a:rPr>
              <a:t>掲載</a:t>
            </a:r>
          </a:p>
          <a:p>
            <a:pPr algn="l" marL="0" indent="0">
              <a:spcAft>
                <a:spcPts val="800"/>
              </a:spcAft>
              <a:buNone/>
            </a:pPr>
            <a:r>
              <a:rPr sz="1200" b="0">
                <a:solidFill>
                  <a:srgbClr val="24303F"/>
                </a:solidFill>
                <a:latin typeface="BIZ UDPゴシック"/>
                <a:ea typeface="BIZ UDPゴシック"/>
                <a:cs typeface="BIZ UDPゴシック"/>
              </a:rPr>
              <a:t>Proceedings of CHI 2016, pp. 5092–5103</a:t>
            </a:r>
          </a:p>
          <a:p>
            <a:pPr algn="l" marL="0" indent="0">
              <a:spcAft>
                <a:spcPts val="0"/>
              </a:spcAft>
              <a:buNone/>
            </a:pPr>
            <a:r>
              <a:rPr sz="1100" b="0">
                <a:solidFill>
                  <a:srgbClr val="5A6676"/>
                </a:solidFill>
                <a:latin typeface="BIZ UDPゴシック"/>
                <a:ea typeface="BIZ UDPゴシック"/>
                <a:cs typeface="BIZ UDPゴシック"/>
              </a:rPr>
              <a:t>DOI</a:t>
            </a:r>
          </a:p>
          <a:p>
            <a:pPr algn="l" marL="0" indent="0">
              <a:spcAft>
                <a:spcPts val="400"/>
              </a:spcAft>
              <a:buNone/>
            </a:pPr>
            <a:r>
              <a:rPr sz="1200" b="0">
                <a:solidFill>
                  <a:srgbClr val="24303F"/>
                </a:solidFill>
                <a:latin typeface="BIZ UDPゴシック"/>
                <a:ea typeface="BIZ UDPゴシック"/>
                <a:cs typeface="BIZ UDPゴシック"/>
              </a:rPr>
              <a:t>10.1145/2858036.2858558</a:t>
            </a:r>
          </a:p>
        </p:txBody>
      </p:sp>
      <p:sp>
        <p:nvSpPr>
          <p:cNvPr id="10" name="Rounded Rectangle 9"/>
          <p:cNvSpPr/>
          <p:nvPr/>
        </p:nvSpPr>
        <p:spPr>
          <a:xfrm>
            <a:off x="4754880" y="1417320"/>
            <a:ext cx="3977639" cy="1463040"/>
          </a:xfrm>
          <a:prstGeom prst="roundRect">
            <a:avLst>
              <a:gd name="adj" fmla="val 625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901184" y="1563624"/>
            <a:ext cx="457200" cy="45720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dice_w.png"/>
          <p:cNvPicPr>
            <a:picLocks noChangeAspect="1"/>
          </p:cNvPicPr>
          <p:nvPr/>
        </p:nvPicPr>
        <p:blipFill>
          <a:blip r:embed="rId3"/>
          <a:stretch>
            <a:fillRect/>
          </a:stretch>
        </p:blipFill>
        <p:spPr>
          <a:xfrm>
            <a:off x="5010912" y="1673352"/>
            <a:ext cx="237744" cy="237744"/>
          </a:xfrm>
          <a:prstGeom prst="rect">
            <a:avLst/>
          </a:prstGeom>
        </p:spPr>
      </p:pic>
      <p:sp>
        <p:nvSpPr>
          <p:cNvPr id="13" name="TextBox 12"/>
          <p:cNvSpPr txBox="1"/>
          <p:nvPr/>
        </p:nvSpPr>
        <p:spPr>
          <a:xfrm>
            <a:off x="5468112" y="1536192"/>
            <a:ext cx="315467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OshiFit の予測は誤差が大きい</a:t>
            </a:r>
          </a:p>
        </p:txBody>
      </p:sp>
      <p:sp>
        <p:nvSpPr>
          <p:cNvPr id="14" name="TextBox 13"/>
          <p:cNvSpPr txBox="1"/>
          <p:nvPr/>
        </p:nvSpPr>
        <p:spPr>
          <a:xfrm>
            <a:off x="4919472" y="2112264"/>
            <a:ext cx="3685031" cy="67665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推し疲れは ±0.92（5段階）。幅をどう見せるかが設計の中心</a:t>
            </a:r>
          </a:p>
        </p:txBody>
      </p:sp>
      <p:sp>
        <p:nvSpPr>
          <p:cNvPr id="15" name="Rounded Rectangle 14"/>
          <p:cNvSpPr/>
          <p:nvPr/>
        </p:nvSpPr>
        <p:spPr>
          <a:xfrm>
            <a:off x="4754880" y="3017520"/>
            <a:ext cx="3977639" cy="1463040"/>
          </a:xfrm>
          <a:prstGeom prst="roundRect">
            <a:avLst>
              <a:gd name="adj" fmla="val 625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01184" y="3163824"/>
            <a:ext cx="457200" cy="457200"/>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mobile_w.png"/>
          <p:cNvPicPr>
            <a:picLocks noChangeAspect="1"/>
          </p:cNvPicPr>
          <p:nvPr/>
        </p:nvPicPr>
        <p:blipFill>
          <a:blip r:embed="rId4"/>
          <a:stretch>
            <a:fillRect/>
          </a:stretch>
        </p:blipFill>
        <p:spPr>
          <a:xfrm>
            <a:off x="5010912" y="3273552"/>
            <a:ext cx="237744" cy="237744"/>
          </a:xfrm>
          <a:prstGeom prst="rect">
            <a:avLst/>
          </a:prstGeom>
        </p:spPr>
      </p:pic>
      <p:sp>
        <p:nvSpPr>
          <p:cNvPr id="18" name="TextBox 17"/>
          <p:cNvSpPr txBox="1"/>
          <p:nvPr/>
        </p:nvSpPr>
        <p:spPr>
          <a:xfrm>
            <a:off x="5468112" y="3136391"/>
            <a:ext cx="315467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問題設定がほぼ同じ</a:t>
            </a:r>
          </a:p>
        </p:txBody>
      </p:sp>
      <p:sp>
        <p:nvSpPr>
          <p:cNvPr id="19" name="TextBox 18"/>
          <p:cNvSpPr txBox="1"/>
          <p:nvPr/>
        </p:nvSpPr>
        <p:spPr>
          <a:xfrm>
            <a:off x="4919472" y="3712463"/>
            <a:ext cx="3685031" cy="67665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スマホ × 一般の利用者 × 日常の予測</a:t>
            </a:r>
          </a:p>
        </p:txBody>
      </p:sp>
      <p:sp>
        <p:nvSpPr>
          <p:cNvPr id="20" name="Rounded Rectangle 19"/>
          <p:cNvSpPr/>
          <p:nvPr/>
        </p:nvSpPr>
        <p:spPr>
          <a:xfrm>
            <a:off x="4754880" y="4617720"/>
            <a:ext cx="3977639" cy="1463040"/>
          </a:xfrm>
          <a:prstGeom prst="roundRect">
            <a:avLst>
              <a:gd name="adj" fmla="val 625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901184" y="476402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c_warn_w.png"/>
          <p:cNvPicPr>
            <a:picLocks noChangeAspect="1"/>
          </p:cNvPicPr>
          <p:nvPr/>
        </p:nvPicPr>
        <p:blipFill>
          <a:blip r:embed="rId5"/>
          <a:stretch>
            <a:fillRect/>
          </a:stretch>
        </p:blipFill>
        <p:spPr>
          <a:xfrm>
            <a:off x="5010912" y="4873752"/>
            <a:ext cx="237744" cy="237744"/>
          </a:xfrm>
          <a:prstGeom prst="rect">
            <a:avLst/>
          </a:prstGeom>
        </p:spPr>
      </p:pic>
      <p:sp>
        <p:nvSpPr>
          <p:cNvPr id="23" name="TextBox 22"/>
          <p:cNvSpPr txBox="1"/>
          <p:nvPr/>
        </p:nvSpPr>
        <p:spPr>
          <a:xfrm>
            <a:off x="5468112" y="4736592"/>
            <a:ext cx="3154679"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操作確認で出た課題</a:t>
            </a:r>
          </a:p>
        </p:txBody>
      </p:sp>
      <p:sp>
        <p:nvSpPr>
          <p:cNvPr id="24" name="TextBox 23"/>
          <p:cNvSpPr txBox="1"/>
          <p:nvPr/>
        </p:nvSpPr>
        <p:spPr>
          <a:xfrm>
            <a:off x="4919472" y="5312664"/>
            <a:ext cx="3685031" cy="67665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「ぼやけの意味が分からない」(2/6名) を解くヒント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背景：日常の予測は「外れる」もの</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2026/11/13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3</a:t>
            </a:fld>
          </a:p>
        </p:txBody>
      </p:sp>
      <p:sp>
        <p:nvSpPr>
          <p:cNvPr id="5" name="Rounded Rectangle 4"/>
          <p:cNvSpPr/>
          <p:nvPr/>
        </p:nvSpPr>
        <p:spPr>
          <a:xfrm>
            <a:off x="411480" y="1417320"/>
            <a:ext cx="4023360" cy="2377440"/>
          </a:xfrm>
          <a:prstGeom prst="roundRect">
            <a:avLst>
              <a:gd name="adj" fmla="val 461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94360" y="1572768"/>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bus_w.png"/>
          <p:cNvPicPr>
            <a:picLocks noChangeAspect="1"/>
          </p:cNvPicPr>
          <p:nvPr/>
        </p:nvPicPr>
        <p:blipFill>
          <a:blip r:embed="rId2"/>
          <a:stretch>
            <a:fillRect/>
          </a:stretch>
        </p:blipFill>
        <p:spPr>
          <a:xfrm>
            <a:off x="726033" y="1704441"/>
            <a:ext cx="285292" cy="285292"/>
          </a:xfrm>
          <a:prstGeom prst="rect">
            <a:avLst/>
          </a:prstGeom>
        </p:spPr>
      </p:pic>
      <p:sp>
        <p:nvSpPr>
          <p:cNvPr id="8" name="TextBox 7"/>
          <p:cNvSpPr txBox="1"/>
          <p:nvPr/>
        </p:nvSpPr>
        <p:spPr>
          <a:xfrm>
            <a:off x="1280160" y="1572768"/>
            <a:ext cx="3017520" cy="548640"/>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「あと5分」の表示</a:t>
            </a:r>
          </a:p>
        </p:txBody>
      </p:sp>
      <p:sp>
        <p:nvSpPr>
          <p:cNvPr id="9" name="TextBox 8"/>
          <p:cNvSpPr txBox="1"/>
          <p:nvPr/>
        </p:nvSpPr>
        <p:spPr>
          <a:xfrm>
            <a:off x="594360" y="2240280"/>
            <a:ext cx="3657600" cy="1463040"/>
          </a:xfrm>
          <a:prstGeom prst="rect">
            <a:avLst/>
          </a:prstGeom>
          <a:noFill/>
        </p:spPr>
        <p:txBody>
          <a:bodyPr wrap="square" lIns="0" tIns="0" rIns="0" bIns="0" anchor="t">
            <a:noAutofit/>
          </a:bodyPr>
          <a:lstStyle/>
          <a:p>
            <a:pPr algn="l" marL="182880" indent="-182880">
              <a:spcAft>
                <a:spcPts val="600"/>
              </a:spcAft>
              <a:buClr>
                <a:srgbClr val="0099FF"/>
              </a:buClr>
              <a:buFont typeface="BIZ UDPゴシック"/>
              <a:buChar char="•"/>
            </a:pPr>
            <a:r>
              <a:rPr sz="1300" b="0">
                <a:solidFill>
                  <a:srgbClr val="24303F"/>
                </a:solidFill>
                <a:latin typeface="BIZ UDPゴシック"/>
                <a:ea typeface="BIZ UDPゴシック"/>
                <a:cs typeface="BIZ UDPゴシック"/>
              </a:rPr>
              <a:t>実際には3分で来ることも、9分かかることもある</a:t>
            </a:r>
          </a:p>
          <a:p>
            <a:pPr algn="l" marL="182880" indent="-182880">
              <a:spcAft>
                <a:spcPts val="600"/>
              </a:spcAft>
              <a:buClr>
                <a:srgbClr val="0099FF"/>
              </a:buClr>
              <a:buFont typeface="BIZ UDPゴシック"/>
              <a:buChar char="•"/>
            </a:pPr>
            <a:r>
              <a:rPr sz="1300" b="0">
                <a:solidFill>
                  <a:srgbClr val="24303F"/>
                </a:solidFill>
                <a:latin typeface="BIZ UDPゴシック"/>
                <a:ea typeface="BIZ UDPゴシック"/>
                <a:cs typeface="BIZ UDPゴシック"/>
              </a:rPr>
              <a:t>点の予測だけだと、外れたときに「当てにならない」と感じる</a:t>
            </a:r>
          </a:p>
        </p:txBody>
      </p:sp>
      <p:sp>
        <p:nvSpPr>
          <p:cNvPr id="10" name="Rounded Rectangle 9"/>
          <p:cNvSpPr/>
          <p:nvPr/>
        </p:nvSpPr>
        <p:spPr>
          <a:xfrm>
            <a:off x="4709160" y="1417320"/>
            <a:ext cx="4023360" cy="2377440"/>
          </a:xfrm>
          <a:prstGeom prst="roundRect">
            <a:avLst>
              <a:gd name="adj" fmla="val 461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892040" y="1572768"/>
            <a:ext cx="548640" cy="54864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chart_w.png"/>
          <p:cNvPicPr>
            <a:picLocks noChangeAspect="1"/>
          </p:cNvPicPr>
          <p:nvPr/>
        </p:nvPicPr>
        <p:blipFill>
          <a:blip r:embed="rId3"/>
          <a:stretch>
            <a:fillRect/>
          </a:stretch>
        </p:blipFill>
        <p:spPr>
          <a:xfrm>
            <a:off x="5023713" y="1704441"/>
            <a:ext cx="285292" cy="285292"/>
          </a:xfrm>
          <a:prstGeom prst="rect">
            <a:avLst/>
          </a:prstGeom>
        </p:spPr>
      </p:pic>
      <p:sp>
        <p:nvSpPr>
          <p:cNvPr id="13" name="TextBox 12"/>
          <p:cNvSpPr txBox="1"/>
          <p:nvPr/>
        </p:nvSpPr>
        <p:spPr>
          <a:xfrm>
            <a:off x="5577840" y="1572768"/>
            <a:ext cx="3017520" cy="548640"/>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分布の図は読みにくい</a:t>
            </a:r>
          </a:p>
        </p:txBody>
      </p:sp>
      <p:sp>
        <p:nvSpPr>
          <p:cNvPr id="14" name="TextBox 13"/>
          <p:cNvSpPr txBox="1"/>
          <p:nvPr/>
        </p:nvSpPr>
        <p:spPr>
          <a:xfrm>
            <a:off x="4892040" y="2240280"/>
            <a:ext cx="3657600" cy="1463040"/>
          </a:xfrm>
          <a:prstGeom prst="rect">
            <a:avLst/>
          </a:prstGeom>
          <a:noFill/>
        </p:spPr>
        <p:txBody>
          <a:bodyPr wrap="square" lIns="0" tIns="0" rIns="0" bIns="0" anchor="t">
            <a:noAutofit/>
          </a:bodyPr>
          <a:lstStyle/>
          <a:p>
            <a:pPr algn="l" marL="182880" indent="-182880">
              <a:spcAft>
                <a:spcPts val="600"/>
              </a:spcAft>
              <a:buClr>
                <a:srgbClr val="0099FF"/>
              </a:buClr>
              <a:buFont typeface="BIZ UDPゴシック"/>
              <a:buChar char="•"/>
            </a:pPr>
            <a:r>
              <a:rPr sz="1300" b="0">
                <a:solidFill>
                  <a:srgbClr val="24303F"/>
                </a:solidFill>
                <a:latin typeface="BIZ UDPゴシック"/>
                <a:ea typeface="BIZ UDPゴシック"/>
                <a:cs typeface="BIZ UDPゴシック"/>
              </a:rPr>
              <a:t>密度の山から「◯分以内に来る確率」を読むのは難しい</a:t>
            </a:r>
          </a:p>
          <a:p>
            <a:pPr algn="l" marL="182880" indent="-182880">
              <a:spcAft>
                <a:spcPts val="600"/>
              </a:spcAft>
              <a:buClr>
                <a:srgbClr val="0099FF"/>
              </a:buClr>
              <a:buFont typeface="BIZ UDPゴシック"/>
              <a:buChar char="•"/>
            </a:pPr>
            <a:r>
              <a:rPr sz="1300" b="0">
                <a:solidFill>
                  <a:srgbClr val="24303F"/>
                </a:solidFill>
                <a:latin typeface="BIZ UDPゴシック"/>
                <a:ea typeface="BIZ UDPゴシック"/>
                <a:cs typeface="BIZ UDPゴシック"/>
              </a:rPr>
              <a:t>スマホの小さな画面では、なおさら</a:t>
            </a:r>
          </a:p>
        </p:txBody>
      </p:sp>
      <p:sp>
        <p:nvSpPr>
          <p:cNvPr id="15" name="Rounded Rectangle 14"/>
          <p:cNvSpPr/>
          <p:nvPr/>
        </p:nvSpPr>
        <p:spPr>
          <a:xfrm>
            <a:off x="411480" y="4023360"/>
            <a:ext cx="8321040" cy="2148840"/>
          </a:xfrm>
          <a:prstGeom prst="roundRect">
            <a:avLst>
              <a:gd name="adj" fmla="val 5106"/>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4114800"/>
            <a:ext cx="4846320" cy="1965960"/>
          </a:xfrm>
          <a:prstGeom prst="rect">
            <a:avLst/>
          </a:prstGeom>
          <a:noFill/>
        </p:spPr>
        <p:txBody>
          <a:bodyPr wrap="square" lIns="0" tIns="0" rIns="0" bIns="0" anchor="ctr">
            <a:noAutofit/>
          </a:bodyPr>
          <a:lstStyle/>
          <a:p>
            <a:pPr algn="l" marL="0" indent="0">
              <a:spcAft>
                <a:spcPts val="200"/>
              </a:spcAft>
              <a:buNone/>
            </a:pPr>
            <a:r>
              <a:rPr sz="1300" b="0">
                <a:solidFill>
                  <a:srgbClr val="CCE9FF"/>
                </a:solidFill>
                <a:latin typeface="BIZ UDPゴシック"/>
                <a:ea typeface="BIZ UDPゴシック"/>
                <a:cs typeface="BIZ UDPゴシック"/>
              </a:rPr>
              <a:t>手がかり：頻度での表現</a:t>
            </a:r>
          </a:p>
          <a:p>
            <a:pPr algn="l" marL="0" indent="0">
              <a:spcAft>
                <a:spcPts val="600"/>
              </a:spcAft>
              <a:buNone/>
            </a:pPr>
            <a:r>
              <a:rPr sz="1800" b="1">
                <a:solidFill>
                  <a:srgbClr val="FFFFFF"/>
                </a:solidFill>
                <a:latin typeface="BIZ UDPゴシック"/>
                <a:ea typeface="BIZ UDPゴシック"/>
                <a:cs typeface="BIZ UDPゴシック"/>
              </a:rPr>
              <a:t>「30%」より「10回中3回」の方が分かりやすい</a:t>
            </a:r>
          </a:p>
          <a:p>
            <a:pPr algn="l" marL="0" indent="0">
              <a:spcAft>
                <a:spcPts val="400"/>
              </a:spcAft>
              <a:buNone/>
            </a:pPr>
            <a:r>
              <a:rPr sz="1250" b="0">
                <a:solidFill>
                  <a:srgbClr val="FFFFFF"/>
                </a:solidFill>
                <a:latin typeface="BIZ UDPゴシック"/>
                <a:ea typeface="BIZ UDPゴシック"/>
                <a:cs typeface="BIZ UDPゴシック"/>
              </a:rPr>
              <a:t>確率を頻度で示すと推論が正確になる（Gigerenzer &amp; Hoffrage, 1995）</a:t>
            </a:r>
          </a:p>
        </p:txBody>
      </p:sp>
      <p:sp>
        <p:nvSpPr>
          <p:cNvPr id="17" name="Oval 16"/>
          <p:cNvSpPr/>
          <p:nvPr/>
        </p:nvSpPr>
        <p:spPr>
          <a:xfrm>
            <a:off x="5532120" y="4434840"/>
            <a:ext cx="457200" cy="45720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099048" y="4434840"/>
            <a:ext cx="457200" cy="45720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665976" y="4434840"/>
            <a:ext cx="457200" cy="45720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232904" y="4434840"/>
            <a:ext cx="457200" cy="457200"/>
          </a:xfrm>
          <a:prstGeom prst="ellipse">
            <a:avLst/>
          </a:prstGeom>
          <a:solidFill>
            <a:srgbClr val="4F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799831" y="4434840"/>
            <a:ext cx="457200" cy="457200"/>
          </a:xfrm>
          <a:prstGeom prst="ellipse">
            <a:avLst/>
          </a:prstGeom>
          <a:solidFill>
            <a:srgbClr val="4F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5532120" y="5120640"/>
            <a:ext cx="457200" cy="457200"/>
          </a:xfrm>
          <a:prstGeom prst="ellipse">
            <a:avLst/>
          </a:prstGeom>
          <a:solidFill>
            <a:srgbClr val="4F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099048" y="5120640"/>
            <a:ext cx="457200" cy="457200"/>
          </a:xfrm>
          <a:prstGeom prst="ellipse">
            <a:avLst/>
          </a:prstGeom>
          <a:solidFill>
            <a:srgbClr val="4F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665976" y="5120640"/>
            <a:ext cx="457200" cy="457200"/>
          </a:xfrm>
          <a:prstGeom prst="ellipse">
            <a:avLst/>
          </a:prstGeom>
          <a:solidFill>
            <a:srgbClr val="4F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232904" y="5120640"/>
            <a:ext cx="457200" cy="457200"/>
          </a:xfrm>
          <a:prstGeom prst="ellipse">
            <a:avLst/>
          </a:prstGeom>
          <a:solidFill>
            <a:srgbClr val="4F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799831" y="5120640"/>
            <a:ext cx="457200" cy="457200"/>
          </a:xfrm>
          <a:prstGeom prst="ellipse">
            <a:avLst/>
          </a:prstGeom>
          <a:solidFill>
            <a:srgbClr val="4F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研究の進め方</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2026/11/13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4</a:t>
            </a:fld>
          </a:p>
        </p:txBody>
      </p:sp>
      <p:sp>
        <p:nvSpPr>
          <p:cNvPr id="5" name="Rounded Rectangle 4"/>
          <p:cNvSpPr/>
          <p:nvPr/>
        </p:nvSpPr>
        <p:spPr>
          <a:xfrm>
            <a:off x="411480" y="1463040"/>
            <a:ext cx="1938528" cy="2651760"/>
          </a:xfrm>
          <a:prstGeom prst="roundRect">
            <a:avLst>
              <a:gd name="adj" fmla="val 566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60704" y="1645920"/>
            <a:ext cx="640080" cy="64008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book_w.png"/>
          <p:cNvPicPr>
            <a:picLocks noChangeAspect="1"/>
          </p:cNvPicPr>
          <p:nvPr/>
        </p:nvPicPr>
        <p:blipFill>
          <a:blip r:embed="rId2"/>
          <a:stretch>
            <a:fillRect/>
          </a:stretch>
        </p:blipFill>
        <p:spPr>
          <a:xfrm>
            <a:off x="1214323" y="1799539"/>
            <a:ext cx="332841" cy="332841"/>
          </a:xfrm>
          <a:prstGeom prst="rect">
            <a:avLst/>
          </a:prstGeom>
        </p:spPr>
      </p:pic>
      <p:sp>
        <p:nvSpPr>
          <p:cNvPr id="8" name="TextBox 7"/>
          <p:cNvSpPr txBox="1"/>
          <p:nvPr/>
        </p:nvSpPr>
        <p:spPr>
          <a:xfrm>
            <a:off x="502920" y="2423160"/>
            <a:ext cx="1755648" cy="411480"/>
          </a:xfrm>
          <a:prstGeom prst="rect">
            <a:avLst/>
          </a:prstGeom>
          <a:noFill/>
        </p:spPr>
        <p:txBody>
          <a:bodyPr wrap="square" lIns="0" tIns="0" rIns="0" bIns="0" anchor="t">
            <a:noAutofit/>
          </a:bodyPr>
          <a:lstStyle/>
          <a:p>
            <a:pPr algn="ctr" marL="0" indent="0">
              <a:spcAft>
                <a:spcPts val="400"/>
              </a:spcAft>
              <a:buNone/>
            </a:pPr>
            <a:r>
              <a:rPr sz="1400" b="1">
                <a:solidFill>
                  <a:srgbClr val="0B3C6E"/>
                </a:solidFill>
                <a:latin typeface="BIZ UDPゴシック"/>
                <a:ea typeface="BIZ UDPゴシック"/>
                <a:cs typeface="BIZ UDPゴシック"/>
              </a:rPr>
              <a:t>1. 文献調査</a:t>
            </a:r>
          </a:p>
        </p:txBody>
      </p:sp>
      <p:sp>
        <p:nvSpPr>
          <p:cNvPr id="9" name="TextBox 8"/>
          <p:cNvSpPr txBox="1"/>
          <p:nvPr/>
        </p:nvSpPr>
        <p:spPr>
          <a:xfrm>
            <a:off x="502920" y="2880360"/>
            <a:ext cx="1755648" cy="1097280"/>
          </a:xfrm>
          <a:prstGeom prst="rect">
            <a:avLst/>
          </a:prstGeom>
          <a:noFill/>
        </p:spPr>
        <p:txBody>
          <a:bodyPr wrap="square" lIns="0" tIns="0" rIns="0" bIns="0" anchor="t">
            <a:noAutofit/>
          </a:bodyPr>
          <a:lstStyle/>
          <a:p>
            <a:pPr algn="ctr" marL="0" indent="0">
              <a:spcAft>
                <a:spcPts val="400"/>
              </a:spcAft>
              <a:buNone/>
            </a:pPr>
            <a:r>
              <a:rPr sz="1150" b="0">
                <a:solidFill>
                  <a:srgbClr val="24303F"/>
                </a:solidFill>
                <a:latin typeface="BIZ UDPゴシック"/>
                <a:ea typeface="BIZ UDPゴシック"/>
                <a:cs typeface="BIZ UDPゴシック"/>
              </a:rPr>
              <a:t>不確かさの可視化と</a:t>
            </a:r>
          </a:p>
          <a:p>
            <a:pPr algn="ctr" marL="0" indent="0">
              <a:spcAft>
                <a:spcPts val="400"/>
              </a:spcAft>
              <a:buNone/>
            </a:pPr>
            <a:r>
              <a:rPr sz="1150" b="0">
                <a:solidFill>
                  <a:srgbClr val="24303F"/>
                </a:solidFill>
                <a:latin typeface="BIZ UDPゴシック"/>
                <a:ea typeface="BIZ UDPゴシック"/>
                <a:cs typeface="BIZ UDPゴシック"/>
              </a:rPr>
              <a:t>確率の理解の研究</a:t>
            </a:r>
          </a:p>
        </p:txBody>
      </p:sp>
      <p:sp>
        <p:nvSpPr>
          <p:cNvPr id="10" name="Right Arrow 9"/>
          <p:cNvSpPr/>
          <p:nvPr/>
        </p:nvSpPr>
        <p:spPr>
          <a:xfrm>
            <a:off x="2368296" y="2606040"/>
            <a:ext cx="146304" cy="329184"/>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2532888" y="1463040"/>
            <a:ext cx="1938528" cy="2651760"/>
          </a:xfrm>
          <a:prstGeom prst="roundRect">
            <a:avLst>
              <a:gd name="adj" fmla="val 566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182112" y="1645920"/>
            <a:ext cx="640080" cy="64008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ic_users_w.png"/>
          <p:cNvPicPr>
            <a:picLocks noChangeAspect="1"/>
          </p:cNvPicPr>
          <p:nvPr/>
        </p:nvPicPr>
        <p:blipFill>
          <a:blip r:embed="rId3"/>
          <a:stretch>
            <a:fillRect/>
          </a:stretch>
        </p:blipFill>
        <p:spPr>
          <a:xfrm>
            <a:off x="3335731" y="1799539"/>
            <a:ext cx="332841" cy="332841"/>
          </a:xfrm>
          <a:prstGeom prst="rect">
            <a:avLst/>
          </a:prstGeom>
        </p:spPr>
      </p:pic>
      <p:sp>
        <p:nvSpPr>
          <p:cNvPr id="14" name="TextBox 13"/>
          <p:cNvSpPr txBox="1"/>
          <p:nvPr/>
        </p:nvSpPr>
        <p:spPr>
          <a:xfrm>
            <a:off x="2624328" y="2423160"/>
            <a:ext cx="1755648" cy="411480"/>
          </a:xfrm>
          <a:prstGeom prst="rect">
            <a:avLst/>
          </a:prstGeom>
          <a:noFill/>
        </p:spPr>
        <p:txBody>
          <a:bodyPr wrap="square" lIns="0" tIns="0" rIns="0" bIns="0" anchor="t">
            <a:noAutofit/>
          </a:bodyPr>
          <a:lstStyle/>
          <a:p>
            <a:pPr algn="ctr" marL="0" indent="0">
              <a:spcAft>
                <a:spcPts val="400"/>
              </a:spcAft>
              <a:buNone/>
            </a:pPr>
            <a:r>
              <a:rPr sz="1400" b="1">
                <a:solidFill>
                  <a:srgbClr val="0B3C6E"/>
                </a:solidFill>
                <a:latin typeface="BIZ UDPゴシック"/>
                <a:ea typeface="BIZ UDPゴシック"/>
                <a:cs typeface="BIZ UDPゴシック"/>
              </a:rPr>
              <a:t>2. 利用者アンケート</a:t>
            </a:r>
          </a:p>
        </p:txBody>
      </p:sp>
      <p:sp>
        <p:nvSpPr>
          <p:cNvPr id="15" name="TextBox 14"/>
          <p:cNvSpPr txBox="1"/>
          <p:nvPr/>
        </p:nvSpPr>
        <p:spPr>
          <a:xfrm>
            <a:off x="2624328" y="2880360"/>
            <a:ext cx="1755648" cy="1097280"/>
          </a:xfrm>
          <a:prstGeom prst="rect">
            <a:avLst/>
          </a:prstGeom>
          <a:noFill/>
        </p:spPr>
        <p:txBody>
          <a:bodyPr wrap="square" lIns="0" tIns="0" rIns="0" bIns="0" anchor="t">
            <a:noAutofit/>
          </a:bodyPr>
          <a:lstStyle/>
          <a:p>
            <a:pPr algn="ctr" marL="0" indent="0">
              <a:spcAft>
                <a:spcPts val="400"/>
              </a:spcAft>
              <a:buNone/>
            </a:pPr>
            <a:r>
              <a:rPr sz="1150" b="0">
                <a:solidFill>
                  <a:srgbClr val="24303F"/>
                </a:solidFill>
                <a:latin typeface="BIZ UDPゴシック"/>
                <a:ea typeface="BIZ UDPゴシック"/>
                <a:cs typeface="BIZ UDPゴシック"/>
              </a:rPr>
              <a:t>乗換アプリ OneBusAway の</a:t>
            </a:r>
          </a:p>
          <a:p>
            <a:pPr algn="ctr" marL="0" indent="0">
              <a:spcAft>
                <a:spcPts val="400"/>
              </a:spcAft>
              <a:buNone/>
            </a:pPr>
            <a:r>
              <a:rPr sz="1150" b="0">
                <a:solidFill>
                  <a:srgbClr val="24303F"/>
                </a:solidFill>
                <a:latin typeface="BIZ UDPゴシック"/>
                <a:ea typeface="BIZ UDPゴシック"/>
                <a:cs typeface="BIZ UDPゴシック"/>
              </a:rPr>
              <a:t>利用者が予測をどう使うか</a:t>
            </a:r>
          </a:p>
        </p:txBody>
      </p:sp>
      <p:sp>
        <p:nvSpPr>
          <p:cNvPr id="16" name="Right Arrow 15"/>
          <p:cNvSpPr/>
          <p:nvPr/>
        </p:nvSpPr>
        <p:spPr>
          <a:xfrm>
            <a:off x="4489704" y="2606040"/>
            <a:ext cx="146304" cy="329184"/>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654296" y="1463040"/>
            <a:ext cx="1938528" cy="2651760"/>
          </a:xfrm>
          <a:prstGeom prst="roundRect">
            <a:avLst>
              <a:gd name="adj" fmla="val 566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303520" y="1645920"/>
            <a:ext cx="640080" cy="64008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ic_pen_w.png"/>
          <p:cNvPicPr>
            <a:picLocks noChangeAspect="1"/>
          </p:cNvPicPr>
          <p:nvPr/>
        </p:nvPicPr>
        <p:blipFill>
          <a:blip r:embed="rId4"/>
          <a:stretch>
            <a:fillRect/>
          </a:stretch>
        </p:blipFill>
        <p:spPr>
          <a:xfrm>
            <a:off x="5457139" y="1799539"/>
            <a:ext cx="332841" cy="332841"/>
          </a:xfrm>
          <a:prstGeom prst="rect">
            <a:avLst/>
          </a:prstGeom>
        </p:spPr>
      </p:pic>
      <p:sp>
        <p:nvSpPr>
          <p:cNvPr id="20" name="TextBox 19"/>
          <p:cNvSpPr txBox="1"/>
          <p:nvPr/>
        </p:nvSpPr>
        <p:spPr>
          <a:xfrm>
            <a:off x="4745736" y="2423160"/>
            <a:ext cx="1755648" cy="411480"/>
          </a:xfrm>
          <a:prstGeom prst="rect">
            <a:avLst/>
          </a:prstGeom>
          <a:noFill/>
        </p:spPr>
        <p:txBody>
          <a:bodyPr wrap="square" lIns="0" tIns="0" rIns="0" bIns="0" anchor="t">
            <a:noAutofit/>
          </a:bodyPr>
          <a:lstStyle/>
          <a:p>
            <a:pPr algn="ctr" marL="0" indent="0">
              <a:spcAft>
                <a:spcPts val="400"/>
              </a:spcAft>
              <a:buNone/>
            </a:pPr>
            <a:r>
              <a:rPr sz="1400" b="1">
                <a:solidFill>
                  <a:srgbClr val="0B3C6E"/>
                </a:solidFill>
                <a:latin typeface="BIZ UDPゴシック"/>
                <a:ea typeface="BIZ UDPゴシック"/>
                <a:cs typeface="BIZ UDPゴシック"/>
              </a:rPr>
              <a:t>3. 反復的なデザイン</a:t>
            </a:r>
          </a:p>
        </p:txBody>
      </p:sp>
      <p:sp>
        <p:nvSpPr>
          <p:cNvPr id="21" name="TextBox 20"/>
          <p:cNvSpPr txBox="1"/>
          <p:nvPr/>
        </p:nvSpPr>
        <p:spPr>
          <a:xfrm>
            <a:off x="4745736" y="2880360"/>
            <a:ext cx="1755648" cy="1097280"/>
          </a:xfrm>
          <a:prstGeom prst="rect">
            <a:avLst/>
          </a:prstGeom>
          <a:noFill/>
        </p:spPr>
        <p:txBody>
          <a:bodyPr wrap="square" lIns="0" tIns="0" rIns="0" bIns="0" anchor="t">
            <a:noAutofit/>
          </a:bodyPr>
          <a:lstStyle/>
          <a:p>
            <a:pPr algn="ctr" marL="0" indent="0">
              <a:spcAft>
                <a:spcPts val="400"/>
              </a:spcAft>
              <a:buNone/>
            </a:pPr>
            <a:r>
              <a:rPr sz="1150" b="0">
                <a:solidFill>
                  <a:srgbClr val="24303F"/>
                </a:solidFill>
                <a:latin typeface="BIZ UDPゴシック"/>
                <a:ea typeface="BIZ UDPゴシック"/>
                <a:cs typeface="BIZ UDPゴシック"/>
              </a:rPr>
              <a:t>スマホ向けの候補を</a:t>
            </a:r>
          </a:p>
          <a:p>
            <a:pPr algn="ctr" marL="0" indent="0">
              <a:spcAft>
                <a:spcPts val="400"/>
              </a:spcAft>
              <a:buNone/>
            </a:pPr>
            <a:r>
              <a:rPr sz="1150" b="0">
                <a:solidFill>
                  <a:srgbClr val="24303F"/>
                </a:solidFill>
                <a:latin typeface="BIZ UDPゴシック"/>
                <a:ea typeface="BIZ UDPゴシック"/>
                <a:cs typeface="BIZ UDPゴシック"/>
              </a:rPr>
              <a:t>複数つくって改良</a:t>
            </a:r>
          </a:p>
        </p:txBody>
      </p:sp>
      <p:sp>
        <p:nvSpPr>
          <p:cNvPr id="22" name="Right Arrow 21"/>
          <p:cNvSpPr/>
          <p:nvPr/>
        </p:nvSpPr>
        <p:spPr>
          <a:xfrm>
            <a:off x="6611112" y="2606040"/>
            <a:ext cx="146304" cy="329184"/>
          </a:xfrm>
          <a:prstGeom prst="rightArrow">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6775703" y="1463040"/>
            <a:ext cx="1938528" cy="2651760"/>
          </a:xfrm>
          <a:prstGeom prst="roundRect">
            <a:avLst>
              <a:gd name="adj" fmla="val 5660"/>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424927" y="1645920"/>
            <a:ext cx="640080" cy="64008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ic_flask_w.png"/>
          <p:cNvPicPr>
            <a:picLocks noChangeAspect="1"/>
          </p:cNvPicPr>
          <p:nvPr/>
        </p:nvPicPr>
        <p:blipFill>
          <a:blip r:embed="rId5"/>
          <a:stretch>
            <a:fillRect/>
          </a:stretch>
        </p:blipFill>
        <p:spPr>
          <a:xfrm>
            <a:off x="7578547" y="1799539"/>
            <a:ext cx="332841" cy="332841"/>
          </a:xfrm>
          <a:prstGeom prst="rect">
            <a:avLst/>
          </a:prstGeom>
        </p:spPr>
      </p:pic>
      <p:sp>
        <p:nvSpPr>
          <p:cNvPr id="26" name="TextBox 25"/>
          <p:cNvSpPr txBox="1"/>
          <p:nvPr/>
        </p:nvSpPr>
        <p:spPr>
          <a:xfrm>
            <a:off x="6867143" y="2423160"/>
            <a:ext cx="1755648" cy="411480"/>
          </a:xfrm>
          <a:prstGeom prst="rect">
            <a:avLst/>
          </a:prstGeom>
          <a:noFill/>
        </p:spPr>
        <p:txBody>
          <a:bodyPr wrap="square" lIns="0" tIns="0" rIns="0" bIns="0" anchor="t">
            <a:noAutofit/>
          </a:bodyPr>
          <a:lstStyle/>
          <a:p>
            <a:pPr algn="ctr" marL="0" indent="0">
              <a:spcAft>
                <a:spcPts val="400"/>
              </a:spcAft>
              <a:buNone/>
            </a:pPr>
            <a:r>
              <a:rPr sz="1400" b="1">
                <a:solidFill>
                  <a:srgbClr val="FFFFFF"/>
                </a:solidFill>
                <a:latin typeface="BIZ UDPゴシック"/>
                <a:ea typeface="BIZ UDPゴシック"/>
                <a:cs typeface="BIZ UDPゴシック"/>
              </a:rPr>
              <a:t>4. 統制実験</a:t>
            </a:r>
          </a:p>
        </p:txBody>
      </p:sp>
      <p:sp>
        <p:nvSpPr>
          <p:cNvPr id="27" name="TextBox 26"/>
          <p:cNvSpPr txBox="1"/>
          <p:nvPr/>
        </p:nvSpPr>
        <p:spPr>
          <a:xfrm>
            <a:off x="6867143" y="2880360"/>
            <a:ext cx="1755648" cy="1097280"/>
          </a:xfrm>
          <a:prstGeom prst="rect">
            <a:avLst/>
          </a:prstGeom>
          <a:noFill/>
        </p:spPr>
        <p:txBody>
          <a:bodyPr wrap="square" lIns="0" tIns="0" rIns="0" bIns="0" anchor="t">
            <a:noAutofit/>
          </a:bodyPr>
          <a:lstStyle/>
          <a:p>
            <a:pPr algn="ctr" marL="0" indent="0">
              <a:spcAft>
                <a:spcPts val="400"/>
              </a:spcAft>
              <a:buNone/>
            </a:pPr>
            <a:r>
              <a:rPr sz="1150" b="0">
                <a:solidFill>
                  <a:srgbClr val="FFFFFF"/>
                </a:solidFill>
                <a:latin typeface="BIZ UDPゴシック"/>
                <a:ea typeface="BIZ UDPゴシック"/>
                <a:cs typeface="BIZ UDPゴシック"/>
              </a:rPr>
              <a:t>候補の表示で</a:t>
            </a:r>
          </a:p>
          <a:p>
            <a:pPr algn="ctr" marL="0" indent="0">
              <a:spcAft>
                <a:spcPts val="400"/>
              </a:spcAft>
              <a:buNone/>
            </a:pPr>
            <a:r>
              <a:rPr sz="1150" b="0">
                <a:solidFill>
                  <a:srgbClr val="FFFFFF"/>
                </a:solidFill>
                <a:latin typeface="BIZ UDPゴシック"/>
                <a:ea typeface="BIZ UDPゴシック"/>
                <a:cs typeface="BIZ UDPゴシック"/>
              </a:rPr>
              <a:t>確率を読み取ってもらう</a:t>
            </a:r>
          </a:p>
        </p:txBody>
      </p:sp>
      <p:sp>
        <p:nvSpPr>
          <p:cNvPr id="28" name="Rounded Rectangle 27"/>
          <p:cNvSpPr/>
          <p:nvPr/>
        </p:nvSpPr>
        <p:spPr>
          <a:xfrm>
            <a:off x="411480" y="4343400"/>
            <a:ext cx="8321040" cy="1828800"/>
          </a:xfrm>
          <a:prstGeom prst="roundRect">
            <a:avLst>
              <a:gd name="adj" fmla="val 5000"/>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557784" y="4489704"/>
            <a:ext cx="457200" cy="457200"/>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ic_search_w.png"/>
          <p:cNvPicPr>
            <a:picLocks noChangeAspect="1"/>
          </p:cNvPicPr>
          <p:nvPr/>
        </p:nvPicPr>
        <p:blipFill>
          <a:blip r:embed="rId6"/>
          <a:stretch>
            <a:fillRect/>
          </a:stretch>
        </p:blipFill>
        <p:spPr>
          <a:xfrm>
            <a:off x="667512" y="4599432"/>
            <a:ext cx="237744" cy="237744"/>
          </a:xfrm>
          <a:prstGeom prst="rect">
            <a:avLst/>
          </a:prstGeom>
        </p:spPr>
      </p:pic>
      <p:sp>
        <p:nvSpPr>
          <p:cNvPr id="31" name="TextBox 30"/>
          <p:cNvSpPr txBox="1"/>
          <p:nvPr/>
        </p:nvSpPr>
        <p:spPr>
          <a:xfrm>
            <a:off x="1124712" y="4462272"/>
            <a:ext cx="749808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アンケートから見えた利用の仕方（要点）</a:t>
            </a:r>
          </a:p>
        </p:txBody>
      </p:sp>
      <p:sp>
        <p:nvSpPr>
          <p:cNvPr id="32" name="TextBox 31"/>
          <p:cNvSpPr txBox="1"/>
          <p:nvPr/>
        </p:nvSpPr>
        <p:spPr>
          <a:xfrm>
            <a:off x="576072" y="5038344"/>
            <a:ext cx="8028432" cy="1042416"/>
          </a:xfrm>
          <a:prstGeom prst="rect">
            <a:avLst/>
          </a:prstGeom>
          <a:noFill/>
        </p:spPr>
        <p:txBody>
          <a:bodyPr wrap="square" lIns="0" tIns="0" rIns="0" bIns="0" anchor="t">
            <a:noAutofit/>
          </a:bodyPr>
          <a:lstStyle/>
          <a:p>
            <a:pPr algn="l" marL="182880" indent="-182880">
              <a:spcAft>
                <a:spcPts val="300"/>
              </a:spcAft>
              <a:buClr>
                <a:srgbClr val="0099FF"/>
              </a:buClr>
              <a:buFont typeface="BIZ UDPゴシック"/>
              <a:buChar char="•"/>
            </a:pPr>
            <a:r>
              <a:rPr sz="1300" b="0">
                <a:solidFill>
                  <a:srgbClr val="24303F"/>
                </a:solidFill>
                <a:latin typeface="BIZ UDPゴシック"/>
                <a:ea typeface="BIZ UDPゴシック"/>
                <a:cs typeface="BIZ UDPゴシック"/>
              </a:rPr>
              <a:t>利用者は予測を「判断」に使う：もう出発したか？ 走るべきか？ 家を出るのはいつか？</a:t>
            </a:r>
          </a:p>
          <a:p>
            <a:pPr algn="l" marL="182880" indent="-182880">
              <a:spcAft>
                <a:spcPts val="300"/>
              </a:spcAft>
              <a:buClr>
                <a:srgbClr val="E8457C"/>
              </a:buClr>
              <a:buFont typeface="BIZ UDPゴシック"/>
              <a:buChar char="•"/>
            </a:pPr>
            <a:r>
              <a:rPr sz="1300" b="0">
                <a:solidFill>
                  <a:srgbClr val="24303F"/>
                </a:solidFill>
                <a:latin typeface="BIZ UDPゴシック"/>
                <a:ea typeface="BIZ UDPゴシック"/>
                <a:cs typeface="BIZ UDPゴシック"/>
              </a:rPr>
              <a:t>→ 判断に直結する確率（◯分までに来る確率）が、一目で読み取れる表示が必要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提案：quantile dotplot（分位点ドット図）</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2026/11/13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5</a:t>
            </a:fld>
          </a:p>
        </p:txBody>
      </p:sp>
      <p:sp>
        <p:nvSpPr>
          <p:cNvPr id="5" name="TextBox 4"/>
          <p:cNvSpPr txBox="1"/>
          <p:nvPr/>
        </p:nvSpPr>
        <p:spPr>
          <a:xfrm>
            <a:off x="411480" y="1371600"/>
            <a:ext cx="4023360" cy="365760"/>
          </a:xfrm>
          <a:prstGeom prst="rect">
            <a:avLst/>
          </a:prstGeom>
          <a:noFill/>
        </p:spPr>
        <p:txBody>
          <a:bodyPr wrap="square" lIns="0" tIns="0" rIns="0" bIns="0" anchor="t">
            <a:noAutofit/>
          </a:bodyPr>
          <a:lstStyle/>
          <a:p>
            <a:pPr algn="l" marL="0" indent="0">
              <a:spcAft>
                <a:spcPts val="400"/>
              </a:spcAft>
              <a:buNone/>
            </a:pPr>
            <a:r>
              <a:rPr sz="1400" b="1">
                <a:solidFill>
                  <a:srgbClr val="5A6676"/>
                </a:solidFill>
                <a:latin typeface="BIZ UDPゴシック"/>
                <a:ea typeface="BIZ UDPゴシック"/>
                <a:cs typeface="BIZ UDPゴシック"/>
              </a:rPr>
              <a:t>従来：密度の図</a:t>
            </a:r>
          </a:p>
        </p:txBody>
      </p:sp>
      <p:sp>
        <p:nvSpPr>
          <p:cNvPr id="6" name="Freeform 5"/>
          <p:cNvSpPr/>
          <p:nvPr/>
        </p:nvSpPr>
        <p:spPr>
          <a:xfrm>
            <a:off x="594360" y="2035454"/>
            <a:ext cx="3840480" cy="1850746"/>
          </a:xfrm>
          <a:custGeom>
            <a:avLst/>
            <a:gdLst/>
            <a:ahLst/>
            <a:cxnLst/>
            <a:rect l="l" t="t" r="r" b="b"/>
            <a:pathLst>
              <a:path w="3840480" h="1850746">
                <a:moveTo>
                  <a:pt x="0" y="1850746"/>
                </a:moveTo>
                <a:lnTo>
                  <a:pt x="0" y="1839025"/>
                </a:lnTo>
                <a:lnTo>
                  <a:pt x="64008" y="1834412"/>
                </a:lnTo>
                <a:lnTo>
                  <a:pt x="128016" y="1828239"/>
                </a:lnTo>
                <a:lnTo>
                  <a:pt x="192024" y="1820080"/>
                </a:lnTo>
                <a:lnTo>
                  <a:pt x="256032" y="1809430"/>
                </a:lnTo>
                <a:lnTo>
                  <a:pt x="320040" y="1795705"/>
                </a:lnTo>
                <a:lnTo>
                  <a:pt x="384048" y="1778239"/>
                </a:lnTo>
                <a:lnTo>
                  <a:pt x="448056" y="1756300"/>
                </a:lnTo>
                <a:lnTo>
                  <a:pt x="512064" y="1729099"/>
                </a:lnTo>
                <a:lnTo>
                  <a:pt x="576072" y="1695816"/>
                </a:lnTo>
                <a:lnTo>
                  <a:pt x="640080" y="1655634"/>
                </a:lnTo>
                <a:lnTo>
                  <a:pt x="704088" y="1607778"/>
                </a:lnTo>
                <a:lnTo>
                  <a:pt x="768096" y="1551570"/>
                </a:lnTo>
                <a:lnTo>
                  <a:pt x="832104" y="1486479"/>
                </a:lnTo>
                <a:lnTo>
                  <a:pt x="896112" y="1412188"/>
                </a:lnTo>
                <a:lnTo>
                  <a:pt x="960120" y="1328651"/>
                </a:lnTo>
                <a:lnTo>
                  <a:pt x="1024128" y="1236155"/>
                </a:lnTo>
                <a:lnTo>
                  <a:pt x="1088136" y="1135364"/>
                </a:lnTo>
                <a:lnTo>
                  <a:pt x="1152144" y="1027358"/>
                </a:lnTo>
                <a:lnTo>
                  <a:pt x="1216152" y="913647"/>
                </a:lnTo>
                <a:lnTo>
                  <a:pt x="1280159" y="796162"/>
                </a:lnTo>
                <a:lnTo>
                  <a:pt x="1344168" y="677223"/>
                </a:lnTo>
                <a:lnTo>
                  <a:pt x="1408176" y="559477"/>
                </a:lnTo>
                <a:lnTo>
                  <a:pt x="1472184" y="445810"/>
                </a:lnTo>
                <a:lnTo>
                  <a:pt x="1536192" y="339235"/>
                </a:lnTo>
                <a:lnTo>
                  <a:pt x="1600200" y="242767"/>
                </a:lnTo>
                <a:lnTo>
                  <a:pt x="1664208" y="159276"/>
                </a:lnTo>
                <a:lnTo>
                  <a:pt x="1728216" y="91353"/>
                </a:lnTo>
                <a:lnTo>
                  <a:pt x="1792224" y="41173"/>
                </a:lnTo>
                <a:lnTo>
                  <a:pt x="1856232" y="10380"/>
                </a:lnTo>
                <a:lnTo>
                  <a:pt x="1920240" y="0"/>
                </a:lnTo>
                <a:lnTo>
                  <a:pt x="1984248" y="10380"/>
                </a:lnTo>
                <a:lnTo>
                  <a:pt x="2048256" y="41173"/>
                </a:lnTo>
                <a:lnTo>
                  <a:pt x="2112264" y="91353"/>
                </a:lnTo>
                <a:lnTo>
                  <a:pt x="2176272" y="159276"/>
                </a:lnTo>
                <a:lnTo>
                  <a:pt x="2240280" y="242767"/>
                </a:lnTo>
                <a:lnTo>
                  <a:pt x="2304288" y="339235"/>
                </a:lnTo>
                <a:lnTo>
                  <a:pt x="2368296" y="445810"/>
                </a:lnTo>
                <a:lnTo>
                  <a:pt x="2432303" y="559477"/>
                </a:lnTo>
                <a:lnTo>
                  <a:pt x="2496312" y="677223"/>
                </a:lnTo>
                <a:lnTo>
                  <a:pt x="2560319" y="796162"/>
                </a:lnTo>
                <a:lnTo>
                  <a:pt x="2624328" y="913647"/>
                </a:lnTo>
                <a:lnTo>
                  <a:pt x="2688336" y="1027358"/>
                </a:lnTo>
                <a:lnTo>
                  <a:pt x="2752343" y="1135364"/>
                </a:lnTo>
                <a:lnTo>
                  <a:pt x="2816352" y="1236155"/>
                </a:lnTo>
                <a:lnTo>
                  <a:pt x="2880360" y="1328651"/>
                </a:lnTo>
                <a:lnTo>
                  <a:pt x="2944368" y="1412188"/>
                </a:lnTo>
                <a:lnTo>
                  <a:pt x="3008376" y="1486479"/>
                </a:lnTo>
                <a:lnTo>
                  <a:pt x="3072384" y="1551570"/>
                </a:lnTo>
                <a:lnTo>
                  <a:pt x="3136392" y="1607778"/>
                </a:lnTo>
                <a:lnTo>
                  <a:pt x="3200400" y="1655634"/>
                </a:lnTo>
                <a:lnTo>
                  <a:pt x="3264408" y="1695816"/>
                </a:lnTo>
                <a:lnTo>
                  <a:pt x="3328416" y="1729099"/>
                </a:lnTo>
                <a:lnTo>
                  <a:pt x="3392424" y="1756300"/>
                </a:lnTo>
                <a:lnTo>
                  <a:pt x="3456432" y="1778239"/>
                </a:lnTo>
                <a:lnTo>
                  <a:pt x="3520440" y="1795705"/>
                </a:lnTo>
                <a:lnTo>
                  <a:pt x="3584448" y="1809430"/>
                </a:lnTo>
                <a:lnTo>
                  <a:pt x="3648456" y="1820080"/>
                </a:lnTo>
                <a:lnTo>
                  <a:pt x="3712464" y="1828239"/>
                </a:lnTo>
                <a:lnTo>
                  <a:pt x="3776472" y="1834412"/>
                </a:lnTo>
                <a:lnTo>
                  <a:pt x="3840480" y="1839025"/>
                </a:lnTo>
                <a:lnTo>
                  <a:pt x="3840480" y="1850746"/>
                </a:lnTo>
                <a:close/>
              </a:path>
            </a:pathLst>
          </a:custGeom>
          <a:solidFill>
            <a:srgbClr val="EEF2F6"/>
          </a:solidFill>
          <a:ln w="19050">
            <a:solidFill>
              <a:srgbClr val="8F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594360" y="3886200"/>
            <a:ext cx="3840480" cy="0"/>
          </a:xfrm>
          <a:prstGeom prst="line">
            <a:avLst/>
          </a:prstGeom>
          <a:ln w="15875">
            <a:solidFill>
              <a:srgbClr val="8FA3B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20040"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0</a:t>
            </a:r>
          </a:p>
        </p:txBody>
      </p:sp>
      <p:cxnSp>
        <p:nvCxnSpPr>
          <p:cNvPr id="10" name="Connector 9"/>
          <p:cNvCxnSpPr/>
          <p:nvPr/>
        </p:nvCxnSpPr>
        <p:spPr>
          <a:xfrm>
            <a:off x="1143000"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68680"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2</a:t>
            </a:r>
          </a:p>
        </p:txBody>
      </p:sp>
      <p:cxnSp>
        <p:nvCxnSpPr>
          <p:cNvPr id="12" name="Connector 11"/>
          <p:cNvCxnSpPr/>
          <p:nvPr/>
        </p:nvCxnSpPr>
        <p:spPr>
          <a:xfrm>
            <a:off x="1691640"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417320"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4</a:t>
            </a:r>
          </a:p>
        </p:txBody>
      </p:sp>
      <p:cxnSp>
        <p:nvCxnSpPr>
          <p:cNvPr id="14" name="Connector 13"/>
          <p:cNvCxnSpPr/>
          <p:nvPr/>
        </p:nvCxnSpPr>
        <p:spPr>
          <a:xfrm>
            <a:off x="2240279"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965960"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6</a:t>
            </a:r>
          </a:p>
        </p:txBody>
      </p:sp>
      <p:cxnSp>
        <p:nvCxnSpPr>
          <p:cNvPr id="16" name="Connector 15"/>
          <p:cNvCxnSpPr/>
          <p:nvPr/>
        </p:nvCxnSpPr>
        <p:spPr>
          <a:xfrm>
            <a:off x="2788920"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514600"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8</a:t>
            </a:r>
          </a:p>
        </p:txBody>
      </p:sp>
      <p:cxnSp>
        <p:nvCxnSpPr>
          <p:cNvPr id="18" name="Connector 17"/>
          <p:cNvCxnSpPr/>
          <p:nvPr/>
        </p:nvCxnSpPr>
        <p:spPr>
          <a:xfrm>
            <a:off x="3337560"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063240"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10</a:t>
            </a:r>
          </a:p>
        </p:txBody>
      </p:sp>
      <p:cxnSp>
        <p:nvCxnSpPr>
          <p:cNvPr id="20" name="Connector 19"/>
          <p:cNvCxnSpPr/>
          <p:nvPr/>
        </p:nvCxnSpPr>
        <p:spPr>
          <a:xfrm>
            <a:off x="3886200"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611880"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12</a:t>
            </a:r>
          </a:p>
        </p:txBody>
      </p:sp>
      <p:cxnSp>
        <p:nvCxnSpPr>
          <p:cNvPr id="22" name="Connector 21"/>
          <p:cNvCxnSpPr/>
          <p:nvPr/>
        </p:nvCxnSpPr>
        <p:spPr>
          <a:xfrm>
            <a:off x="4434840"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160520"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14</a:t>
            </a:r>
          </a:p>
        </p:txBody>
      </p:sp>
      <p:sp>
        <p:nvSpPr>
          <p:cNvPr id="24" name="TextBox 23"/>
          <p:cNvSpPr txBox="1"/>
          <p:nvPr/>
        </p:nvSpPr>
        <p:spPr>
          <a:xfrm>
            <a:off x="3063240" y="4160520"/>
            <a:ext cx="1371600" cy="228600"/>
          </a:xfrm>
          <a:prstGeom prst="rect">
            <a:avLst/>
          </a:prstGeom>
          <a:noFill/>
        </p:spPr>
        <p:txBody>
          <a:bodyPr wrap="square" lIns="0" tIns="0" rIns="0" bIns="0" anchor="t">
            <a:noAutofit/>
          </a:bodyPr>
          <a:lstStyle/>
          <a:p>
            <a:pPr algn="r" marL="0" indent="0">
              <a:spcAft>
                <a:spcPts val="400"/>
              </a:spcAft>
              <a:buNone/>
            </a:pPr>
            <a:r>
              <a:rPr sz="1000" b="0">
                <a:solidFill>
                  <a:srgbClr val="5A6676"/>
                </a:solidFill>
                <a:latin typeface="BIZ UDPゴシック"/>
                <a:ea typeface="BIZ UDPゴシック"/>
                <a:cs typeface="BIZ UDPゴシック"/>
              </a:rPr>
              <a:t>到着までの分</a:t>
            </a:r>
          </a:p>
        </p:txBody>
      </p:sp>
      <p:sp>
        <p:nvSpPr>
          <p:cNvPr id="25" name="TextBox 24"/>
          <p:cNvSpPr txBox="1"/>
          <p:nvPr/>
        </p:nvSpPr>
        <p:spPr>
          <a:xfrm>
            <a:off x="4663440" y="1371600"/>
            <a:ext cx="4023360" cy="365760"/>
          </a:xfrm>
          <a:prstGeom prst="rect">
            <a:avLst/>
          </a:prstGeom>
          <a:noFill/>
        </p:spPr>
        <p:txBody>
          <a:bodyPr wrap="square" lIns="0" tIns="0" rIns="0" bIns="0" anchor="t">
            <a:noAutofit/>
          </a:bodyPr>
          <a:lstStyle/>
          <a:p>
            <a:pPr algn="l" marL="0" indent="0">
              <a:spcAft>
                <a:spcPts val="400"/>
              </a:spcAft>
              <a:buNone/>
            </a:pPr>
            <a:r>
              <a:rPr sz="1400" b="1">
                <a:solidFill>
                  <a:srgbClr val="12A38A"/>
                </a:solidFill>
                <a:latin typeface="BIZ UDPゴシック"/>
                <a:ea typeface="BIZ UDPゴシック"/>
                <a:cs typeface="BIZ UDPゴシック"/>
              </a:rPr>
              <a:t>提案：20個の点で示す</a:t>
            </a:r>
          </a:p>
        </p:txBody>
      </p:sp>
      <p:sp>
        <p:nvSpPr>
          <p:cNvPr id="26" name="Oval 25"/>
          <p:cNvSpPr/>
          <p:nvPr/>
        </p:nvSpPr>
        <p:spPr>
          <a:xfrm>
            <a:off x="5422392" y="3639312"/>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5696712" y="3639312"/>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5971031" y="3639312"/>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5971031" y="3392424"/>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6245351" y="3639312"/>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245351" y="3392424"/>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519672" y="3639312"/>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519672" y="3392424"/>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519672" y="3145536"/>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519672" y="2898648"/>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6793992" y="3639312"/>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6793992" y="3392424"/>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793992" y="3145536"/>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793992" y="2898648"/>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7068312" y="3639312"/>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7068312" y="3392424"/>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7342632" y="3639312"/>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342632" y="3392424"/>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7616952" y="3639312"/>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7891272" y="3639312"/>
            <a:ext cx="219456" cy="219456"/>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6" name="Connector 45"/>
          <p:cNvCxnSpPr/>
          <p:nvPr/>
        </p:nvCxnSpPr>
        <p:spPr>
          <a:xfrm>
            <a:off x="4846320" y="3886200"/>
            <a:ext cx="3840480" cy="0"/>
          </a:xfrm>
          <a:prstGeom prst="line">
            <a:avLst/>
          </a:prstGeom>
          <a:ln w="15875">
            <a:solidFill>
              <a:srgbClr val="8FA3B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846320"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4572000"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0</a:t>
            </a:r>
          </a:p>
        </p:txBody>
      </p:sp>
      <p:cxnSp>
        <p:nvCxnSpPr>
          <p:cNvPr id="49" name="Connector 48"/>
          <p:cNvCxnSpPr/>
          <p:nvPr/>
        </p:nvCxnSpPr>
        <p:spPr>
          <a:xfrm>
            <a:off x="5394959"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120640"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2</a:t>
            </a:r>
          </a:p>
        </p:txBody>
      </p:sp>
      <p:cxnSp>
        <p:nvCxnSpPr>
          <p:cNvPr id="51" name="Connector 50"/>
          <p:cNvCxnSpPr/>
          <p:nvPr/>
        </p:nvCxnSpPr>
        <p:spPr>
          <a:xfrm>
            <a:off x="5943600"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669280"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4</a:t>
            </a:r>
          </a:p>
        </p:txBody>
      </p:sp>
      <p:cxnSp>
        <p:nvCxnSpPr>
          <p:cNvPr id="53" name="Connector 52"/>
          <p:cNvCxnSpPr/>
          <p:nvPr/>
        </p:nvCxnSpPr>
        <p:spPr>
          <a:xfrm>
            <a:off x="6492240"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217920"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6</a:t>
            </a:r>
          </a:p>
        </p:txBody>
      </p:sp>
      <p:cxnSp>
        <p:nvCxnSpPr>
          <p:cNvPr id="55" name="Connector 54"/>
          <p:cNvCxnSpPr/>
          <p:nvPr/>
        </p:nvCxnSpPr>
        <p:spPr>
          <a:xfrm>
            <a:off x="7040879"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766559"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8</a:t>
            </a:r>
          </a:p>
        </p:txBody>
      </p:sp>
      <p:cxnSp>
        <p:nvCxnSpPr>
          <p:cNvPr id="57" name="Connector 56"/>
          <p:cNvCxnSpPr/>
          <p:nvPr/>
        </p:nvCxnSpPr>
        <p:spPr>
          <a:xfrm>
            <a:off x="7589520"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315200"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10</a:t>
            </a:r>
          </a:p>
        </p:txBody>
      </p:sp>
      <p:cxnSp>
        <p:nvCxnSpPr>
          <p:cNvPr id="59" name="Connector 58"/>
          <p:cNvCxnSpPr/>
          <p:nvPr/>
        </p:nvCxnSpPr>
        <p:spPr>
          <a:xfrm>
            <a:off x="8138159"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863839"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12</a:t>
            </a:r>
          </a:p>
        </p:txBody>
      </p:sp>
      <p:cxnSp>
        <p:nvCxnSpPr>
          <p:cNvPr id="61" name="Connector 60"/>
          <p:cNvCxnSpPr/>
          <p:nvPr/>
        </p:nvCxnSpPr>
        <p:spPr>
          <a:xfrm>
            <a:off x="8686800" y="3886200"/>
            <a:ext cx="0" cy="54863"/>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8412480" y="3941063"/>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14</a:t>
            </a:r>
          </a:p>
        </p:txBody>
      </p:sp>
      <p:sp>
        <p:nvSpPr>
          <p:cNvPr id="63" name="TextBox 62"/>
          <p:cNvSpPr txBox="1"/>
          <p:nvPr/>
        </p:nvSpPr>
        <p:spPr>
          <a:xfrm>
            <a:off x="7315200" y="4160520"/>
            <a:ext cx="1371600" cy="228600"/>
          </a:xfrm>
          <a:prstGeom prst="rect">
            <a:avLst/>
          </a:prstGeom>
          <a:noFill/>
        </p:spPr>
        <p:txBody>
          <a:bodyPr wrap="square" lIns="0" tIns="0" rIns="0" bIns="0" anchor="t">
            <a:noAutofit/>
          </a:bodyPr>
          <a:lstStyle/>
          <a:p>
            <a:pPr algn="r" marL="0" indent="0">
              <a:spcAft>
                <a:spcPts val="400"/>
              </a:spcAft>
              <a:buNone/>
            </a:pPr>
            <a:r>
              <a:rPr sz="1000" b="0">
                <a:solidFill>
                  <a:srgbClr val="5A6676"/>
                </a:solidFill>
                <a:latin typeface="BIZ UDPゴシック"/>
                <a:ea typeface="BIZ UDPゴシック"/>
                <a:cs typeface="BIZ UDPゴシック"/>
              </a:rPr>
              <a:t>到着までの分</a:t>
            </a:r>
          </a:p>
        </p:txBody>
      </p:sp>
      <p:sp>
        <p:nvSpPr>
          <p:cNvPr id="64" name="Oval 63"/>
          <p:cNvSpPr/>
          <p:nvPr/>
        </p:nvSpPr>
        <p:spPr>
          <a:xfrm>
            <a:off x="411480" y="4526280"/>
            <a:ext cx="457200" cy="45720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400" b="1">
                <a:solidFill>
                  <a:srgbClr val="FFFFFF"/>
                </a:solidFill>
                <a:latin typeface="BIZ UDPゴシック"/>
                <a:ea typeface="BIZ UDPゴシック"/>
                <a:cs typeface="BIZ UDPゴシック"/>
              </a:rPr>
              <a:t>1</a:t>
            </a:r>
          </a:p>
        </p:txBody>
      </p:sp>
      <p:sp>
        <p:nvSpPr>
          <p:cNvPr id="65" name="TextBox 64"/>
          <p:cNvSpPr txBox="1"/>
          <p:nvPr/>
        </p:nvSpPr>
        <p:spPr>
          <a:xfrm>
            <a:off x="960120" y="4480560"/>
            <a:ext cx="2194560"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latin typeface="BIZ UDPゴシック"/>
                <a:ea typeface="BIZ UDPゴシック"/>
                <a:cs typeface="BIZ UDPゴシック"/>
              </a:rPr>
              <a:t>予測分布から20個の分位点をとる</a:t>
            </a:r>
          </a:p>
        </p:txBody>
      </p:sp>
      <p:sp>
        <p:nvSpPr>
          <p:cNvPr id="66" name="Oval 65"/>
          <p:cNvSpPr/>
          <p:nvPr/>
        </p:nvSpPr>
        <p:spPr>
          <a:xfrm>
            <a:off x="3218688" y="4526280"/>
            <a:ext cx="457200" cy="45720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400" b="1">
                <a:solidFill>
                  <a:srgbClr val="FFFFFF"/>
                </a:solidFill>
                <a:latin typeface="BIZ UDPゴシック"/>
                <a:ea typeface="BIZ UDPゴシック"/>
                <a:cs typeface="BIZ UDPゴシック"/>
              </a:rPr>
              <a:t>2</a:t>
            </a:r>
          </a:p>
        </p:txBody>
      </p:sp>
      <p:sp>
        <p:nvSpPr>
          <p:cNvPr id="67" name="TextBox 66"/>
          <p:cNvSpPr txBox="1"/>
          <p:nvPr/>
        </p:nvSpPr>
        <p:spPr>
          <a:xfrm>
            <a:off x="3767328" y="4480560"/>
            <a:ext cx="2194560"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latin typeface="BIZ UDPゴシック"/>
                <a:ea typeface="BIZ UDPゴシック"/>
                <a:cs typeface="BIZ UDPゴシック"/>
              </a:rPr>
              <a:t>1点＝5%の確率として描く</a:t>
            </a:r>
          </a:p>
        </p:txBody>
      </p:sp>
      <p:sp>
        <p:nvSpPr>
          <p:cNvPr id="68" name="Oval 67"/>
          <p:cNvSpPr/>
          <p:nvPr/>
        </p:nvSpPr>
        <p:spPr>
          <a:xfrm>
            <a:off x="6025896" y="4526280"/>
            <a:ext cx="457200" cy="45720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marL="0" indent="0">
              <a:spcAft>
                <a:spcPts val="400"/>
              </a:spcAft>
              <a:buNone/>
            </a:pPr>
            <a:r>
              <a:rPr sz="1400" b="1">
                <a:solidFill>
                  <a:srgbClr val="FFFFFF"/>
                </a:solidFill>
                <a:latin typeface="BIZ UDPゴシック"/>
                <a:ea typeface="BIZ UDPゴシック"/>
                <a:cs typeface="BIZ UDPゴシック"/>
              </a:rPr>
              <a:t>3</a:t>
            </a:r>
          </a:p>
        </p:txBody>
      </p:sp>
      <p:sp>
        <p:nvSpPr>
          <p:cNvPr id="69" name="TextBox 68"/>
          <p:cNvSpPr txBox="1"/>
          <p:nvPr/>
        </p:nvSpPr>
        <p:spPr>
          <a:xfrm>
            <a:off x="6574536" y="4480560"/>
            <a:ext cx="2194560" cy="548640"/>
          </a:xfrm>
          <a:prstGeom prst="rect">
            <a:avLst/>
          </a:prstGeom>
          <a:noFill/>
        </p:spPr>
        <p:txBody>
          <a:bodyPr wrap="square" lIns="0" tIns="0" rIns="0" bIns="0" anchor="ctr">
            <a:noAutofit/>
          </a:bodyPr>
          <a:lstStyle/>
          <a:p>
            <a:pPr algn="l" marL="0" indent="0">
              <a:spcAft>
                <a:spcPts val="400"/>
              </a:spcAft>
              <a:buNone/>
            </a:pPr>
            <a:r>
              <a:rPr sz="1300" b="1">
                <a:solidFill>
                  <a:srgbClr val="0B3C6E"/>
                </a:solidFill>
                <a:latin typeface="BIZ UDPゴシック"/>
                <a:ea typeface="BIZ UDPゴシック"/>
                <a:cs typeface="BIZ UDPゴシック"/>
              </a:rPr>
              <a:t>同じ区間の点を積み上げる</a:t>
            </a:r>
          </a:p>
        </p:txBody>
      </p:sp>
      <p:sp>
        <p:nvSpPr>
          <p:cNvPr id="70" name="Rounded Rectangle 69"/>
          <p:cNvSpPr/>
          <p:nvPr/>
        </p:nvSpPr>
        <p:spPr>
          <a:xfrm>
            <a:off x="411480" y="5257800"/>
            <a:ext cx="8321040" cy="914400"/>
          </a:xfrm>
          <a:prstGeom prst="roundRect">
            <a:avLst>
              <a:gd name="adj" fmla="val 12000"/>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640080" y="5285232"/>
            <a:ext cx="7863840" cy="868680"/>
          </a:xfrm>
          <a:prstGeom prst="rect">
            <a:avLst/>
          </a:prstGeom>
          <a:noFill/>
        </p:spPr>
        <p:txBody>
          <a:bodyPr wrap="square" lIns="0" tIns="0" rIns="0" bIns="0" anchor="ctr">
            <a:noAutofit/>
          </a:bodyPr>
          <a:lstStyle/>
          <a:p>
            <a:pPr algn="l" marL="0" indent="0">
              <a:spcAft>
                <a:spcPts val="200"/>
              </a:spcAft>
              <a:buNone/>
            </a:pPr>
            <a:r>
              <a:rPr sz="1500" b="1">
                <a:solidFill>
                  <a:srgbClr val="12A38A"/>
                </a:solidFill>
                <a:latin typeface="BIZ UDPゴシック"/>
                <a:ea typeface="BIZ UDPゴシック"/>
                <a:cs typeface="BIZ UDPゴシック"/>
              </a:rPr>
              <a:t>「5分以内に来る確率は？」→ 左から点を数えるだけ（例：4個 × 5% ＝ 20%）</a:t>
            </a:r>
          </a:p>
          <a:p>
            <a:pPr algn="l" marL="0" indent="0">
              <a:spcAft>
                <a:spcPts val="400"/>
              </a:spcAft>
              <a:buNone/>
            </a:pPr>
            <a:r>
              <a:rPr sz="1250" b="0">
                <a:solidFill>
                  <a:srgbClr val="24303F"/>
                </a:solidFill>
                <a:latin typeface="BIZ UDPゴシック"/>
                <a:ea typeface="BIZ UDPゴシック"/>
                <a:cs typeface="BIZ UDPゴシック"/>
              </a:rPr>
              <a:t>連続した分布を「数えられる結果」に変える。小さな画面でも一目で読める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統制実験の設計</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2026/11/13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6</a:t>
            </a:fld>
          </a:p>
        </p:txBody>
      </p:sp>
      <p:sp>
        <p:nvSpPr>
          <p:cNvPr id="5" name="Rounded Rectangle 4"/>
          <p:cNvSpPr/>
          <p:nvPr/>
        </p:nvSpPr>
        <p:spPr>
          <a:xfrm>
            <a:off x="411480" y="1417320"/>
            <a:ext cx="8321040" cy="896112"/>
          </a:xfrm>
          <a:prstGeom prst="roundRect">
            <a:avLst>
              <a:gd name="adj" fmla="val 1020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94360" y="1591056"/>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eye_w.png"/>
          <p:cNvPicPr>
            <a:picLocks noChangeAspect="1"/>
          </p:cNvPicPr>
          <p:nvPr/>
        </p:nvPicPr>
        <p:blipFill>
          <a:blip r:embed="rId2"/>
          <a:stretch>
            <a:fillRect/>
          </a:stretch>
        </p:blipFill>
        <p:spPr>
          <a:xfrm>
            <a:off x="726033" y="1722729"/>
            <a:ext cx="285292" cy="285292"/>
          </a:xfrm>
          <a:prstGeom prst="rect">
            <a:avLst/>
          </a:prstGeom>
        </p:spPr>
      </p:pic>
      <p:sp>
        <p:nvSpPr>
          <p:cNvPr id="8" name="TextBox 7"/>
          <p:cNvSpPr txBox="1"/>
          <p:nvPr/>
        </p:nvSpPr>
        <p:spPr>
          <a:xfrm>
            <a:off x="1325880" y="1417320"/>
            <a:ext cx="1463040" cy="896112"/>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比べた表示</a:t>
            </a:r>
          </a:p>
        </p:txBody>
      </p:sp>
      <p:sp>
        <p:nvSpPr>
          <p:cNvPr id="9" name="TextBox 8"/>
          <p:cNvSpPr txBox="1"/>
          <p:nvPr/>
        </p:nvSpPr>
        <p:spPr>
          <a:xfrm>
            <a:off x="2788920" y="1417320"/>
            <a:ext cx="5760720" cy="896112"/>
          </a:xfrm>
          <a:prstGeom prst="rect">
            <a:avLst/>
          </a:prstGeom>
          <a:noFill/>
        </p:spPr>
        <p:txBody>
          <a:bodyPr wrap="square" lIns="0" tIns="0" rIns="0" bIns="0" anchor="ctr">
            <a:noAutofit/>
          </a:bodyPr>
          <a:lstStyle/>
          <a:p>
            <a:pPr algn="l" marL="0" indent="0">
              <a:spcAft>
                <a:spcPts val="400"/>
              </a:spcAft>
              <a:buNone/>
            </a:pPr>
            <a:r>
              <a:rPr sz="1350" b="0">
                <a:solidFill>
                  <a:srgbClr val="24303F"/>
                </a:solidFill>
                <a:latin typeface="BIZ UDPゴシック"/>
                <a:ea typeface="BIZ UDPゴシック"/>
                <a:cs typeface="BIZ UDPゴシック"/>
              </a:rPr>
              <a:t>密度の図などの従来の表示と、quantile dotplot（点の数を変えた条件を含む）</a:t>
            </a:r>
          </a:p>
        </p:txBody>
      </p:sp>
      <p:sp>
        <p:nvSpPr>
          <p:cNvPr id="10" name="Rounded Rectangle 9"/>
          <p:cNvSpPr/>
          <p:nvPr/>
        </p:nvSpPr>
        <p:spPr>
          <a:xfrm>
            <a:off x="411480" y="2441448"/>
            <a:ext cx="8321040" cy="896112"/>
          </a:xfrm>
          <a:prstGeom prst="roundRect">
            <a:avLst>
              <a:gd name="adj" fmla="val 1020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94360" y="2615184"/>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clip_w.png"/>
          <p:cNvPicPr>
            <a:picLocks noChangeAspect="1"/>
          </p:cNvPicPr>
          <p:nvPr/>
        </p:nvPicPr>
        <p:blipFill>
          <a:blip r:embed="rId3"/>
          <a:stretch>
            <a:fillRect/>
          </a:stretch>
        </p:blipFill>
        <p:spPr>
          <a:xfrm>
            <a:off x="726033" y="2746857"/>
            <a:ext cx="285292" cy="285292"/>
          </a:xfrm>
          <a:prstGeom prst="rect">
            <a:avLst/>
          </a:prstGeom>
        </p:spPr>
      </p:pic>
      <p:sp>
        <p:nvSpPr>
          <p:cNvPr id="13" name="TextBox 12"/>
          <p:cNvSpPr txBox="1"/>
          <p:nvPr/>
        </p:nvSpPr>
        <p:spPr>
          <a:xfrm>
            <a:off x="1325880" y="2441448"/>
            <a:ext cx="1463040" cy="896112"/>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課題</a:t>
            </a:r>
          </a:p>
        </p:txBody>
      </p:sp>
      <p:sp>
        <p:nvSpPr>
          <p:cNvPr id="14" name="TextBox 13"/>
          <p:cNvSpPr txBox="1"/>
          <p:nvPr/>
        </p:nvSpPr>
        <p:spPr>
          <a:xfrm>
            <a:off x="2788920" y="2441448"/>
            <a:ext cx="5760720" cy="896112"/>
          </a:xfrm>
          <a:prstGeom prst="rect">
            <a:avLst/>
          </a:prstGeom>
          <a:noFill/>
        </p:spPr>
        <p:txBody>
          <a:bodyPr wrap="square" lIns="0" tIns="0" rIns="0" bIns="0" anchor="ctr">
            <a:noAutofit/>
          </a:bodyPr>
          <a:lstStyle/>
          <a:p>
            <a:pPr algn="l" marL="0" indent="0">
              <a:spcAft>
                <a:spcPts val="400"/>
              </a:spcAft>
              <a:buNone/>
            </a:pPr>
            <a:r>
              <a:rPr sz="1350" b="0">
                <a:solidFill>
                  <a:srgbClr val="24303F"/>
                </a:solidFill>
                <a:latin typeface="BIZ UDPゴシック"/>
                <a:ea typeface="BIZ UDPゴシック"/>
                <a:cs typeface="BIZ UDPゴシック"/>
              </a:rPr>
              <a:t>バスの到着予測の表示を見て「◯分までに来る確率」などを答える</a:t>
            </a:r>
          </a:p>
        </p:txBody>
      </p:sp>
      <p:sp>
        <p:nvSpPr>
          <p:cNvPr id="15" name="Rounded Rectangle 14"/>
          <p:cNvSpPr/>
          <p:nvPr/>
        </p:nvSpPr>
        <p:spPr>
          <a:xfrm>
            <a:off x="411480" y="3465576"/>
            <a:ext cx="8321040" cy="896112"/>
          </a:xfrm>
          <a:prstGeom prst="roundRect">
            <a:avLst>
              <a:gd name="adj" fmla="val 1020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94360" y="3639312"/>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chart_w.png"/>
          <p:cNvPicPr>
            <a:picLocks noChangeAspect="1"/>
          </p:cNvPicPr>
          <p:nvPr/>
        </p:nvPicPr>
        <p:blipFill>
          <a:blip r:embed="rId4"/>
          <a:stretch>
            <a:fillRect/>
          </a:stretch>
        </p:blipFill>
        <p:spPr>
          <a:xfrm>
            <a:off x="726033" y="3770985"/>
            <a:ext cx="285292" cy="285292"/>
          </a:xfrm>
          <a:prstGeom prst="rect">
            <a:avLst/>
          </a:prstGeom>
        </p:spPr>
      </p:pic>
      <p:sp>
        <p:nvSpPr>
          <p:cNvPr id="18" name="TextBox 17"/>
          <p:cNvSpPr txBox="1"/>
          <p:nvPr/>
        </p:nvSpPr>
        <p:spPr>
          <a:xfrm>
            <a:off x="1325880" y="3465576"/>
            <a:ext cx="1463040" cy="896112"/>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測ったもの</a:t>
            </a:r>
          </a:p>
        </p:txBody>
      </p:sp>
      <p:sp>
        <p:nvSpPr>
          <p:cNvPr id="19" name="TextBox 18"/>
          <p:cNvSpPr txBox="1"/>
          <p:nvPr/>
        </p:nvSpPr>
        <p:spPr>
          <a:xfrm>
            <a:off x="2788920" y="3465576"/>
            <a:ext cx="5760720" cy="896112"/>
          </a:xfrm>
          <a:prstGeom prst="rect">
            <a:avLst/>
          </a:prstGeom>
          <a:noFill/>
        </p:spPr>
        <p:txBody>
          <a:bodyPr wrap="square" lIns="0" tIns="0" rIns="0" bIns="0" anchor="ctr">
            <a:noAutofit/>
          </a:bodyPr>
          <a:lstStyle/>
          <a:p>
            <a:pPr algn="l" marL="0" indent="0">
              <a:spcAft>
                <a:spcPts val="400"/>
              </a:spcAft>
              <a:buNone/>
            </a:pPr>
            <a:r>
              <a:rPr sz="1350" b="0">
                <a:solidFill>
                  <a:srgbClr val="24303F"/>
                </a:solidFill>
                <a:latin typeface="BIZ UDPゴシック"/>
                <a:ea typeface="BIZ UDPゴシック"/>
                <a:cs typeface="BIZ UDPゴシック"/>
              </a:rPr>
              <a:t>確率の推定のばらつき（正解からのずれの分散）と、答えへの自信</a:t>
            </a:r>
          </a:p>
        </p:txBody>
      </p:sp>
      <p:sp>
        <p:nvSpPr>
          <p:cNvPr id="20" name="Rounded Rectangle 19"/>
          <p:cNvSpPr/>
          <p:nvPr/>
        </p:nvSpPr>
        <p:spPr>
          <a:xfrm>
            <a:off x="411480" y="4489704"/>
            <a:ext cx="8321040" cy="896112"/>
          </a:xfrm>
          <a:prstGeom prst="roundRect">
            <a:avLst>
              <a:gd name="adj" fmla="val 1020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94360" y="4663440"/>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c_users_w.png"/>
          <p:cNvPicPr>
            <a:picLocks noChangeAspect="1"/>
          </p:cNvPicPr>
          <p:nvPr/>
        </p:nvPicPr>
        <p:blipFill>
          <a:blip r:embed="rId5"/>
          <a:stretch>
            <a:fillRect/>
          </a:stretch>
        </p:blipFill>
        <p:spPr>
          <a:xfrm>
            <a:off x="726033" y="4795113"/>
            <a:ext cx="285292" cy="285292"/>
          </a:xfrm>
          <a:prstGeom prst="rect">
            <a:avLst/>
          </a:prstGeom>
        </p:spPr>
      </p:pic>
      <p:sp>
        <p:nvSpPr>
          <p:cNvPr id="23" name="TextBox 22"/>
          <p:cNvSpPr txBox="1"/>
          <p:nvPr/>
        </p:nvSpPr>
        <p:spPr>
          <a:xfrm>
            <a:off x="1325880" y="4489704"/>
            <a:ext cx="1463040" cy="896112"/>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参加者</a:t>
            </a:r>
          </a:p>
        </p:txBody>
      </p:sp>
      <p:sp>
        <p:nvSpPr>
          <p:cNvPr id="24" name="TextBox 23"/>
          <p:cNvSpPr txBox="1"/>
          <p:nvPr/>
        </p:nvSpPr>
        <p:spPr>
          <a:xfrm>
            <a:off x="2788920" y="4489704"/>
            <a:ext cx="5760720" cy="896112"/>
          </a:xfrm>
          <a:prstGeom prst="rect">
            <a:avLst/>
          </a:prstGeom>
          <a:noFill/>
        </p:spPr>
        <p:txBody>
          <a:bodyPr wrap="square" lIns="0" tIns="0" rIns="0" bIns="0" anchor="ctr">
            <a:noAutofit/>
          </a:bodyPr>
          <a:lstStyle/>
          <a:p>
            <a:pPr algn="l" marL="0" indent="0">
              <a:spcAft>
                <a:spcPts val="400"/>
              </a:spcAft>
              <a:buNone/>
            </a:pPr>
            <a:r>
              <a:rPr sz="1350" b="0">
                <a:solidFill>
                  <a:srgbClr val="24303F"/>
                </a:solidFill>
                <a:latin typeface="BIZ UDPゴシック"/>
                <a:ea typeface="BIZ UDPゴシック"/>
                <a:cs typeface="BIZ UDPゴシック"/>
              </a:rPr>
              <a:t>オンラインで募集した参加者（人数と条件の割り当ては原著で確認）</a:t>
            </a:r>
          </a:p>
        </p:txBody>
      </p:sp>
      <p:sp>
        <p:nvSpPr>
          <p:cNvPr id="25" name="TextBox 24"/>
          <p:cNvSpPr txBox="1"/>
          <p:nvPr/>
        </p:nvSpPr>
        <p:spPr>
          <a:xfrm>
            <a:off x="411480" y="5559552"/>
            <a:ext cx="8321040" cy="548640"/>
          </a:xfrm>
          <a:prstGeom prst="rect">
            <a:avLst/>
          </a:prstGeom>
          <a:noFill/>
        </p:spPr>
        <p:txBody>
          <a:bodyPr wrap="square" lIns="0" tIns="0" rIns="0" bIns="0" anchor="ctr">
            <a:noAutofit/>
          </a:bodyPr>
          <a:lstStyle/>
          <a:p>
            <a:pPr algn="l" marL="0" indent="0">
              <a:spcAft>
                <a:spcPts val="400"/>
              </a:spcAft>
              <a:buNone/>
            </a:pPr>
            <a:r>
              <a:rPr sz="1100" b="0">
                <a:solidFill>
                  <a:srgbClr val="E8457C"/>
                </a:solidFill>
                <a:latin typeface="BIZ UDPゴシック"/>
                <a:ea typeface="BIZ UDPゴシック"/>
                <a:cs typeface="BIZ UDPゴシック"/>
              </a:rPr>
              <a:t>※ 条件の数・参加者数・統計値は、発表前に原著の Experiment の節で確認して差し替えること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主な結果</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2026/11/13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7</a:t>
            </a:fld>
          </a:p>
        </p:txBody>
      </p:sp>
      <p:sp>
        <p:nvSpPr>
          <p:cNvPr id="5" name="Rounded Rectangle 4"/>
          <p:cNvSpPr/>
          <p:nvPr/>
        </p:nvSpPr>
        <p:spPr>
          <a:xfrm>
            <a:off x="411480" y="1417320"/>
            <a:ext cx="4069080" cy="2423160"/>
          </a:xfrm>
          <a:prstGeom prst="roundRect">
            <a:avLst>
              <a:gd name="adj" fmla="val 4528"/>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1463040"/>
            <a:ext cx="3657600" cy="2331720"/>
          </a:xfrm>
          <a:prstGeom prst="rect">
            <a:avLst/>
          </a:prstGeom>
          <a:noFill/>
        </p:spPr>
        <p:txBody>
          <a:bodyPr wrap="square" lIns="0" tIns="0" rIns="0" bIns="0" anchor="ctr">
            <a:noAutofit/>
          </a:bodyPr>
          <a:lstStyle/>
          <a:p>
            <a:pPr algn="l" marL="0" indent="0">
              <a:spcAft>
                <a:spcPts val="200"/>
              </a:spcAft>
              <a:buNone/>
            </a:pPr>
            <a:r>
              <a:rPr sz="4000" b="1">
                <a:solidFill>
                  <a:srgbClr val="12A38A"/>
                </a:solidFill>
                <a:latin typeface="BIZ UDPゴシック"/>
                <a:ea typeface="BIZ UDPゴシック"/>
                <a:cs typeface="BIZ UDPゴシック"/>
              </a:rPr>
              <a:t>約1.15倍</a:t>
            </a:r>
          </a:p>
          <a:p>
            <a:pPr algn="l" marL="0" indent="0">
              <a:spcAft>
                <a:spcPts val="400"/>
              </a:spcAft>
              <a:buNone/>
            </a:pPr>
            <a:r>
              <a:rPr sz="1300" b="0">
                <a:solidFill>
                  <a:srgbClr val="24303F"/>
                </a:solidFill>
                <a:latin typeface="BIZ UDPゴシック"/>
                <a:ea typeface="BIZ UDPゴシック"/>
                <a:cs typeface="BIZ UDPゴシック"/>
              </a:rPr>
              <a:t>密度の図と比べて、quantile dotplot は確率の推定の分散を約1.15分の1に（約13%小さい）</a:t>
            </a:r>
          </a:p>
        </p:txBody>
      </p:sp>
      <p:sp>
        <p:nvSpPr>
          <p:cNvPr id="7" name="Rounded Rectangle 6"/>
          <p:cNvSpPr/>
          <p:nvPr/>
        </p:nvSpPr>
        <p:spPr>
          <a:xfrm>
            <a:off x="4663440" y="1417320"/>
            <a:ext cx="4069080" cy="2423160"/>
          </a:xfrm>
          <a:prstGeom prst="roundRect">
            <a:avLst>
              <a:gd name="adj" fmla="val 4528"/>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463040"/>
            <a:ext cx="3657600" cy="2331720"/>
          </a:xfrm>
          <a:prstGeom prst="rect">
            <a:avLst/>
          </a:prstGeom>
          <a:noFill/>
        </p:spPr>
        <p:txBody>
          <a:bodyPr wrap="square" lIns="0" tIns="0" rIns="0" bIns="0" anchor="ctr">
            <a:noAutofit/>
          </a:bodyPr>
          <a:lstStyle/>
          <a:p>
            <a:pPr algn="l" marL="0" indent="0">
              <a:spcAft>
                <a:spcPts val="200"/>
              </a:spcAft>
              <a:buNone/>
            </a:pPr>
            <a:r>
              <a:rPr sz="2800" b="1">
                <a:solidFill>
                  <a:srgbClr val="0B3C6E"/>
                </a:solidFill>
                <a:latin typeface="BIZ UDPゴシック"/>
                <a:ea typeface="BIZ UDPゴシック"/>
                <a:cs typeface="BIZ UDPゴシック"/>
              </a:rPr>
              <a:t>より自信をもって</a:t>
            </a:r>
          </a:p>
          <a:p>
            <a:pPr algn="l" marL="0" indent="0">
              <a:spcAft>
                <a:spcPts val="400"/>
              </a:spcAft>
              <a:buNone/>
            </a:pPr>
            <a:r>
              <a:rPr sz="1300" b="0">
                <a:solidFill>
                  <a:srgbClr val="24303F"/>
                </a:solidFill>
                <a:latin typeface="BIZ UDPゴシック"/>
                <a:ea typeface="BIZ UDPゴシック"/>
                <a:cs typeface="BIZ UDPゴシック"/>
              </a:rPr>
              <a:t>点を数えて答えられるため、利用者は推定に自信をもちやすかった</a:t>
            </a:r>
          </a:p>
        </p:txBody>
      </p:sp>
      <p:sp>
        <p:nvSpPr>
          <p:cNvPr id="9" name="Rounded Rectangle 8"/>
          <p:cNvSpPr/>
          <p:nvPr/>
        </p:nvSpPr>
        <p:spPr>
          <a:xfrm>
            <a:off x="411480" y="4023360"/>
            <a:ext cx="8321040" cy="2148840"/>
          </a:xfrm>
          <a:prstGeom prst="roundRect">
            <a:avLst>
              <a:gd name="adj" fmla="val 425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57784" y="4169664"/>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c_route_w.png"/>
          <p:cNvPicPr>
            <a:picLocks noChangeAspect="1"/>
          </p:cNvPicPr>
          <p:nvPr/>
        </p:nvPicPr>
        <p:blipFill>
          <a:blip r:embed="rId2"/>
          <a:stretch>
            <a:fillRect/>
          </a:stretch>
        </p:blipFill>
        <p:spPr>
          <a:xfrm>
            <a:off x="667512" y="4279392"/>
            <a:ext cx="237744" cy="237744"/>
          </a:xfrm>
          <a:prstGeom prst="rect">
            <a:avLst/>
          </a:prstGeom>
        </p:spPr>
      </p:pic>
      <p:sp>
        <p:nvSpPr>
          <p:cNvPr id="12" name="TextBox 11"/>
          <p:cNvSpPr txBox="1"/>
          <p:nvPr/>
        </p:nvSpPr>
        <p:spPr>
          <a:xfrm>
            <a:off x="1124712" y="4142232"/>
            <a:ext cx="749808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後続研究：判断の質も上がるか（Fernandes et al., CHI 2018）</a:t>
            </a:r>
          </a:p>
        </p:txBody>
      </p:sp>
      <p:sp>
        <p:nvSpPr>
          <p:cNvPr id="13" name="TextBox 12"/>
          <p:cNvSpPr txBox="1"/>
          <p:nvPr/>
        </p:nvSpPr>
        <p:spPr>
          <a:xfrm>
            <a:off x="576072" y="4718304"/>
            <a:ext cx="8028432" cy="1362456"/>
          </a:xfrm>
          <a:prstGeom prst="rect">
            <a:avLst/>
          </a:prstGeom>
          <a:noFill/>
        </p:spPr>
        <p:txBody>
          <a:bodyPr wrap="square" lIns="0" tIns="0" rIns="0" bIns="0" anchor="t">
            <a:noAutofit/>
          </a:bodyPr>
          <a:lstStyle/>
          <a:p>
            <a:pPr algn="l" marL="182880" indent="-182880">
              <a:spcAft>
                <a:spcPts val="300"/>
              </a:spcAft>
              <a:buClr>
                <a:srgbClr val="0099FF"/>
              </a:buClr>
              <a:buFont typeface="BIZ UDPゴシック"/>
              <a:buChar char="•"/>
            </a:pPr>
            <a:r>
              <a:rPr sz="1300" b="0">
                <a:solidFill>
                  <a:srgbClr val="24303F"/>
                </a:solidFill>
                <a:latin typeface="BIZ UDPゴシック"/>
                <a:ea typeface="BIZ UDPゴシック"/>
                <a:cs typeface="BIZ UDPゴシック"/>
              </a:rPr>
              <a:t>バスに間に合うかを判断するゲーム形式の実験で、quantile dotplot や累積分布の表示が、文章だけの表示や不確かさなしの表示より良い判断につながった</a:t>
            </a:r>
          </a:p>
          <a:p>
            <a:pPr algn="l" marL="182880" indent="-182880">
              <a:spcAft>
                <a:spcPts val="300"/>
              </a:spcAft>
              <a:buClr>
                <a:srgbClr val="E8457C"/>
              </a:buClr>
              <a:buFont typeface="BIZ UDPゴシック"/>
              <a:buChar char="•"/>
            </a:pPr>
            <a:r>
              <a:rPr sz="1300" b="0">
                <a:solidFill>
                  <a:srgbClr val="24303F"/>
                </a:solidFill>
                <a:latin typeface="BIZ UDPゴシック"/>
                <a:ea typeface="BIZ UDPゴシック"/>
                <a:cs typeface="BIZ UDPゴシック"/>
              </a:rPr>
              <a:t>→ 「読み取りやすい」だけでなく「行動の判断」にも効く可能性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批判的に読む：限界と疑問</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2026/11/13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8</a:t>
            </a:fld>
          </a:p>
        </p:txBody>
      </p:sp>
      <p:sp>
        <p:nvSpPr>
          <p:cNvPr id="5" name="Rounded Rectangle 4"/>
          <p:cNvSpPr/>
          <p:nvPr/>
        </p:nvSpPr>
        <p:spPr>
          <a:xfrm>
            <a:off x="411480" y="1417320"/>
            <a:ext cx="4069080" cy="1645920"/>
          </a:xfrm>
          <a:prstGeom prst="roundRect">
            <a:avLst>
              <a:gd name="adj" fmla="val 555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57784" y="156362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clip_w.png"/>
          <p:cNvPicPr>
            <a:picLocks noChangeAspect="1"/>
          </p:cNvPicPr>
          <p:nvPr/>
        </p:nvPicPr>
        <p:blipFill>
          <a:blip r:embed="rId2"/>
          <a:stretch>
            <a:fillRect/>
          </a:stretch>
        </p:blipFill>
        <p:spPr>
          <a:xfrm>
            <a:off x="667512" y="1673352"/>
            <a:ext cx="237744" cy="237744"/>
          </a:xfrm>
          <a:prstGeom prst="rect">
            <a:avLst/>
          </a:prstGeom>
        </p:spPr>
      </p:pic>
      <p:sp>
        <p:nvSpPr>
          <p:cNvPr id="8" name="TextBox 7"/>
          <p:cNvSpPr txBox="1"/>
          <p:nvPr/>
        </p:nvSpPr>
        <p:spPr>
          <a:xfrm>
            <a:off x="1124712" y="153619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シナリオ上の推定課題</a:t>
            </a:r>
          </a:p>
        </p:txBody>
      </p:sp>
      <p:sp>
        <p:nvSpPr>
          <p:cNvPr id="9" name="TextBox 8"/>
          <p:cNvSpPr txBox="1"/>
          <p:nvPr/>
        </p:nvSpPr>
        <p:spPr>
          <a:xfrm>
            <a:off x="576072" y="2112264"/>
            <a:ext cx="3776472" cy="85953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実際の乗車の判断ではない（2018年の後続研究で一部補われた）</a:t>
            </a:r>
          </a:p>
        </p:txBody>
      </p:sp>
      <p:sp>
        <p:nvSpPr>
          <p:cNvPr id="10" name="Rounded Rectangle 9"/>
          <p:cNvSpPr/>
          <p:nvPr/>
        </p:nvSpPr>
        <p:spPr>
          <a:xfrm>
            <a:off x="4663440" y="1417320"/>
            <a:ext cx="4069080" cy="1645920"/>
          </a:xfrm>
          <a:prstGeom prst="roundRect">
            <a:avLst>
              <a:gd name="adj" fmla="val 555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809744" y="156362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chart_w.png"/>
          <p:cNvPicPr>
            <a:picLocks noChangeAspect="1"/>
          </p:cNvPicPr>
          <p:nvPr/>
        </p:nvPicPr>
        <p:blipFill>
          <a:blip r:embed="rId3"/>
          <a:stretch>
            <a:fillRect/>
          </a:stretch>
        </p:blipFill>
        <p:spPr>
          <a:xfrm>
            <a:off x="4919472" y="1673352"/>
            <a:ext cx="237744" cy="237744"/>
          </a:xfrm>
          <a:prstGeom prst="rect">
            <a:avLst/>
          </a:prstGeom>
        </p:spPr>
      </p:pic>
      <p:sp>
        <p:nvSpPr>
          <p:cNvPr id="13" name="TextBox 12"/>
          <p:cNvSpPr txBox="1"/>
          <p:nvPr/>
        </p:nvSpPr>
        <p:spPr>
          <a:xfrm>
            <a:off x="5376672" y="153619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効果量は小さめ</a:t>
            </a:r>
          </a:p>
        </p:txBody>
      </p:sp>
      <p:sp>
        <p:nvSpPr>
          <p:cNvPr id="14" name="TextBox 13"/>
          <p:cNvSpPr txBox="1"/>
          <p:nvPr/>
        </p:nvSpPr>
        <p:spPr>
          <a:xfrm>
            <a:off x="4828032" y="2112264"/>
            <a:ext cx="3776472" cy="85953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分散で約1.15倍。実際の使い勝手でどれほど差が出るか</a:t>
            </a:r>
          </a:p>
        </p:txBody>
      </p:sp>
      <p:sp>
        <p:nvSpPr>
          <p:cNvPr id="15" name="Rounded Rectangle 14"/>
          <p:cNvSpPr/>
          <p:nvPr/>
        </p:nvSpPr>
        <p:spPr>
          <a:xfrm>
            <a:off x="411480" y="3200400"/>
            <a:ext cx="4069080" cy="1645920"/>
          </a:xfrm>
          <a:prstGeom prst="roundRect">
            <a:avLst>
              <a:gd name="adj" fmla="val 555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57784" y="334670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loop_w.png"/>
          <p:cNvPicPr>
            <a:picLocks noChangeAspect="1"/>
          </p:cNvPicPr>
          <p:nvPr/>
        </p:nvPicPr>
        <p:blipFill>
          <a:blip r:embed="rId4"/>
          <a:stretch>
            <a:fillRect/>
          </a:stretch>
        </p:blipFill>
        <p:spPr>
          <a:xfrm>
            <a:off x="667512" y="3456432"/>
            <a:ext cx="237744" cy="237744"/>
          </a:xfrm>
          <a:prstGeom prst="rect">
            <a:avLst/>
          </a:prstGeom>
        </p:spPr>
      </p:pic>
      <p:sp>
        <p:nvSpPr>
          <p:cNvPr id="18" name="TextBox 17"/>
          <p:cNvSpPr txBox="1"/>
          <p:nvPr/>
        </p:nvSpPr>
        <p:spPr>
          <a:xfrm>
            <a:off x="1124712" y="331927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予測の更新は扱っていない</a:t>
            </a:r>
          </a:p>
        </p:txBody>
      </p:sp>
      <p:sp>
        <p:nvSpPr>
          <p:cNvPr id="19" name="TextBox 18"/>
          <p:cNvSpPr txBox="1"/>
          <p:nvPr/>
        </p:nvSpPr>
        <p:spPr>
          <a:xfrm>
            <a:off x="576072" y="3895344"/>
            <a:ext cx="3776472" cy="85953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時間とともに予測が変わる場面での見え方は未検討</a:t>
            </a:r>
          </a:p>
        </p:txBody>
      </p:sp>
      <p:sp>
        <p:nvSpPr>
          <p:cNvPr id="20" name="Rounded Rectangle 19"/>
          <p:cNvSpPr/>
          <p:nvPr/>
        </p:nvSpPr>
        <p:spPr>
          <a:xfrm>
            <a:off x="4663440" y="3200400"/>
            <a:ext cx="4069080" cy="1645920"/>
          </a:xfrm>
          <a:prstGeom prst="roundRect">
            <a:avLst>
              <a:gd name="adj" fmla="val 5555"/>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809744" y="3346704"/>
            <a:ext cx="457200" cy="457200"/>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c_heart_w.png"/>
          <p:cNvPicPr>
            <a:picLocks noChangeAspect="1"/>
          </p:cNvPicPr>
          <p:nvPr/>
        </p:nvPicPr>
        <p:blipFill>
          <a:blip r:embed="rId5"/>
          <a:stretch>
            <a:fillRect/>
          </a:stretch>
        </p:blipFill>
        <p:spPr>
          <a:xfrm>
            <a:off x="4919472" y="3456432"/>
            <a:ext cx="237744" cy="237744"/>
          </a:xfrm>
          <a:prstGeom prst="rect">
            <a:avLst/>
          </a:prstGeom>
        </p:spPr>
      </p:pic>
      <p:sp>
        <p:nvSpPr>
          <p:cNvPr id="23" name="TextBox 22"/>
          <p:cNvSpPr txBox="1"/>
          <p:nvPr/>
        </p:nvSpPr>
        <p:spPr>
          <a:xfrm>
            <a:off x="5376672" y="3319272"/>
            <a:ext cx="32461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客観的な予測が対象</a:t>
            </a:r>
          </a:p>
        </p:txBody>
      </p:sp>
      <p:sp>
        <p:nvSpPr>
          <p:cNvPr id="24" name="TextBox 23"/>
          <p:cNvSpPr txBox="1"/>
          <p:nvPr/>
        </p:nvSpPr>
        <p:spPr>
          <a:xfrm>
            <a:off x="4828032" y="3895344"/>
            <a:ext cx="3776472" cy="859536"/>
          </a:xfrm>
          <a:prstGeom prst="rect">
            <a:avLst/>
          </a:prstGeom>
          <a:noFill/>
        </p:spPr>
        <p:txBody>
          <a:bodyPr wrap="square" lIns="0" tIns="0" rIns="0" bIns="0" anchor="t">
            <a:noAutofit/>
          </a:bodyPr>
          <a:lstStyle/>
          <a:p>
            <a:pPr algn="l" marL="0" indent="0">
              <a:spcAft>
                <a:spcPts val="300"/>
              </a:spcAft>
              <a:buNone/>
            </a:pPr>
            <a:r>
              <a:rPr sz="1300" b="0">
                <a:solidFill>
                  <a:srgbClr val="24303F"/>
                </a:solidFill>
                <a:latin typeface="BIZ UDPゴシック"/>
                <a:ea typeface="BIZ UDPゴシック"/>
                <a:cs typeface="BIZ UDPゴシック"/>
              </a:rPr>
              <a:t>気分や疲れのような主観的な予測に当てはまるかは不明</a:t>
            </a:r>
          </a:p>
        </p:txBody>
      </p:sp>
      <p:sp>
        <p:nvSpPr>
          <p:cNvPr id="25" name="Rounded Rectangle 24"/>
          <p:cNvSpPr/>
          <p:nvPr/>
        </p:nvSpPr>
        <p:spPr>
          <a:xfrm>
            <a:off x="411480" y="5029200"/>
            <a:ext cx="8321040" cy="1143000"/>
          </a:xfrm>
          <a:prstGeom prst="roundRect">
            <a:avLst>
              <a:gd name="adj" fmla="val 9600"/>
            </a:avLst>
          </a:prstGeom>
          <a:solidFill>
            <a:srgbClr val="E6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0080" y="5074920"/>
            <a:ext cx="7863840" cy="1051560"/>
          </a:xfrm>
          <a:prstGeom prst="rect">
            <a:avLst/>
          </a:prstGeom>
          <a:noFill/>
        </p:spPr>
        <p:txBody>
          <a:bodyPr wrap="square" lIns="0" tIns="0" rIns="0" bIns="0" anchor="ctr">
            <a:noAutofit/>
          </a:bodyPr>
          <a:lstStyle/>
          <a:p>
            <a:pPr algn="l" marL="0" indent="0">
              <a:spcAft>
                <a:spcPts val="300"/>
              </a:spcAft>
              <a:buNone/>
            </a:pPr>
            <a:r>
              <a:rPr sz="1500" b="1">
                <a:solidFill>
                  <a:srgbClr val="0B3C6E"/>
                </a:solidFill>
                <a:latin typeface="BIZ UDPゴシック"/>
                <a:ea typeface="BIZ UDPゴシック"/>
                <a:cs typeface="BIZ UDPゴシック"/>
              </a:rPr>
              <a:t>→ OshiFit は「主観的な予測 × 毎週の更新 × 実際の行動」で、この論文の外側を検証できる</a:t>
            </a:r>
          </a:p>
          <a:p>
            <a:pPr algn="l" marL="0" indent="0">
              <a:spcAft>
                <a:spcPts val="400"/>
              </a:spcAft>
              <a:buNone/>
            </a:pPr>
            <a:r>
              <a:rPr sz="1250" b="0">
                <a:solidFill>
                  <a:srgbClr val="24303F"/>
                </a:solidFill>
                <a:latin typeface="BIZ UDPゴシック"/>
                <a:ea typeface="BIZ UDPゴシック"/>
                <a:cs typeface="BIZ UDPゴシック"/>
              </a:rPr>
              <a:t>ただし、ドット表示とアバター表示の効果は本実験では切り分けられない（群Cは両方を見る）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OshiFit への対応づけ</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2026/11/13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9</a:t>
            </a:fld>
          </a:p>
        </p:txBody>
      </p:sp>
      <p:graphicFrame>
        <p:nvGraphicFramePr>
          <p:cNvPr id="5" name="Table 4"/>
          <p:cNvGraphicFramePr>
            <a:graphicFrameLocks noGrp="1"/>
          </p:cNvGraphicFramePr>
          <p:nvPr/>
        </p:nvGraphicFramePr>
        <p:xfrm>
          <a:off x="411480" y="1417320"/>
          <a:ext cx="8321040" cy="3291840"/>
        </p:xfrm>
        <a:graphic>
          <a:graphicData uri="http://schemas.openxmlformats.org/drawingml/2006/table">
            <a:tbl>
              <a:tblPr>
                <a:tableStyleId>{5940675A-B579-460E-94D1-54222C63F5DA}</a:tableStyleId>
              </a:tblPr>
              <a:tblGrid>
                <a:gridCol w="1737360"/>
                <a:gridCol w="3108960"/>
                <a:gridCol w="3474720"/>
              </a:tblGrid>
              <a:tr h="548640">
                <a:tc>
                  <a:txBody>
                    <a:bodyPr wrap="square" lIns="64008" tIns="27432" rIns="64008" bIns="27432" anchor="ctr">
                      <a:noAutofit/>
                    </a:bodyPr>
                    <a:lstStyle/>
                    <a:p>
                      <a:pPr algn="l" marL="0" indent="0">
                        <a:spcAft>
                          <a:spcPts val="0"/>
                        </a:spcAft>
                        <a:buNone/>
                      </a:pPr>
                      <a:r>
                        <a:rPr sz="1300" b="1">
                          <a:solidFill>
                            <a:srgbClr val="FFFFFF"/>
                          </a:solidFill>
                          <a:latin typeface="BIZ UDPゴシック"/>
                          <a:ea typeface="BIZ UDPゴシック"/>
                          <a:cs typeface="BIZ UDPゴシック"/>
                        </a:rPr>
                        <a:t>観点</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l" marL="0" indent="0">
                        <a:spcAft>
                          <a:spcPts val="0"/>
                        </a:spcAft>
                        <a:buNone/>
                      </a:pPr>
                      <a:r>
                        <a:rPr sz="1300" b="1">
                          <a:solidFill>
                            <a:srgbClr val="FFFFFF"/>
                          </a:solidFill>
                          <a:latin typeface="BIZ UDPゴシック"/>
                          <a:ea typeface="BIZ UDPゴシック"/>
                          <a:cs typeface="BIZ UDPゴシック"/>
                        </a:rPr>
                        <a:t>Kay et al. (2016)</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c>
                  <a:txBody>
                    <a:bodyPr wrap="square" lIns="64008" tIns="27432" rIns="64008" bIns="27432" anchor="ctr">
                      <a:noAutofit/>
                    </a:bodyPr>
                    <a:lstStyle/>
                    <a:p>
                      <a:pPr algn="l" marL="0" indent="0">
                        <a:spcAft>
                          <a:spcPts val="0"/>
                        </a:spcAft>
                        <a:buNone/>
                      </a:pPr>
                      <a:r>
                        <a:rPr sz="1300" b="1">
                          <a:solidFill>
                            <a:srgbClr val="FFFFFF"/>
                          </a:solidFill>
                          <a:latin typeface="BIZ UDPゴシック"/>
                          <a:ea typeface="BIZ UDPゴシック"/>
                          <a:cs typeface="BIZ UDPゴシック"/>
                        </a:rPr>
                        <a:t>OshiFit</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0B3C6E"/>
                    </a:solidFill>
                  </a:tcPr>
                </a:tc>
              </a:tr>
              <a:tr h="548640">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予測するもの</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バスの到着時刻</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6週間後の推し疲れ・充実</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48640">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利用者の判断</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走るべきか・いつ家を出るか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提案を試すか・どれを選ぶか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48640">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判断の境目</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◯分までに来るか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「疲れ高め」（3.5以上）になるか</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48640">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表示</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20個の点（1点＝5%）</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4F8FC"/>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「20人中◯人のあなた」の点＋重なったアバター</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r h="548640">
                <a:tc>
                  <a:txBody>
                    <a:bodyPr wrap="square" lIns="64008" tIns="27432" rIns="64008" bIns="27432" anchor="ctr">
                      <a:noAutofit/>
                    </a:bodyPr>
                    <a:lstStyle/>
                    <a:p>
                      <a:pPr algn="l" marL="0" indent="0">
                        <a:spcAft>
                          <a:spcPts val="0"/>
                        </a:spcAft>
                        <a:buNone/>
                      </a:pPr>
                      <a:r>
                        <a:rPr sz="1300" b="1">
                          <a:solidFill>
                            <a:srgbClr val="24303F"/>
                          </a:solidFill>
                          <a:latin typeface="BIZ UDPゴシック"/>
                          <a:ea typeface="BIZ UDPゴシック"/>
                          <a:cs typeface="BIZ UDPゴシック"/>
                        </a:rPr>
                        <a:t>更新</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（扱わない）</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FFFFFF"/>
                    </a:solidFill>
                  </a:tcPr>
                </a:tc>
                <a:tc>
                  <a:txBody>
                    <a:bodyPr wrap="square" lIns="64008" tIns="27432" rIns="64008" bIns="27432" anchor="ctr">
                      <a:noAutofit/>
                    </a:bodyPr>
                    <a:lstStyle/>
                    <a:p>
                      <a:pPr algn="l" marL="0" indent="0">
                        <a:spcAft>
                          <a:spcPts val="0"/>
                        </a:spcAft>
                        <a:buNone/>
                      </a:pPr>
                      <a:r>
                        <a:rPr sz="1300" b="0">
                          <a:solidFill>
                            <a:srgbClr val="24303F"/>
                          </a:solidFill>
                          <a:latin typeface="BIZ UDPゴシック"/>
                          <a:ea typeface="BIZ UDPゴシック"/>
                          <a:cs typeface="BIZ UDPゴシック"/>
                        </a:rPr>
                        <a:t>毎晩更新・毎週の答え合わせ</a:t>
                      </a:r>
                    </a:p>
                  </a:txBody>
                  <a:tcPr marL="64008" marR="64008" marT="27432" marB="27432" anchor="ctr">
                    <a:lnL w="9525">
                      <a:solidFill>
                        <a:srgbClr val="D5DEE8"/>
                      </a:solidFill>
                    </a:lnL>
                    <a:lnR w="9525">
                      <a:solidFill>
                        <a:srgbClr val="D5DEE8"/>
                      </a:solidFill>
                    </a:lnR>
                    <a:lnT w="9525">
                      <a:solidFill>
                        <a:srgbClr val="D5DEE8"/>
                      </a:solidFill>
                    </a:lnT>
                    <a:lnB w="9525">
                      <a:solidFill>
                        <a:srgbClr val="D5DEE8"/>
                      </a:solidFill>
                    </a:lnB>
                    <a:solidFill>
                      <a:srgbClr val="E3F6F2"/>
                    </a:solidFill>
                  </a:tcPr>
                </a:tc>
              </a:tr>
            </a:tbl>
          </a:graphicData>
        </a:graphic>
      </p:graphicFrame>
      <p:sp>
        <p:nvSpPr>
          <p:cNvPr id="6" name="Rounded Rectangle 5"/>
          <p:cNvSpPr/>
          <p:nvPr/>
        </p:nvSpPr>
        <p:spPr>
          <a:xfrm>
            <a:off x="411480" y="4937760"/>
            <a:ext cx="8321040" cy="1234440"/>
          </a:xfrm>
          <a:prstGeom prst="roundRect">
            <a:avLst>
              <a:gd name="adj" fmla="val 8888"/>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4983480"/>
            <a:ext cx="7772400" cy="1143000"/>
          </a:xfrm>
          <a:prstGeom prst="rect">
            <a:avLst/>
          </a:prstGeom>
          <a:noFill/>
        </p:spPr>
        <p:txBody>
          <a:bodyPr wrap="square" lIns="0" tIns="0" rIns="0" bIns="0" anchor="ctr">
            <a:noAutofit/>
          </a:bodyPr>
          <a:lstStyle/>
          <a:p>
            <a:pPr algn="l" marL="0" indent="0">
              <a:spcAft>
                <a:spcPts val="300"/>
              </a:spcAft>
              <a:buNone/>
            </a:pPr>
            <a:r>
              <a:rPr sz="1500" b="1">
                <a:solidFill>
                  <a:srgbClr val="FFFFFF"/>
                </a:solidFill>
                <a:latin typeface="BIZ UDPゴシック"/>
                <a:ea typeface="BIZ UDPゴシック"/>
                <a:cs typeface="BIZ UDPゴシック"/>
              </a:rPr>
              <a:t>進捗②で追加した「20人中◯人」の点表示は、この論文の quantile dotplot と同じ考え方</a:t>
            </a:r>
          </a:p>
          <a:p>
            <a:pPr algn="l" marL="0" indent="0">
              <a:spcAft>
                <a:spcPts val="400"/>
              </a:spcAft>
              <a:buNone/>
            </a:pPr>
            <a:r>
              <a:rPr sz="1250" b="0">
                <a:solidFill>
                  <a:srgbClr val="CCE9FF"/>
                </a:solidFill>
                <a:latin typeface="BIZ UDPゴシック"/>
                <a:ea typeface="BIZ UDPゴシック"/>
                <a:cs typeface="BIZ UDPゴシック"/>
              </a:rPr>
              <a:t>点の数（20）と、アバターの重なり（5体）の意味をそろえるとさらに読みやすくなるはず</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ゆらぎアバターへの応用案</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2026/11/13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10</a:t>
            </a:fld>
          </a:p>
        </p:txBody>
      </p:sp>
      <p:sp>
        <p:nvSpPr>
          <p:cNvPr id="5" name="TextBox 4"/>
          <p:cNvSpPr txBox="1"/>
          <p:nvPr/>
        </p:nvSpPr>
        <p:spPr>
          <a:xfrm>
            <a:off x="411480" y="1371600"/>
            <a:ext cx="4572000" cy="365760"/>
          </a:xfrm>
          <a:prstGeom prst="rect">
            <a:avLst/>
          </a:prstGeom>
          <a:noFill/>
        </p:spPr>
        <p:txBody>
          <a:bodyPr wrap="square" lIns="0" tIns="0" rIns="0" bIns="0" anchor="t">
            <a:noAutofit/>
          </a:bodyPr>
          <a:lstStyle/>
          <a:p>
            <a:pPr algn="l" marL="0" indent="0">
              <a:spcAft>
                <a:spcPts val="400"/>
              </a:spcAft>
              <a:buNone/>
            </a:pPr>
            <a:r>
              <a:rPr sz="1300" b="1">
                <a:solidFill>
                  <a:srgbClr val="0B3C6E"/>
                </a:solidFill>
                <a:latin typeface="BIZ UDPゴシック"/>
                <a:ea typeface="BIZ UDPゴシック"/>
                <a:cs typeface="BIZ UDPゴシック"/>
              </a:rPr>
              <a:t>6週間後の推し疲れの予測（提案どおり・20点）</a:t>
            </a:r>
          </a:p>
        </p:txBody>
      </p:sp>
      <p:sp>
        <p:nvSpPr>
          <p:cNvPr id="6" name="Oval 5"/>
          <p:cNvSpPr/>
          <p:nvPr/>
        </p:nvSpPr>
        <p:spPr>
          <a:xfrm>
            <a:off x="1281303" y="3575304"/>
            <a:ext cx="237744" cy="237744"/>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52803" y="3575304"/>
            <a:ext cx="237744" cy="237744"/>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852803" y="3310128"/>
            <a:ext cx="237744" cy="237744"/>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138553" y="3575304"/>
            <a:ext cx="237744" cy="237744"/>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138553" y="3310128"/>
            <a:ext cx="237744" cy="237744"/>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138553" y="3044952"/>
            <a:ext cx="237744" cy="237744"/>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24303" y="3575304"/>
            <a:ext cx="237744" cy="237744"/>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2424303" y="3310128"/>
            <a:ext cx="237744" cy="237744"/>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424303" y="3044952"/>
            <a:ext cx="237744" cy="237744"/>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2710053" y="3575304"/>
            <a:ext cx="237744" cy="237744"/>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2710053" y="3310128"/>
            <a:ext cx="237744" cy="237744"/>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2710053" y="3044952"/>
            <a:ext cx="237744" cy="237744"/>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2710053" y="2779776"/>
            <a:ext cx="237744" cy="237744"/>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2995803" y="3575304"/>
            <a:ext cx="237744" cy="237744"/>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2995803" y="3310128"/>
            <a:ext cx="237744" cy="237744"/>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2995803" y="3044952"/>
            <a:ext cx="237744" cy="237744"/>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3281553" y="3575304"/>
            <a:ext cx="237744" cy="237744"/>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3281553" y="3310128"/>
            <a:ext cx="237744" cy="237744"/>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3567303" y="3575304"/>
            <a:ext cx="237744" cy="237744"/>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3853053" y="3575304"/>
            <a:ext cx="237744" cy="237744"/>
          </a:xfrm>
          <a:prstGeom prst="ellipse">
            <a:avLst/>
          </a:prstGeom>
          <a:solidFill>
            <a:srgbClr val="E07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6" name="Connector 25"/>
          <p:cNvCxnSpPr/>
          <p:nvPr/>
        </p:nvCxnSpPr>
        <p:spPr>
          <a:xfrm>
            <a:off x="685800" y="3840480"/>
            <a:ext cx="4000500" cy="0"/>
          </a:xfrm>
          <a:prstGeom prst="line">
            <a:avLst/>
          </a:prstGeom>
          <a:ln w="15875">
            <a:solidFill>
              <a:srgbClr val="8FA3B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5800" y="3840480"/>
            <a:ext cx="0" cy="54864"/>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11480" y="3895344"/>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1.5</a:t>
            </a:r>
          </a:p>
        </p:txBody>
      </p:sp>
      <p:cxnSp>
        <p:nvCxnSpPr>
          <p:cNvPr id="29" name="Connector 28"/>
          <p:cNvCxnSpPr/>
          <p:nvPr/>
        </p:nvCxnSpPr>
        <p:spPr>
          <a:xfrm>
            <a:off x="1257300" y="3840480"/>
            <a:ext cx="0" cy="54864"/>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82980" y="3895344"/>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2</a:t>
            </a:r>
          </a:p>
        </p:txBody>
      </p:sp>
      <p:cxnSp>
        <p:nvCxnSpPr>
          <p:cNvPr id="31" name="Connector 30"/>
          <p:cNvCxnSpPr/>
          <p:nvPr/>
        </p:nvCxnSpPr>
        <p:spPr>
          <a:xfrm>
            <a:off x="1828800" y="3840480"/>
            <a:ext cx="0" cy="54864"/>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554480" y="3895344"/>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2.5</a:t>
            </a:r>
          </a:p>
        </p:txBody>
      </p:sp>
      <p:cxnSp>
        <p:nvCxnSpPr>
          <p:cNvPr id="33" name="Connector 32"/>
          <p:cNvCxnSpPr/>
          <p:nvPr/>
        </p:nvCxnSpPr>
        <p:spPr>
          <a:xfrm>
            <a:off x="2400300" y="3840480"/>
            <a:ext cx="0" cy="54864"/>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125980" y="3895344"/>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3</a:t>
            </a:r>
          </a:p>
        </p:txBody>
      </p:sp>
      <p:cxnSp>
        <p:nvCxnSpPr>
          <p:cNvPr id="35" name="Connector 34"/>
          <p:cNvCxnSpPr/>
          <p:nvPr/>
        </p:nvCxnSpPr>
        <p:spPr>
          <a:xfrm>
            <a:off x="2971800" y="3840480"/>
            <a:ext cx="0" cy="54864"/>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697480" y="3895344"/>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3.5</a:t>
            </a:r>
          </a:p>
        </p:txBody>
      </p:sp>
      <p:cxnSp>
        <p:nvCxnSpPr>
          <p:cNvPr id="37" name="Connector 36"/>
          <p:cNvCxnSpPr/>
          <p:nvPr/>
        </p:nvCxnSpPr>
        <p:spPr>
          <a:xfrm>
            <a:off x="3543300" y="3840480"/>
            <a:ext cx="0" cy="54864"/>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268980" y="3895344"/>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4</a:t>
            </a:r>
          </a:p>
        </p:txBody>
      </p:sp>
      <p:cxnSp>
        <p:nvCxnSpPr>
          <p:cNvPr id="39" name="Connector 38"/>
          <p:cNvCxnSpPr/>
          <p:nvPr/>
        </p:nvCxnSpPr>
        <p:spPr>
          <a:xfrm>
            <a:off x="4114800" y="3840480"/>
            <a:ext cx="0" cy="54864"/>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840480" y="3895344"/>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4.5</a:t>
            </a:r>
          </a:p>
        </p:txBody>
      </p:sp>
      <p:cxnSp>
        <p:nvCxnSpPr>
          <p:cNvPr id="41" name="Connector 40"/>
          <p:cNvCxnSpPr/>
          <p:nvPr/>
        </p:nvCxnSpPr>
        <p:spPr>
          <a:xfrm>
            <a:off x="4686300" y="3840480"/>
            <a:ext cx="0" cy="54864"/>
          </a:xfrm>
          <a:prstGeom prst="line">
            <a:avLst/>
          </a:prstGeom>
          <a:ln w="12700">
            <a:solidFill>
              <a:srgbClr val="8FA3B8"/>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411980" y="3895344"/>
            <a:ext cx="548640" cy="228600"/>
          </a:xfrm>
          <a:prstGeom prst="rect">
            <a:avLst/>
          </a:prstGeom>
          <a:noFill/>
        </p:spPr>
        <p:txBody>
          <a:bodyPr wrap="square" lIns="0" tIns="0" rIns="0" bIns="0" anchor="t">
            <a:noAutofit/>
          </a:bodyPr>
          <a:lstStyle/>
          <a:p>
            <a:pPr algn="ctr" marL="0" indent="0">
              <a:spcAft>
                <a:spcPts val="400"/>
              </a:spcAft>
              <a:buNone/>
            </a:pPr>
            <a:r>
              <a:rPr sz="1000" b="0">
                <a:solidFill>
                  <a:srgbClr val="5A6676"/>
                </a:solidFill>
                <a:latin typeface="BIZ UDPゴシック"/>
                <a:ea typeface="BIZ UDPゴシック"/>
                <a:cs typeface="BIZ UDPゴシック"/>
              </a:rPr>
              <a:t>5</a:t>
            </a:r>
          </a:p>
        </p:txBody>
      </p:sp>
      <p:sp>
        <p:nvSpPr>
          <p:cNvPr id="43" name="TextBox 42"/>
          <p:cNvSpPr txBox="1"/>
          <p:nvPr/>
        </p:nvSpPr>
        <p:spPr>
          <a:xfrm>
            <a:off x="3314700" y="4114800"/>
            <a:ext cx="1371600" cy="228600"/>
          </a:xfrm>
          <a:prstGeom prst="rect">
            <a:avLst/>
          </a:prstGeom>
          <a:noFill/>
        </p:spPr>
        <p:txBody>
          <a:bodyPr wrap="square" lIns="0" tIns="0" rIns="0" bIns="0" anchor="t">
            <a:noAutofit/>
          </a:bodyPr>
          <a:lstStyle/>
          <a:p>
            <a:pPr algn="r" marL="0" indent="0">
              <a:spcAft>
                <a:spcPts val="400"/>
              </a:spcAft>
              <a:buNone/>
            </a:pPr>
            <a:r>
              <a:rPr sz="1000" b="0">
                <a:solidFill>
                  <a:srgbClr val="5A6676"/>
                </a:solidFill>
                <a:latin typeface="BIZ UDPゴシック"/>
                <a:ea typeface="BIZ UDPゴシック"/>
                <a:cs typeface="BIZ UDPゴシック"/>
              </a:rPr>
              <a:t>推し疲れ（5段階）</a:t>
            </a:r>
          </a:p>
        </p:txBody>
      </p:sp>
      <p:cxnSp>
        <p:nvCxnSpPr>
          <p:cNvPr id="44" name="Connector 43"/>
          <p:cNvCxnSpPr/>
          <p:nvPr/>
        </p:nvCxnSpPr>
        <p:spPr>
          <a:xfrm>
            <a:off x="2971800" y="1783080"/>
            <a:ext cx="0" cy="2057400"/>
          </a:xfrm>
          <a:prstGeom prst="line">
            <a:avLst/>
          </a:prstGeom>
          <a:ln w="25400">
            <a:solidFill>
              <a:srgbClr val="E8457C"/>
            </a:solidFill>
            <a:prstDash val="dash"/>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2286000" y="1783080"/>
            <a:ext cx="1371600" cy="274320"/>
          </a:xfrm>
          <a:prstGeom prst="roundRect">
            <a:avLst>
              <a:gd name="adj" fmla="val 50000"/>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FFFFFF"/>
                </a:solidFill>
                <a:latin typeface="BIZ UDPゴシック"/>
                <a:ea typeface="BIZ UDPゴシック"/>
                <a:cs typeface="BIZ UDPゴシック"/>
              </a:rPr>
              <a:t>疲れ高め 3.5〜</a:t>
            </a:r>
          </a:p>
        </p:txBody>
      </p:sp>
      <p:sp>
        <p:nvSpPr>
          <p:cNvPr id="46" name="TextBox 45"/>
          <p:cNvSpPr txBox="1"/>
          <p:nvPr/>
        </p:nvSpPr>
        <p:spPr>
          <a:xfrm>
            <a:off x="411480" y="4343400"/>
            <a:ext cx="4572000" cy="365760"/>
          </a:xfrm>
          <a:prstGeom prst="rect">
            <a:avLst/>
          </a:prstGeom>
          <a:noFill/>
        </p:spPr>
        <p:txBody>
          <a:bodyPr wrap="square" lIns="0" tIns="0" rIns="0" bIns="0" anchor="t">
            <a:noAutofit/>
          </a:bodyPr>
          <a:lstStyle/>
          <a:p>
            <a:pPr algn="l" marL="0" indent="0">
              <a:spcAft>
                <a:spcPts val="400"/>
              </a:spcAft>
              <a:buNone/>
            </a:pPr>
            <a:r>
              <a:rPr sz="1400" b="1">
                <a:solidFill>
                  <a:srgbClr val="E07A10"/>
                </a:solidFill>
                <a:latin typeface="BIZ UDPゴシック"/>
                <a:ea typeface="BIZ UDPゴシック"/>
                <a:cs typeface="BIZ UDPゴシック"/>
              </a:rPr>
              <a:t>→ 境目より右の点を数える：20人中7人</a:t>
            </a:r>
          </a:p>
        </p:txBody>
      </p:sp>
      <p:pic>
        <p:nvPicPr>
          <p:cNvPr id="47" name="Picture 46" descr="ghostB.png"/>
          <p:cNvPicPr>
            <a:picLocks noChangeAspect="1"/>
          </p:cNvPicPr>
          <p:nvPr/>
        </p:nvPicPr>
        <p:blipFill>
          <a:blip r:embed="rId2"/>
          <a:stretch>
            <a:fillRect/>
          </a:stretch>
        </p:blipFill>
        <p:spPr>
          <a:xfrm>
            <a:off x="685800" y="4800600"/>
            <a:ext cx="1949824" cy="1325880"/>
          </a:xfrm>
          <a:prstGeom prst="rect">
            <a:avLst/>
          </a:prstGeom>
        </p:spPr>
      </p:pic>
      <p:sp>
        <p:nvSpPr>
          <p:cNvPr id="48" name="TextBox 47"/>
          <p:cNvSpPr txBox="1"/>
          <p:nvPr/>
        </p:nvSpPr>
        <p:spPr>
          <a:xfrm>
            <a:off x="2788920" y="4846320"/>
            <a:ext cx="2331720" cy="1280160"/>
          </a:xfrm>
          <a:prstGeom prst="rect">
            <a:avLst/>
          </a:prstGeom>
          <a:noFill/>
        </p:spPr>
        <p:txBody>
          <a:bodyPr wrap="square" lIns="0" tIns="0" rIns="0" bIns="0" anchor="ctr">
            <a:noAutofit/>
          </a:bodyPr>
          <a:lstStyle/>
          <a:p>
            <a:pPr algn="l" marL="0" indent="0">
              <a:spcAft>
                <a:spcPts val="400"/>
              </a:spcAft>
              <a:buNone/>
            </a:pPr>
            <a:r>
              <a:rPr sz="1250" b="0">
                <a:solidFill>
                  <a:srgbClr val="24303F"/>
                </a:solidFill>
                <a:latin typeface="BIZ UDPゴシック"/>
                <a:ea typeface="BIZ UDPゴシック"/>
                <a:cs typeface="BIZ UDPゴシック"/>
              </a:rPr>
              <a:t>5体のアバター＝4点ずつ。点とアバターの意味をそろえる</a:t>
            </a:r>
          </a:p>
        </p:txBody>
      </p:sp>
      <p:sp>
        <p:nvSpPr>
          <p:cNvPr id="49" name="Rounded Rectangle 48"/>
          <p:cNvSpPr/>
          <p:nvPr/>
        </p:nvSpPr>
        <p:spPr>
          <a:xfrm>
            <a:off x="5120640" y="1371600"/>
            <a:ext cx="3611880" cy="1490472"/>
          </a:xfrm>
          <a:prstGeom prst="roundRect">
            <a:avLst>
              <a:gd name="adj" fmla="val 613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5266944" y="1517904"/>
            <a:ext cx="457200" cy="45720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Picture 50" descr="ic_target_w.png"/>
          <p:cNvPicPr>
            <a:picLocks noChangeAspect="1"/>
          </p:cNvPicPr>
          <p:nvPr/>
        </p:nvPicPr>
        <p:blipFill>
          <a:blip r:embed="rId3"/>
          <a:stretch>
            <a:fillRect/>
          </a:stretch>
        </p:blipFill>
        <p:spPr>
          <a:xfrm>
            <a:off x="5376672" y="1627631"/>
            <a:ext cx="237744" cy="237744"/>
          </a:xfrm>
          <a:prstGeom prst="rect">
            <a:avLst/>
          </a:prstGeom>
        </p:spPr>
      </p:pic>
      <p:sp>
        <p:nvSpPr>
          <p:cNvPr id="52" name="TextBox 51"/>
          <p:cNvSpPr txBox="1"/>
          <p:nvPr/>
        </p:nvSpPr>
        <p:spPr>
          <a:xfrm>
            <a:off x="5833872" y="1490472"/>
            <a:ext cx="27889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境目の線を引く</a:t>
            </a:r>
          </a:p>
        </p:txBody>
      </p:sp>
      <p:sp>
        <p:nvSpPr>
          <p:cNvPr id="53" name="TextBox 52"/>
          <p:cNvSpPr txBox="1"/>
          <p:nvPr/>
        </p:nvSpPr>
        <p:spPr>
          <a:xfrm>
            <a:off x="5285231" y="2066543"/>
            <a:ext cx="3319272" cy="704088"/>
          </a:xfrm>
          <a:prstGeom prst="rect">
            <a:avLst/>
          </a:prstGeom>
          <a:noFill/>
        </p:spPr>
        <p:txBody>
          <a:bodyPr wrap="square" lIns="0" tIns="0" rIns="0" bIns="0" anchor="t">
            <a:noAutofit/>
          </a:bodyPr>
          <a:lstStyle/>
          <a:p>
            <a:pPr algn="l" marL="0" indent="0">
              <a:spcAft>
                <a:spcPts val="300"/>
              </a:spcAft>
              <a:buNone/>
            </a:pPr>
            <a:r>
              <a:rPr sz="1250" b="0">
                <a:solidFill>
                  <a:srgbClr val="24303F"/>
                </a:solidFill>
                <a:latin typeface="BIZ UDPゴシック"/>
                <a:ea typeface="BIZ UDPゴシック"/>
                <a:cs typeface="BIZ UDPゴシック"/>
              </a:rPr>
              <a:t>「疲れ高め」の点を数えやすくする</a:t>
            </a:r>
          </a:p>
        </p:txBody>
      </p:sp>
      <p:sp>
        <p:nvSpPr>
          <p:cNvPr id="54" name="Rounded Rectangle 53"/>
          <p:cNvSpPr/>
          <p:nvPr/>
        </p:nvSpPr>
        <p:spPr>
          <a:xfrm>
            <a:off x="5120640" y="2999232"/>
            <a:ext cx="3611880" cy="1490472"/>
          </a:xfrm>
          <a:prstGeom prst="roundRect">
            <a:avLst>
              <a:gd name="adj" fmla="val 613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5266944" y="3145536"/>
            <a:ext cx="457200" cy="45720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ic_layers_w.png"/>
          <p:cNvPicPr>
            <a:picLocks noChangeAspect="1"/>
          </p:cNvPicPr>
          <p:nvPr/>
        </p:nvPicPr>
        <p:blipFill>
          <a:blip r:embed="rId4"/>
          <a:stretch>
            <a:fillRect/>
          </a:stretch>
        </p:blipFill>
        <p:spPr>
          <a:xfrm>
            <a:off x="5376672" y="3255264"/>
            <a:ext cx="237744" cy="237744"/>
          </a:xfrm>
          <a:prstGeom prst="rect">
            <a:avLst/>
          </a:prstGeom>
        </p:spPr>
      </p:pic>
      <p:sp>
        <p:nvSpPr>
          <p:cNvPr id="57" name="TextBox 56"/>
          <p:cNvSpPr txBox="1"/>
          <p:nvPr/>
        </p:nvSpPr>
        <p:spPr>
          <a:xfrm>
            <a:off x="5833872" y="3118104"/>
            <a:ext cx="27889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1体＝4点に対応づけ</a:t>
            </a:r>
          </a:p>
        </p:txBody>
      </p:sp>
      <p:sp>
        <p:nvSpPr>
          <p:cNvPr id="58" name="TextBox 57"/>
          <p:cNvSpPr txBox="1"/>
          <p:nvPr/>
        </p:nvSpPr>
        <p:spPr>
          <a:xfrm>
            <a:off x="5285231" y="3694176"/>
            <a:ext cx="3319272" cy="704088"/>
          </a:xfrm>
          <a:prstGeom prst="rect">
            <a:avLst/>
          </a:prstGeom>
          <a:noFill/>
        </p:spPr>
        <p:txBody>
          <a:bodyPr wrap="square" lIns="0" tIns="0" rIns="0" bIns="0" anchor="t">
            <a:noAutofit/>
          </a:bodyPr>
          <a:lstStyle/>
          <a:p>
            <a:pPr algn="l" marL="0" indent="0">
              <a:spcAft>
                <a:spcPts val="300"/>
              </a:spcAft>
              <a:buNone/>
            </a:pPr>
            <a:r>
              <a:rPr sz="1250" b="0">
                <a:solidFill>
                  <a:srgbClr val="24303F"/>
                </a:solidFill>
                <a:latin typeface="BIZ UDPゴシック"/>
                <a:ea typeface="BIZ UDPゴシック"/>
                <a:cs typeface="BIZ UDPゴシック"/>
              </a:rPr>
              <a:t>重なりの意味を点の数と一致させる</a:t>
            </a:r>
          </a:p>
        </p:txBody>
      </p:sp>
      <p:sp>
        <p:nvSpPr>
          <p:cNvPr id="59" name="Rounded Rectangle 58"/>
          <p:cNvSpPr/>
          <p:nvPr/>
        </p:nvSpPr>
        <p:spPr>
          <a:xfrm>
            <a:off x="5120640" y="4626864"/>
            <a:ext cx="3611880" cy="1490472"/>
          </a:xfrm>
          <a:prstGeom prst="roundRect">
            <a:avLst>
              <a:gd name="adj" fmla="val 6134"/>
            </a:avLst>
          </a:prstGeom>
          <a:solidFill>
            <a:srgbClr val="FFFFFF"/>
          </a:solidFill>
          <a:ln w="12700">
            <a:solidFill>
              <a:srgbClr val="D5DEE8"/>
            </a:solidFill>
          </a:ln>
          <a:effectLst>
            <a:outerShdw blurRad="76200" dist="19050" dir="5400000" algn="t" rotWithShape="0">
              <a:srgbClr val="0B3C6E">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Oval 59"/>
          <p:cNvSpPr/>
          <p:nvPr/>
        </p:nvSpPr>
        <p:spPr>
          <a:xfrm>
            <a:off x="5266944" y="4773168"/>
            <a:ext cx="457200" cy="457200"/>
          </a:xfrm>
          <a:prstGeom prst="ellipse">
            <a:avLst/>
          </a:prstGeom>
          <a:solidFill>
            <a:srgbClr val="009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1" name="Picture 60" descr="ic_play_w.png"/>
          <p:cNvPicPr>
            <a:picLocks noChangeAspect="1"/>
          </p:cNvPicPr>
          <p:nvPr/>
        </p:nvPicPr>
        <p:blipFill>
          <a:blip r:embed="rId5"/>
          <a:stretch>
            <a:fillRect/>
          </a:stretch>
        </p:blipFill>
        <p:spPr>
          <a:xfrm>
            <a:off x="5376672" y="4882896"/>
            <a:ext cx="237744" cy="237744"/>
          </a:xfrm>
          <a:prstGeom prst="rect">
            <a:avLst/>
          </a:prstGeom>
        </p:spPr>
      </p:pic>
      <p:sp>
        <p:nvSpPr>
          <p:cNvPr id="62" name="TextBox 61"/>
          <p:cNvSpPr txBox="1"/>
          <p:nvPr/>
        </p:nvSpPr>
        <p:spPr>
          <a:xfrm>
            <a:off x="5833872" y="4745736"/>
            <a:ext cx="2788920" cy="512064"/>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初回だけ30秒の説明</a:t>
            </a:r>
          </a:p>
        </p:txBody>
      </p:sp>
      <p:sp>
        <p:nvSpPr>
          <p:cNvPr id="63" name="TextBox 62"/>
          <p:cNvSpPr txBox="1"/>
          <p:nvPr/>
        </p:nvSpPr>
        <p:spPr>
          <a:xfrm>
            <a:off x="5285231" y="5321808"/>
            <a:ext cx="3319272" cy="704088"/>
          </a:xfrm>
          <a:prstGeom prst="rect">
            <a:avLst/>
          </a:prstGeom>
          <a:noFill/>
        </p:spPr>
        <p:txBody>
          <a:bodyPr wrap="square" lIns="0" tIns="0" rIns="0" bIns="0" anchor="t">
            <a:noAutofit/>
          </a:bodyPr>
          <a:lstStyle/>
          <a:p>
            <a:pPr algn="l" marL="0" indent="0">
              <a:spcAft>
                <a:spcPts val="300"/>
              </a:spcAft>
              <a:buNone/>
            </a:pPr>
            <a:r>
              <a:rPr sz="1250" b="0">
                <a:solidFill>
                  <a:srgbClr val="24303F"/>
                </a:solidFill>
                <a:latin typeface="BIZ UDPゴシック"/>
                <a:ea typeface="BIZ UDPゴシック"/>
                <a:cs typeface="BIZ UDPゴシック"/>
              </a:rPr>
              <a:t>「ぼやけ＝ありうる未来の数」と伝える</a:t>
            </a:r>
          </a:p>
        </p:txBody>
      </p:sp>
      <p:sp>
        <p:nvSpPr>
          <p:cNvPr id="64" name="Rounded Rectangle 63"/>
          <p:cNvSpPr/>
          <p:nvPr/>
        </p:nvSpPr>
        <p:spPr>
          <a:xfrm>
            <a:off x="5394960" y="6483096"/>
            <a:ext cx="2788920" cy="274320"/>
          </a:xfrm>
          <a:prstGeom prst="roundRect">
            <a:avLst>
              <a:gd name="adj" fmla="val 50000"/>
            </a:avLst>
          </a:prstGeom>
          <a:solidFill>
            <a:srgbClr val="FFFFFF"/>
          </a:solidFill>
          <a:ln w="12700">
            <a:solidFill>
              <a:srgbClr val="E8457C"/>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tIns="0" rIns="36576" bIns="0">
            <a:noAutofit/>
          </a:bodyPr>
          <a:lstStyle/>
          <a:p>
            <a:pPr algn="ctr" marL="0" indent="0">
              <a:spcAft>
                <a:spcPts val="400"/>
              </a:spcAft>
              <a:buNone/>
            </a:pPr>
            <a:r>
              <a:rPr sz="1000" b="1">
                <a:solidFill>
                  <a:srgbClr val="E8457C"/>
                </a:solidFill>
                <a:latin typeface="BIZ UDPゴシック"/>
                <a:ea typeface="BIZ UDPゴシック"/>
                <a:cs typeface="BIZ UDPゴシック"/>
              </a:rPr>
              <a:t>※ 予測分布は例示</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いまの実験でできること・次の版でやること</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2026/11/13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11</a:t>
            </a:fld>
          </a:p>
        </p:txBody>
      </p:sp>
      <p:sp>
        <p:nvSpPr>
          <p:cNvPr id="5" name="Rounded Rectangle 4"/>
          <p:cNvSpPr/>
          <p:nvPr/>
        </p:nvSpPr>
        <p:spPr>
          <a:xfrm>
            <a:off x="411480" y="1417320"/>
            <a:ext cx="4069080" cy="3429000"/>
          </a:xfrm>
          <a:prstGeom prst="roundRect">
            <a:avLst>
              <a:gd name="adj" fmla="val 3200"/>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594360" y="1572768"/>
            <a:ext cx="548640" cy="548640"/>
          </a:xfrm>
          <a:prstGeom prst="ellipse">
            <a:avLst/>
          </a:prstGeom>
          <a:solidFill>
            <a:srgbClr val="12A3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check_w.png"/>
          <p:cNvPicPr>
            <a:picLocks noChangeAspect="1"/>
          </p:cNvPicPr>
          <p:nvPr/>
        </p:nvPicPr>
        <p:blipFill>
          <a:blip r:embed="rId2"/>
          <a:stretch>
            <a:fillRect/>
          </a:stretch>
        </p:blipFill>
        <p:spPr>
          <a:xfrm>
            <a:off x="726033" y="1704441"/>
            <a:ext cx="285292" cy="285292"/>
          </a:xfrm>
          <a:prstGeom prst="rect">
            <a:avLst/>
          </a:prstGeom>
        </p:spPr>
      </p:pic>
      <p:sp>
        <p:nvSpPr>
          <p:cNvPr id="8" name="TextBox 7"/>
          <p:cNvSpPr txBox="1"/>
          <p:nvPr/>
        </p:nvSpPr>
        <p:spPr>
          <a:xfrm>
            <a:off x="1280160" y="1572768"/>
            <a:ext cx="3017520" cy="548640"/>
          </a:xfrm>
          <a:prstGeom prst="rect">
            <a:avLst/>
          </a:prstGeom>
          <a:noFill/>
        </p:spPr>
        <p:txBody>
          <a:bodyPr wrap="square" lIns="0" tIns="0" rIns="0" bIns="0" anchor="ctr">
            <a:noAutofit/>
          </a:bodyPr>
          <a:lstStyle/>
          <a:p>
            <a:pPr algn="l" marL="0" indent="0">
              <a:spcAft>
                <a:spcPts val="400"/>
              </a:spcAft>
              <a:buNone/>
            </a:pPr>
            <a:r>
              <a:rPr sz="1500" b="1">
                <a:solidFill>
                  <a:srgbClr val="12A38A"/>
                </a:solidFill>
                <a:latin typeface="BIZ UDPゴシック"/>
                <a:ea typeface="BIZ UDPゴシック"/>
                <a:cs typeface="BIZ UDPゴシック"/>
              </a:rPr>
              <a:t>本実験中（ベータ版は凍結）</a:t>
            </a:r>
          </a:p>
        </p:txBody>
      </p:sp>
      <p:sp>
        <p:nvSpPr>
          <p:cNvPr id="9" name="TextBox 8"/>
          <p:cNvSpPr txBox="1"/>
          <p:nvPr/>
        </p:nvSpPr>
        <p:spPr>
          <a:xfrm>
            <a:off x="640080" y="2286000"/>
            <a:ext cx="3657600" cy="2468880"/>
          </a:xfrm>
          <a:prstGeom prst="rect">
            <a:avLst/>
          </a:prstGeom>
          <a:noFill/>
        </p:spPr>
        <p:txBody>
          <a:bodyPr wrap="square" lIns="0" tIns="0" rIns="0" bIns="0" anchor="t">
            <a:noAutofit/>
          </a:bodyPr>
          <a:lstStyle/>
          <a:p>
            <a:pPr algn="l" marL="182880" indent="-182880">
              <a:spcAft>
                <a:spcPts val="1000"/>
              </a:spcAft>
              <a:buClr>
                <a:srgbClr val="0099FF"/>
              </a:buClr>
              <a:buFont typeface="BIZ UDPゴシック"/>
              <a:buChar char="•"/>
            </a:pPr>
            <a:r>
              <a:rPr sz="1350" b="0">
                <a:solidFill>
                  <a:srgbClr val="24303F"/>
                </a:solidFill>
                <a:latin typeface="BIZ UDPゴシック"/>
                <a:ea typeface="BIZ UDPゴシック"/>
                <a:cs typeface="BIZ UDPゴシック"/>
              </a:rPr>
              <a:t>事後アンケートに「点の読み取り」問題を2問追加（例：疲れ高めは何人？）</a:t>
            </a:r>
          </a:p>
          <a:p>
            <a:pPr algn="l" marL="182880" indent="-182880">
              <a:spcAft>
                <a:spcPts val="1000"/>
              </a:spcAft>
              <a:buClr>
                <a:srgbClr val="0099FF"/>
              </a:buClr>
              <a:buFont typeface="BIZ UDPゴシック"/>
              <a:buChar char="•"/>
            </a:pPr>
            <a:r>
              <a:rPr sz="1350" b="0">
                <a:solidFill>
                  <a:srgbClr val="24303F"/>
                </a:solidFill>
                <a:latin typeface="BIZ UDPゴシック"/>
                <a:ea typeface="BIZ UDPゴシック"/>
                <a:cs typeface="BIZ UDPゴシック"/>
              </a:rPr>
              <a:t>予測の理解度と、提案の実行率・予測への信頼との関係を探索的に分析</a:t>
            </a:r>
          </a:p>
          <a:p>
            <a:pPr algn="l" marL="182880" indent="-182880">
              <a:spcAft>
                <a:spcPts val="1000"/>
              </a:spcAft>
              <a:buClr>
                <a:srgbClr val="E8457C"/>
              </a:buClr>
              <a:buFont typeface="BIZ UDPゴシック"/>
              <a:buChar char="•"/>
            </a:pPr>
            <a:r>
              <a:rPr sz="1350" b="0">
                <a:solidFill>
                  <a:srgbClr val="24303F"/>
                </a:solidFill>
                <a:latin typeface="BIZ UDPゴシック"/>
                <a:ea typeface="BIZ UDPゴシック"/>
                <a:cs typeface="BIZ UDPゴシック"/>
              </a:rPr>
              <a:t>アプリの画面は変えない（全群の条件を保つ）</a:t>
            </a:r>
          </a:p>
        </p:txBody>
      </p:sp>
      <p:sp>
        <p:nvSpPr>
          <p:cNvPr id="10" name="Rounded Rectangle 9"/>
          <p:cNvSpPr/>
          <p:nvPr/>
        </p:nvSpPr>
        <p:spPr>
          <a:xfrm>
            <a:off x="4663440" y="1417320"/>
            <a:ext cx="4069080" cy="3429000"/>
          </a:xfrm>
          <a:prstGeom prst="roundRect">
            <a:avLst>
              <a:gd name="adj" fmla="val 3200"/>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846320" y="1572768"/>
            <a:ext cx="548640" cy="548640"/>
          </a:xfrm>
          <a:prstGeom prst="ellipse">
            <a:avLst/>
          </a:prstGeom>
          <a:solidFill>
            <a:srgbClr val="0B3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c_rocket_w.png"/>
          <p:cNvPicPr>
            <a:picLocks noChangeAspect="1"/>
          </p:cNvPicPr>
          <p:nvPr/>
        </p:nvPicPr>
        <p:blipFill>
          <a:blip r:embed="rId3"/>
          <a:stretch>
            <a:fillRect/>
          </a:stretch>
        </p:blipFill>
        <p:spPr>
          <a:xfrm>
            <a:off x="4977993" y="1704441"/>
            <a:ext cx="285292" cy="285292"/>
          </a:xfrm>
          <a:prstGeom prst="rect">
            <a:avLst/>
          </a:prstGeom>
        </p:spPr>
      </p:pic>
      <p:sp>
        <p:nvSpPr>
          <p:cNvPr id="13" name="TextBox 12"/>
          <p:cNvSpPr txBox="1"/>
          <p:nvPr/>
        </p:nvSpPr>
        <p:spPr>
          <a:xfrm>
            <a:off x="5532120" y="1572768"/>
            <a:ext cx="3017520" cy="548640"/>
          </a:xfrm>
          <a:prstGeom prst="rect">
            <a:avLst/>
          </a:prstGeom>
          <a:noFill/>
        </p:spPr>
        <p:txBody>
          <a:bodyPr wrap="square" lIns="0" tIns="0" rIns="0" bIns="0" anchor="ctr">
            <a:noAutofit/>
          </a:bodyPr>
          <a:lstStyle/>
          <a:p>
            <a:pPr algn="l" marL="0" indent="0">
              <a:spcAft>
                <a:spcPts val="400"/>
              </a:spcAft>
              <a:buNone/>
            </a:pPr>
            <a:r>
              <a:rPr sz="1500" b="1">
                <a:solidFill>
                  <a:srgbClr val="0B3C6E"/>
                </a:solidFill>
                <a:latin typeface="BIZ UDPゴシック"/>
                <a:ea typeface="BIZ UDPゴシック"/>
                <a:cs typeface="BIZ UDPゴシック"/>
              </a:rPr>
              <a:t>次の版（修論後）</a:t>
            </a:r>
          </a:p>
        </p:txBody>
      </p:sp>
      <p:sp>
        <p:nvSpPr>
          <p:cNvPr id="14" name="TextBox 13"/>
          <p:cNvSpPr txBox="1"/>
          <p:nvPr/>
        </p:nvSpPr>
        <p:spPr>
          <a:xfrm>
            <a:off x="4892040" y="2286000"/>
            <a:ext cx="3657600" cy="2468880"/>
          </a:xfrm>
          <a:prstGeom prst="rect">
            <a:avLst/>
          </a:prstGeom>
          <a:noFill/>
        </p:spPr>
        <p:txBody>
          <a:bodyPr wrap="square" lIns="0" tIns="0" rIns="0" bIns="0" anchor="t">
            <a:noAutofit/>
          </a:bodyPr>
          <a:lstStyle/>
          <a:p>
            <a:pPr algn="l" marL="182880" indent="-182880">
              <a:spcAft>
                <a:spcPts val="1000"/>
              </a:spcAft>
              <a:buClr>
                <a:srgbClr val="0099FF"/>
              </a:buClr>
              <a:buFont typeface="BIZ UDPゴシック"/>
              <a:buChar char="•"/>
            </a:pPr>
            <a:r>
              <a:rPr sz="1350" b="0">
                <a:solidFill>
                  <a:srgbClr val="24303F"/>
                </a:solidFill>
                <a:latin typeface="BIZ UDPゴシック"/>
                <a:ea typeface="BIZ UDPゴシック"/>
                <a:cs typeface="BIZ UDPゴシック"/>
              </a:rPr>
              <a:t>境目の線と「1体＝4点」の対応づけ</a:t>
            </a:r>
          </a:p>
          <a:p>
            <a:pPr algn="l" marL="182880" indent="-182880">
              <a:spcAft>
                <a:spcPts val="1000"/>
              </a:spcAft>
              <a:buClr>
                <a:srgbClr val="0099FF"/>
              </a:buClr>
              <a:buFont typeface="BIZ UDPゴシック"/>
              <a:buChar char="•"/>
            </a:pPr>
            <a:r>
              <a:rPr sz="1350" b="0">
                <a:solidFill>
                  <a:srgbClr val="24303F"/>
                </a:solidFill>
                <a:latin typeface="BIZ UDPゴシック"/>
                <a:ea typeface="BIZ UDPゴシック"/>
                <a:cs typeface="BIZ UDPゴシック"/>
              </a:rPr>
              <a:t>点の数（20 / 10）を比べる小さな実験</a:t>
            </a:r>
          </a:p>
          <a:p>
            <a:pPr algn="l" marL="182880" indent="-182880">
              <a:spcAft>
                <a:spcPts val="1000"/>
              </a:spcAft>
              <a:buClr>
                <a:srgbClr val="0099FF"/>
              </a:buClr>
              <a:buFont typeface="BIZ UDPゴシック"/>
              <a:buChar char="•"/>
            </a:pPr>
            <a:r>
              <a:rPr sz="1350" b="0">
                <a:solidFill>
                  <a:srgbClr val="24303F"/>
                </a:solidFill>
                <a:latin typeface="BIZ UDPゴシック"/>
                <a:ea typeface="BIZ UDPゴシック"/>
                <a:cs typeface="BIZ UDPゴシック"/>
              </a:rPr>
              <a:t>ドットのみ・アバターのみ・両方の3条件で、どちらが行動に効くかを切り分ける</a:t>
            </a:r>
          </a:p>
        </p:txBody>
      </p:sp>
      <p:sp>
        <p:nvSpPr>
          <p:cNvPr id="15" name="Rounded Rectangle 14"/>
          <p:cNvSpPr/>
          <p:nvPr/>
        </p:nvSpPr>
        <p:spPr>
          <a:xfrm>
            <a:off x="411480" y="5029200"/>
            <a:ext cx="8321040" cy="1143000"/>
          </a:xfrm>
          <a:prstGeom prst="roundRect">
            <a:avLst>
              <a:gd name="adj" fmla="val 9600"/>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594360" y="5303520"/>
            <a:ext cx="594360" cy="59436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c_warn_w.png"/>
          <p:cNvPicPr>
            <a:picLocks noChangeAspect="1"/>
          </p:cNvPicPr>
          <p:nvPr/>
        </p:nvPicPr>
        <p:blipFill>
          <a:blip r:embed="rId4"/>
          <a:stretch>
            <a:fillRect/>
          </a:stretch>
        </p:blipFill>
        <p:spPr>
          <a:xfrm>
            <a:off x="737006" y="5446166"/>
            <a:ext cx="309067" cy="309067"/>
          </a:xfrm>
          <a:prstGeom prst="rect">
            <a:avLst/>
          </a:prstGeom>
        </p:spPr>
      </p:pic>
      <p:sp>
        <p:nvSpPr>
          <p:cNvPr id="18" name="TextBox 17"/>
          <p:cNvSpPr txBox="1"/>
          <p:nvPr/>
        </p:nvSpPr>
        <p:spPr>
          <a:xfrm>
            <a:off x="1417320" y="5074920"/>
            <a:ext cx="7132320" cy="1051560"/>
          </a:xfrm>
          <a:prstGeom prst="rect">
            <a:avLst/>
          </a:prstGeom>
          <a:noFill/>
        </p:spPr>
        <p:txBody>
          <a:bodyPr wrap="square" lIns="0" tIns="0" rIns="0" bIns="0" anchor="ctr">
            <a:noAutofit/>
          </a:bodyPr>
          <a:lstStyle/>
          <a:p>
            <a:pPr algn="l" marL="0" indent="0">
              <a:spcAft>
                <a:spcPts val="300"/>
              </a:spcAft>
              <a:buNone/>
            </a:pPr>
            <a:r>
              <a:rPr sz="1400" b="1">
                <a:solidFill>
                  <a:srgbClr val="E8457C"/>
                </a:solidFill>
                <a:latin typeface="BIZ UDPゴシック"/>
                <a:ea typeface="BIZ UDPゴシック"/>
                <a:cs typeface="BIZ UDPゴシック"/>
              </a:rPr>
              <a:t>注意：事後アンケートへの項目追加は、倫理審査の変更申請が必要かを確認する</a:t>
            </a:r>
          </a:p>
          <a:p>
            <a:pPr algn="l" marL="0" indent="0">
              <a:spcAft>
                <a:spcPts val="400"/>
              </a:spcAft>
              <a:buNone/>
            </a:pPr>
            <a:r>
              <a:rPr sz="1250" b="0">
                <a:solidFill>
                  <a:srgbClr val="24303F"/>
                </a:solidFill>
                <a:latin typeface="BIZ UDPゴシック"/>
                <a:ea typeface="BIZ UDPゴシック"/>
                <a:cs typeface="BIZ UDPゴシック"/>
              </a:rPr>
              <a:t>軽微な変更として届け出で済むかを 11/20 までに事務へ確認。必要なら追加しない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議論したいこと</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2026/11/13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12</a:t>
            </a:fld>
          </a:p>
        </p:txBody>
      </p:sp>
      <p:sp>
        <p:nvSpPr>
          <p:cNvPr id="5" name="Rounded Rectangle 4"/>
          <p:cNvSpPr/>
          <p:nvPr/>
        </p:nvSpPr>
        <p:spPr>
          <a:xfrm>
            <a:off x="411480" y="1417320"/>
            <a:ext cx="8321040" cy="1417320"/>
          </a:xfrm>
          <a:prstGeom prst="roundRect">
            <a:avLst>
              <a:gd name="adj" fmla="val 7741"/>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40080" y="1801368"/>
            <a:ext cx="640080" cy="64008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c_question_w.png"/>
          <p:cNvPicPr>
            <a:picLocks noChangeAspect="1"/>
          </p:cNvPicPr>
          <p:nvPr/>
        </p:nvPicPr>
        <p:blipFill>
          <a:blip r:embed="rId2"/>
          <a:stretch>
            <a:fillRect/>
          </a:stretch>
        </p:blipFill>
        <p:spPr>
          <a:xfrm>
            <a:off x="793699" y="1954987"/>
            <a:ext cx="332841" cy="332841"/>
          </a:xfrm>
          <a:prstGeom prst="rect">
            <a:avLst/>
          </a:prstGeom>
        </p:spPr>
      </p:pic>
      <p:sp>
        <p:nvSpPr>
          <p:cNvPr id="8" name="TextBox 7"/>
          <p:cNvSpPr txBox="1"/>
          <p:nvPr/>
        </p:nvSpPr>
        <p:spPr>
          <a:xfrm>
            <a:off x="1508760" y="1508760"/>
            <a:ext cx="7040880" cy="1234440"/>
          </a:xfrm>
          <a:prstGeom prst="rect">
            <a:avLst/>
          </a:prstGeom>
          <a:noFill/>
        </p:spPr>
        <p:txBody>
          <a:bodyPr wrap="square" lIns="0" tIns="0" rIns="0" bIns="0" anchor="ctr">
            <a:noAutofit/>
          </a:bodyPr>
          <a:lstStyle/>
          <a:p>
            <a:pPr algn="l" marL="0" indent="0">
              <a:spcAft>
                <a:spcPts val="400"/>
              </a:spcAft>
              <a:buNone/>
            </a:pPr>
            <a:r>
              <a:rPr sz="1600" b="1">
                <a:solidFill>
                  <a:srgbClr val="0B3C6E"/>
                </a:solidFill>
                <a:latin typeface="BIZ UDPゴシック"/>
                <a:ea typeface="BIZ UDPゴシック"/>
                <a:cs typeface="BIZ UDPゴシック"/>
              </a:rPr>
              <a:t>点の数は20でよいか</a:t>
            </a:r>
          </a:p>
          <a:p>
            <a:pPr algn="l" marL="0" indent="0">
              <a:spcAft>
                <a:spcPts val="400"/>
              </a:spcAft>
              <a:buNone/>
            </a:pPr>
            <a:r>
              <a:rPr sz="1300" b="0">
                <a:solidFill>
                  <a:srgbClr val="24303F"/>
                </a:solidFill>
                <a:latin typeface="BIZ UDPゴシック"/>
                <a:ea typeface="BIZ UDPゴシック"/>
                <a:cs typeface="BIZ UDPゴシック"/>
              </a:rPr>
              <a:t>推し活の利用者にとって、20点と10点のどちらが読みやすいか</a:t>
            </a:r>
          </a:p>
        </p:txBody>
      </p:sp>
      <p:sp>
        <p:nvSpPr>
          <p:cNvPr id="9" name="Rounded Rectangle 8"/>
          <p:cNvSpPr/>
          <p:nvPr/>
        </p:nvSpPr>
        <p:spPr>
          <a:xfrm>
            <a:off x="411480" y="2990088"/>
            <a:ext cx="8321040" cy="1417320"/>
          </a:xfrm>
          <a:prstGeom prst="roundRect">
            <a:avLst>
              <a:gd name="adj" fmla="val 7741"/>
            </a:avLst>
          </a:prstGeom>
          <a:solidFill>
            <a:srgbClr val="FD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0080" y="3374136"/>
            <a:ext cx="640080" cy="64008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c_question_w.png"/>
          <p:cNvPicPr>
            <a:picLocks noChangeAspect="1"/>
          </p:cNvPicPr>
          <p:nvPr/>
        </p:nvPicPr>
        <p:blipFill>
          <a:blip r:embed="rId2"/>
          <a:stretch>
            <a:fillRect/>
          </a:stretch>
        </p:blipFill>
        <p:spPr>
          <a:xfrm>
            <a:off x="793699" y="3527755"/>
            <a:ext cx="332841" cy="332841"/>
          </a:xfrm>
          <a:prstGeom prst="rect">
            <a:avLst/>
          </a:prstGeom>
        </p:spPr>
      </p:pic>
      <p:sp>
        <p:nvSpPr>
          <p:cNvPr id="12" name="TextBox 11"/>
          <p:cNvSpPr txBox="1"/>
          <p:nvPr/>
        </p:nvSpPr>
        <p:spPr>
          <a:xfrm>
            <a:off x="1508760" y="3081528"/>
            <a:ext cx="7040880" cy="1234440"/>
          </a:xfrm>
          <a:prstGeom prst="rect">
            <a:avLst/>
          </a:prstGeom>
          <a:noFill/>
        </p:spPr>
        <p:txBody>
          <a:bodyPr wrap="square" lIns="0" tIns="0" rIns="0" bIns="0" anchor="ctr">
            <a:noAutofit/>
          </a:bodyPr>
          <a:lstStyle/>
          <a:p>
            <a:pPr algn="l" marL="0" indent="0">
              <a:spcAft>
                <a:spcPts val="400"/>
              </a:spcAft>
              <a:buNone/>
            </a:pPr>
            <a:r>
              <a:rPr sz="1600" b="1">
                <a:solidFill>
                  <a:srgbClr val="0B3C6E"/>
                </a:solidFill>
                <a:latin typeface="BIZ UDPゴシック"/>
                <a:ea typeface="BIZ UDPゴシック"/>
                <a:cs typeface="BIZ UDPゴシック"/>
              </a:rPr>
              <a:t>感情に訴える表示と、数で示す表示</a:t>
            </a:r>
          </a:p>
          <a:p>
            <a:pPr algn="l" marL="0" indent="0">
              <a:spcAft>
                <a:spcPts val="400"/>
              </a:spcAft>
              <a:buNone/>
            </a:pPr>
            <a:r>
              <a:rPr sz="1300" b="0">
                <a:solidFill>
                  <a:srgbClr val="24303F"/>
                </a:solidFill>
                <a:latin typeface="BIZ UDPゴシック"/>
                <a:ea typeface="BIZ UDPゴシック"/>
                <a:cs typeface="BIZ UDPゴシック"/>
              </a:rPr>
              <a:t>アバターの重なりと点の表示は、それぞれ行動のどこに効くのか</a:t>
            </a:r>
          </a:p>
        </p:txBody>
      </p:sp>
      <p:sp>
        <p:nvSpPr>
          <p:cNvPr id="13" name="Rounded Rectangle 12"/>
          <p:cNvSpPr/>
          <p:nvPr/>
        </p:nvSpPr>
        <p:spPr>
          <a:xfrm>
            <a:off x="411480" y="4562856"/>
            <a:ext cx="8321040" cy="1417320"/>
          </a:xfrm>
          <a:prstGeom prst="roundRect">
            <a:avLst>
              <a:gd name="adj" fmla="val 7741"/>
            </a:avLst>
          </a:prstGeom>
          <a:solidFill>
            <a:srgbClr val="F4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0080" y="4946904"/>
            <a:ext cx="640080" cy="640080"/>
          </a:xfrm>
          <a:prstGeom prst="ellipse">
            <a:avLst/>
          </a:prstGeom>
          <a:solidFill>
            <a:srgbClr val="E84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ic_question_w.png"/>
          <p:cNvPicPr>
            <a:picLocks noChangeAspect="1"/>
          </p:cNvPicPr>
          <p:nvPr/>
        </p:nvPicPr>
        <p:blipFill>
          <a:blip r:embed="rId2"/>
          <a:stretch>
            <a:fillRect/>
          </a:stretch>
        </p:blipFill>
        <p:spPr>
          <a:xfrm>
            <a:off x="793699" y="5100523"/>
            <a:ext cx="332841" cy="332841"/>
          </a:xfrm>
          <a:prstGeom prst="rect">
            <a:avLst/>
          </a:prstGeom>
        </p:spPr>
      </p:pic>
      <p:sp>
        <p:nvSpPr>
          <p:cNvPr id="16" name="TextBox 15"/>
          <p:cNvSpPr txBox="1"/>
          <p:nvPr/>
        </p:nvSpPr>
        <p:spPr>
          <a:xfrm>
            <a:off x="1508760" y="4654296"/>
            <a:ext cx="7040880" cy="1234440"/>
          </a:xfrm>
          <a:prstGeom prst="rect">
            <a:avLst/>
          </a:prstGeom>
          <a:noFill/>
        </p:spPr>
        <p:txBody>
          <a:bodyPr wrap="square" lIns="0" tIns="0" rIns="0" bIns="0" anchor="ctr">
            <a:noAutofit/>
          </a:bodyPr>
          <a:lstStyle/>
          <a:p>
            <a:pPr algn="l" marL="0" indent="0">
              <a:spcAft>
                <a:spcPts val="400"/>
              </a:spcAft>
              <a:buNone/>
            </a:pPr>
            <a:r>
              <a:rPr sz="1600" b="1">
                <a:solidFill>
                  <a:srgbClr val="0B3C6E"/>
                </a:solidFill>
                <a:latin typeface="BIZ UDPゴシック"/>
                <a:ea typeface="BIZ UDPゴシック"/>
                <a:cs typeface="BIZ UDPゴシック"/>
              </a:rPr>
              <a:t>予測が外れたときの信頼</a:t>
            </a:r>
          </a:p>
          <a:p>
            <a:pPr algn="l" marL="0" indent="0">
              <a:spcAft>
                <a:spcPts val="400"/>
              </a:spcAft>
              <a:buNone/>
            </a:pPr>
            <a:r>
              <a:rPr sz="1300" b="0">
                <a:solidFill>
                  <a:srgbClr val="24303F"/>
                </a:solidFill>
                <a:latin typeface="BIZ UDPゴシック"/>
                <a:ea typeface="BIZ UDPゴシック"/>
                <a:cs typeface="BIZ UDPゴシック"/>
              </a:rPr>
              <a:t>毎週の「答え合わせ」で外れが続いたとき、どう見せれば信頼を保てるか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182880" tIns="27432" bIns="109728" anchor="ctr">
            <a:noAutofit/>
          </a:bodyPr>
          <a:lstStyle/>
          <a:p>
            <a:pPr algn="l" marL="0" indent="0">
              <a:spcAft>
                <a:spcPts val="400"/>
              </a:spcAft>
              <a:buNone/>
            </a:pPr>
            <a:r>
              <a:rPr sz="2600" b="0">
                <a:solidFill>
                  <a:srgbClr val="24303F"/>
                </a:solidFill>
                <a:latin typeface="BIZ UDPゴシック"/>
                <a:ea typeface="BIZ UDPゴシック"/>
                <a:cs typeface="BIZ UDPゴシック"/>
              </a:rPr>
              <a:t>参考文献</a:t>
            </a:r>
          </a:p>
        </p:txBody>
      </p:sp>
      <p:sp>
        <p:nvSpPr>
          <p:cNvPr id="3" name="Date Placeholder 2"/>
          <p:cNvSpPr>
            <a:spLocks noGrp="1"/>
          </p:cNvSpPr>
          <p:nvPr>
            <p:ph type="dt" idx="10" sz="half"/>
          </p:nvPr>
        </p:nvSpPr>
        <p:spPr/>
        <p:txBody>
          <a:bodyPr lIns="27432" rIns="0" wrap="none"/>
          <a:p>
            <a:r>
              <a:rPr sz="900">
                <a:latin typeface="BIZ UDPゴシック"/>
                <a:ea typeface="BIZ UDPゴシック"/>
                <a:cs typeface="BIZ UDPゴシック"/>
              </a:rPr>
              <a:t>2026/11/13</a:t>
            </a:r>
          </a:p>
        </p:txBody>
      </p:sp>
      <p:sp>
        <p:nvSpPr>
          <p:cNvPr id="4" name="Slide Number Placeholder 3"/>
          <p:cNvSpPr>
            <a:spLocks noGrp="1"/>
          </p:cNvSpPr>
          <p:nvPr>
            <p:ph type="sldNum" idx="12" sz="quarter"/>
          </p:nvPr>
        </p:nvSpPr>
        <p:spPr/>
        <p:txBody>
          <a:bodyPr/>
          <a:p>
            <a:fld id="{B6F15528-21DE-4FAA-801E-634DDDAF4B2B}" type="slidenum">
              <a:rPr lang="en-US">
                <a:latin typeface="BIZ UDPゴシック"/>
                <a:ea typeface="BIZ UDPゴシック"/>
                <a:cs typeface="BIZ UDPゴシック"/>
              </a:rPr>
              <a:t>13</a:t>
            </a:fld>
          </a:p>
        </p:txBody>
      </p:sp>
      <p:sp>
        <p:nvSpPr>
          <p:cNvPr id="5" name="TextBox 4"/>
          <p:cNvSpPr txBox="1"/>
          <p:nvPr/>
        </p:nvSpPr>
        <p:spPr>
          <a:xfrm>
            <a:off x="411480" y="1417320"/>
            <a:ext cx="8321040" cy="4754880"/>
          </a:xfrm>
          <a:prstGeom prst="rect">
            <a:avLst/>
          </a:prstGeom>
          <a:noFill/>
        </p:spPr>
        <p:txBody>
          <a:bodyPr wrap="square" lIns="0" tIns="0" rIns="0" bIns="0" anchor="t">
            <a:noAutofit/>
          </a:bodyPr>
          <a:lstStyle/>
          <a:p>
            <a:pPr algn="l" marL="0" indent="0">
              <a:spcAft>
                <a:spcPts val="1000"/>
              </a:spcAft>
              <a:buNone/>
            </a:pPr>
            <a:r>
              <a:rPr sz="1200" b="0">
                <a:solidFill>
                  <a:srgbClr val="24303F"/>
                </a:solidFill>
                <a:latin typeface="BIZ UDPゴシック"/>
                <a:ea typeface="BIZ UDPゴシック"/>
                <a:cs typeface="BIZ UDPゴシック"/>
              </a:rPr>
              <a:t>Kay, M., Kola, T., Hullman, J. R., &amp; Munson, S. A. (2016). When (ish) is my bus? User-centered visualizations of uncertainty in everyday, mobile predictive systems. Proceedings of CHI 2016, pp. 5092–5103.</a:t>
            </a:r>
          </a:p>
          <a:p>
            <a:pPr algn="l" marL="0" indent="0">
              <a:spcAft>
                <a:spcPts val="1000"/>
              </a:spcAft>
              <a:buNone/>
            </a:pPr>
            <a:r>
              <a:rPr sz="1200" b="0">
                <a:solidFill>
                  <a:srgbClr val="24303F"/>
                </a:solidFill>
                <a:latin typeface="BIZ UDPゴシック"/>
                <a:ea typeface="BIZ UDPゴシック"/>
                <a:cs typeface="BIZ UDPゴシック"/>
              </a:rPr>
              <a:t>Fernandes, M., Walls, L., Munson, S., Hullman, J., &amp; Kay, M. (2018). Uncertainty displays using quantile dotplots or CDFs improve transit decision-making. Proceedings of CHI 2018.</a:t>
            </a:r>
          </a:p>
          <a:p>
            <a:pPr algn="l" marL="0" indent="0">
              <a:spcAft>
                <a:spcPts val="1000"/>
              </a:spcAft>
              <a:buNone/>
            </a:pPr>
            <a:r>
              <a:rPr sz="1200" b="0">
                <a:solidFill>
                  <a:srgbClr val="24303F"/>
                </a:solidFill>
                <a:latin typeface="BIZ UDPゴシック"/>
                <a:ea typeface="BIZ UDPゴシック"/>
                <a:cs typeface="BIZ UDPゴシック"/>
              </a:rPr>
              <a:t>Hullman, J., Resnick, P., &amp; Adar, E. (2015). Hypothetical outcome plots outperform error bars and violin plots for inferences about reliability of variable ordering. PLOS ONE, 10(11), e0142444.</a:t>
            </a:r>
          </a:p>
          <a:p>
            <a:pPr algn="l" marL="0" indent="0">
              <a:spcAft>
                <a:spcPts val="1000"/>
              </a:spcAft>
              <a:buNone/>
            </a:pPr>
            <a:r>
              <a:rPr sz="1200" b="0">
                <a:solidFill>
                  <a:srgbClr val="24303F"/>
                </a:solidFill>
                <a:latin typeface="BIZ UDPゴシック"/>
                <a:ea typeface="BIZ UDPゴシック"/>
                <a:cs typeface="BIZ UDPゴシック"/>
              </a:rPr>
              <a:t>Gigerenzer, G., &amp; Hoffrage, U. (1995). How to improve Bayesian reasoning without instruction: Frequency formats. Psychological Review, 102(4), 684–704.</a:t>
            </a:r>
          </a:p>
          <a:p>
            <a:pPr algn="l" marL="0" indent="0">
              <a:spcAft>
                <a:spcPts val="1000"/>
              </a:spcAft>
              <a:buNone/>
            </a:pPr>
            <a:r>
              <a:rPr sz="1200" b="0">
                <a:solidFill>
                  <a:srgbClr val="24303F"/>
                </a:solidFill>
                <a:latin typeface="BIZ UDPゴシック"/>
                <a:ea typeface="BIZ UDPゴシック"/>
                <a:cs typeface="BIZ UDPゴシック"/>
              </a:rPr>
              <a:t>Wilkinson, L. (1999). Dot plots. The American Statistician, 53(3), 276–281.</a:t>
            </a:r>
          </a:p>
          <a:p>
            <a:pPr algn="l" marL="0" indent="0">
              <a:spcAft>
                <a:spcPts val="400"/>
              </a:spcAft>
              <a:buNone/>
            </a:pPr>
            <a:r>
              <a:rPr sz="1200" b="0">
                <a:solidFill>
                  <a:srgbClr val="24303F"/>
                </a:solidFill>
                <a:latin typeface="BIZ UDPゴシック"/>
                <a:ea typeface="BIZ UDPゴシック"/>
                <a:cs typeface="BIZ UDPゴシック"/>
              </a:rPr>
              <a:t>Hershfield, H. E., et al. (2011). Increasing saving behavior through age-progressed renderings of the future self. Journal of Marketing Research, 48(SPL), S23–S37.</a:t>
            </a:r>
          </a:p>
        </p:txBody>
      </p:sp>
    </p:spTree>
  </p:cSld>
  <p:clrMapOvr>
    <a:masterClrMapping/>
  </p:clrMapOvr>
</p:sld>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0099FF"/>
      </a:accent1>
      <a:accent2>
        <a:srgbClr val="00CC66"/>
      </a:accent2>
      <a:accent3>
        <a:srgbClr val="9999FF"/>
      </a:accent3>
      <a:accent4>
        <a:srgbClr val="ED7D31"/>
      </a:accent4>
      <a:accent5>
        <a:srgbClr val="FF99CC"/>
      </a:accent5>
      <a:accent6>
        <a:srgbClr val="CCFF66"/>
      </a:accent6>
      <a:hlink>
        <a:srgbClr val="0563C1"/>
      </a:hlink>
      <a:folHlink>
        <a:srgbClr val="954F72"/>
      </a:folHlink>
    </a:clrScheme>
    <a:fontScheme name="mixlab">
      <a:majorFont>
        <a:latin typeface="BIZ UDPゴシック"/>
        <a:ea typeface="BIZ UDPゴシック"/>
        <a:cs typeface=""/>
      </a:majorFont>
      <a:minorFont>
        <a:latin typeface="BIZ UDPゴシック"/>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1" id="{71DAD71D-71F1-4879-AA29-AD68469550B8}" vid="{C503FC9E-2328-42BB-94CD-380D52093789}"/>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BIZ UDPゴシック"/>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IZ UDP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4E6AF0D829D43D49B1E81D8F4BBE5B7D" ma:contentTypeVersion="10" ma:contentTypeDescription="新しいドキュメントを作成します。" ma:contentTypeScope="" ma:versionID="5539ab1a2f6c3bdbf31c7c5cd0f154e8">
  <xsd:schema xmlns:xsd="http://www.w3.org/2001/XMLSchema" xmlns:xs="http://www.w3.org/2001/XMLSchema" xmlns:p="http://schemas.microsoft.com/office/2006/metadata/properties" xmlns:ns3="827dca8b-9b89-463d-9c0f-8f583314a21a" targetNamespace="http://schemas.microsoft.com/office/2006/metadata/properties" ma:root="true" ma:fieldsID="0abcb71c8026bc76d3643389aaf979a1" ns3:_="">
    <xsd:import namespace="827dca8b-9b89-463d-9c0f-8f583314a21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7dca8b-9b89-463d-9c0f-8f583314a21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27dca8b-9b89-463d-9c0f-8f583314a21a" xsi:nil="true"/>
  </documentManagement>
</p:properties>
</file>

<file path=customXml/itemProps1.xml><?xml version="1.0" encoding="utf-8"?>
<ds:datastoreItem xmlns:ds="http://schemas.openxmlformats.org/officeDocument/2006/customXml" ds:itemID="{7243403C-11AC-4F64-B63B-092045F9CB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7dca8b-9b89-463d-9c0f-8f583314a2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FAF0C7-D3A2-4F0D-85B6-FC2608B86CAE}">
  <ds:schemaRefs>
    <ds:schemaRef ds:uri="http://schemas.microsoft.com/sharepoint/v3/contenttype/forms"/>
  </ds:schemaRefs>
</ds:datastoreItem>
</file>

<file path=customXml/itemProps3.xml><?xml version="1.0" encoding="utf-8"?>
<ds:datastoreItem xmlns:ds="http://schemas.openxmlformats.org/officeDocument/2006/customXml" ds:itemID="{C64F4103-916A-4822-B22D-C96AE4A255CF}">
  <ds:schemaRefs>
    <ds:schemaRef ds:uri="http://schemas.microsoft.com/office/2006/metadata/properties"/>
    <ds:schemaRef ds:uri="827dca8b-9b89-463d-9c0f-8f583314a21a"/>
    <ds:schemaRef ds:uri="http://purl.org/dc/terms/"/>
    <ds:schemaRef ds:uri="http://schemas.microsoft.com/office/infopath/2007/PartnerControls"/>
    <ds:schemaRef ds:uri="http://purl.org/dc/dcmitype/"/>
    <ds:schemaRef ds:uri="http://schemas.openxmlformats.org/package/2006/metadata/core-properties"/>
    <ds:schemaRef ds:uri="http://www.w3.org/XML/1998/namespace"/>
    <ds:schemaRef ds:uri="http://schemas.microsoft.com/office/2006/documentManagement/typ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mixlab_jp(4-3)</Template>
  <TotalTime>12</TotalTime>
  <Words>546</Words>
  <Application>Microsoft Office PowerPoint</Application>
  <PresentationFormat>画面に合わせる (4:3)</PresentationFormat>
  <Paragraphs>60</Paragraphs>
  <Slides>8</Slides>
  <Notes>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8</vt:i4>
      </vt:variant>
    </vt:vector>
  </HeadingPairs>
  <TitlesOfParts>
    <vt:vector size="11" baseType="lpstr">
      <vt:lpstr>游ゴシック</vt:lpstr>
      <vt:lpstr>Arial</vt:lpstr>
      <vt:lpstr>Office テーマ</vt:lpstr>
      <vt:lpstr>進捗報告2026/07/03</vt:lpstr>
      <vt:lpstr>進捗</vt:lpstr>
      <vt:lpstr>PowerPoint プレゼンテーション</vt:lpstr>
      <vt:lpstr>SEM分析（パス解析）のモデル構築</vt:lpstr>
      <vt:lpstr>進捗</vt:lpstr>
      <vt:lpstr>進捗</vt:lpstr>
      <vt:lpstr>進捗</vt:lpstr>
      <vt:lpstr>進捗</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輪講 2026/11/13</dc:title>
  <dc:creator>今井元</dc:creator>
  <cp:lastModifiedBy>今井　元</cp:lastModifiedBy>
  <cp:revision>1</cp:revision>
  <dcterms:created xsi:type="dcterms:W3CDTF">2026-07-03T00:39:04Z</dcterms:created>
  <dcterms:modified xsi:type="dcterms:W3CDTF">2026-07-03T00:51:52Z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0x0101004E6AF0D829D43D49B1E81D8F4BBE5B7D</vt:lpwstr>
  </property>
</Properties>
</file>